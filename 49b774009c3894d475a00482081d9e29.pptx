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قدمة الدرس" id="{198F8C5E-2AB1-5441-6432-EF9106D59729}">
          <p14:sldIdLst>
            <p14:sldId id="256"/>
            <p14:sldId id="257"/>
            <p14:sldId id="258"/>
            <p14:sldId id="259"/>
          </p14:sldIdLst>
        </p14:section>
        <p14:section name="إدراج صورة" id="{69F99BE2-4257-298E-5BFE-468717382373}">
          <p14:sldIdLst>
            <p14:sldId id="260"/>
            <p14:sldId id="261"/>
            <p14:sldId id="262"/>
            <p14:sldId id="263"/>
            <p14:sldId id="264"/>
          </p14:sldIdLst>
        </p14:section>
        <p14:section name="الحجم والقص" id="{6CF23EDE-407D-B20E-D3AE-BFC1A2677C55}">
          <p14:sldIdLst>
            <p14:sldId id="265"/>
            <p14:sldId id="266"/>
            <p14:sldId id="267"/>
            <p14:sldId id="268"/>
            <p14:sldId id="269"/>
          </p14:sldIdLst>
        </p14:section>
        <p14:section name="الحدود والنمط" id="{E9E8EB7A-6DE9-C59F-A139-A39EA7A6E7A0}">
          <p14:sldIdLst>
            <p14:sldId id="270"/>
            <p14:sldId id="271"/>
            <p14:sldId id="272"/>
            <p14:sldId id="273"/>
            <p14:sldId id="274"/>
            <p14:sldId id="275"/>
          </p14:sldIdLst>
        </p14:section>
        <p14:section name="التفاف النص" id="{35F65E7F-F240-44CC-7266-2ED3FC510AFE}">
          <p14:sldIdLst>
            <p14:sldId id="276"/>
            <p14:sldId id="277"/>
            <p14:sldId id="278"/>
            <p14:sldId id="279"/>
            <p14:sldId id="280"/>
            <p14:sldId id="281"/>
            <p14:sldId id="282"/>
          </p14:sldIdLst>
        </p14:section>
        <p14:section name="المسابقة الكبرى" id="{88EC2E17-AF31-FF32-709A-8D9170E7AE1E}">
          <p14:sldIdLst>
            <p14:sldId id="283"/>
            <p14:sldId id="284"/>
            <p14:sldId id="285"/>
            <p14:sldId id="286"/>
            <p14:sldId id="287"/>
            <p14:sldId id="288"/>
            <p14:sldId id="289"/>
          </p14:sldIdLst>
        </p14:section>
        <p14:section name="التطبيق العملي" id="{6DBB882E-09C8-0BA0-AB3D-5B5066B93639}">
          <p14:sldIdLst>
            <p14:sldId id="290"/>
            <p14:sldId id="291"/>
          </p14:sldIdLst>
        </p14:section>
        <p14:section name="الخلاصة" id="{658085B6-1D02-E2C1-4379-BD80AE6A8FC2}">
          <p14:sldIdLst>
            <p14:sldId id="292"/>
            <p14:sldId id="293"/>
          </p14:sldIdLst>
        </p14:section>
        <p14:section name="شرائح التغذية الراجعة" id="{D95DBF41-77FD-6F04-804F-B77FC7169170}">
          <p14:sldIdLst>
            <p14:sldId id="294"/>
            <p14:sldId id="295"/>
            <p14:sldId id="296"/>
            <p14:sldId id="297"/>
            <p14:sldId id="298"/>
            <p14:sldId id="299"/>
            <p14:sldId id="300"/>
            <p14:sldId id="301"/>
            <p14:sldId id="302"/>
            <p14:sldId id="303"/>
            <p14:sldId id="304"/>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951" autoAdjust="0"/>
    <p:restoredTop sz="94610"/>
  </p:normalViewPr>
  <p:slideViewPr>
    <p:cSldViewPr snapToGrid="0" snapToObjects="1">
      <p:cViewPr>
        <p:scale>
          <a:sx n="78" d="100"/>
          <a:sy n="78" d="100"/>
        </p:scale>
        <p:origin x="372"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304610"/>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 مقترح للتعليق الصوتي: كيف نُدرج صورة في المستند؟ أولًا نحدّد مكان الصورة بالنقر في نهاية النص. ثم نذهب إلى تبويب إدراج Insert، وننقر صور Pictures، ثم هذا الجهاز This Device. من نافذة إدراج صورة نحدّد موقع الصورة، ونختارها، ثم ننقر إدراج Insert. رائع! ظهرت الصورة في المستند.</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 مقترح للتعليق الصوتي: لتغيير حجم الصورة نحدّدها، ثم نسحب أحد مقابضها. ولقصّ الصورة نحدّدها، ومن تبويب تنسيق الصورة Picture Format ننقر قص Crop، ثم نسحب مقبض القص لإزالة الجزء غير المطلوب، ونضغط مفتاح Enter.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 مقترح للتعليق الصوتي: نحدّد الصورة، ومن تبويب تنسيق الصورة ننقر حدود الصورة Picture Border، ونختار اللون الأخضر، ويمكننا تغيير السماكة من Weight. ولتغيير النمط نفتح قائمة أنماط الصورة Picture Styles ونختار النمط الذي يناسبنا.</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 مقترح للتعليق الصوتي: نحدّد الصورة، ثم ننقر التفاف النص Wrap Text من مجموعة ترتيب Arrange. نجرّب مشدود Tight فيلتفّ النص حول شكل الصورة، ثم أعلى وأسفل Top and Bottom فيكون النص فوق الصورة وتحتها، ثم سطري مع النص In Line with Text فتصبح الصورة كأنها كلمة في السطر.</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9FF"/>
        </a:solidFill>
        <a:effectLst/>
      </p:bgPr>
    </p:bg>
    <p:spTree>
      <p:nvGrpSpPr>
        <p:cNvPr id="1" name=""/>
        <p:cNvGrpSpPr/>
        <p:nvPr/>
      </p:nvGrpSpPr>
      <p:grpSpPr>
        <a:xfrm>
          <a:off x="0" y="0"/>
          <a:ext cx="0" cy="0"/>
          <a:chOff x="0" y="0"/>
          <a:chExt cx="0" cy="0"/>
        </a:xfrm>
      </p:grpSpPr>
      <p:sp>
        <p:nvSpPr>
          <p:cNvPr id="2" name="Text 0"/>
          <p:cNvSpPr txBox="1"/>
          <p:nvPr/>
        </p:nvSpPr>
        <p:spPr>
          <a:xfrm>
            <a:off x="3840480" y="6199632"/>
            <a:ext cx="7891272" cy="365760"/>
          </a:xfrm>
          <a:prstGeom prst="rect">
            <a:avLst/>
          </a:prstGeom>
          <a:noFill/>
          <a:ln/>
        </p:spPr>
        <p:txBody>
          <a:bodyPr wrap="square" lIns="635" tIns="635" rIns="635" bIns="635" rtlCol="0" anchor="ctr"/>
          <a:lstStyle/>
          <a:p>
            <a:pPr marL="0" indent="0" algn="r">
              <a:buNone/>
            </a:pPr>
            <a:r>
              <a:rPr lang="ar-OM" altLang="en-US" sz="1300" b="1" dirty="0">
                <a:solidFill>
                  <a:srgbClr val="4A5B6D"/>
                </a:solidFill>
                <a:latin typeface="Arial" pitchFamily="34" charset="0"/>
                <a:ea typeface="Arial" pitchFamily="34" charset="-122"/>
                <a:cs typeface="Arial" pitchFamily="34" charset="-120"/>
              </a:rPr>
              <a:t>إعداد الأستاذة: عبير صالح اليحمدية   •   مدرسة مزن المعرفة للتعليم الأساسي (1-4)</a:t>
            </a:r>
            <a:endParaRPr lang="ar-OM" sz="1300" dirty="0"/>
          </a:p>
        </p:txBody>
      </p:sp>
      <p:sp>
        <p:nvSpPr>
          <p:cNvPr id="3" name="Text 1"/>
          <p:cNvSpPr txBox="1">
            <a:spLocks noGrp="1"/>
          </p:cNvSpPr>
          <p:nvPr>
            <p:ph type="title" idx="101" hasCustomPrompt="1"/>
          </p:nvPr>
        </p:nvSpPr>
        <p:spPr>
          <a:xfrm>
            <a:off x="3017520" y="292608"/>
            <a:ext cx="8714232" cy="777240"/>
          </a:xfrm>
          <a:prstGeom prst="rect">
            <a:avLst/>
          </a:prstGeom>
          <a:noFill/>
          <a:ln/>
        </p:spPr>
        <p:txBody>
          <a:bodyPr wrap="square" rtlCol="0"/>
          <a:lstStyle>
            <a:lvl1pPr marL="0" indent="0" algn="r" rtl="1">
              <a:buNone/>
              <a:defRPr lang="ar-OM" altLang="en-US" sz="3200" b="1" dirty="0">
                <a:solidFill>
                  <a:srgbClr val="0D3B66"/>
                </a:solidFill>
                <a:latin typeface="Arial" pitchFamily="34" charset="0"/>
                <a:ea typeface="Arial" pitchFamily="34" charset="-122"/>
                <a:cs typeface="Arial" pitchFamily="34" charset="-120"/>
              </a:defRPr>
            </a:lvl1pPr>
          </a:lstStyle>
          <a:p>
            <a:pPr marL="0" indent="0" algn="r">
              <a:buNone/>
            </a:pPr>
            <a:endParaRPr lang="ar-OM"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D3B66"/>
        </a:solidFill>
        <a:effectLst/>
      </p:bgPr>
    </p:bg>
    <p:spTree>
      <p:nvGrpSpPr>
        <p:cNvPr id="1" name=""/>
        <p:cNvGrpSpPr/>
        <p:nvPr/>
      </p:nvGrpSpPr>
      <p:grpSpPr>
        <a:xfrm>
          <a:off x="0" y="0"/>
          <a:ext cx="0" cy="0"/>
          <a:chOff x="0" y="0"/>
          <a:chExt cx="0" cy="0"/>
        </a:xfrm>
      </p:grpSpPr>
      <p:sp>
        <p:nvSpPr>
          <p:cNvPr id="2" name="Text 0"/>
          <p:cNvSpPr txBox="1"/>
          <p:nvPr/>
        </p:nvSpPr>
        <p:spPr>
          <a:xfrm>
            <a:off x="3840480" y="6199632"/>
            <a:ext cx="7891272" cy="365760"/>
          </a:xfrm>
          <a:prstGeom prst="rect">
            <a:avLst/>
          </a:prstGeom>
          <a:noFill/>
          <a:ln/>
        </p:spPr>
        <p:txBody>
          <a:bodyPr wrap="square" lIns="635" tIns="635" rIns="635" bIns="635" rtlCol="0" anchor="ctr"/>
          <a:lstStyle/>
          <a:p>
            <a:pPr marL="0" indent="0" algn="r">
              <a:buNone/>
            </a:pPr>
            <a:r>
              <a:rPr lang="ar-OM" altLang="en-US" sz="1300" b="1" dirty="0">
                <a:solidFill>
                  <a:srgbClr val="B9D3EE"/>
                </a:solidFill>
                <a:latin typeface="Arial" pitchFamily="34" charset="0"/>
                <a:ea typeface="Arial" pitchFamily="34" charset="-122"/>
                <a:cs typeface="Arial" pitchFamily="34" charset="-120"/>
              </a:rPr>
              <a:t>إعداد الأستاذة: عبير صالح اليحمدية   •   مدرسة مزن المعرفة للتعليم الأساسي (1-4)</a:t>
            </a:r>
            <a:endParaRPr lang="ar-OM" sz="13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PLAIN">
    <p:bg>
      <p:bgPr>
        <a:solidFill>
          <a:srgbClr val="0D3B6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28.xml"/><Relationship Id="rId18" Type="http://schemas.openxmlformats.org/officeDocument/2006/relationships/slide" Target="slide2.xml"/><Relationship Id="rId3" Type="http://schemas.openxmlformats.org/officeDocument/2006/relationships/slide" Target="slide3.xml"/><Relationship Id="rId7" Type="http://schemas.openxmlformats.org/officeDocument/2006/relationships/slide" Target="slide10.xml"/><Relationship Id="rId12" Type="http://schemas.openxmlformats.org/officeDocument/2006/relationships/image" Target="../media/image9.png"/><Relationship Id="rId17" Type="http://schemas.openxmlformats.org/officeDocument/2006/relationships/image" Target="../media/image12.png"/><Relationship Id="rId2" Type="http://schemas.openxmlformats.org/officeDocument/2006/relationships/notesSlide" Target="../notesSlides/notesSlide2.xml"/><Relationship Id="rId16" Type="http://schemas.openxmlformats.org/officeDocument/2006/relationships/image" Target="../media/image11.png"/><Relationship Id="rId20"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21.xml"/><Relationship Id="rId5" Type="http://schemas.openxmlformats.org/officeDocument/2006/relationships/slide" Target="slide5.xml"/><Relationship Id="rId15" Type="http://schemas.openxmlformats.org/officeDocument/2006/relationships/slide" Target="slide35.xml"/><Relationship Id="rId10" Type="http://schemas.openxmlformats.org/officeDocument/2006/relationships/image" Target="../media/image8.png"/><Relationship Id="rId19"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slide" Target="slide15.xml"/><Relationship Id="rId1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slide" Target="slide12.xml"/><Relationship Id="rId13" Type="http://schemas.openxmlformats.org/officeDocument/2006/relationships/slide" Target="slide24.xml"/><Relationship Id="rId3" Type="http://schemas.openxmlformats.org/officeDocument/2006/relationships/image" Target="../media/image15.png"/><Relationship Id="rId7" Type="http://schemas.openxmlformats.org/officeDocument/2006/relationships/image" Target="../media/image17.png"/><Relationship Id="rId12" Type="http://schemas.openxmlformats.org/officeDocument/2006/relationships/image" Target="../media/image20.png"/><Relationship Id="rId17" Type="http://schemas.openxmlformats.org/officeDocument/2006/relationships/image" Target="../media/image14.png"/><Relationship Id="rId2" Type="http://schemas.openxmlformats.org/officeDocument/2006/relationships/notesSlide" Target="../notesSlides/notesSlide3.xml"/><Relationship Id="rId16"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slide" Target="slide18.xml"/><Relationship Id="rId5" Type="http://schemas.openxmlformats.org/officeDocument/2006/relationships/slide" Target="slide7.xml"/><Relationship Id="rId15" Type="http://schemas.openxmlformats.org/officeDocument/2006/relationships/slide" Target="slide2.xml"/><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image" Target="../media/image18.png"/><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1.png"/><Relationship Id="rId7"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4.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2.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6.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2.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Layout" Target="../slideLayouts/slideLayout2.xml"/><Relationship Id="rId7" Type="http://schemas.openxmlformats.org/officeDocument/2006/relationships/image" Target="../media/image1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14.png"/><Relationship Id="rId4" Type="http://schemas.openxmlformats.org/officeDocument/2006/relationships/notesSlide" Target="../notesSlides/notesSlide7.xml"/><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9.png"/><Relationship Id="rId7" Type="http://schemas.openxmlformats.org/officeDocument/2006/relationships/audio" Target="../media/audio2.wav"/><Relationship Id="rId12"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slide" Target="slide39.xml"/><Relationship Id="rId11" Type="http://schemas.openxmlformats.org/officeDocument/2006/relationships/image" Target="../media/image13.png"/><Relationship Id="rId5" Type="http://schemas.openxmlformats.org/officeDocument/2006/relationships/audio" Target="../media/audio1.wav"/><Relationship Id="rId10" Type="http://schemas.openxmlformats.org/officeDocument/2006/relationships/slide" Target="slide2.xml"/><Relationship Id="rId4" Type="http://schemas.openxmlformats.org/officeDocument/2006/relationships/slide" Target="slide40.xml"/><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1.png"/><Relationship Id="rId7"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slide" Target="slide41.xml"/><Relationship Id="rId11" Type="http://schemas.openxmlformats.org/officeDocument/2006/relationships/image" Target="../media/image14.png"/><Relationship Id="rId5" Type="http://schemas.openxmlformats.org/officeDocument/2006/relationships/audio" Target="../media/audio2.wav"/><Relationship Id="rId10" Type="http://schemas.openxmlformats.org/officeDocument/2006/relationships/image" Target="../media/image13.png"/><Relationship Id="rId4" Type="http://schemas.openxmlformats.org/officeDocument/2006/relationships/slide" Target="slide39.xml"/><Relationship Id="rId9" Type="http://schemas.openxmlformats.org/officeDocument/2006/relationships/slide" Target="slide2.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2.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2.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3.png"/><Relationship Id="rId7"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3.png"/><Relationship Id="rId4" Type="http://schemas.openxmlformats.org/officeDocument/2006/relationships/image" Target="../media/image34.pn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Layout" Target="../slideLayouts/slideLayout2.xml"/><Relationship Id="rId7" Type="http://schemas.openxmlformats.org/officeDocument/2006/relationships/image" Target="../media/image12.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5.png"/><Relationship Id="rId5" Type="http://schemas.openxmlformats.org/officeDocument/2006/relationships/image" Target="../media/image35.png"/><Relationship Id="rId10" Type="http://schemas.openxmlformats.org/officeDocument/2006/relationships/image" Target="../media/image14.png"/><Relationship Id="rId4" Type="http://schemas.openxmlformats.org/officeDocument/2006/relationships/notesSlide" Target="../notesSlides/notesSlide12.xml"/><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slide" Target="slide42.xml"/><Relationship Id="rId13" Type="http://schemas.openxmlformats.org/officeDocument/2006/relationships/slide" Target="slide2.xml"/><Relationship Id="rId3" Type="http://schemas.openxmlformats.org/officeDocument/2006/relationships/image" Target="../media/image36.png"/><Relationship Id="rId7" Type="http://schemas.openxmlformats.org/officeDocument/2006/relationships/image" Target="../media/image38.png"/><Relationship Id="rId12"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30.png"/><Relationship Id="rId5" Type="http://schemas.openxmlformats.org/officeDocument/2006/relationships/audio" Target="../media/audio2.wav"/><Relationship Id="rId15" Type="http://schemas.openxmlformats.org/officeDocument/2006/relationships/image" Target="../media/image14.png"/><Relationship Id="rId10" Type="http://schemas.openxmlformats.org/officeDocument/2006/relationships/image" Target="../media/image7.png"/><Relationship Id="rId4" Type="http://schemas.openxmlformats.org/officeDocument/2006/relationships/slide" Target="slide39.xml"/><Relationship Id="rId9" Type="http://schemas.openxmlformats.org/officeDocument/2006/relationships/audio" Target="../media/audio1.wav"/><Relationship Id="rId1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audio" Target="../media/audio1.wav"/><Relationship Id="rId13" Type="http://schemas.openxmlformats.org/officeDocument/2006/relationships/image" Target="../media/image14.png"/><Relationship Id="rId3" Type="http://schemas.openxmlformats.org/officeDocument/2006/relationships/image" Target="../media/image15.png"/><Relationship Id="rId7" Type="http://schemas.openxmlformats.org/officeDocument/2006/relationships/slide" Target="slide43.xml"/><Relationship Id="rId12"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slide" Target="slide2.xml"/><Relationship Id="rId5" Type="http://schemas.openxmlformats.org/officeDocument/2006/relationships/audio" Target="../media/audio2.wav"/><Relationship Id="rId10" Type="http://schemas.openxmlformats.org/officeDocument/2006/relationships/image" Target="../media/image12.png"/><Relationship Id="rId4" Type="http://schemas.openxmlformats.org/officeDocument/2006/relationships/slide" Target="slide39.xml"/><Relationship Id="rId9"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slide" Target="slide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image" Target="../media/image42.png"/><Relationship Id="rId7"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44.png"/><Relationship Id="rId10" Type="http://schemas.openxmlformats.org/officeDocument/2006/relationships/image" Target="../media/image14.png"/><Relationship Id="rId4" Type="http://schemas.openxmlformats.org/officeDocument/2006/relationships/image" Target="../media/image43.png"/><Relationship Id="rId9" Type="http://schemas.openxmlformats.org/officeDocument/2006/relationships/image" Target="../media/image13.png"/></Relationships>
</file>

<file path=ppt/slides/_rels/slide17.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image" Target="../media/image45.png"/><Relationship Id="rId7"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14.png"/><Relationship Id="rId4" Type="http://schemas.openxmlformats.org/officeDocument/2006/relationships/image" Target="../media/image43.png"/><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Layout" Target="../slideLayouts/slideLayout2.xml"/><Relationship Id="rId7" Type="http://schemas.openxmlformats.org/officeDocument/2006/relationships/image" Target="../media/image12.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8.png"/><Relationship Id="rId5" Type="http://schemas.openxmlformats.org/officeDocument/2006/relationships/image" Target="../media/image48.png"/><Relationship Id="rId10" Type="http://schemas.openxmlformats.org/officeDocument/2006/relationships/image" Target="../media/image14.png"/><Relationship Id="rId4" Type="http://schemas.openxmlformats.org/officeDocument/2006/relationships/notesSlide" Target="../notesSlides/notesSlide18.xml"/><Relationship Id="rId9" Type="http://schemas.openxmlformats.org/officeDocument/2006/relationships/image" Target="../media/image13.png"/></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4.png"/><Relationship Id="rId7"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slide" Target="slide44.xml"/><Relationship Id="rId11" Type="http://schemas.openxmlformats.org/officeDocument/2006/relationships/image" Target="../media/image14.png"/><Relationship Id="rId5" Type="http://schemas.openxmlformats.org/officeDocument/2006/relationships/audio" Target="../media/audio2.wav"/><Relationship Id="rId10" Type="http://schemas.openxmlformats.org/officeDocument/2006/relationships/image" Target="../media/image13.png"/><Relationship Id="rId4" Type="http://schemas.openxmlformats.org/officeDocument/2006/relationships/slide" Target="slide39.xml"/><Relationship Id="rId9" Type="http://schemas.openxmlformats.org/officeDocument/2006/relationships/slide" Target="slide2.xml"/></Relationships>
</file>

<file path=ppt/slides/_rels/slide20.xml.rels><?xml version="1.0" encoding="UTF-8" standalone="yes"?>
<Relationships xmlns="http://schemas.openxmlformats.org/package/2006/relationships"><Relationship Id="rId8" Type="http://schemas.openxmlformats.org/officeDocument/2006/relationships/audio" Target="../media/audio1.wav"/><Relationship Id="rId13" Type="http://schemas.openxmlformats.org/officeDocument/2006/relationships/image" Target="../media/image14.png"/><Relationship Id="rId3" Type="http://schemas.openxmlformats.org/officeDocument/2006/relationships/image" Target="../media/image28.png"/><Relationship Id="rId7" Type="http://schemas.openxmlformats.org/officeDocument/2006/relationships/slide" Target="slide45.xml"/><Relationship Id="rId12"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slide" Target="slide2.xml"/><Relationship Id="rId5" Type="http://schemas.openxmlformats.org/officeDocument/2006/relationships/audio" Target="../media/audio2.wav"/><Relationship Id="rId10" Type="http://schemas.openxmlformats.org/officeDocument/2006/relationships/image" Target="../media/image12.png"/><Relationship Id="rId4" Type="http://schemas.openxmlformats.org/officeDocument/2006/relationships/slide" Target="slide39.xml"/><Relationship Id="rId9" Type="http://schemas.openxmlformats.org/officeDocument/2006/relationships/image" Target="../media/image40.png"/></Relationships>
</file>

<file path=ppt/slides/_rels/slide2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9.png"/><Relationship Id="rId7"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14.png"/><Relationship Id="rId5" Type="http://schemas.openxmlformats.org/officeDocument/2006/relationships/image" Target="../media/image51.png"/><Relationship Id="rId10" Type="http://schemas.openxmlformats.org/officeDocument/2006/relationships/image" Target="../media/image13.png"/><Relationship Id="rId4" Type="http://schemas.openxmlformats.org/officeDocument/2006/relationships/image" Target="../media/image50.png"/><Relationship Id="rId9" Type="http://schemas.openxmlformats.org/officeDocument/2006/relationships/slide" Target="slide2.xml"/></Relationships>
</file>

<file path=ppt/slides/_rels/slide2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3.png"/><Relationship Id="rId7" Type="http://schemas.openxmlformats.org/officeDocument/2006/relationships/slide" Target="slide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slide" Target="slide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Layout" Target="../slideLayouts/slideLayout2.xml"/><Relationship Id="rId7" Type="http://schemas.openxmlformats.org/officeDocument/2006/relationships/image" Target="../media/image12.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5.png"/><Relationship Id="rId5" Type="http://schemas.openxmlformats.org/officeDocument/2006/relationships/image" Target="../media/image57.png"/><Relationship Id="rId10" Type="http://schemas.openxmlformats.org/officeDocument/2006/relationships/image" Target="../media/image14.png"/><Relationship Id="rId4" Type="http://schemas.openxmlformats.org/officeDocument/2006/relationships/notesSlide" Target="../notesSlides/notesSlide24.xml"/><Relationship Id="rId9" Type="http://schemas.openxmlformats.org/officeDocument/2006/relationships/image" Target="../media/image13.png"/></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6.png"/><Relationship Id="rId7" Type="http://schemas.openxmlformats.org/officeDocument/2006/relationships/audio" Target="../media/audio2.wav"/><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slide" Target="slide39.xml"/><Relationship Id="rId11" Type="http://schemas.openxmlformats.org/officeDocument/2006/relationships/image" Target="../media/image14.png"/><Relationship Id="rId5" Type="http://schemas.openxmlformats.org/officeDocument/2006/relationships/audio" Target="../media/audio1.wav"/><Relationship Id="rId10" Type="http://schemas.openxmlformats.org/officeDocument/2006/relationships/image" Target="../media/image13.png"/><Relationship Id="rId4" Type="http://schemas.openxmlformats.org/officeDocument/2006/relationships/slide" Target="slide46.xml"/><Relationship Id="rId9" Type="http://schemas.openxmlformats.org/officeDocument/2006/relationships/slide" Target="slide2.xml"/></Relationships>
</file>

<file path=ppt/slides/_rels/slide2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6.png"/><Relationship Id="rId7"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slide" Target="slide47.xml"/><Relationship Id="rId11" Type="http://schemas.openxmlformats.org/officeDocument/2006/relationships/image" Target="../media/image14.png"/><Relationship Id="rId5" Type="http://schemas.openxmlformats.org/officeDocument/2006/relationships/audio" Target="../media/audio2.wav"/><Relationship Id="rId10" Type="http://schemas.openxmlformats.org/officeDocument/2006/relationships/image" Target="../media/image13.png"/><Relationship Id="rId4" Type="http://schemas.openxmlformats.org/officeDocument/2006/relationships/slide" Target="slide39.xml"/><Relationship Id="rId9" Type="http://schemas.openxmlformats.org/officeDocument/2006/relationships/slide" Target="slide2.xml"/></Relationships>
</file>

<file path=ppt/slides/_rels/slide27.xml.rels><?xml version="1.0" encoding="UTF-8" standalone="yes"?>
<Relationships xmlns="http://schemas.openxmlformats.org/package/2006/relationships"><Relationship Id="rId8" Type="http://schemas.openxmlformats.org/officeDocument/2006/relationships/audio" Target="../media/audio2.wav"/><Relationship Id="rId13" Type="http://schemas.openxmlformats.org/officeDocument/2006/relationships/image" Target="../media/image14.png"/><Relationship Id="rId3" Type="http://schemas.openxmlformats.org/officeDocument/2006/relationships/image" Target="../media/image15.png"/><Relationship Id="rId7" Type="http://schemas.openxmlformats.org/officeDocument/2006/relationships/slide" Target="slide39.xml"/><Relationship Id="rId12"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slide" Target="slide2.xml"/><Relationship Id="rId5" Type="http://schemas.openxmlformats.org/officeDocument/2006/relationships/audio" Target="../media/audio1.wav"/><Relationship Id="rId10" Type="http://schemas.openxmlformats.org/officeDocument/2006/relationships/image" Target="../media/image12.png"/><Relationship Id="rId4" Type="http://schemas.openxmlformats.org/officeDocument/2006/relationships/slide" Target="slide48.xml"/><Relationship Id="rId9" Type="http://schemas.openxmlformats.org/officeDocument/2006/relationships/image" Target="../media/image40.png"/></Relationships>
</file>

<file path=ppt/slides/_rels/slide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8.png"/><Relationship Id="rId7" Type="http://schemas.openxmlformats.org/officeDocument/2006/relationships/slide" Target="slide2.xml"/><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59.png"/><Relationship Id="rId4" Type="http://schemas.openxmlformats.org/officeDocument/2006/relationships/image" Target="../media/image2.png"/><Relationship Id="rId9" Type="http://schemas.openxmlformats.org/officeDocument/2006/relationships/image" Target="../media/image14.png"/></Relationships>
</file>

<file path=ppt/slides/_rels/slide29.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14.png"/><Relationship Id="rId3" Type="http://schemas.openxmlformats.org/officeDocument/2006/relationships/image" Target="../media/image29.png"/><Relationship Id="rId7" Type="http://schemas.openxmlformats.org/officeDocument/2006/relationships/audio" Target="../media/audio1.wav"/><Relationship Id="rId12"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slide" Target="slide49.xml"/><Relationship Id="rId11" Type="http://schemas.openxmlformats.org/officeDocument/2006/relationships/slide" Target="slide2.xml"/><Relationship Id="rId5" Type="http://schemas.openxmlformats.org/officeDocument/2006/relationships/audio" Target="../media/audio2.wav"/><Relationship Id="rId10" Type="http://schemas.openxmlformats.org/officeDocument/2006/relationships/image" Target="../media/image12.png"/><Relationship Id="rId4" Type="http://schemas.openxmlformats.org/officeDocument/2006/relationships/slide" Target="slide39.xml"/><Relationship Id="rId9" Type="http://schemas.openxmlformats.org/officeDocument/2006/relationships/image" Target="../media/image61.png"/></Relationships>
</file>

<file path=ppt/slides/_rels/slide30.xml.rels><?xml version="1.0" encoding="UTF-8" standalone="yes"?>
<Relationships xmlns="http://schemas.openxmlformats.org/package/2006/relationships"><Relationship Id="rId8" Type="http://schemas.openxmlformats.org/officeDocument/2006/relationships/audio" Target="../media/audio2.wav"/><Relationship Id="rId13" Type="http://schemas.openxmlformats.org/officeDocument/2006/relationships/image" Target="../media/image14.png"/><Relationship Id="rId3" Type="http://schemas.openxmlformats.org/officeDocument/2006/relationships/image" Target="../media/image29.png"/><Relationship Id="rId7" Type="http://schemas.openxmlformats.org/officeDocument/2006/relationships/slide" Target="slide39.xml"/><Relationship Id="rId12"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slide" Target="slide2.xml"/><Relationship Id="rId5" Type="http://schemas.openxmlformats.org/officeDocument/2006/relationships/audio" Target="../media/audio1.wav"/><Relationship Id="rId10" Type="http://schemas.openxmlformats.org/officeDocument/2006/relationships/image" Target="../media/image12.png"/><Relationship Id="rId4" Type="http://schemas.openxmlformats.org/officeDocument/2006/relationships/slide" Target="slide50.xml"/><Relationship Id="rId9" Type="http://schemas.openxmlformats.org/officeDocument/2006/relationships/image" Target="../media/image30.png"/></Relationships>
</file>

<file path=ppt/slides/_rels/slide31.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29.png"/><Relationship Id="rId7" Type="http://schemas.openxmlformats.org/officeDocument/2006/relationships/audio" Target="../media/audio1.wav"/><Relationship Id="rId12"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slide" Target="slide51.xml"/><Relationship Id="rId11" Type="http://schemas.openxmlformats.org/officeDocument/2006/relationships/image" Target="../media/image13.png"/><Relationship Id="rId5" Type="http://schemas.openxmlformats.org/officeDocument/2006/relationships/audio" Target="../media/audio2.wav"/><Relationship Id="rId10" Type="http://schemas.openxmlformats.org/officeDocument/2006/relationships/slide" Target="slide2.xml"/><Relationship Id="rId4" Type="http://schemas.openxmlformats.org/officeDocument/2006/relationships/slide" Target="slide39.xml"/><Relationship Id="rId9" Type="http://schemas.openxmlformats.org/officeDocument/2006/relationships/image" Target="../media/image12.png"/></Relationships>
</file>

<file path=ppt/slides/_rels/slide32.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14.png"/><Relationship Id="rId3" Type="http://schemas.openxmlformats.org/officeDocument/2006/relationships/image" Target="../media/image29.png"/><Relationship Id="rId7" Type="http://schemas.openxmlformats.org/officeDocument/2006/relationships/audio" Target="../media/audio1.wav"/><Relationship Id="rId12"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slide" Target="slide52.xml"/><Relationship Id="rId11" Type="http://schemas.openxmlformats.org/officeDocument/2006/relationships/slide" Target="slide2.xml"/><Relationship Id="rId5" Type="http://schemas.openxmlformats.org/officeDocument/2006/relationships/audio" Target="../media/audio2.wav"/><Relationship Id="rId10" Type="http://schemas.openxmlformats.org/officeDocument/2006/relationships/image" Target="../media/image12.png"/><Relationship Id="rId4" Type="http://schemas.openxmlformats.org/officeDocument/2006/relationships/slide" Target="slide39.xml"/><Relationship Id="rId9" Type="http://schemas.openxmlformats.org/officeDocument/2006/relationships/image" Target="../media/image30.png"/></Relationships>
</file>

<file path=ppt/slides/_rels/slide33.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29.png"/><Relationship Id="rId7" Type="http://schemas.openxmlformats.org/officeDocument/2006/relationships/audio" Target="../media/audio1.wav"/><Relationship Id="rId12"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slide" Target="slide53.xml"/><Relationship Id="rId11" Type="http://schemas.openxmlformats.org/officeDocument/2006/relationships/image" Target="../media/image13.png"/><Relationship Id="rId5" Type="http://schemas.openxmlformats.org/officeDocument/2006/relationships/audio" Target="../media/audio2.wav"/><Relationship Id="rId10" Type="http://schemas.openxmlformats.org/officeDocument/2006/relationships/slide" Target="slide2.xml"/><Relationship Id="rId4" Type="http://schemas.openxmlformats.org/officeDocument/2006/relationships/slide" Target="slide39.xml"/><Relationship Id="rId9" Type="http://schemas.openxmlformats.org/officeDocument/2006/relationships/image" Target="../media/image12.png"/></Relationships>
</file>

<file path=ppt/slides/_rels/slide3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4.png"/><Relationship Id="rId7"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14.png"/><Relationship Id="rId5" Type="http://schemas.openxmlformats.org/officeDocument/2006/relationships/image" Target="../media/image58.png"/><Relationship Id="rId10" Type="http://schemas.openxmlformats.org/officeDocument/2006/relationships/image" Target="../media/image13.png"/><Relationship Id="rId4" Type="http://schemas.openxmlformats.org/officeDocument/2006/relationships/audio" Target="../media/audio3.wav"/><Relationship Id="rId9" Type="http://schemas.openxmlformats.org/officeDocument/2006/relationships/slide" Target="slide2.xml"/></Relationships>
</file>

<file path=ppt/slides/_rels/slide3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5.png"/><Relationship Id="rId7"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2.png"/><Relationship Id="rId4" Type="http://schemas.openxmlformats.org/officeDocument/2006/relationships/image" Target="../media/image66.png"/></Relationships>
</file>

<file path=ppt/slides/_rels/slide3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7.png"/><Relationship Id="rId7"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2.png"/><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13.png"/><Relationship Id="rId5" Type="http://schemas.openxmlformats.org/officeDocument/2006/relationships/image" Target="../media/image17.png"/><Relationship Id="rId10" Type="http://schemas.openxmlformats.org/officeDocument/2006/relationships/slide" Target="slide2.xml"/><Relationship Id="rId4" Type="http://schemas.openxmlformats.org/officeDocument/2006/relationships/image" Target="../media/image69.png"/><Relationship Id="rId9" Type="http://schemas.openxmlformats.org/officeDocument/2006/relationships/image" Target="../media/image12.png"/></Relationships>
</file>

<file path=ppt/slides/_rels/slide3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slide" Target="slide2.xml"/><Relationship Id="rId5" Type="http://schemas.openxmlformats.org/officeDocument/2006/relationships/image" Target="../media/image12.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9.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64.png"/><Relationship Id="rId9" Type="http://schemas.openxmlformats.org/officeDocument/2006/relationships/slide" Target="slide2.xml"/></Relationships>
</file>

<file path=ppt/slides/_rels/slide4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10.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5.png"/><Relationship Id="rId4" Type="http://schemas.openxmlformats.org/officeDocument/2006/relationships/image" Target="../media/image64.png"/><Relationship Id="rId9" Type="http://schemas.openxmlformats.org/officeDocument/2006/relationships/slide" Target="slide2.xml"/></Relationships>
</file>

<file path=ppt/slides/_rels/slide4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14.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64.png"/><Relationship Id="rId9" Type="http://schemas.openxmlformats.org/officeDocument/2006/relationships/slide" Target="slide2.xml"/></Relationships>
</file>

<file path=ppt/slides/_rels/slide4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15.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5.png"/><Relationship Id="rId4" Type="http://schemas.openxmlformats.org/officeDocument/2006/relationships/image" Target="../media/image64.png"/><Relationship Id="rId9" Type="http://schemas.openxmlformats.org/officeDocument/2006/relationships/slide" Target="slide2.xml"/></Relationships>
</file>

<file path=ppt/slides/_rels/slide4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20.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64.png"/><Relationship Id="rId9" Type="http://schemas.openxmlformats.org/officeDocument/2006/relationships/slide" Target="slide2.xml"/></Relationships>
</file>

<file path=ppt/slides/_rels/slide4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21.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5.png"/><Relationship Id="rId4" Type="http://schemas.openxmlformats.org/officeDocument/2006/relationships/image" Target="../media/image64.png"/><Relationship Id="rId9" Type="http://schemas.openxmlformats.org/officeDocument/2006/relationships/slide" Target="slide2.xml"/></Relationships>
</file>

<file path=ppt/slides/_rels/slide4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26.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64.png"/><Relationship Id="rId9" Type="http://schemas.openxmlformats.org/officeDocument/2006/relationships/slide" Target="slide2.xml"/></Relationships>
</file>

<file path=ppt/slides/_rels/slide4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27.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5.png"/><Relationship Id="rId4" Type="http://schemas.openxmlformats.org/officeDocument/2006/relationships/image" Target="../media/image64.png"/><Relationship Id="rId9" Type="http://schemas.openxmlformats.org/officeDocument/2006/relationships/slide" Target="slide2.xml"/></Relationships>
</file>

<file path=ppt/slides/_rels/slide4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28.xm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64.png"/><Relationship Id="rId9" Type="http://schemas.openxmlformats.org/officeDocument/2006/relationships/slide" Target="slide2.xml"/></Relationships>
</file>

<file path=ppt/slides/_rels/slide4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30.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5.png"/><Relationship Id="rId4" Type="http://schemas.openxmlformats.org/officeDocument/2006/relationships/image" Target="../media/image64.png"/><Relationship Id="rId9" Type="http://schemas.openxmlformats.org/officeDocument/2006/relationships/slide" Target="slide2.xml"/></Relationships>
</file>

<file path=ppt/slides/_rels/slide5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31.xm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64.png"/><Relationship Id="rId9" Type="http://schemas.openxmlformats.org/officeDocument/2006/relationships/slide" Target="slide2.xml"/></Relationships>
</file>

<file path=ppt/slides/_rels/slide5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32.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5.png"/><Relationship Id="rId4" Type="http://schemas.openxmlformats.org/officeDocument/2006/relationships/image" Target="../media/image64.png"/><Relationship Id="rId9" Type="http://schemas.openxmlformats.org/officeDocument/2006/relationships/slide" Target="slide2.xml"/></Relationships>
</file>

<file path=ppt/slides/_rels/slide5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33.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64.png"/><Relationship Id="rId9" Type="http://schemas.openxmlformats.org/officeDocument/2006/relationships/slide" Target="slide2.xml"/></Relationships>
</file>

<file path=ppt/slides/_rels/slide5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9.png"/><Relationship Id="rId7" Type="http://schemas.openxmlformats.org/officeDocument/2006/relationships/slide" Target="slide34.xm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5.png"/><Relationship Id="rId4" Type="http://schemas.openxmlformats.org/officeDocument/2006/relationships/image" Target="../media/image64.png"/><Relationship Id="rId9"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 circle"/>
          <p:cNvSpPr/>
          <p:nvPr/>
        </p:nvSpPr>
        <p:spPr>
          <a:xfrm>
            <a:off x="-1097280" y="548640"/>
            <a:ext cx="6583680" cy="6583680"/>
          </a:xfrm>
          <a:prstGeom prst="ellipse">
            <a:avLst/>
          </a:prstGeom>
          <a:solidFill>
            <a:srgbClr val="15497D"/>
          </a:solidFill>
          <a:ln/>
        </p:spPr>
        <p:txBody>
          <a:bodyPr/>
          <a:lstStyle/>
          <a:p>
            <a:endParaRPr lang="ar-OM"/>
          </a:p>
        </p:txBody>
      </p:sp>
      <p:pic>
        <p:nvPicPr>
          <p:cNvPr id="3" name="img girl_full.png" descr="a/girl_full.png"/>
          <p:cNvPicPr>
            <a:picLocks noChangeAspect="1"/>
          </p:cNvPicPr>
          <p:nvPr/>
        </p:nvPicPr>
        <p:blipFill>
          <a:blip r:embed="rId3"/>
          <a:stretch>
            <a:fillRect/>
          </a:stretch>
        </p:blipFill>
        <p:spPr>
          <a:xfrm>
            <a:off x="2350207" y="1051560"/>
            <a:ext cx="2889105" cy="5074920"/>
          </a:xfrm>
          <a:prstGeom prst="rect">
            <a:avLst/>
          </a:prstGeom>
        </p:spPr>
      </p:pic>
      <p:pic>
        <p:nvPicPr>
          <p:cNvPr id="4" name="img boy_full.png" descr="a/boy_full.png"/>
          <p:cNvPicPr>
            <a:picLocks noChangeAspect="1"/>
          </p:cNvPicPr>
          <p:nvPr/>
        </p:nvPicPr>
        <p:blipFill>
          <a:blip r:embed="rId4"/>
          <a:stretch>
            <a:fillRect/>
          </a:stretch>
        </p:blipFill>
        <p:spPr>
          <a:xfrm>
            <a:off x="600519" y="1188720"/>
            <a:ext cx="1816482" cy="4937760"/>
          </a:xfrm>
          <a:prstGeom prst="rect">
            <a:avLst/>
          </a:prstGeom>
        </p:spPr>
      </p:pic>
      <p:sp>
        <p:nvSpPr>
          <p:cNvPr id="5" name="subject pill"/>
          <p:cNvSpPr/>
          <p:nvPr/>
        </p:nvSpPr>
        <p:spPr>
          <a:xfrm>
            <a:off x="9079992" y="640080"/>
            <a:ext cx="2651760" cy="548640"/>
          </a:xfrm>
          <a:prstGeom prst="roundRect">
            <a:avLst>
              <a:gd name="adj" fmla="val 50000"/>
            </a:avLst>
          </a:prstGeom>
          <a:solidFill>
            <a:srgbClr val="F27C1E"/>
          </a:solidFill>
          <a:ln/>
        </p:spPr>
        <p:txBody>
          <a:bodyPr/>
          <a:lstStyle/>
          <a:p>
            <a:endParaRPr lang="ar-OM"/>
          </a:p>
        </p:txBody>
      </p:sp>
      <p:sp>
        <p:nvSpPr>
          <p:cNvPr id="6" name="Text 2"/>
          <p:cNvSpPr txBox="1"/>
          <p:nvPr/>
        </p:nvSpPr>
        <p:spPr>
          <a:xfrm>
            <a:off x="9079992" y="640080"/>
            <a:ext cx="2651760" cy="548640"/>
          </a:xfrm>
          <a:prstGeom prst="rect">
            <a:avLst/>
          </a:prstGeom>
          <a:noFill/>
          <a:ln/>
        </p:spPr>
        <p:txBody>
          <a:bodyPr wrap="square" lIns="635" tIns="635" rIns="635" bIns="635" rtlCol="0" anchor="ctr"/>
          <a:lstStyle/>
          <a:p>
            <a:pPr marL="0" indent="0" algn="ctr" rtl="1">
              <a:buNone/>
            </a:pPr>
            <a:r>
              <a:rPr lang="ar-OM" altLang="en-US" sz="2000" b="1" dirty="0">
                <a:solidFill>
                  <a:srgbClr val="FFFFFF"/>
                </a:solidFill>
                <a:latin typeface="Arial" pitchFamily="34" charset="0"/>
                <a:ea typeface="Arial" pitchFamily="34" charset="-122"/>
                <a:cs typeface="Arial" pitchFamily="34" charset="-120"/>
              </a:rPr>
              <a:t>تقنية المعلومات</a:t>
            </a:r>
            <a:endParaRPr lang="ar-OM" sz="2000" dirty="0"/>
          </a:p>
        </p:txBody>
      </p:sp>
      <p:sp>
        <p:nvSpPr>
          <p:cNvPr id="7" name="Text 3"/>
          <p:cNvSpPr txBox="1"/>
          <p:nvPr/>
        </p:nvSpPr>
        <p:spPr>
          <a:xfrm>
            <a:off x="5760720" y="1417320"/>
            <a:ext cx="5971032" cy="640080"/>
          </a:xfrm>
          <a:prstGeom prst="rect">
            <a:avLst/>
          </a:prstGeom>
          <a:noFill/>
          <a:ln/>
        </p:spPr>
        <p:txBody>
          <a:bodyPr wrap="square" lIns="635" tIns="635" rIns="635" bIns="635" rtlCol="0" anchor="ctr"/>
          <a:lstStyle/>
          <a:p>
            <a:pPr marL="0" indent="0" algn="r" rtl="1">
              <a:buNone/>
            </a:pPr>
            <a:r>
              <a:rPr lang="ar-OM" altLang="en-US" sz="3000" b="1" dirty="0">
                <a:solidFill>
                  <a:srgbClr val="8EC5FF"/>
                </a:solidFill>
                <a:latin typeface="Arial" pitchFamily="34" charset="0"/>
                <a:ea typeface="Arial" pitchFamily="34" charset="-122"/>
                <a:cs typeface="Arial" pitchFamily="34" charset="-120"/>
              </a:rPr>
              <a:t>الدرس 2.2</a:t>
            </a:r>
            <a:endParaRPr lang="ar-OM" sz="3000" dirty="0"/>
          </a:p>
        </p:txBody>
      </p:sp>
      <p:sp>
        <p:nvSpPr>
          <p:cNvPr id="8" name="Text 4"/>
          <p:cNvSpPr txBox="1"/>
          <p:nvPr/>
        </p:nvSpPr>
        <p:spPr>
          <a:xfrm>
            <a:off x="5486400" y="2057400"/>
            <a:ext cx="6245352" cy="1143000"/>
          </a:xfrm>
          <a:prstGeom prst="rect">
            <a:avLst/>
          </a:prstGeom>
          <a:noFill/>
          <a:ln/>
        </p:spPr>
        <p:txBody>
          <a:bodyPr wrap="square" lIns="635" tIns="635" rIns="635" bIns="635" rtlCol="0" anchor="ctr"/>
          <a:lstStyle/>
          <a:p>
            <a:pPr marL="0" indent="0" algn="r" rtl="1">
              <a:buNone/>
            </a:pPr>
            <a:r>
              <a:rPr lang="ar-OM" altLang="en-US" sz="4600" b="1" dirty="0">
                <a:solidFill>
                  <a:srgbClr val="FFFFFF"/>
                </a:solidFill>
                <a:latin typeface="Arial" pitchFamily="34" charset="0"/>
                <a:ea typeface="Arial" pitchFamily="34" charset="-122"/>
                <a:cs typeface="Arial" pitchFamily="34" charset="-120"/>
              </a:rPr>
              <a:t>إدراج وتنسيق صورة</a:t>
            </a:r>
            <a:endParaRPr lang="ar-OM" sz="4600" dirty="0"/>
          </a:p>
        </p:txBody>
      </p:sp>
      <p:sp>
        <p:nvSpPr>
          <p:cNvPr id="9" name="name card"/>
          <p:cNvSpPr/>
          <p:nvPr/>
        </p:nvSpPr>
        <p:spPr>
          <a:xfrm>
            <a:off x="5760720" y="3429000"/>
            <a:ext cx="5971032" cy="1417320"/>
          </a:xfrm>
          <a:prstGeom prst="roundRect">
            <a:avLst>
              <a:gd name="adj" fmla="val 12903"/>
            </a:avLst>
          </a:prstGeom>
          <a:solidFill>
            <a:srgbClr val="1B5288"/>
          </a:solidFill>
          <a:ln w="19050">
            <a:solidFill>
              <a:srgbClr val="3D7DBE"/>
            </a:solidFill>
            <a:prstDash val="solid"/>
          </a:ln>
        </p:spPr>
        <p:txBody>
          <a:bodyPr/>
          <a:lstStyle/>
          <a:p>
            <a:endParaRPr lang="ar-OM"/>
          </a:p>
        </p:txBody>
      </p:sp>
      <p:sp>
        <p:nvSpPr>
          <p:cNvPr id="10" name="Text 6"/>
          <p:cNvSpPr txBox="1"/>
          <p:nvPr/>
        </p:nvSpPr>
        <p:spPr>
          <a:xfrm>
            <a:off x="5943600" y="3429000"/>
            <a:ext cx="5605272" cy="1417320"/>
          </a:xfrm>
          <a:prstGeom prst="rect">
            <a:avLst/>
          </a:prstGeom>
          <a:noFill/>
          <a:ln/>
        </p:spPr>
        <p:txBody>
          <a:bodyPr wrap="square" lIns="635" tIns="635" rIns="635" bIns="635" rtlCol="0" anchor="ctr"/>
          <a:lstStyle/>
          <a:p>
            <a:pPr marL="0" indent="0" algn="r">
              <a:buNone/>
            </a:pPr>
            <a:r>
              <a:rPr lang="ar-OM" altLang="en-US" sz="2400" b="1" dirty="0">
                <a:solidFill>
                  <a:srgbClr val="FFFFFF"/>
                </a:solidFill>
                <a:latin typeface="Arial" pitchFamily="34" charset="0"/>
                <a:ea typeface="Arial" pitchFamily="34" charset="-122"/>
                <a:cs typeface="Arial" pitchFamily="34" charset="-120"/>
              </a:rPr>
              <a:t>إعداد الأستاذة: عبير صالح اليحمدية</a:t>
            </a:r>
            <a:endParaRPr lang="ar-OM" sz="2400" dirty="0"/>
          </a:p>
          <a:p>
            <a:pPr marL="0" indent="0" algn="r">
              <a:buNone/>
            </a:pPr>
            <a:r>
              <a:rPr lang="ar-OM" altLang="en-US" sz="1900" dirty="0">
                <a:solidFill>
                  <a:srgbClr val="B9D3EE"/>
                </a:solidFill>
                <a:latin typeface="Arial" pitchFamily="34" charset="0"/>
                <a:ea typeface="Arial" pitchFamily="34" charset="-122"/>
                <a:cs typeface="Arial" pitchFamily="34" charset="-120"/>
              </a:rPr>
              <a:t>مدرسة مزن المعرفة للتعليم الأساسي (1-4)</a:t>
            </a:r>
            <a:endParaRPr lang="ar-OM" sz="2400" dirty="0"/>
          </a:p>
        </p:txBody>
      </p:sp>
      <p:sp>
        <p:nvSpPr>
          <p:cNvPr id="11" name="زر التالي">
            <a:hlinkClick r:id="" action="ppaction://hlinkshowjump?jump=nextslide"/>
          </p:cNvPr>
          <p:cNvSpPr/>
          <p:nvPr/>
        </p:nvSpPr>
        <p:spPr>
          <a:xfrm>
            <a:off x="8622792" y="5166360"/>
            <a:ext cx="3108960" cy="777240"/>
          </a:xfrm>
          <a:prstGeom prst="roundRect">
            <a:avLst>
              <a:gd name="adj" fmla="val 49412"/>
            </a:avLst>
          </a:prstGeom>
          <a:solidFill>
            <a:srgbClr val="F27C1E"/>
          </a:solidFill>
          <a:ln w="31750">
            <a:solidFill>
              <a:srgbClr val="FFFFFF"/>
            </a:solidFill>
            <a:prstDash val="solid"/>
          </a:ln>
          <a:effectLst>
            <a:outerShdw blurRad="76200" dist="38100" dir="5400000" algn="bl" rotWithShape="0">
              <a:srgbClr val="000000">
                <a:alpha val="35000"/>
              </a:srgbClr>
            </a:outerShdw>
          </a:effectLst>
        </p:spPr>
        <p:txBody>
          <a:bodyPr/>
          <a:lstStyle/>
          <a:p>
            <a:endParaRPr lang="ar-OM"/>
          </a:p>
        </p:txBody>
      </p:sp>
      <p:sp>
        <p:nvSpPr>
          <p:cNvPr id="12" name="زر التالي">
            <a:hlinkClick r:id="" action="ppaction://hlinkshowjump?jump=nextslide"/>
          </p:cNvPr>
          <p:cNvSpPr txBox="1"/>
          <p:nvPr/>
        </p:nvSpPr>
        <p:spPr>
          <a:xfrm>
            <a:off x="9418320" y="5166360"/>
            <a:ext cx="2103120" cy="77724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ابدأ الدرس</a:t>
            </a:r>
            <a:endParaRPr lang="ar-OM" sz="2400" dirty="0"/>
          </a:p>
        </p:txBody>
      </p:sp>
      <p:pic>
        <p:nvPicPr>
          <p:cNvPr id="13" name="زر التالي" descr="preencoded.png">
            <a:hlinkClick r:id="" action="ppaction://hlinkshowjump?jump=nextslide"/>
          </p:cNvPr>
          <p:cNvPicPr>
            <a:picLocks noChangeAspect="1"/>
          </p:cNvPicPr>
          <p:nvPr/>
        </p:nvPicPr>
        <p:blipFill>
          <a:blip r:embed="rId5"/>
          <a:stretch>
            <a:fillRect/>
          </a:stretch>
        </p:blipFill>
        <p:spPr>
          <a:xfrm>
            <a:off x="8961120" y="5367528"/>
            <a:ext cx="365760" cy="365760"/>
          </a:xfrm>
          <a:prstGeom prst="rect">
            <a:avLst/>
          </a:prstGeom>
        </p:spPr>
      </p:pic>
      <p:pic>
        <p:nvPicPr>
          <p:cNvPr id="14" name="img pic_icon.png" descr="a/pic_icon.png"/>
          <p:cNvPicPr>
            <a:picLocks noChangeAspect="1"/>
          </p:cNvPicPr>
          <p:nvPr/>
        </p:nvPicPr>
        <p:blipFill>
          <a:blip r:embed="rId6"/>
          <a:stretch>
            <a:fillRect/>
          </a:stretch>
        </p:blipFill>
        <p:spPr>
          <a:xfrm>
            <a:off x="6477321" y="4983480"/>
            <a:ext cx="1218558"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0D3B6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مقدمة الدرس</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خريطة الدرس</a:t>
            </a:r>
            <a:endParaRPr lang="ar-OM" sz="3200" dirty="0"/>
          </a:p>
        </p:txBody>
      </p:sp>
      <p:sp>
        <p:nvSpPr>
          <p:cNvPr id="5" name="زر انتقال">
            <a:hlinkClick r:id="rId3" action="ppaction://hlinksldjump"/>
          </p:cNvPr>
          <p:cNvSpPr/>
          <p:nvPr/>
        </p:nvSpPr>
        <p:spPr>
          <a:xfrm>
            <a:off x="9125712" y="1325880"/>
            <a:ext cx="2606040" cy="1965960"/>
          </a:xfrm>
          <a:prstGeom prst="roundRect">
            <a:avLst>
              <a:gd name="adj" fmla="val 11628"/>
            </a:avLst>
          </a:prstGeom>
          <a:solidFill>
            <a:srgbClr val="0D3B66"/>
          </a:solidFill>
          <a:ln w="25400">
            <a:solidFill>
              <a:srgbClr val="FFFFFF"/>
            </a:solidFill>
            <a:prstDash val="solid"/>
          </a:ln>
          <a:effectLst>
            <a:outerShdw blurRad="101600" dist="38100" dir="5400000" algn="bl" rotWithShape="0">
              <a:srgbClr val="6B7F95">
                <a:alpha val="35000"/>
              </a:srgbClr>
            </a:outerShdw>
          </a:effectLst>
        </p:spPr>
        <p:txBody>
          <a:bodyPr/>
          <a:lstStyle/>
          <a:p>
            <a:endParaRPr lang="ar-OM"/>
          </a:p>
        </p:txBody>
      </p:sp>
      <p:sp>
        <p:nvSpPr>
          <p:cNvPr id="6" name="زر انتقال">
            <a:hlinkClick r:id="rId3" action="ppaction://hlinksldjump"/>
          </p:cNvPr>
          <p:cNvSpPr/>
          <p:nvPr/>
        </p:nvSpPr>
        <p:spPr>
          <a:xfrm>
            <a:off x="9971532" y="1554480"/>
            <a:ext cx="914400" cy="914400"/>
          </a:xfrm>
          <a:prstGeom prst="ellipse">
            <a:avLst/>
          </a:prstGeom>
          <a:solidFill>
            <a:srgbClr val="FFFFFF"/>
          </a:solidFill>
          <a:ln/>
        </p:spPr>
        <p:txBody>
          <a:bodyPr/>
          <a:lstStyle/>
          <a:p>
            <a:endParaRPr lang="ar-OM"/>
          </a:p>
        </p:txBody>
      </p:sp>
      <p:pic>
        <p:nvPicPr>
          <p:cNvPr id="7" name="زر انتقال" descr="preencoded.png">
            <a:hlinkClick r:id="rId3" action="ppaction://hlinksldjump"/>
          </p:cNvPr>
          <p:cNvPicPr>
            <a:picLocks noChangeAspect="1"/>
          </p:cNvPicPr>
          <p:nvPr/>
        </p:nvPicPr>
        <p:blipFill>
          <a:blip r:embed="rId4"/>
          <a:stretch>
            <a:fillRect/>
          </a:stretch>
        </p:blipFill>
        <p:spPr>
          <a:xfrm>
            <a:off x="10177272" y="1760220"/>
            <a:ext cx="502920" cy="502920"/>
          </a:xfrm>
          <a:prstGeom prst="rect">
            <a:avLst/>
          </a:prstGeom>
        </p:spPr>
      </p:pic>
      <p:sp>
        <p:nvSpPr>
          <p:cNvPr id="8" name="زر انتقال">
            <a:hlinkClick r:id="rId3" action="ppaction://hlinksldjump"/>
          </p:cNvPr>
          <p:cNvSpPr txBox="1"/>
          <p:nvPr/>
        </p:nvSpPr>
        <p:spPr>
          <a:xfrm>
            <a:off x="9217152" y="2560320"/>
            <a:ext cx="2423160" cy="594360"/>
          </a:xfrm>
          <a:prstGeom prst="rect">
            <a:avLst/>
          </a:prstGeom>
          <a:noFill/>
          <a:ln/>
        </p:spPr>
        <p:txBody>
          <a:bodyPr wrap="square" lIns="635" tIns="635" rIns="635" bIns="635" rtlCol="0" anchor="ctr"/>
          <a:lstStyle/>
          <a:p>
            <a:pPr marL="0" indent="0" algn="ctr" rtl="1">
              <a:buNone/>
            </a:pPr>
            <a:r>
              <a:rPr lang="ar-OM" altLang="en-US" sz="2100" b="1" dirty="0">
                <a:solidFill>
                  <a:srgbClr val="FFFFFF"/>
                </a:solidFill>
                <a:latin typeface="Arial" pitchFamily="34" charset="0"/>
                <a:ea typeface="Arial" pitchFamily="34" charset="-122"/>
                <a:cs typeface="Arial" pitchFamily="34" charset="-120"/>
              </a:rPr>
              <a:t>أهداف الدرس</a:t>
            </a:r>
            <a:endParaRPr lang="ar-OM" sz="2100" dirty="0"/>
          </a:p>
        </p:txBody>
      </p:sp>
      <p:sp>
        <p:nvSpPr>
          <p:cNvPr id="9" name="زر انتقال">
            <a:hlinkClick r:id="rId3" action="ppaction://hlinksldjump"/>
          </p:cNvPr>
          <p:cNvSpPr/>
          <p:nvPr/>
        </p:nvSpPr>
        <p:spPr>
          <a:xfrm>
            <a:off x="11274552" y="1435608"/>
            <a:ext cx="347472" cy="347472"/>
          </a:xfrm>
          <a:prstGeom prst="ellipse">
            <a:avLst/>
          </a:prstGeom>
          <a:solidFill>
            <a:srgbClr val="FFFFFF"/>
          </a:solidFill>
          <a:ln/>
        </p:spPr>
        <p:txBody>
          <a:bodyPr/>
          <a:lstStyle/>
          <a:p>
            <a:endParaRPr lang="ar-OM"/>
          </a:p>
        </p:txBody>
      </p:sp>
      <p:sp>
        <p:nvSpPr>
          <p:cNvPr id="10" name="زر انتقال">
            <a:hlinkClick r:id="rId3" action="ppaction://hlinksldjump"/>
          </p:cNvPr>
          <p:cNvSpPr txBox="1"/>
          <p:nvPr/>
        </p:nvSpPr>
        <p:spPr>
          <a:xfrm>
            <a:off x="11274552" y="1435608"/>
            <a:ext cx="347472" cy="347472"/>
          </a:xfrm>
          <a:prstGeom prst="rect">
            <a:avLst/>
          </a:prstGeom>
          <a:noFill/>
          <a:ln/>
        </p:spPr>
        <p:txBody>
          <a:bodyPr wrap="square" lIns="0" tIns="0" rIns="0" bIns="0" rtlCol="0" anchor="ctr"/>
          <a:lstStyle/>
          <a:p>
            <a:pPr marL="0" indent="0" algn="ctr">
              <a:buNone/>
            </a:pPr>
            <a:r>
              <a:rPr lang="en-US" sz="1300" b="1" dirty="0">
                <a:solidFill>
                  <a:srgbClr val="0D3B66"/>
                </a:solidFill>
                <a:latin typeface="Arial" pitchFamily="34" charset="0"/>
                <a:ea typeface="Arial" pitchFamily="34" charset="-122"/>
                <a:cs typeface="Arial" pitchFamily="34" charset="-120"/>
              </a:rPr>
              <a:t>1</a:t>
            </a:r>
            <a:endParaRPr lang="en-US" sz="1300" dirty="0"/>
          </a:p>
        </p:txBody>
      </p:sp>
      <p:sp>
        <p:nvSpPr>
          <p:cNvPr id="11" name="زر انتقال">
            <a:hlinkClick r:id="rId5" action="ppaction://hlinksldjump"/>
          </p:cNvPr>
          <p:cNvSpPr/>
          <p:nvPr/>
        </p:nvSpPr>
        <p:spPr>
          <a:xfrm>
            <a:off x="6236208" y="1325880"/>
            <a:ext cx="2606040" cy="1965960"/>
          </a:xfrm>
          <a:prstGeom prst="roundRect">
            <a:avLst>
              <a:gd name="adj" fmla="val 11628"/>
            </a:avLst>
          </a:prstGeom>
          <a:solidFill>
            <a:srgbClr val="4FA62A"/>
          </a:solidFill>
          <a:ln w="25400">
            <a:solidFill>
              <a:srgbClr val="FFFFFF"/>
            </a:solidFill>
            <a:prstDash val="solid"/>
          </a:ln>
          <a:effectLst>
            <a:outerShdw blurRad="101600" dist="38100" dir="5400000" algn="bl" rotWithShape="0">
              <a:srgbClr val="6B7F95">
                <a:alpha val="35000"/>
              </a:srgbClr>
            </a:outerShdw>
          </a:effectLst>
        </p:spPr>
        <p:txBody>
          <a:bodyPr/>
          <a:lstStyle/>
          <a:p>
            <a:endParaRPr lang="ar-OM"/>
          </a:p>
        </p:txBody>
      </p:sp>
      <p:sp>
        <p:nvSpPr>
          <p:cNvPr id="12" name="زر انتقال">
            <a:hlinkClick r:id="rId5" action="ppaction://hlinksldjump"/>
          </p:cNvPr>
          <p:cNvSpPr/>
          <p:nvPr/>
        </p:nvSpPr>
        <p:spPr>
          <a:xfrm>
            <a:off x="7082028" y="1554480"/>
            <a:ext cx="914400" cy="914400"/>
          </a:xfrm>
          <a:prstGeom prst="ellipse">
            <a:avLst/>
          </a:prstGeom>
          <a:solidFill>
            <a:srgbClr val="FFFFFF"/>
          </a:solidFill>
          <a:ln/>
        </p:spPr>
        <p:txBody>
          <a:bodyPr/>
          <a:lstStyle/>
          <a:p>
            <a:endParaRPr lang="ar-OM"/>
          </a:p>
        </p:txBody>
      </p:sp>
      <p:pic>
        <p:nvPicPr>
          <p:cNvPr id="13" name="زر انتقال" descr="preencoded.png">
            <a:hlinkClick r:id="rId5" action="ppaction://hlinksldjump"/>
          </p:cNvPr>
          <p:cNvPicPr>
            <a:picLocks noChangeAspect="1"/>
          </p:cNvPicPr>
          <p:nvPr/>
        </p:nvPicPr>
        <p:blipFill>
          <a:blip r:embed="rId6"/>
          <a:stretch>
            <a:fillRect/>
          </a:stretch>
        </p:blipFill>
        <p:spPr>
          <a:xfrm>
            <a:off x="7287768" y="1760220"/>
            <a:ext cx="502920" cy="502920"/>
          </a:xfrm>
          <a:prstGeom prst="rect">
            <a:avLst/>
          </a:prstGeom>
        </p:spPr>
      </p:pic>
      <p:sp>
        <p:nvSpPr>
          <p:cNvPr id="14" name="زر انتقال">
            <a:hlinkClick r:id="rId5" action="ppaction://hlinksldjump"/>
          </p:cNvPr>
          <p:cNvSpPr txBox="1"/>
          <p:nvPr/>
        </p:nvSpPr>
        <p:spPr>
          <a:xfrm>
            <a:off x="6327648" y="2560320"/>
            <a:ext cx="2423160" cy="594360"/>
          </a:xfrm>
          <a:prstGeom prst="rect">
            <a:avLst/>
          </a:prstGeom>
          <a:noFill/>
          <a:ln/>
        </p:spPr>
        <p:txBody>
          <a:bodyPr wrap="square" lIns="635" tIns="635" rIns="635" bIns="635" rtlCol="0" anchor="ctr"/>
          <a:lstStyle/>
          <a:p>
            <a:pPr marL="0" indent="0" algn="ctr" rtl="1">
              <a:buNone/>
            </a:pPr>
            <a:r>
              <a:rPr lang="ar-OM" altLang="en-US" sz="2100" b="1" dirty="0">
                <a:solidFill>
                  <a:srgbClr val="FFFFFF"/>
                </a:solidFill>
                <a:latin typeface="Arial" pitchFamily="34" charset="0"/>
                <a:ea typeface="Arial" pitchFamily="34" charset="-122"/>
                <a:cs typeface="Arial" pitchFamily="34" charset="-120"/>
              </a:rPr>
              <a:t>إدراج صورة</a:t>
            </a:r>
            <a:endParaRPr lang="ar-OM" sz="2100" dirty="0"/>
          </a:p>
        </p:txBody>
      </p:sp>
      <p:sp>
        <p:nvSpPr>
          <p:cNvPr id="15" name="زر انتقال">
            <a:hlinkClick r:id="rId5" action="ppaction://hlinksldjump"/>
          </p:cNvPr>
          <p:cNvSpPr/>
          <p:nvPr/>
        </p:nvSpPr>
        <p:spPr>
          <a:xfrm>
            <a:off x="8385048" y="1435608"/>
            <a:ext cx="347472" cy="347472"/>
          </a:xfrm>
          <a:prstGeom prst="ellipse">
            <a:avLst/>
          </a:prstGeom>
          <a:solidFill>
            <a:srgbClr val="FFFFFF"/>
          </a:solidFill>
          <a:ln/>
        </p:spPr>
        <p:txBody>
          <a:bodyPr/>
          <a:lstStyle/>
          <a:p>
            <a:endParaRPr lang="ar-OM"/>
          </a:p>
        </p:txBody>
      </p:sp>
      <p:sp>
        <p:nvSpPr>
          <p:cNvPr id="16" name="زر انتقال">
            <a:hlinkClick r:id="rId5" action="ppaction://hlinksldjump"/>
          </p:cNvPr>
          <p:cNvSpPr txBox="1"/>
          <p:nvPr/>
        </p:nvSpPr>
        <p:spPr>
          <a:xfrm>
            <a:off x="8385048" y="1435608"/>
            <a:ext cx="347472" cy="347472"/>
          </a:xfrm>
          <a:prstGeom prst="rect">
            <a:avLst/>
          </a:prstGeom>
          <a:noFill/>
          <a:ln/>
        </p:spPr>
        <p:txBody>
          <a:bodyPr wrap="square" lIns="0" tIns="0" rIns="0" bIns="0" rtlCol="0" anchor="ctr"/>
          <a:lstStyle/>
          <a:p>
            <a:pPr marL="0" indent="0" algn="ctr">
              <a:buNone/>
            </a:pPr>
            <a:r>
              <a:rPr lang="en-US" sz="1300" b="1" dirty="0">
                <a:solidFill>
                  <a:srgbClr val="4FA62A"/>
                </a:solidFill>
                <a:latin typeface="Arial" pitchFamily="34" charset="0"/>
                <a:ea typeface="Arial" pitchFamily="34" charset="-122"/>
                <a:cs typeface="Arial" pitchFamily="34" charset="-120"/>
              </a:rPr>
              <a:t>2</a:t>
            </a:r>
            <a:endParaRPr lang="en-US" sz="1300" dirty="0"/>
          </a:p>
        </p:txBody>
      </p:sp>
      <p:sp>
        <p:nvSpPr>
          <p:cNvPr id="17" name="زر انتقال">
            <a:hlinkClick r:id="rId7" action="ppaction://hlinksldjump"/>
          </p:cNvPr>
          <p:cNvSpPr/>
          <p:nvPr/>
        </p:nvSpPr>
        <p:spPr>
          <a:xfrm>
            <a:off x="3346704" y="1325880"/>
            <a:ext cx="2606040" cy="1965960"/>
          </a:xfrm>
          <a:prstGeom prst="roundRect">
            <a:avLst>
              <a:gd name="adj" fmla="val 11628"/>
            </a:avLst>
          </a:prstGeom>
          <a:solidFill>
            <a:srgbClr val="F2A900"/>
          </a:solidFill>
          <a:ln w="25400">
            <a:solidFill>
              <a:srgbClr val="FFFFFF"/>
            </a:solidFill>
            <a:prstDash val="solid"/>
          </a:ln>
          <a:effectLst>
            <a:outerShdw blurRad="101600" dist="38100" dir="5400000" algn="bl" rotWithShape="0">
              <a:srgbClr val="6B7F95">
                <a:alpha val="35000"/>
              </a:srgbClr>
            </a:outerShdw>
          </a:effectLst>
        </p:spPr>
        <p:txBody>
          <a:bodyPr/>
          <a:lstStyle/>
          <a:p>
            <a:endParaRPr lang="ar-OM"/>
          </a:p>
        </p:txBody>
      </p:sp>
      <p:sp>
        <p:nvSpPr>
          <p:cNvPr id="18" name="زر انتقال">
            <a:hlinkClick r:id="rId7" action="ppaction://hlinksldjump"/>
          </p:cNvPr>
          <p:cNvSpPr/>
          <p:nvPr/>
        </p:nvSpPr>
        <p:spPr>
          <a:xfrm>
            <a:off x="4192524" y="1554480"/>
            <a:ext cx="914400" cy="914400"/>
          </a:xfrm>
          <a:prstGeom prst="ellipse">
            <a:avLst/>
          </a:prstGeom>
          <a:solidFill>
            <a:srgbClr val="FFFFFF"/>
          </a:solidFill>
          <a:ln/>
        </p:spPr>
        <p:txBody>
          <a:bodyPr/>
          <a:lstStyle/>
          <a:p>
            <a:endParaRPr lang="ar-OM"/>
          </a:p>
        </p:txBody>
      </p:sp>
      <p:pic>
        <p:nvPicPr>
          <p:cNvPr id="19" name="زر انتقال" descr="preencoded.png">
            <a:hlinkClick r:id="rId7" action="ppaction://hlinksldjump"/>
          </p:cNvPr>
          <p:cNvPicPr>
            <a:picLocks noChangeAspect="1"/>
          </p:cNvPicPr>
          <p:nvPr/>
        </p:nvPicPr>
        <p:blipFill>
          <a:blip r:embed="rId8"/>
          <a:stretch>
            <a:fillRect/>
          </a:stretch>
        </p:blipFill>
        <p:spPr>
          <a:xfrm>
            <a:off x="4398264" y="1760220"/>
            <a:ext cx="502920" cy="502920"/>
          </a:xfrm>
          <a:prstGeom prst="rect">
            <a:avLst/>
          </a:prstGeom>
        </p:spPr>
      </p:pic>
      <p:sp>
        <p:nvSpPr>
          <p:cNvPr id="20" name="زر انتقال">
            <a:hlinkClick r:id="rId7" action="ppaction://hlinksldjump"/>
          </p:cNvPr>
          <p:cNvSpPr txBox="1"/>
          <p:nvPr/>
        </p:nvSpPr>
        <p:spPr>
          <a:xfrm>
            <a:off x="3438144" y="2560320"/>
            <a:ext cx="2423160" cy="594360"/>
          </a:xfrm>
          <a:prstGeom prst="rect">
            <a:avLst/>
          </a:prstGeom>
          <a:noFill/>
          <a:ln/>
        </p:spPr>
        <p:txBody>
          <a:bodyPr wrap="square" lIns="635" tIns="635" rIns="635" bIns="635" rtlCol="0" anchor="ctr"/>
          <a:lstStyle/>
          <a:p>
            <a:pPr marL="0" indent="0" algn="ctr" rtl="1">
              <a:buNone/>
            </a:pPr>
            <a:r>
              <a:rPr lang="ar-OM" altLang="en-US" sz="2100" b="1" dirty="0">
                <a:solidFill>
                  <a:srgbClr val="0D3B66"/>
                </a:solidFill>
                <a:latin typeface="Arial" pitchFamily="34" charset="0"/>
                <a:ea typeface="Arial" pitchFamily="34" charset="-122"/>
                <a:cs typeface="Arial" pitchFamily="34" charset="-120"/>
              </a:rPr>
              <a:t>الحجم والقص</a:t>
            </a:r>
            <a:endParaRPr lang="ar-OM" sz="2100" dirty="0"/>
          </a:p>
        </p:txBody>
      </p:sp>
      <p:sp>
        <p:nvSpPr>
          <p:cNvPr id="21" name="زر انتقال">
            <a:hlinkClick r:id="rId7" action="ppaction://hlinksldjump"/>
          </p:cNvPr>
          <p:cNvSpPr/>
          <p:nvPr/>
        </p:nvSpPr>
        <p:spPr>
          <a:xfrm>
            <a:off x="5495544" y="1435608"/>
            <a:ext cx="347472" cy="347472"/>
          </a:xfrm>
          <a:prstGeom prst="ellipse">
            <a:avLst/>
          </a:prstGeom>
          <a:solidFill>
            <a:srgbClr val="FFFFFF"/>
          </a:solidFill>
          <a:ln/>
        </p:spPr>
        <p:txBody>
          <a:bodyPr/>
          <a:lstStyle/>
          <a:p>
            <a:endParaRPr lang="ar-OM"/>
          </a:p>
        </p:txBody>
      </p:sp>
      <p:sp>
        <p:nvSpPr>
          <p:cNvPr id="22" name="زر انتقال">
            <a:hlinkClick r:id="rId7" action="ppaction://hlinksldjump"/>
          </p:cNvPr>
          <p:cNvSpPr txBox="1"/>
          <p:nvPr/>
        </p:nvSpPr>
        <p:spPr>
          <a:xfrm>
            <a:off x="5495544" y="1435608"/>
            <a:ext cx="347472" cy="347472"/>
          </a:xfrm>
          <a:prstGeom prst="rect">
            <a:avLst/>
          </a:prstGeom>
          <a:noFill/>
          <a:ln/>
        </p:spPr>
        <p:txBody>
          <a:bodyPr wrap="square" lIns="0" tIns="0" rIns="0" bIns="0" rtlCol="0" anchor="ctr"/>
          <a:lstStyle/>
          <a:p>
            <a:pPr marL="0" indent="0" algn="ctr">
              <a:buNone/>
            </a:pPr>
            <a:r>
              <a:rPr lang="en-US" sz="1300" b="1" dirty="0">
                <a:solidFill>
                  <a:srgbClr val="0D3B66"/>
                </a:solidFill>
                <a:latin typeface="Arial" pitchFamily="34" charset="0"/>
                <a:ea typeface="Arial" pitchFamily="34" charset="-122"/>
                <a:cs typeface="Arial" pitchFamily="34" charset="-120"/>
              </a:rPr>
              <a:t>3</a:t>
            </a:r>
            <a:endParaRPr lang="en-US" sz="1300" dirty="0"/>
          </a:p>
        </p:txBody>
      </p:sp>
      <p:sp>
        <p:nvSpPr>
          <p:cNvPr id="23" name="زر انتقال">
            <a:hlinkClick r:id="rId9" action="ppaction://hlinksldjump"/>
          </p:cNvPr>
          <p:cNvSpPr/>
          <p:nvPr/>
        </p:nvSpPr>
        <p:spPr>
          <a:xfrm>
            <a:off x="457200" y="1325880"/>
            <a:ext cx="2606040" cy="1965960"/>
          </a:xfrm>
          <a:prstGeom prst="roundRect">
            <a:avLst>
              <a:gd name="adj" fmla="val 11628"/>
            </a:avLst>
          </a:prstGeom>
          <a:solidFill>
            <a:srgbClr val="1A9BB0"/>
          </a:solidFill>
          <a:ln w="25400">
            <a:solidFill>
              <a:srgbClr val="FFFFFF"/>
            </a:solidFill>
            <a:prstDash val="solid"/>
          </a:ln>
          <a:effectLst>
            <a:outerShdw blurRad="101600" dist="38100" dir="5400000" algn="bl" rotWithShape="0">
              <a:srgbClr val="6B7F95">
                <a:alpha val="35000"/>
              </a:srgbClr>
            </a:outerShdw>
          </a:effectLst>
        </p:spPr>
        <p:txBody>
          <a:bodyPr/>
          <a:lstStyle/>
          <a:p>
            <a:endParaRPr lang="ar-OM"/>
          </a:p>
        </p:txBody>
      </p:sp>
      <p:sp>
        <p:nvSpPr>
          <p:cNvPr id="24" name="زر انتقال">
            <a:hlinkClick r:id="rId9" action="ppaction://hlinksldjump"/>
          </p:cNvPr>
          <p:cNvSpPr/>
          <p:nvPr/>
        </p:nvSpPr>
        <p:spPr>
          <a:xfrm>
            <a:off x="1303020" y="1554480"/>
            <a:ext cx="914400" cy="914400"/>
          </a:xfrm>
          <a:prstGeom prst="ellipse">
            <a:avLst/>
          </a:prstGeom>
          <a:solidFill>
            <a:srgbClr val="FFFFFF"/>
          </a:solidFill>
          <a:ln/>
        </p:spPr>
        <p:txBody>
          <a:bodyPr/>
          <a:lstStyle/>
          <a:p>
            <a:endParaRPr lang="ar-OM"/>
          </a:p>
        </p:txBody>
      </p:sp>
      <p:pic>
        <p:nvPicPr>
          <p:cNvPr id="25" name="زر انتقال" descr="preencoded.png">
            <a:hlinkClick r:id="rId9" action="ppaction://hlinksldjump"/>
          </p:cNvPr>
          <p:cNvPicPr>
            <a:picLocks noChangeAspect="1"/>
          </p:cNvPicPr>
          <p:nvPr/>
        </p:nvPicPr>
        <p:blipFill>
          <a:blip r:embed="rId10"/>
          <a:stretch>
            <a:fillRect/>
          </a:stretch>
        </p:blipFill>
        <p:spPr>
          <a:xfrm>
            <a:off x="1508760" y="1760220"/>
            <a:ext cx="502920" cy="502920"/>
          </a:xfrm>
          <a:prstGeom prst="rect">
            <a:avLst/>
          </a:prstGeom>
        </p:spPr>
      </p:pic>
      <p:sp>
        <p:nvSpPr>
          <p:cNvPr id="26" name="زر انتقال">
            <a:hlinkClick r:id="rId9" action="ppaction://hlinksldjump"/>
          </p:cNvPr>
          <p:cNvSpPr txBox="1"/>
          <p:nvPr/>
        </p:nvSpPr>
        <p:spPr>
          <a:xfrm>
            <a:off x="548640" y="2560320"/>
            <a:ext cx="2423160" cy="594360"/>
          </a:xfrm>
          <a:prstGeom prst="rect">
            <a:avLst/>
          </a:prstGeom>
          <a:noFill/>
          <a:ln/>
        </p:spPr>
        <p:txBody>
          <a:bodyPr wrap="square" lIns="635" tIns="635" rIns="635" bIns="635" rtlCol="0" anchor="ctr"/>
          <a:lstStyle/>
          <a:p>
            <a:pPr marL="0" indent="0" algn="ctr" rtl="1">
              <a:buNone/>
            </a:pPr>
            <a:r>
              <a:rPr lang="ar-OM" altLang="en-US" sz="2100" b="1" dirty="0">
                <a:solidFill>
                  <a:srgbClr val="FFFFFF"/>
                </a:solidFill>
                <a:latin typeface="Arial" pitchFamily="34" charset="0"/>
                <a:ea typeface="Arial" pitchFamily="34" charset="-122"/>
                <a:cs typeface="Arial" pitchFamily="34" charset="-120"/>
              </a:rPr>
              <a:t>الحدود والنمط</a:t>
            </a:r>
            <a:endParaRPr lang="ar-OM" sz="2100" dirty="0"/>
          </a:p>
        </p:txBody>
      </p:sp>
      <p:sp>
        <p:nvSpPr>
          <p:cNvPr id="27" name="زر انتقال">
            <a:hlinkClick r:id="rId9" action="ppaction://hlinksldjump"/>
          </p:cNvPr>
          <p:cNvSpPr/>
          <p:nvPr/>
        </p:nvSpPr>
        <p:spPr>
          <a:xfrm>
            <a:off x="2606040" y="1435608"/>
            <a:ext cx="347472" cy="347472"/>
          </a:xfrm>
          <a:prstGeom prst="ellipse">
            <a:avLst/>
          </a:prstGeom>
          <a:solidFill>
            <a:srgbClr val="FFFFFF"/>
          </a:solidFill>
          <a:ln/>
        </p:spPr>
        <p:txBody>
          <a:bodyPr/>
          <a:lstStyle/>
          <a:p>
            <a:endParaRPr lang="ar-OM"/>
          </a:p>
        </p:txBody>
      </p:sp>
      <p:sp>
        <p:nvSpPr>
          <p:cNvPr id="28" name="زر انتقال">
            <a:hlinkClick r:id="rId9" action="ppaction://hlinksldjump"/>
          </p:cNvPr>
          <p:cNvSpPr txBox="1"/>
          <p:nvPr/>
        </p:nvSpPr>
        <p:spPr>
          <a:xfrm>
            <a:off x="2606040" y="1435608"/>
            <a:ext cx="347472" cy="347472"/>
          </a:xfrm>
          <a:prstGeom prst="rect">
            <a:avLst/>
          </a:prstGeom>
          <a:noFill/>
          <a:ln/>
        </p:spPr>
        <p:txBody>
          <a:bodyPr wrap="square" lIns="0" tIns="0" rIns="0" bIns="0" rtlCol="0" anchor="ctr"/>
          <a:lstStyle/>
          <a:p>
            <a:pPr marL="0" indent="0" algn="ctr">
              <a:buNone/>
            </a:pPr>
            <a:r>
              <a:rPr lang="en-US" sz="1300" b="1" dirty="0">
                <a:solidFill>
                  <a:srgbClr val="1A9BB0"/>
                </a:solidFill>
                <a:latin typeface="Arial" pitchFamily="34" charset="0"/>
                <a:ea typeface="Arial" pitchFamily="34" charset="-122"/>
                <a:cs typeface="Arial" pitchFamily="34" charset="-120"/>
              </a:rPr>
              <a:t>4</a:t>
            </a:r>
            <a:endParaRPr lang="en-US" sz="1300" dirty="0"/>
          </a:p>
        </p:txBody>
      </p:sp>
      <p:sp>
        <p:nvSpPr>
          <p:cNvPr id="29" name="زر انتقال">
            <a:hlinkClick r:id="rId11" action="ppaction://hlinksldjump"/>
          </p:cNvPr>
          <p:cNvSpPr/>
          <p:nvPr/>
        </p:nvSpPr>
        <p:spPr>
          <a:xfrm>
            <a:off x="7682332" y="3566160"/>
            <a:ext cx="2606040" cy="1965960"/>
          </a:xfrm>
          <a:prstGeom prst="roundRect">
            <a:avLst>
              <a:gd name="adj" fmla="val 11628"/>
            </a:avLst>
          </a:prstGeom>
          <a:solidFill>
            <a:srgbClr val="E2453B"/>
          </a:solidFill>
          <a:ln w="25400">
            <a:solidFill>
              <a:srgbClr val="FFFFFF"/>
            </a:solidFill>
            <a:prstDash val="solid"/>
          </a:ln>
          <a:effectLst>
            <a:outerShdw blurRad="101600" dist="38100" dir="5400000" algn="bl" rotWithShape="0">
              <a:srgbClr val="6B7F95">
                <a:alpha val="35000"/>
              </a:srgbClr>
            </a:outerShdw>
          </a:effectLst>
        </p:spPr>
        <p:txBody>
          <a:bodyPr/>
          <a:lstStyle/>
          <a:p>
            <a:endParaRPr lang="ar-OM"/>
          </a:p>
        </p:txBody>
      </p:sp>
      <p:sp>
        <p:nvSpPr>
          <p:cNvPr id="30" name="زر انتقال">
            <a:hlinkClick r:id="rId11" action="ppaction://hlinksldjump"/>
          </p:cNvPr>
          <p:cNvSpPr/>
          <p:nvPr/>
        </p:nvSpPr>
        <p:spPr>
          <a:xfrm>
            <a:off x="8528152" y="3794760"/>
            <a:ext cx="914400" cy="914400"/>
          </a:xfrm>
          <a:prstGeom prst="ellipse">
            <a:avLst/>
          </a:prstGeom>
          <a:solidFill>
            <a:srgbClr val="FFFFFF"/>
          </a:solidFill>
          <a:ln/>
        </p:spPr>
        <p:txBody>
          <a:bodyPr/>
          <a:lstStyle/>
          <a:p>
            <a:endParaRPr lang="ar-OM"/>
          </a:p>
        </p:txBody>
      </p:sp>
      <p:pic>
        <p:nvPicPr>
          <p:cNvPr id="31" name="زر انتقال" descr="preencoded.png">
            <a:hlinkClick r:id="rId11" action="ppaction://hlinksldjump"/>
          </p:cNvPr>
          <p:cNvPicPr>
            <a:picLocks noChangeAspect="1"/>
          </p:cNvPicPr>
          <p:nvPr/>
        </p:nvPicPr>
        <p:blipFill>
          <a:blip r:embed="rId12"/>
          <a:stretch>
            <a:fillRect/>
          </a:stretch>
        </p:blipFill>
        <p:spPr>
          <a:xfrm>
            <a:off x="8733892" y="4000500"/>
            <a:ext cx="502920" cy="502920"/>
          </a:xfrm>
          <a:prstGeom prst="rect">
            <a:avLst/>
          </a:prstGeom>
        </p:spPr>
      </p:pic>
      <p:sp>
        <p:nvSpPr>
          <p:cNvPr id="32" name="زر انتقال">
            <a:hlinkClick r:id="rId11" action="ppaction://hlinksldjump"/>
          </p:cNvPr>
          <p:cNvSpPr txBox="1"/>
          <p:nvPr/>
        </p:nvSpPr>
        <p:spPr>
          <a:xfrm>
            <a:off x="7773772" y="4800600"/>
            <a:ext cx="2423160" cy="594360"/>
          </a:xfrm>
          <a:prstGeom prst="rect">
            <a:avLst/>
          </a:prstGeom>
          <a:noFill/>
          <a:ln/>
        </p:spPr>
        <p:txBody>
          <a:bodyPr wrap="square" lIns="635" tIns="635" rIns="635" bIns="635" rtlCol="0" anchor="ctr"/>
          <a:lstStyle/>
          <a:p>
            <a:pPr marL="0" indent="0" algn="ctr" rtl="1">
              <a:buNone/>
            </a:pPr>
            <a:r>
              <a:rPr lang="ar-OM" altLang="en-US" sz="2100" b="1" dirty="0">
                <a:solidFill>
                  <a:srgbClr val="FFFFFF"/>
                </a:solidFill>
                <a:latin typeface="Arial" pitchFamily="34" charset="0"/>
                <a:ea typeface="Arial" pitchFamily="34" charset="-122"/>
                <a:cs typeface="Arial" pitchFamily="34" charset="-120"/>
              </a:rPr>
              <a:t>التفاف النص</a:t>
            </a:r>
            <a:endParaRPr lang="ar-OM" sz="2100" dirty="0"/>
          </a:p>
        </p:txBody>
      </p:sp>
      <p:sp>
        <p:nvSpPr>
          <p:cNvPr id="33" name="زر انتقال">
            <a:hlinkClick r:id="rId11" action="ppaction://hlinksldjump"/>
          </p:cNvPr>
          <p:cNvSpPr/>
          <p:nvPr/>
        </p:nvSpPr>
        <p:spPr>
          <a:xfrm>
            <a:off x="9831172" y="3675888"/>
            <a:ext cx="347472" cy="347472"/>
          </a:xfrm>
          <a:prstGeom prst="ellipse">
            <a:avLst/>
          </a:prstGeom>
          <a:solidFill>
            <a:srgbClr val="FFFFFF"/>
          </a:solidFill>
          <a:ln/>
        </p:spPr>
        <p:txBody>
          <a:bodyPr/>
          <a:lstStyle/>
          <a:p>
            <a:endParaRPr lang="ar-OM"/>
          </a:p>
        </p:txBody>
      </p:sp>
      <p:sp>
        <p:nvSpPr>
          <p:cNvPr id="34" name="زر انتقال">
            <a:hlinkClick r:id="rId11" action="ppaction://hlinksldjump"/>
          </p:cNvPr>
          <p:cNvSpPr txBox="1"/>
          <p:nvPr/>
        </p:nvSpPr>
        <p:spPr>
          <a:xfrm>
            <a:off x="9831172" y="3675888"/>
            <a:ext cx="347472" cy="347472"/>
          </a:xfrm>
          <a:prstGeom prst="rect">
            <a:avLst/>
          </a:prstGeom>
          <a:noFill/>
          <a:ln/>
        </p:spPr>
        <p:txBody>
          <a:bodyPr wrap="square" lIns="0" tIns="0" rIns="0" bIns="0" rtlCol="0" anchor="ctr"/>
          <a:lstStyle/>
          <a:p>
            <a:pPr marL="0" indent="0" algn="ctr">
              <a:buNone/>
            </a:pPr>
            <a:r>
              <a:rPr lang="en-US" sz="1300" b="1" dirty="0">
                <a:solidFill>
                  <a:srgbClr val="E2453B"/>
                </a:solidFill>
                <a:latin typeface="Arial" pitchFamily="34" charset="0"/>
                <a:ea typeface="Arial" pitchFamily="34" charset="-122"/>
                <a:cs typeface="Arial" pitchFamily="34" charset="-120"/>
              </a:rPr>
              <a:t>5</a:t>
            </a:r>
            <a:endParaRPr lang="en-US" sz="1300" dirty="0"/>
          </a:p>
        </p:txBody>
      </p:sp>
      <p:sp>
        <p:nvSpPr>
          <p:cNvPr id="35" name="زر انتقال">
            <a:hlinkClick r:id="rId13" action="ppaction://hlinksldjump"/>
          </p:cNvPr>
          <p:cNvSpPr/>
          <p:nvPr/>
        </p:nvSpPr>
        <p:spPr>
          <a:xfrm>
            <a:off x="4792828" y="3566160"/>
            <a:ext cx="2606040" cy="1965960"/>
          </a:xfrm>
          <a:prstGeom prst="roundRect">
            <a:avLst>
              <a:gd name="adj" fmla="val 11628"/>
            </a:avLst>
          </a:prstGeom>
          <a:solidFill>
            <a:srgbClr val="7B4FD6"/>
          </a:solidFill>
          <a:ln w="25400">
            <a:solidFill>
              <a:srgbClr val="FFFFFF"/>
            </a:solidFill>
            <a:prstDash val="solid"/>
          </a:ln>
          <a:effectLst>
            <a:outerShdw blurRad="101600" dist="38100" dir="5400000" algn="bl" rotWithShape="0">
              <a:srgbClr val="6B7F95">
                <a:alpha val="35000"/>
              </a:srgbClr>
            </a:outerShdw>
          </a:effectLst>
        </p:spPr>
        <p:txBody>
          <a:bodyPr/>
          <a:lstStyle/>
          <a:p>
            <a:endParaRPr lang="ar-OM"/>
          </a:p>
        </p:txBody>
      </p:sp>
      <p:sp>
        <p:nvSpPr>
          <p:cNvPr id="36" name="زر انتقال">
            <a:hlinkClick r:id="rId13" action="ppaction://hlinksldjump"/>
          </p:cNvPr>
          <p:cNvSpPr/>
          <p:nvPr/>
        </p:nvSpPr>
        <p:spPr>
          <a:xfrm>
            <a:off x="5638648" y="3794760"/>
            <a:ext cx="914400" cy="914400"/>
          </a:xfrm>
          <a:prstGeom prst="ellipse">
            <a:avLst/>
          </a:prstGeom>
          <a:solidFill>
            <a:srgbClr val="FFFFFF"/>
          </a:solidFill>
          <a:ln/>
        </p:spPr>
        <p:txBody>
          <a:bodyPr/>
          <a:lstStyle/>
          <a:p>
            <a:endParaRPr lang="ar-OM"/>
          </a:p>
        </p:txBody>
      </p:sp>
      <p:pic>
        <p:nvPicPr>
          <p:cNvPr id="37" name="زر انتقال" descr="preencoded.png">
            <a:hlinkClick r:id="rId13" action="ppaction://hlinksldjump"/>
          </p:cNvPr>
          <p:cNvPicPr>
            <a:picLocks noChangeAspect="1"/>
          </p:cNvPicPr>
          <p:nvPr/>
        </p:nvPicPr>
        <p:blipFill>
          <a:blip r:embed="rId14"/>
          <a:stretch>
            <a:fillRect/>
          </a:stretch>
        </p:blipFill>
        <p:spPr>
          <a:xfrm>
            <a:off x="5844388" y="4000500"/>
            <a:ext cx="502920" cy="502920"/>
          </a:xfrm>
          <a:prstGeom prst="rect">
            <a:avLst/>
          </a:prstGeom>
        </p:spPr>
      </p:pic>
      <p:sp>
        <p:nvSpPr>
          <p:cNvPr id="38" name="زر انتقال">
            <a:hlinkClick r:id="rId13" action="ppaction://hlinksldjump"/>
          </p:cNvPr>
          <p:cNvSpPr txBox="1"/>
          <p:nvPr/>
        </p:nvSpPr>
        <p:spPr>
          <a:xfrm>
            <a:off x="4884268" y="4800600"/>
            <a:ext cx="2423160" cy="594360"/>
          </a:xfrm>
          <a:prstGeom prst="rect">
            <a:avLst/>
          </a:prstGeom>
          <a:noFill/>
          <a:ln/>
        </p:spPr>
        <p:txBody>
          <a:bodyPr wrap="square" lIns="635" tIns="635" rIns="635" bIns="635" rtlCol="0" anchor="ctr"/>
          <a:lstStyle/>
          <a:p>
            <a:pPr marL="0" indent="0" algn="ctr" rtl="1">
              <a:buNone/>
            </a:pPr>
            <a:r>
              <a:rPr lang="ar-OM" altLang="en-US" sz="2100" b="1" dirty="0">
                <a:solidFill>
                  <a:srgbClr val="FFFFFF"/>
                </a:solidFill>
                <a:latin typeface="Arial" pitchFamily="34" charset="0"/>
                <a:ea typeface="Arial" pitchFamily="34" charset="-122"/>
                <a:cs typeface="Arial" pitchFamily="34" charset="-120"/>
              </a:rPr>
              <a:t>المسابقة الكبرى</a:t>
            </a:r>
            <a:endParaRPr lang="ar-OM" sz="2100" dirty="0"/>
          </a:p>
        </p:txBody>
      </p:sp>
      <p:sp>
        <p:nvSpPr>
          <p:cNvPr id="39" name="زر انتقال">
            <a:hlinkClick r:id="rId13" action="ppaction://hlinksldjump"/>
          </p:cNvPr>
          <p:cNvSpPr/>
          <p:nvPr/>
        </p:nvSpPr>
        <p:spPr>
          <a:xfrm>
            <a:off x="6941668" y="3675888"/>
            <a:ext cx="347472" cy="347472"/>
          </a:xfrm>
          <a:prstGeom prst="ellipse">
            <a:avLst/>
          </a:prstGeom>
          <a:solidFill>
            <a:srgbClr val="FFFFFF"/>
          </a:solidFill>
          <a:ln/>
        </p:spPr>
        <p:txBody>
          <a:bodyPr/>
          <a:lstStyle/>
          <a:p>
            <a:endParaRPr lang="ar-OM"/>
          </a:p>
        </p:txBody>
      </p:sp>
      <p:sp>
        <p:nvSpPr>
          <p:cNvPr id="40" name="زر انتقال">
            <a:hlinkClick r:id="rId13" action="ppaction://hlinksldjump"/>
          </p:cNvPr>
          <p:cNvSpPr txBox="1"/>
          <p:nvPr/>
        </p:nvSpPr>
        <p:spPr>
          <a:xfrm>
            <a:off x="6941668" y="3675888"/>
            <a:ext cx="347472" cy="347472"/>
          </a:xfrm>
          <a:prstGeom prst="rect">
            <a:avLst/>
          </a:prstGeom>
          <a:noFill/>
          <a:ln/>
        </p:spPr>
        <p:txBody>
          <a:bodyPr wrap="square" lIns="0" tIns="0" rIns="0" bIns="0" rtlCol="0" anchor="ctr"/>
          <a:lstStyle/>
          <a:p>
            <a:pPr marL="0" indent="0" algn="ctr">
              <a:buNone/>
            </a:pPr>
            <a:r>
              <a:rPr lang="en-US" sz="1300" b="1" dirty="0">
                <a:solidFill>
                  <a:srgbClr val="7B4FD6"/>
                </a:solidFill>
                <a:latin typeface="Arial" pitchFamily="34" charset="0"/>
                <a:ea typeface="Arial" pitchFamily="34" charset="-122"/>
                <a:cs typeface="Arial" pitchFamily="34" charset="-120"/>
              </a:rPr>
              <a:t>6</a:t>
            </a:r>
            <a:endParaRPr lang="en-US" sz="1300" dirty="0"/>
          </a:p>
        </p:txBody>
      </p:sp>
      <p:sp>
        <p:nvSpPr>
          <p:cNvPr id="41" name="زر انتقال">
            <a:hlinkClick r:id="rId15" action="ppaction://hlinksldjump"/>
          </p:cNvPr>
          <p:cNvSpPr/>
          <p:nvPr/>
        </p:nvSpPr>
        <p:spPr>
          <a:xfrm>
            <a:off x="1903324" y="3566160"/>
            <a:ext cx="2606040" cy="1965960"/>
          </a:xfrm>
          <a:prstGeom prst="roundRect">
            <a:avLst>
              <a:gd name="adj" fmla="val 11628"/>
            </a:avLst>
          </a:prstGeom>
          <a:solidFill>
            <a:srgbClr val="F27C1E"/>
          </a:solidFill>
          <a:ln w="25400">
            <a:solidFill>
              <a:srgbClr val="FFFFFF"/>
            </a:solidFill>
            <a:prstDash val="solid"/>
          </a:ln>
          <a:effectLst>
            <a:outerShdw blurRad="101600" dist="38100" dir="5400000" algn="bl" rotWithShape="0">
              <a:srgbClr val="6B7F95">
                <a:alpha val="35000"/>
              </a:srgbClr>
            </a:outerShdw>
          </a:effectLst>
        </p:spPr>
        <p:txBody>
          <a:bodyPr/>
          <a:lstStyle/>
          <a:p>
            <a:endParaRPr lang="ar-OM"/>
          </a:p>
        </p:txBody>
      </p:sp>
      <p:sp>
        <p:nvSpPr>
          <p:cNvPr id="42" name="زر انتقال">
            <a:hlinkClick r:id="rId15" action="ppaction://hlinksldjump"/>
          </p:cNvPr>
          <p:cNvSpPr/>
          <p:nvPr/>
        </p:nvSpPr>
        <p:spPr>
          <a:xfrm>
            <a:off x="2749144" y="3794760"/>
            <a:ext cx="914400" cy="914400"/>
          </a:xfrm>
          <a:prstGeom prst="ellipse">
            <a:avLst/>
          </a:prstGeom>
          <a:solidFill>
            <a:srgbClr val="FFFFFF"/>
          </a:solidFill>
          <a:ln/>
        </p:spPr>
        <p:txBody>
          <a:bodyPr/>
          <a:lstStyle/>
          <a:p>
            <a:endParaRPr lang="ar-OM"/>
          </a:p>
        </p:txBody>
      </p:sp>
      <p:pic>
        <p:nvPicPr>
          <p:cNvPr id="43" name="زر انتقال" descr="preencoded.png">
            <a:hlinkClick r:id="rId15" action="ppaction://hlinksldjump"/>
          </p:cNvPr>
          <p:cNvPicPr>
            <a:picLocks noChangeAspect="1"/>
          </p:cNvPicPr>
          <p:nvPr/>
        </p:nvPicPr>
        <p:blipFill>
          <a:blip r:embed="rId16"/>
          <a:stretch>
            <a:fillRect/>
          </a:stretch>
        </p:blipFill>
        <p:spPr>
          <a:xfrm>
            <a:off x="2954884" y="4000500"/>
            <a:ext cx="502920" cy="502920"/>
          </a:xfrm>
          <a:prstGeom prst="rect">
            <a:avLst/>
          </a:prstGeom>
        </p:spPr>
      </p:pic>
      <p:sp>
        <p:nvSpPr>
          <p:cNvPr id="44" name="زر انتقال">
            <a:hlinkClick r:id="rId15" action="ppaction://hlinksldjump"/>
          </p:cNvPr>
          <p:cNvSpPr txBox="1"/>
          <p:nvPr/>
        </p:nvSpPr>
        <p:spPr>
          <a:xfrm>
            <a:off x="1994764" y="4800600"/>
            <a:ext cx="2423160" cy="594360"/>
          </a:xfrm>
          <a:prstGeom prst="rect">
            <a:avLst/>
          </a:prstGeom>
          <a:noFill/>
          <a:ln/>
        </p:spPr>
        <p:txBody>
          <a:bodyPr wrap="square" lIns="635" tIns="635" rIns="635" bIns="635" rtlCol="0" anchor="ctr"/>
          <a:lstStyle/>
          <a:p>
            <a:pPr marL="0" indent="0" algn="ctr" rtl="1">
              <a:buNone/>
            </a:pPr>
            <a:r>
              <a:rPr lang="ar-OM" altLang="en-US" sz="2100" b="1" dirty="0">
                <a:solidFill>
                  <a:srgbClr val="FFFFFF"/>
                </a:solidFill>
                <a:latin typeface="Arial" pitchFamily="34" charset="0"/>
                <a:ea typeface="Arial" pitchFamily="34" charset="-122"/>
                <a:cs typeface="Arial" pitchFamily="34" charset="-120"/>
              </a:rPr>
              <a:t>التطبيق العملي</a:t>
            </a:r>
            <a:endParaRPr lang="ar-OM" sz="2100" dirty="0"/>
          </a:p>
        </p:txBody>
      </p:sp>
      <p:sp>
        <p:nvSpPr>
          <p:cNvPr id="45" name="Text 36"/>
          <p:cNvSpPr txBox="1"/>
          <p:nvPr/>
        </p:nvSpPr>
        <p:spPr>
          <a:xfrm>
            <a:off x="5486400" y="5623560"/>
            <a:ext cx="6245352" cy="411480"/>
          </a:xfrm>
          <a:prstGeom prst="rect">
            <a:avLst/>
          </a:prstGeom>
          <a:noFill/>
          <a:ln/>
        </p:spPr>
        <p:txBody>
          <a:bodyPr wrap="square" lIns="635" tIns="635" rIns="635" bIns="635" rtlCol="0" anchor="ctr"/>
          <a:lstStyle/>
          <a:p>
            <a:pPr marL="0" indent="0" algn="r" rtl="1">
              <a:buNone/>
            </a:pPr>
            <a:r>
              <a:rPr lang="ar-OM" altLang="en-US" sz="1500" i="1" dirty="0">
                <a:solidFill>
                  <a:srgbClr val="4A5B6D"/>
                </a:solidFill>
                <a:latin typeface="Arial" pitchFamily="34" charset="0"/>
                <a:ea typeface="Arial" pitchFamily="34" charset="-122"/>
                <a:cs typeface="Arial" pitchFamily="34" charset="-120"/>
              </a:rPr>
              <a:t>انقر أي بطاقة للانتقال إليها مباشرة</a:t>
            </a:r>
            <a:endParaRPr lang="ar-OM" sz="1500" dirty="0"/>
          </a:p>
        </p:txBody>
      </p:sp>
      <p:sp>
        <p:nvSpPr>
          <p:cNvPr id="46"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47" name="زر التالي" descr="preencoded.png">
            <a:hlinkClick r:id="" action="ppaction://hlinkshowjump?jump=nextslide"/>
          </p:cNvPr>
          <p:cNvPicPr>
            <a:picLocks noChangeAspect="1"/>
          </p:cNvPicPr>
          <p:nvPr/>
        </p:nvPicPr>
        <p:blipFill>
          <a:blip r:embed="rId17"/>
          <a:stretch>
            <a:fillRect/>
          </a:stretch>
        </p:blipFill>
        <p:spPr>
          <a:xfrm>
            <a:off x="612648" y="6208776"/>
            <a:ext cx="256032" cy="256032"/>
          </a:xfrm>
          <a:prstGeom prst="rect">
            <a:avLst/>
          </a:prstGeom>
        </p:spPr>
      </p:pic>
      <p:sp>
        <p:nvSpPr>
          <p:cNvPr id="48" name="زر انتقال">
            <a:hlinkClick r:id="rId18"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49" name="زر انتقال" descr="preencoded.png">
            <a:hlinkClick r:id="rId18" action="ppaction://hlinksldjump"/>
          </p:cNvPr>
          <p:cNvPicPr>
            <a:picLocks noChangeAspect="1"/>
          </p:cNvPicPr>
          <p:nvPr/>
        </p:nvPicPr>
        <p:blipFill>
          <a:blip r:embed="rId19"/>
          <a:stretch>
            <a:fillRect/>
          </a:stretch>
        </p:blipFill>
        <p:spPr>
          <a:xfrm>
            <a:off x="1316736" y="6208776"/>
            <a:ext cx="256032" cy="256032"/>
          </a:xfrm>
          <a:prstGeom prst="rect">
            <a:avLst/>
          </a:prstGeom>
        </p:spPr>
      </p:pic>
      <p:sp>
        <p:nvSpPr>
          <p:cNvPr id="50"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51" name="زر السابق" descr="preencoded.png">
            <a:hlinkClick r:id="" action="ppaction://hlinkshowjump?jump=previousslide"/>
          </p:cNvPr>
          <p:cNvPicPr>
            <a:picLocks noChangeAspect="1"/>
          </p:cNvPicPr>
          <p:nvPr/>
        </p:nvPicPr>
        <p:blipFill>
          <a:blip r:embed="rId20"/>
          <a:stretch>
            <a:fillRect/>
          </a:stretch>
        </p:blipFill>
        <p:spPr>
          <a:xfrm>
            <a:off x="2020824" y="6208776"/>
            <a:ext cx="256032" cy="2560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0D3B6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مقدمة الدرس</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أهداف الدرس</a:t>
            </a:r>
            <a:endParaRPr lang="ar-OM" sz="3200" dirty="0"/>
          </a:p>
        </p:txBody>
      </p:sp>
      <p:pic>
        <p:nvPicPr>
          <p:cNvPr id="5" name="img girl_wave.png" descr="a/girl_wave.png"/>
          <p:cNvPicPr>
            <a:picLocks noChangeAspect="1"/>
          </p:cNvPicPr>
          <p:nvPr/>
        </p:nvPicPr>
        <p:blipFill>
          <a:blip r:embed="rId3"/>
          <a:stretch>
            <a:fillRect/>
          </a:stretch>
        </p:blipFill>
        <p:spPr>
          <a:xfrm>
            <a:off x="457200" y="1805141"/>
            <a:ext cx="3108960" cy="3522039"/>
          </a:xfrm>
          <a:prstGeom prst="rect">
            <a:avLst/>
          </a:prstGeom>
        </p:spPr>
      </p:pic>
      <p:sp>
        <p:nvSpPr>
          <p:cNvPr id="6" name="card"/>
          <p:cNvSpPr/>
          <p:nvPr/>
        </p:nvSpPr>
        <p:spPr>
          <a:xfrm>
            <a:off x="3931920" y="1371600"/>
            <a:ext cx="7799832" cy="896112"/>
          </a:xfrm>
          <a:prstGeom prst="roundRect">
            <a:avLst>
              <a:gd name="adj" fmla="val 20408"/>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7" name="icon bg"/>
          <p:cNvSpPr/>
          <p:nvPr/>
        </p:nvSpPr>
        <p:spPr>
          <a:xfrm>
            <a:off x="10927080" y="1499616"/>
            <a:ext cx="640080" cy="640080"/>
          </a:xfrm>
          <a:prstGeom prst="ellipse">
            <a:avLst/>
          </a:prstGeom>
          <a:solidFill>
            <a:srgbClr val="4FA62A"/>
          </a:solidFill>
          <a:ln/>
        </p:spPr>
        <p:txBody>
          <a:bodyPr/>
          <a:lstStyle/>
          <a:p>
            <a:endParaRPr lang="ar-OM"/>
          </a:p>
        </p:txBody>
      </p:sp>
      <p:pic>
        <p:nvPicPr>
          <p:cNvPr id="8" name="icon" descr="preencoded.png"/>
          <p:cNvPicPr>
            <a:picLocks noChangeAspect="1"/>
          </p:cNvPicPr>
          <p:nvPr/>
        </p:nvPicPr>
        <p:blipFill>
          <a:blip r:embed="rId4"/>
          <a:stretch>
            <a:fillRect/>
          </a:stretch>
        </p:blipFill>
        <p:spPr>
          <a:xfrm>
            <a:off x="11080699" y="1653235"/>
            <a:ext cx="332842" cy="332842"/>
          </a:xfrm>
          <a:prstGeom prst="rect">
            <a:avLst/>
          </a:prstGeom>
        </p:spPr>
      </p:pic>
      <p:sp>
        <p:nvSpPr>
          <p:cNvPr id="9" name="Text 5"/>
          <p:cNvSpPr txBox="1"/>
          <p:nvPr/>
        </p:nvSpPr>
        <p:spPr>
          <a:xfrm>
            <a:off x="5806440" y="1371600"/>
            <a:ext cx="4983480" cy="896112"/>
          </a:xfrm>
          <a:prstGeom prst="rect">
            <a:avLst/>
          </a:prstGeom>
          <a:noFill/>
          <a:ln/>
        </p:spPr>
        <p:txBody>
          <a:bodyPr wrap="square" lIns="635" tIns="635" rIns="635" bIns="635" rtlCol="0" anchor="ctr"/>
          <a:lstStyle/>
          <a:p>
            <a:pPr marL="0" indent="0" algn="r" rtl="1">
              <a:buNone/>
            </a:pPr>
            <a:r>
              <a:rPr lang="ar-OM" altLang="en-US" sz="2200" b="1" dirty="0">
                <a:solidFill>
                  <a:srgbClr val="0D3B66"/>
                </a:solidFill>
                <a:latin typeface="Arial" pitchFamily="34" charset="0"/>
                <a:ea typeface="Arial" pitchFamily="34" charset="-122"/>
                <a:cs typeface="Arial" pitchFamily="34" charset="-120"/>
              </a:rPr>
              <a:t>أُدرِجُ صورةً من حاسوبي في المستند</a:t>
            </a:r>
            <a:endParaRPr lang="ar-OM" sz="2200" dirty="0"/>
          </a:p>
        </p:txBody>
      </p:sp>
      <p:sp>
        <p:nvSpPr>
          <p:cNvPr id="10" name="زر انتقال">
            <a:hlinkClick r:id="rId5" action="ppaction://hlinksldjump"/>
          </p:cNvPr>
          <p:cNvSpPr/>
          <p:nvPr/>
        </p:nvSpPr>
        <p:spPr>
          <a:xfrm>
            <a:off x="4114800" y="1554480"/>
            <a:ext cx="1554480" cy="530352"/>
          </a:xfrm>
          <a:prstGeom prst="roundRect">
            <a:avLst>
              <a:gd name="adj" fmla="val 50000"/>
            </a:avLst>
          </a:prstGeom>
          <a:solidFill>
            <a:srgbClr val="4FA62A"/>
          </a:solidFill>
          <a:ln/>
        </p:spPr>
        <p:txBody>
          <a:bodyPr/>
          <a:lstStyle/>
          <a:p>
            <a:endParaRPr lang="ar-OM"/>
          </a:p>
        </p:txBody>
      </p:sp>
      <p:pic>
        <p:nvPicPr>
          <p:cNvPr id="11" name="زر انتقال" descr="preencoded.png">
            <a:hlinkClick r:id="rId5" action="ppaction://hlinksldjump"/>
          </p:cNvPr>
          <p:cNvPicPr>
            <a:picLocks noChangeAspect="1"/>
          </p:cNvPicPr>
          <p:nvPr/>
        </p:nvPicPr>
        <p:blipFill>
          <a:blip r:embed="rId6"/>
          <a:stretch>
            <a:fillRect/>
          </a:stretch>
        </p:blipFill>
        <p:spPr>
          <a:xfrm>
            <a:off x="4279392" y="1700784"/>
            <a:ext cx="237744" cy="237744"/>
          </a:xfrm>
          <a:prstGeom prst="rect">
            <a:avLst/>
          </a:prstGeom>
        </p:spPr>
      </p:pic>
      <p:sp>
        <p:nvSpPr>
          <p:cNvPr id="12" name="زر انتقال">
            <a:hlinkClick r:id="rId5" action="ppaction://hlinksldjump"/>
          </p:cNvPr>
          <p:cNvSpPr txBox="1"/>
          <p:nvPr/>
        </p:nvSpPr>
        <p:spPr>
          <a:xfrm>
            <a:off x="4572000" y="1554480"/>
            <a:ext cx="1024128" cy="530352"/>
          </a:xfrm>
          <a:prstGeom prst="rect">
            <a:avLst/>
          </a:prstGeom>
          <a:noFill/>
          <a:ln/>
        </p:spPr>
        <p:txBody>
          <a:bodyPr wrap="square" lIns="635" tIns="635" rIns="635" bIns="635" rtlCol="0" anchor="ctr"/>
          <a:lstStyle/>
          <a:p>
            <a:pPr marL="0" indent="0" algn="ctr" rtl="1">
              <a:buNone/>
            </a:pPr>
            <a:r>
              <a:rPr lang="ar-OM" altLang="en-US" sz="1600" b="1" dirty="0">
                <a:solidFill>
                  <a:srgbClr val="FFFFFF"/>
                </a:solidFill>
                <a:latin typeface="Arial" pitchFamily="34" charset="0"/>
                <a:ea typeface="Arial" pitchFamily="34" charset="-122"/>
                <a:cs typeface="Arial" pitchFamily="34" charset="-120"/>
              </a:rPr>
              <a:t>الفيديو</a:t>
            </a:r>
            <a:endParaRPr lang="ar-OM" sz="1600" dirty="0"/>
          </a:p>
        </p:txBody>
      </p:sp>
      <p:sp>
        <p:nvSpPr>
          <p:cNvPr id="13" name="card"/>
          <p:cNvSpPr/>
          <p:nvPr/>
        </p:nvSpPr>
        <p:spPr>
          <a:xfrm>
            <a:off x="3931920" y="2468880"/>
            <a:ext cx="7799832" cy="896112"/>
          </a:xfrm>
          <a:prstGeom prst="roundRect">
            <a:avLst>
              <a:gd name="adj" fmla="val 20408"/>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4" name="icon bg"/>
          <p:cNvSpPr/>
          <p:nvPr/>
        </p:nvSpPr>
        <p:spPr>
          <a:xfrm>
            <a:off x="10927080" y="2596896"/>
            <a:ext cx="640080" cy="640080"/>
          </a:xfrm>
          <a:prstGeom prst="ellipse">
            <a:avLst/>
          </a:prstGeom>
          <a:solidFill>
            <a:srgbClr val="F2A900"/>
          </a:solidFill>
          <a:ln/>
        </p:spPr>
        <p:txBody>
          <a:bodyPr/>
          <a:lstStyle/>
          <a:p>
            <a:endParaRPr lang="ar-OM"/>
          </a:p>
        </p:txBody>
      </p:sp>
      <p:pic>
        <p:nvPicPr>
          <p:cNvPr id="15" name="icon" descr="preencoded.png"/>
          <p:cNvPicPr>
            <a:picLocks noChangeAspect="1"/>
          </p:cNvPicPr>
          <p:nvPr/>
        </p:nvPicPr>
        <p:blipFill>
          <a:blip r:embed="rId7"/>
          <a:stretch>
            <a:fillRect/>
          </a:stretch>
        </p:blipFill>
        <p:spPr>
          <a:xfrm>
            <a:off x="11080699" y="2750515"/>
            <a:ext cx="332842" cy="332842"/>
          </a:xfrm>
          <a:prstGeom prst="rect">
            <a:avLst/>
          </a:prstGeom>
        </p:spPr>
      </p:pic>
      <p:sp>
        <p:nvSpPr>
          <p:cNvPr id="16" name="Text 10"/>
          <p:cNvSpPr txBox="1"/>
          <p:nvPr/>
        </p:nvSpPr>
        <p:spPr>
          <a:xfrm>
            <a:off x="5806440" y="2468880"/>
            <a:ext cx="4983480" cy="896112"/>
          </a:xfrm>
          <a:prstGeom prst="rect">
            <a:avLst/>
          </a:prstGeom>
          <a:noFill/>
          <a:ln/>
        </p:spPr>
        <p:txBody>
          <a:bodyPr wrap="square" lIns="635" tIns="635" rIns="635" bIns="635" rtlCol="0" anchor="ctr"/>
          <a:lstStyle/>
          <a:p>
            <a:pPr marL="0" indent="0" algn="r" rtl="1">
              <a:buNone/>
            </a:pPr>
            <a:r>
              <a:rPr lang="ar-OM" altLang="en-US" sz="2200" b="1" dirty="0">
                <a:solidFill>
                  <a:srgbClr val="0D3B66"/>
                </a:solidFill>
                <a:latin typeface="Arial" pitchFamily="34" charset="0"/>
                <a:ea typeface="Arial" pitchFamily="34" charset="-122"/>
                <a:cs typeface="Arial" pitchFamily="34" charset="-120"/>
              </a:rPr>
              <a:t>أُغيِّرُ حجمَ الصورة وأقُصُّ أجزاءً منها</a:t>
            </a:r>
            <a:endParaRPr lang="ar-OM" sz="2200" dirty="0"/>
          </a:p>
        </p:txBody>
      </p:sp>
      <p:sp>
        <p:nvSpPr>
          <p:cNvPr id="17" name="زر انتقال">
            <a:hlinkClick r:id="rId8" action="ppaction://hlinksldjump"/>
          </p:cNvPr>
          <p:cNvSpPr/>
          <p:nvPr/>
        </p:nvSpPr>
        <p:spPr>
          <a:xfrm>
            <a:off x="4114800" y="2651760"/>
            <a:ext cx="1554480" cy="530352"/>
          </a:xfrm>
          <a:prstGeom prst="roundRect">
            <a:avLst>
              <a:gd name="adj" fmla="val 50000"/>
            </a:avLst>
          </a:prstGeom>
          <a:solidFill>
            <a:srgbClr val="F2A900"/>
          </a:solidFill>
          <a:ln/>
        </p:spPr>
        <p:txBody>
          <a:bodyPr/>
          <a:lstStyle/>
          <a:p>
            <a:endParaRPr lang="ar-OM"/>
          </a:p>
        </p:txBody>
      </p:sp>
      <p:pic>
        <p:nvPicPr>
          <p:cNvPr id="18" name="زر انتقال" descr="preencoded.png">
            <a:hlinkClick r:id="rId8" action="ppaction://hlinksldjump"/>
          </p:cNvPr>
          <p:cNvPicPr>
            <a:picLocks noChangeAspect="1"/>
          </p:cNvPicPr>
          <p:nvPr/>
        </p:nvPicPr>
        <p:blipFill>
          <a:blip r:embed="rId9"/>
          <a:stretch>
            <a:fillRect/>
          </a:stretch>
        </p:blipFill>
        <p:spPr>
          <a:xfrm>
            <a:off x="4279392" y="2798064"/>
            <a:ext cx="237744" cy="237744"/>
          </a:xfrm>
          <a:prstGeom prst="rect">
            <a:avLst/>
          </a:prstGeom>
        </p:spPr>
      </p:pic>
      <p:sp>
        <p:nvSpPr>
          <p:cNvPr id="19" name="زر انتقال">
            <a:hlinkClick r:id="rId8" action="ppaction://hlinksldjump"/>
          </p:cNvPr>
          <p:cNvSpPr txBox="1"/>
          <p:nvPr/>
        </p:nvSpPr>
        <p:spPr>
          <a:xfrm>
            <a:off x="4572000" y="2651760"/>
            <a:ext cx="1024128" cy="530352"/>
          </a:xfrm>
          <a:prstGeom prst="rect">
            <a:avLst/>
          </a:prstGeom>
          <a:noFill/>
          <a:ln/>
        </p:spPr>
        <p:txBody>
          <a:bodyPr wrap="square" lIns="635" tIns="635" rIns="635" bIns="635" rtlCol="0" anchor="ctr"/>
          <a:lstStyle/>
          <a:p>
            <a:pPr marL="0" indent="0" algn="ctr" rtl="1">
              <a:buNone/>
            </a:pPr>
            <a:r>
              <a:rPr lang="ar-OM" altLang="en-US" sz="1600" b="1" dirty="0">
                <a:solidFill>
                  <a:srgbClr val="0D3B66"/>
                </a:solidFill>
                <a:latin typeface="Arial" pitchFamily="34" charset="0"/>
                <a:ea typeface="Arial" pitchFamily="34" charset="-122"/>
                <a:cs typeface="Arial" pitchFamily="34" charset="-120"/>
              </a:rPr>
              <a:t>الفيديو</a:t>
            </a:r>
            <a:endParaRPr lang="ar-OM" sz="1600" dirty="0"/>
          </a:p>
        </p:txBody>
      </p:sp>
      <p:sp>
        <p:nvSpPr>
          <p:cNvPr id="20" name="card"/>
          <p:cNvSpPr/>
          <p:nvPr/>
        </p:nvSpPr>
        <p:spPr>
          <a:xfrm>
            <a:off x="3931920" y="3566160"/>
            <a:ext cx="7799832" cy="896112"/>
          </a:xfrm>
          <a:prstGeom prst="roundRect">
            <a:avLst>
              <a:gd name="adj" fmla="val 20408"/>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1" name="icon bg"/>
          <p:cNvSpPr/>
          <p:nvPr/>
        </p:nvSpPr>
        <p:spPr>
          <a:xfrm>
            <a:off x="10927080" y="3694176"/>
            <a:ext cx="640080" cy="640080"/>
          </a:xfrm>
          <a:prstGeom prst="ellipse">
            <a:avLst/>
          </a:prstGeom>
          <a:solidFill>
            <a:srgbClr val="1A9BB0"/>
          </a:solidFill>
          <a:ln/>
        </p:spPr>
        <p:txBody>
          <a:bodyPr/>
          <a:lstStyle/>
          <a:p>
            <a:endParaRPr lang="ar-OM"/>
          </a:p>
        </p:txBody>
      </p:sp>
      <p:pic>
        <p:nvPicPr>
          <p:cNvPr id="22" name="icon" descr="preencoded.png"/>
          <p:cNvPicPr>
            <a:picLocks noChangeAspect="1"/>
          </p:cNvPicPr>
          <p:nvPr/>
        </p:nvPicPr>
        <p:blipFill>
          <a:blip r:embed="rId10"/>
          <a:stretch>
            <a:fillRect/>
          </a:stretch>
        </p:blipFill>
        <p:spPr>
          <a:xfrm>
            <a:off x="11080699" y="3847795"/>
            <a:ext cx="332842" cy="332842"/>
          </a:xfrm>
          <a:prstGeom prst="rect">
            <a:avLst/>
          </a:prstGeom>
        </p:spPr>
      </p:pic>
      <p:sp>
        <p:nvSpPr>
          <p:cNvPr id="23" name="Text 15"/>
          <p:cNvSpPr txBox="1"/>
          <p:nvPr/>
        </p:nvSpPr>
        <p:spPr>
          <a:xfrm>
            <a:off x="5806440" y="3566160"/>
            <a:ext cx="4983480" cy="896112"/>
          </a:xfrm>
          <a:prstGeom prst="rect">
            <a:avLst/>
          </a:prstGeom>
          <a:noFill/>
          <a:ln/>
        </p:spPr>
        <p:txBody>
          <a:bodyPr wrap="square" lIns="635" tIns="635" rIns="635" bIns="635" rtlCol="0" anchor="ctr"/>
          <a:lstStyle/>
          <a:p>
            <a:pPr marL="0" indent="0" algn="r" rtl="1">
              <a:buNone/>
            </a:pPr>
            <a:r>
              <a:rPr lang="ar-OM" altLang="en-US" sz="2200" b="1" dirty="0">
                <a:solidFill>
                  <a:srgbClr val="0D3B66"/>
                </a:solidFill>
                <a:latin typeface="Arial" pitchFamily="34" charset="0"/>
                <a:ea typeface="Arial" pitchFamily="34" charset="-122"/>
                <a:cs typeface="Arial" pitchFamily="34" charset="-120"/>
              </a:rPr>
              <a:t>أُضيفُ حدودًا ونمطًا جميلًا للصورة</a:t>
            </a:r>
            <a:endParaRPr lang="ar-OM" sz="2200" dirty="0"/>
          </a:p>
        </p:txBody>
      </p:sp>
      <p:sp>
        <p:nvSpPr>
          <p:cNvPr id="24" name="زر انتقال">
            <a:hlinkClick r:id="rId11" action="ppaction://hlinksldjump"/>
          </p:cNvPr>
          <p:cNvSpPr/>
          <p:nvPr/>
        </p:nvSpPr>
        <p:spPr>
          <a:xfrm>
            <a:off x="4114800" y="3749040"/>
            <a:ext cx="1554480" cy="530352"/>
          </a:xfrm>
          <a:prstGeom prst="roundRect">
            <a:avLst>
              <a:gd name="adj" fmla="val 50000"/>
            </a:avLst>
          </a:prstGeom>
          <a:solidFill>
            <a:srgbClr val="1A9BB0"/>
          </a:solidFill>
          <a:ln/>
        </p:spPr>
        <p:txBody>
          <a:bodyPr/>
          <a:lstStyle/>
          <a:p>
            <a:endParaRPr lang="ar-OM"/>
          </a:p>
        </p:txBody>
      </p:sp>
      <p:pic>
        <p:nvPicPr>
          <p:cNvPr id="25" name="زر انتقال" descr="preencoded.png">
            <a:hlinkClick r:id="rId11" action="ppaction://hlinksldjump"/>
          </p:cNvPr>
          <p:cNvPicPr>
            <a:picLocks noChangeAspect="1"/>
          </p:cNvPicPr>
          <p:nvPr/>
        </p:nvPicPr>
        <p:blipFill>
          <a:blip r:embed="rId6"/>
          <a:stretch>
            <a:fillRect/>
          </a:stretch>
        </p:blipFill>
        <p:spPr>
          <a:xfrm>
            <a:off x="4279392" y="3895344"/>
            <a:ext cx="237744" cy="237744"/>
          </a:xfrm>
          <a:prstGeom prst="rect">
            <a:avLst/>
          </a:prstGeom>
        </p:spPr>
      </p:pic>
      <p:sp>
        <p:nvSpPr>
          <p:cNvPr id="26" name="زر انتقال">
            <a:hlinkClick r:id="rId11" action="ppaction://hlinksldjump"/>
          </p:cNvPr>
          <p:cNvSpPr txBox="1"/>
          <p:nvPr/>
        </p:nvSpPr>
        <p:spPr>
          <a:xfrm>
            <a:off x="4572000" y="3749040"/>
            <a:ext cx="1024128" cy="530352"/>
          </a:xfrm>
          <a:prstGeom prst="rect">
            <a:avLst/>
          </a:prstGeom>
          <a:noFill/>
          <a:ln/>
        </p:spPr>
        <p:txBody>
          <a:bodyPr wrap="square" lIns="635" tIns="635" rIns="635" bIns="635" rtlCol="0" anchor="ctr"/>
          <a:lstStyle/>
          <a:p>
            <a:pPr marL="0" indent="0" algn="ctr" rtl="1">
              <a:buNone/>
            </a:pPr>
            <a:r>
              <a:rPr lang="ar-OM" altLang="en-US" sz="1600" b="1" dirty="0">
                <a:solidFill>
                  <a:srgbClr val="FFFFFF"/>
                </a:solidFill>
                <a:latin typeface="Arial" pitchFamily="34" charset="0"/>
                <a:ea typeface="Arial" pitchFamily="34" charset="-122"/>
                <a:cs typeface="Arial" pitchFamily="34" charset="-120"/>
              </a:rPr>
              <a:t>الفيديو</a:t>
            </a:r>
            <a:endParaRPr lang="ar-OM" sz="1600" dirty="0"/>
          </a:p>
        </p:txBody>
      </p:sp>
      <p:sp>
        <p:nvSpPr>
          <p:cNvPr id="27" name="card"/>
          <p:cNvSpPr/>
          <p:nvPr/>
        </p:nvSpPr>
        <p:spPr>
          <a:xfrm>
            <a:off x="3931920" y="4663440"/>
            <a:ext cx="7799832" cy="896112"/>
          </a:xfrm>
          <a:prstGeom prst="roundRect">
            <a:avLst>
              <a:gd name="adj" fmla="val 20408"/>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8" name="icon bg"/>
          <p:cNvSpPr/>
          <p:nvPr/>
        </p:nvSpPr>
        <p:spPr>
          <a:xfrm>
            <a:off x="10927080" y="4791456"/>
            <a:ext cx="640080" cy="640080"/>
          </a:xfrm>
          <a:prstGeom prst="ellipse">
            <a:avLst/>
          </a:prstGeom>
          <a:solidFill>
            <a:srgbClr val="E2453B"/>
          </a:solidFill>
          <a:ln/>
        </p:spPr>
        <p:txBody>
          <a:bodyPr/>
          <a:lstStyle/>
          <a:p>
            <a:endParaRPr lang="ar-OM"/>
          </a:p>
        </p:txBody>
      </p:sp>
      <p:pic>
        <p:nvPicPr>
          <p:cNvPr id="29" name="icon" descr="preencoded.png"/>
          <p:cNvPicPr>
            <a:picLocks noChangeAspect="1"/>
          </p:cNvPicPr>
          <p:nvPr/>
        </p:nvPicPr>
        <p:blipFill>
          <a:blip r:embed="rId12"/>
          <a:stretch>
            <a:fillRect/>
          </a:stretch>
        </p:blipFill>
        <p:spPr>
          <a:xfrm>
            <a:off x="11080699" y="4945075"/>
            <a:ext cx="332842" cy="332842"/>
          </a:xfrm>
          <a:prstGeom prst="rect">
            <a:avLst/>
          </a:prstGeom>
        </p:spPr>
      </p:pic>
      <p:sp>
        <p:nvSpPr>
          <p:cNvPr id="30" name="Text 20"/>
          <p:cNvSpPr txBox="1"/>
          <p:nvPr/>
        </p:nvSpPr>
        <p:spPr>
          <a:xfrm>
            <a:off x="5806440" y="4663440"/>
            <a:ext cx="4983480" cy="896112"/>
          </a:xfrm>
          <a:prstGeom prst="rect">
            <a:avLst/>
          </a:prstGeom>
          <a:noFill/>
          <a:ln/>
        </p:spPr>
        <p:txBody>
          <a:bodyPr wrap="square" lIns="635" tIns="635" rIns="635" bIns="635" rtlCol="0" anchor="ctr"/>
          <a:lstStyle/>
          <a:p>
            <a:pPr marL="0" indent="0" algn="r" rtl="1">
              <a:buNone/>
            </a:pPr>
            <a:r>
              <a:rPr lang="ar-OM" altLang="en-US" sz="2200" b="1" dirty="0">
                <a:solidFill>
                  <a:srgbClr val="0D3B66"/>
                </a:solidFill>
                <a:latin typeface="Arial" pitchFamily="34" charset="0"/>
                <a:ea typeface="Arial" pitchFamily="34" charset="-122"/>
                <a:cs typeface="Arial" pitchFamily="34" charset="-120"/>
              </a:rPr>
              <a:t>أتحكَّمُ في التفافِ النصِّ حولَ الصورة</a:t>
            </a:r>
            <a:endParaRPr lang="ar-OM" sz="2200" dirty="0"/>
          </a:p>
        </p:txBody>
      </p:sp>
      <p:sp>
        <p:nvSpPr>
          <p:cNvPr id="31" name="زر انتقال">
            <a:hlinkClick r:id="rId13" action="ppaction://hlinksldjump"/>
          </p:cNvPr>
          <p:cNvSpPr/>
          <p:nvPr/>
        </p:nvSpPr>
        <p:spPr>
          <a:xfrm>
            <a:off x="4114800" y="4846320"/>
            <a:ext cx="1554480" cy="530352"/>
          </a:xfrm>
          <a:prstGeom prst="roundRect">
            <a:avLst>
              <a:gd name="adj" fmla="val 50000"/>
            </a:avLst>
          </a:prstGeom>
          <a:solidFill>
            <a:srgbClr val="E2453B"/>
          </a:solidFill>
          <a:ln/>
        </p:spPr>
        <p:txBody>
          <a:bodyPr/>
          <a:lstStyle/>
          <a:p>
            <a:endParaRPr lang="ar-OM"/>
          </a:p>
        </p:txBody>
      </p:sp>
      <p:pic>
        <p:nvPicPr>
          <p:cNvPr id="32" name="زر انتقال" descr="preencoded.png">
            <a:hlinkClick r:id="rId13" action="ppaction://hlinksldjump"/>
          </p:cNvPr>
          <p:cNvPicPr>
            <a:picLocks noChangeAspect="1"/>
          </p:cNvPicPr>
          <p:nvPr/>
        </p:nvPicPr>
        <p:blipFill>
          <a:blip r:embed="rId6"/>
          <a:stretch>
            <a:fillRect/>
          </a:stretch>
        </p:blipFill>
        <p:spPr>
          <a:xfrm>
            <a:off x="4279392" y="4992624"/>
            <a:ext cx="237744" cy="237744"/>
          </a:xfrm>
          <a:prstGeom prst="rect">
            <a:avLst/>
          </a:prstGeom>
        </p:spPr>
      </p:pic>
      <p:sp>
        <p:nvSpPr>
          <p:cNvPr id="33" name="زر انتقال">
            <a:hlinkClick r:id="rId13" action="ppaction://hlinksldjump"/>
          </p:cNvPr>
          <p:cNvSpPr txBox="1"/>
          <p:nvPr/>
        </p:nvSpPr>
        <p:spPr>
          <a:xfrm>
            <a:off x="4572000" y="4846320"/>
            <a:ext cx="1024128" cy="530352"/>
          </a:xfrm>
          <a:prstGeom prst="rect">
            <a:avLst/>
          </a:prstGeom>
          <a:noFill/>
          <a:ln/>
        </p:spPr>
        <p:txBody>
          <a:bodyPr wrap="square" lIns="635" tIns="635" rIns="635" bIns="635" rtlCol="0" anchor="ctr"/>
          <a:lstStyle/>
          <a:p>
            <a:pPr marL="0" indent="0" algn="ctr" rtl="1">
              <a:buNone/>
            </a:pPr>
            <a:r>
              <a:rPr lang="ar-OM" altLang="en-US" sz="1600" b="1" dirty="0">
                <a:solidFill>
                  <a:srgbClr val="FFFFFF"/>
                </a:solidFill>
                <a:latin typeface="Arial" pitchFamily="34" charset="0"/>
                <a:ea typeface="Arial" pitchFamily="34" charset="-122"/>
                <a:cs typeface="Arial" pitchFamily="34" charset="-120"/>
              </a:rPr>
              <a:t>الفيديو</a:t>
            </a:r>
            <a:endParaRPr lang="ar-OM" sz="1600" dirty="0"/>
          </a:p>
        </p:txBody>
      </p:sp>
      <p:sp>
        <p:nvSpPr>
          <p:cNvPr id="34" name="Text 23"/>
          <p:cNvSpPr txBox="1"/>
          <p:nvPr/>
        </p:nvSpPr>
        <p:spPr>
          <a:xfrm>
            <a:off x="3931920" y="5596128"/>
            <a:ext cx="7799832" cy="365760"/>
          </a:xfrm>
          <a:prstGeom prst="rect">
            <a:avLst/>
          </a:prstGeom>
          <a:noFill/>
          <a:ln/>
        </p:spPr>
        <p:txBody>
          <a:bodyPr wrap="square" lIns="635" tIns="635" rIns="635" bIns="635" rtlCol="0" anchor="ctr"/>
          <a:lstStyle/>
          <a:p>
            <a:pPr marL="0" indent="0" algn="r" rtl="1">
              <a:buNone/>
            </a:pPr>
            <a:r>
              <a:rPr lang="ar-OM" altLang="en-US" sz="1500" i="1" dirty="0">
                <a:solidFill>
                  <a:srgbClr val="4A5B6D"/>
                </a:solidFill>
                <a:latin typeface="Arial" pitchFamily="34" charset="0"/>
                <a:ea typeface="Arial" pitchFamily="34" charset="-122"/>
                <a:cs typeface="Arial" pitchFamily="34" charset="-120"/>
              </a:rPr>
              <a:t>انقر زر «الفيديو» لمشاهدة شرح كل هدف بالخطوات</a:t>
            </a:r>
            <a:endParaRPr lang="ar-OM" sz="1500" dirty="0"/>
          </a:p>
        </p:txBody>
      </p:sp>
      <p:sp>
        <p:nvSpPr>
          <p:cNvPr id="35"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6" name="زر التالي" descr="preencoded.png">
            <a:hlinkClick r:id="" action="ppaction://hlinkshowjump?jump=nextslide"/>
          </p:cNvPr>
          <p:cNvPicPr>
            <a:picLocks noChangeAspect="1"/>
          </p:cNvPicPr>
          <p:nvPr/>
        </p:nvPicPr>
        <p:blipFill>
          <a:blip r:embed="rId14"/>
          <a:stretch>
            <a:fillRect/>
          </a:stretch>
        </p:blipFill>
        <p:spPr>
          <a:xfrm>
            <a:off x="612648" y="6208776"/>
            <a:ext cx="256032" cy="256032"/>
          </a:xfrm>
          <a:prstGeom prst="rect">
            <a:avLst/>
          </a:prstGeom>
        </p:spPr>
      </p:pic>
      <p:sp>
        <p:nvSpPr>
          <p:cNvPr id="37" name="زر انتقال">
            <a:hlinkClick r:id="rId15"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8" name="زر انتقال" descr="preencoded.png">
            <a:hlinkClick r:id="rId15" action="ppaction://hlinksldjump"/>
          </p:cNvPr>
          <p:cNvPicPr>
            <a:picLocks noChangeAspect="1"/>
          </p:cNvPicPr>
          <p:nvPr/>
        </p:nvPicPr>
        <p:blipFill>
          <a:blip r:embed="rId16"/>
          <a:stretch>
            <a:fillRect/>
          </a:stretch>
        </p:blipFill>
        <p:spPr>
          <a:xfrm>
            <a:off x="1316736" y="6208776"/>
            <a:ext cx="256032" cy="256032"/>
          </a:xfrm>
          <a:prstGeom prst="rect">
            <a:avLst/>
          </a:prstGeom>
        </p:spPr>
      </p:pic>
      <p:sp>
        <p:nvSpPr>
          <p:cNvPr id="39"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40" name="زر السابق" descr="preencoded.png">
            <a:hlinkClick r:id="" action="ppaction://hlinkshowjump?jump=previousslide"/>
          </p:cNvPr>
          <p:cNvPicPr>
            <a:picLocks noChangeAspect="1"/>
          </p:cNvPicPr>
          <p:nvPr/>
        </p:nvPicPr>
        <p:blipFill>
          <a:blip r:embed="rId17"/>
          <a:stretch>
            <a:fillRect/>
          </a:stretch>
        </p:blipFill>
        <p:spPr>
          <a:xfrm>
            <a:off x="2020824" y="6208776"/>
            <a:ext cx="256032" cy="2560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0D3B6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مقدمة الدرس</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فكِّر وأجب</a:t>
            </a:r>
            <a:endParaRPr lang="ar-OM" sz="3200" dirty="0"/>
          </a:p>
        </p:txBody>
      </p:sp>
      <p:sp>
        <p:nvSpPr>
          <p:cNvPr id="5" name="card"/>
          <p:cNvSpPr/>
          <p:nvPr/>
        </p:nvSpPr>
        <p:spPr>
          <a:xfrm>
            <a:off x="6336792" y="1280160"/>
            <a:ext cx="5394960" cy="3611880"/>
          </a:xfrm>
          <a:prstGeom prst="roundRect">
            <a:avLst>
              <a:gd name="adj" fmla="val 4557"/>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6" name="card"/>
          <p:cNvSpPr/>
          <p:nvPr/>
        </p:nvSpPr>
        <p:spPr>
          <a:xfrm>
            <a:off x="457200" y="1280160"/>
            <a:ext cx="5394960" cy="3611880"/>
          </a:xfrm>
          <a:prstGeom prst="roundRect">
            <a:avLst>
              <a:gd name="adj" fmla="val 4557"/>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7" name="Text 5"/>
          <p:cNvSpPr txBox="1"/>
          <p:nvPr/>
        </p:nvSpPr>
        <p:spPr>
          <a:xfrm>
            <a:off x="6519672" y="1371600"/>
            <a:ext cx="5029200" cy="502920"/>
          </a:xfrm>
          <a:prstGeom prst="rect">
            <a:avLst/>
          </a:prstGeom>
          <a:noFill/>
          <a:ln/>
        </p:spPr>
        <p:txBody>
          <a:bodyPr wrap="square" lIns="635" tIns="635" rIns="635" bIns="635" rtlCol="0" anchor="ctr"/>
          <a:lstStyle/>
          <a:p>
            <a:pPr marL="0" indent="0" algn="ctr" rtl="1">
              <a:buNone/>
            </a:pPr>
            <a:r>
              <a:rPr lang="ar-OM" altLang="en-US" sz="1900" b="1" dirty="0">
                <a:solidFill>
                  <a:srgbClr val="E2453B"/>
                </a:solidFill>
                <a:latin typeface="Arial" pitchFamily="34" charset="0"/>
                <a:ea typeface="Arial" pitchFamily="34" charset="-122"/>
                <a:cs typeface="Arial" pitchFamily="34" charset="-120"/>
              </a:rPr>
              <a:t>المستند (1): بدون صورة</a:t>
            </a:r>
            <a:endParaRPr lang="ar-OM" sz="1900" dirty="0"/>
          </a:p>
        </p:txBody>
      </p:sp>
      <p:sp>
        <p:nvSpPr>
          <p:cNvPr id="8" name="Text 6"/>
          <p:cNvSpPr txBox="1"/>
          <p:nvPr/>
        </p:nvSpPr>
        <p:spPr>
          <a:xfrm>
            <a:off x="640080" y="1371600"/>
            <a:ext cx="5029200" cy="502920"/>
          </a:xfrm>
          <a:prstGeom prst="rect">
            <a:avLst/>
          </a:prstGeom>
          <a:noFill/>
          <a:ln/>
        </p:spPr>
        <p:txBody>
          <a:bodyPr wrap="square" lIns="635" tIns="635" rIns="635" bIns="635" rtlCol="0" anchor="ctr"/>
          <a:lstStyle/>
          <a:p>
            <a:pPr marL="0" indent="0" algn="ctr" rtl="1">
              <a:buNone/>
            </a:pPr>
            <a:r>
              <a:rPr lang="ar-OM" altLang="en-US" sz="1900" b="1" dirty="0">
                <a:solidFill>
                  <a:srgbClr val="4FA62A"/>
                </a:solidFill>
                <a:latin typeface="Arial" pitchFamily="34" charset="0"/>
                <a:ea typeface="Arial" pitchFamily="34" charset="-122"/>
                <a:cs typeface="Arial" pitchFamily="34" charset="-120"/>
              </a:rPr>
              <a:t>المستند (2): مع صورة</a:t>
            </a:r>
            <a:endParaRPr lang="ar-OM" sz="1900" dirty="0"/>
          </a:p>
        </p:txBody>
      </p:sp>
      <p:pic>
        <p:nvPicPr>
          <p:cNvPr id="9" name="img doc_clean.png" descr="a/doc_clean.png"/>
          <p:cNvPicPr>
            <a:picLocks noChangeAspect="1"/>
          </p:cNvPicPr>
          <p:nvPr/>
        </p:nvPicPr>
        <p:blipFill>
          <a:blip r:embed="rId3"/>
          <a:stretch>
            <a:fillRect/>
          </a:stretch>
        </p:blipFill>
        <p:spPr>
          <a:xfrm>
            <a:off x="6519672" y="2466074"/>
            <a:ext cx="5029200" cy="1742972"/>
          </a:xfrm>
          <a:prstGeom prst="rect">
            <a:avLst/>
          </a:prstGeom>
          <a:effectLst>
            <a:outerShdw blurRad="76200" dist="38100" dir="5400000" algn="bl" rotWithShape="0">
              <a:srgbClr val="7A8CA0">
                <a:alpha val="35000"/>
              </a:srgbClr>
            </a:outerShdw>
          </a:effectLst>
        </p:spPr>
      </p:pic>
      <p:pic>
        <p:nvPicPr>
          <p:cNvPr id="10" name="img res_insert.png" descr="a/res_insert.png"/>
          <p:cNvPicPr>
            <a:picLocks noChangeAspect="1"/>
          </p:cNvPicPr>
          <p:nvPr/>
        </p:nvPicPr>
        <p:blipFill>
          <a:blip r:embed="rId4"/>
          <a:stretch>
            <a:fillRect/>
          </a:stretch>
        </p:blipFill>
        <p:spPr>
          <a:xfrm>
            <a:off x="1431586" y="1920240"/>
            <a:ext cx="3446187" cy="2834640"/>
          </a:xfrm>
          <a:prstGeom prst="rect">
            <a:avLst/>
          </a:prstGeom>
          <a:effectLst>
            <a:outerShdw blurRad="76200" dist="38100" dir="5400000" algn="bl" rotWithShape="0">
              <a:srgbClr val="7A8CA0">
                <a:alpha val="35000"/>
              </a:srgbClr>
            </a:outerShdw>
          </a:effectLst>
        </p:spPr>
      </p:pic>
      <p:sp>
        <p:nvSpPr>
          <p:cNvPr id="11" name="card"/>
          <p:cNvSpPr/>
          <p:nvPr/>
        </p:nvSpPr>
        <p:spPr>
          <a:xfrm>
            <a:off x="457200" y="5120640"/>
            <a:ext cx="11274552" cy="731520"/>
          </a:xfrm>
          <a:prstGeom prst="roundRect">
            <a:avLst>
              <a:gd name="adj" fmla="val 22500"/>
            </a:avLst>
          </a:prstGeom>
          <a:solidFill>
            <a:srgbClr val="FFF3CC"/>
          </a:solidFill>
          <a:ln/>
        </p:spPr>
        <p:txBody>
          <a:bodyPr/>
          <a:lstStyle/>
          <a:p>
            <a:endParaRPr lang="ar-OM"/>
          </a:p>
        </p:txBody>
      </p:sp>
      <p:sp>
        <p:nvSpPr>
          <p:cNvPr id="12" name="icon bg"/>
          <p:cNvSpPr/>
          <p:nvPr/>
        </p:nvSpPr>
        <p:spPr>
          <a:xfrm>
            <a:off x="10972800" y="5212080"/>
            <a:ext cx="548640" cy="548640"/>
          </a:xfrm>
          <a:prstGeom prst="ellipse">
            <a:avLst/>
          </a:prstGeom>
          <a:solidFill>
            <a:srgbClr val="F2A900"/>
          </a:solidFill>
          <a:ln/>
        </p:spPr>
        <p:txBody>
          <a:bodyPr/>
          <a:lstStyle/>
          <a:p>
            <a:endParaRPr lang="ar-OM"/>
          </a:p>
        </p:txBody>
      </p:sp>
      <p:pic>
        <p:nvPicPr>
          <p:cNvPr id="13" name="icon" descr="preencoded.png"/>
          <p:cNvPicPr>
            <a:picLocks noChangeAspect="1"/>
          </p:cNvPicPr>
          <p:nvPr/>
        </p:nvPicPr>
        <p:blipFill>
          <a:blip r:embed="rId5"/>
          <a:stretch>
            <a:fillRect/>
          </a:stretch>
        </p:blipFill>
        <p:spPr>
          <a:xfrm>
            <a:off x="11104474" y="5343754"/>
            <a:ext cx="285293" cy="285293"/>
          </a:xfrm>
          <a:prstGeom prst="rect">
            <a:avLst/>
          </a:prstGeom>
        </p:spPr>
      </p:pic>
      <p:sp>
        <p:nvSpPr>
          <p:cNvPr id="14" name="Text 9"/>
          <p:cNvSpPr txBox="1"/>
          <p:nvPr/>
        </p:nvSpPr>
        <p:spPr>
          <a:xfrm>
            <a:off x="685800" y="5120640"/>
            <a:ext cx="10149840" cy="73152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أيُّ المستندَين أجملُ وأوضحُ؟ ولماذا؟ كيف نُضيفُ صورةً إلى المستند؟</a:t>
            </a:r>
            <a:endParaRPr lang="ar-OM" sz="2100" dirty="0"/>
          </a:p>
        </p:txBody>
      </p:sp>
      <p:sp>
        <p:nvSpPr>
          <p:cNvPr id="15"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6" name="زر التالي" descr="preencoded.png">
            <a:hlinkClick r:id="" action="ppaction://hlinkshowjump?jump=nextslide"/>
          </p:cNvPr>
          <p:cNvPicPr>
            <a:picLocks noChangeAspect="1"/>
          </p:cNvPicPr>
          <p:nvPr/>
        </p:nvPicPr>
        <p:blipFill>
          <a:blip r:embed="rId6"/>
          <a:stretch>
            <a:fillRect/>
          </a:stretch>
        </p:blipFill>
        <p:spPr>
          <a:xfrm>
            <a:off x="612648" y="6208776"/>
            <a:ext cx="256032" cy="256032"/>
          </a:xfrm>
          <a:prstGeom prst="rect">
            <a:avLst/>
          </a:prstGeom>
        </p:spPr>
      </p:pic>
      <p:sp>
        <p:nvSpPr>
          <p:cNvPr id="17" name="زر انتقال">
            <a:hlinkClick r:id="rId7"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8" name="زر انتقال" descr="preencoded.png">
            <a:hlinkClick r:id="rId7" action="ppaction://hlinksldjump"/>
          </p:cNvPr>
          <p:cNvPicPr>
            <a:picLocks noChangeAspect="1"/>
          </p:cNvPicPr>
          <p:nvPr/>
        </p:nvPicPr>
        <p:blipFill>
          <a:blip r:embed="rId8"/>
          <a:stretch>
            <a:fillRect/>
          </a:stretch>
        </p:blipFill>
        <p:spPr>
          <a:xfrm>
            <a:off x="1316736" y="6208776"/>
            <a:ext cx="256032" cy="256032"/>
          </a:xfrm>
          <a:prstGeom prst="rect">
            <a:avLst/>
          </a:prstGeom>
        </p:spPr>
      </p:pic>
      <p:sp>
        <p:nvSpPr>
          <p:cNvPr id="19"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0" name="زر السابق" descr="preencoded.png">
            <a:hlinkClick r:id="" action="ppaction://hlinkshowjump?jump=previousslide"/>
          </p:cNvPr>
          <p:cNvPicPr>
            <a:picLocks noChangeAspect="1"/>
          </p:cNvPicPr>
          <p:nvPr/>
        </p:nvPicPr>
        <p:blipFill>
          <a:blip r:embed="rId9"/>
          <a:stretch>
            <a:fillRect/>
          </a:stretch>
        </p:blipFill>
        <p:spPr>
          <a:xfrm>
            <a:off x="2020824" y="6208776"/>
            <a:ext cx="256032" cy="2560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4FA62A"/>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إدراج صورة</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إدراج صورة من حاسوبك (1)</a:t>
            </a:r>
            <a:endParaRPr lang="ar-OM" sz="3200" dirty="0"/>
          </a:p>
        </p:txBody>
      </p:sp>
      <p:pic>
        <p:nvPicPr>
          <p:cNvPr id="5" name="img rib_insert.png" descr="a/rib_insert.png"/>
          <p:cNvPicPr>
            <a:picLocks noChangeAspect="1"/>
          </p:cNvPicPr>
          <p:nvPr/>
        </p:nvPicPr>
        <p:blipFill>
          <a:blip r:embed="rId3"/>
          <a:stretch>
            <a:fillRect/>
          </a:stretch>
        </p:blipFill>
        <p:spPr>
          <a:xfrm>
            <a:off x="457200" y="1325880"/>
            <a:ext cx="5486400" cy="2644219"/>
          </a:xfrm>
          <a:prstGeom prst="rect">
            <a:avLst/>
          </a:prstGeom>
          <a:effectLst>
            <a:outerShdw blurRad="76200" dist="38100" dir="5400000" algn="bl" rotWithShape="0">
              <a:srgbClr val="7A8CA0">
                <a:alpha val="35000"/>
              </a:srgbClr>
            </a:outerShdw>
          </a:effectLst>
        </p:spPr>
      </p:pic>
      <p:sp>
        <p:nvSpPr>
          <p:cNvPr id="6" name="marker 2"/>
          <p:cNvSpPr/>
          <p:nvPr/>
        </p:nvSpPr>
        <p:spPr>
          <a:xfrm>
            <a:off x="1484156" y="1681176"/>
            <a:ext cx="420624" cy="420624"/>
          </a:xfrm>
          <a:prstGeom prst="ellipse">
            <a:avLst/>
          </a:prstGeom>
          <a:solidFill>
            <a:srgbClr val="4FA62A"/>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7" name="marker num 2"/>
          <p:cNvSpPr txBox="1"/>
          <p:nvPr/>
        </p:nvSpPr>
        <p:spPr>
          <a:xfrm>
            <a:off x="1484156" y="1681176"/>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marker 3"/>
          <p:cNvSpPr/>
          <p:nvPr/>
        </p:nvSpPr>
        <p:spPr>
          <a:xfrm>
            <a:off x="2169956" y="2105382"/>
            <a:ext cx="420624" cy="420624"/>
          </a:xfrm>
          <a:prstGeom prst="ellipse">
            <a:avLst/>
          </a:prstGeom>
          <a:solidFill>
            <a:srgbClr val="4FA62A"/>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9" name="marker num 3"/>
          <p:cNvSpPr txBox="1"/>
          <p:nvPr/>
        </p:nvSpPr>
        <p:spPr>
          <a:xfrm>
            <a:off x="2169956" y="210538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0" name="marker 4"/>
          <p:cNvSpPr/>
          <p:nvPr/>
        </p:nvSpPr>
        <p:spPr>
          <a:xfrm>
            <a:off x="2544672" y="2925514"/>
            <a:ext cx="420624" cy="420624"/>
          </a:xfrm>
          <a:prstGeom prst="ellipse">
            <a:avLst/>
          </a:prstGeom>
          <a:solidFill>
            <a:srgbClr val="4FA62A"/>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11" name="marker num 4"/>
          <p:cNvSpPr txBox="1"/>
          <p:nvPr/>
        </p:nvSpPr>
        <p:spPr>
          <a:xfrm>
            <a:off x="2544672" y="292551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2" name="tip"/>
          <p:cNvSpPr/>
          <p:nvPr/>
        </p:nvSpPr>
        <p:spPr>
          <a:xfrm>
            <a:off x="457200" y="4343400"/>
            <a:ext cx="5486400" cy="1371600"/>
          </a:xfrm>
          <a:prstGeom prst="roundRect">
            <a:avLst>
              <a:gd name="adj" fmla="val 10000"/>
            </a:avLst>
          </a:prstGeom>
          <a:solidFill>
            <a:srgbClr val="E6F6DD"/>
          </a:solidFill>
          <a:ln/>
        </p:spPr>
        <p:txBody>
          <a:bodyPr/>
          <a:lstStyle/>
          <a:p>
            <a:endParaRPr lang="ar-OM"/>
          </a:p>
        </p:txBody>
      </p:sp>
      <p:sp>
        <p:nvSpPr>
          <p:cNvPr id="13" name="icon bg"/>
          <p:cNvSpPr/>
          <p:nvPr/>
        </p:nvSpPr>
        <p:spPr>
          <a:xfrm>
            <a:off x="5257800" y="4777740"/>
            <a:ext cx="502920" cy="502920"/>
          </a:xfrm>
          <a:prstGeom prst="ellipse">
            <a:avLst/>
          </a:prstGeom>
          <a:solidFill>
            <a:srgbClr val="4FA62A"/>
          </a:solidFill>
          <a:ln/>
        </p:spPr>
        <p:txBody>
          <a:bodyPr/>
          <a:lstStyle/>
          <a:p>
            <a:endParaRPr lang="ar-OM"/>
          </a:p>
        </p:txBody>
      </p:sp>
      <p:pic>
        <p:nvPicPr>
          <p:cNvPr id="14" name="icon" descr="preencoded.png"/>
          <p:cNvPicPr>
            <a:picLocks noChangeAspect="1"/>
          </p:cNvPicPr>
          <p:nvPr/>
        </p:nvPicPr>
        <p:blipFill>
          <a:blip r:embed="rId4"/>
          <a:stretch>
            <a:fillRect/>
          </a:stretch>
        </p:blipFill>
        <p:spPr>
          <a:xfrm>
            <a:off x="5378501" y="4898441"/>
            <a:ext cx="261518" cy="261518"/>
          </a:xfrm>
          <a:prstGeom prst="rect">
            <a:avLst/>
          </a:prstGeom>
        </p:spPr>
      </p:pic>
      <p:sp>
        <p:nvSpPr>
          <p:cNvPr id="15" name="Text 11"/>
          <p:cNvSpPr txBox="1"/>
          <p:nvPr/>
        </p:nvSpPr>
        <p:spPr>
          <a:xfrm>
            <a:off x="640080" y="4343400"/>
            <a:ext cx="4526280" cy="1371600"/>
          </a:xfrm>
          <a:prstGeom prst="rect">
            <a:avLst/>
          </a:prstGeom>
          <a:noFill/>
          <a:ln/>
        </p:spPr>
        <p:txBody>
          <a:bodyPr wrap="square" lIns="635" tIns="635" rIns="635" bIns="635" rtlCol="0" anchor="ctr"/>
          <a:lstStyle/>
          <a:p>
            <a:pPr marL="0" indent="0" algn="r" rtl="1">
              <a:buNone/>
            </a:pPr>
            <a:r>
              <a:rPr lang="ar-OM" altLang="en-US" sz="1700" dirty="0">
                <a:solidFill>
                  <a:srgbClr val="1F2D3D"/>
                </a:solidFill>
                <a:latin typeface="Arial" pitchFamily="34" charset="0"/>
                <a:ea typeface="Arial" pitchFamily="34" charset="-122"/>
                <a:cs typeface="Arial" pitchFamily="34" charset="-120"/>
              </a:rPr>
              <a:t>لإدراجِ صورةٍ نستخدمُ خياراتِ مجموعةِ الرسومِ التوضيحية (Illustrations) الموجودةِ في تبويب إدراج (Insert).</a:t>
            </a:r>
            <a:endParaRPr lang="ar-OM" sz="1700" dirty="0"/>
          </a:p>
        </p:txBody>
      </p:sp>
      <p:sp>
        <p:nvSpPr>
          <p:cNvPr id="16" name="step card"/>
          <p:cNvSpPr/>
          <p:nvPr/>
        </p:nvSpPr>
        <p:spPr>
          <a:xfrm>
            <a:off x="6309360" y="1325880"/>
            <a:ext cx="5422392" cy="987552"/>
          </a:xfrm>
          <a:prstGeom prst="roundRect">
            <a:avLst>
              <a:gd name="adj" fmla="val 13889"/>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7" name="step num"/>
          <p:cNvSpPr/>
          <p:nvPr/>
        </p:nvSpPr>
        <p:spPr>
          <a:xfrm>
            <a:off x="11055096" y="1563624"/>
            <a:ext cx="512064" cy="512064"/>
          </a:xfrm>
          <a:prstGeom prst="ellipse">
            <a:avLst/>
          </a:prstGeom>
          <a:solidFill>
            <a:srgbClr val="4FA62A"/>
          </a:solidFill>
          <a:ln/>
        </p:spPr>
        <p:txBody>
          <a:bodyPr/>
          <a:lstStyle/>
          <a:p>
            <a:endParaRPr lang="ar-OM"/>
          </a:p>
        </p:txBody>
      </p:sp>
      <p:sp>
        <p:nvSpPr>
          <p:cNvPr id="18" name="Text 14"/>
          <p:cNvSpPr txBox="1"/>
          <p:nvPr/>
        </p:nvSpPr>
        <p:spPr>
          <a:xfrm>
            <a:off x="11055096" y="1563624"/>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9" name="Text 15"/>
          <p:cNvSpPr txBox="1"/>
          <p:nvPr/>
        </p:nvSpPr>
        <p:spPr>
          <a:xfrm>
            <a:off x="6492240" y="1362456"/>
            <a:ext cx="4453128" cy="914400"/>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حدِّدِ المكانَ الذي تريدُ إدراجَ الصورةِ فيه، وليكن في نهايةِ النص.</a:t>
            </a:r>
            <a:endParaRPr lang="ar-OM" sz="1900" dirty="0"/>
          </a:p>
        </p:txBody>
      </p:sp>
      <p:sp>
        <p:nvSpPr>
          <p:cNvPr id="20" name="step card"/>
          <p:cNvSpPr/>
          <p:nvPr/>
        </p:nvSpPr>
        <p:spPr>
          <a:xfrm>
            <a:off x="6309360" y="2450592"/>
            <a:ext cx="5422392" cy="987552"/>
          </a:xfrm>
          <a:prstGeom prst="roundRect">
            <a:avLst>
              <a:gd name="adj" fmla="val 13889"/>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1" name="step num"/>
          <p:cNvSpPr/>
          <p:nvPr/>
        </p:nvSpPr>
        <p:spPr>
          <a:xfrm>
            <a:off x="11055096" y="2688336"/>
            <a:ext cx="512064" cy="512064"/>
          </a:xfrm>
          <a:prstGeom prst="ellipse">
            <a:avLst/>
          </a:prstGeom>
          <a:solidFill>
            <a:srgbClr val="4FA62A"/>
          </a:solidFill>
          <a:ln/>
        </p:spPr>
        <p:txBody>
          <a:bodyPr/>
          <a:lstStyle/>
          <a:p>
            <a:endParaRPr lang="ar-OM"/>
          </a:p>
        </p:txBody>
      </p:sp>
      <p:sp>
        <p:nvSpPr>
          <p:cNvPr id="22" name="Text 18"/>
          <p:cNvSpPr txBox="1"/>
          <p:nvPr/>
        </p:nvSpPr>
        <p:spPr>
          <a:xfrm>
            <a:off x="11055096" y="268833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23" name="Text 19"/>
          <p:cNvSpPr txBox="1"/>
          <p:nvPr/>
        </p:nvSpPr>
        <p:spPr>
          <a:xfrm>
            <a:off x="6492240" y="2487168"/>
            <a:ext cx="4453128" cy="914400"/>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من تبويب إدراج </a:t>
            </a:r>
            <a:r>
              <a:rPr lang="ar-OM" altLang="en-US" sz="1900" b="1" dirty="0">
                <a:solidFill>
                  <a:srgbClr val="2E7D14"/>
                </a:solidFill>
                <a:latin typeface="Arial" pitchFamily="34" charset="0"/>
                <a:ea typeface="Arial" pitchFamily="34" charset="-122"/>
                <a:cs typeface="Arial" pitchFamily="34" charset="-120"/>
              </a:rPr>
              <a:t>(Insert)</a:t>
            </a:r>
            <a:r>
              <a:rPr lang="ar-OM" altLang="en-US" sz="1900" dirty="0">
                <a:solidFill>
                  <a:srgbClr val="1F2D3D"/>
                </a:solidFill>
                <a:latin typeface="Arial" pitchFamily="34" charset="0"/>
                <a:ea typeface="Arial" pitchFamily="34" charset="-122"/>
                <a:cs typeface="Arial" pitchFamily="34" charset="-120"/>
              </a:rPr>
              <a:t>، وفي مجموعة رسومات توضيحية </a:t>
            </a:r>
            <a:r>
              <a:rPr lang="ar-OM" altLang="en-US" sz="1900" b="1" dirty="0">
                <a:solidFill>
                  <a:srgbClr val="2E7D14"/>
                </a:solidFill>
                <a:latin typeface="Arial" pitchFamily="34" charset="0"/>
                <a:ea typeface="Arial" pitchFamily="34" charset="-122"/>
                <a:cs typeface="Arial" pitchFamily="34" charset="-120"/>
              </a:rPr>
              <a:t>(Illustrations)</a:t>
            </a:r>
            <a:endParaRPr lang="ar-OM" sz="1900" dirty="0"/>
          </a:p>
        </p:txBody>
      </p:sp>
      <p:sp>
        <p:nvSpPr>
          <p:cNvPr id="24" name="step card"/>
          <p:cNvSpPr/>
          <p:nvPr/>
        </p:nvSpPr>
        <p:spPr>
          <a:xfrm>
            <a:off x="6309360" y="3575304"/>
            <a:ext cx="5422392" cy="987552"/>
          </a:xfrm>
          <a:prstGeom prst="roundRect">
            <a:avLst>
              <a:gd name="adj" fmla="val 13889"/>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5" name="step num"/>
          <p:cNvSpPr/>
          <p:nvPr/>
        </p:nvSpPr>
        <p:spPr>
          <a:xfrm>
            <a:off x="11055096" y="3813048"/>
            <a:ext cx="512064" cy="512064"/>
          </a:xfrm>
          <a:prstGeom prst="ellipse">
            <a:avLst/>
          </a:prstGeom>
          <a:solidFill>
            <a:srgbClr val="4FA62A"/>
          </a:solidFill>
          <a:ln/>
        </p:spPr>
        <p:txBody>
          <a:bodyPr/>
          <a:lstStyle/>
          <a:p>
            <a:endParaRPr lang="ar-OM"/>
          </a:p>
        </p:txBody>
      </p:sp>
      <p:sp>
        <p:nvSpPr>
          <p:cNvPr id="26" name="Text 22"/>
          <p:cNvSpPr txBox="1"/>
          <p:nvPr/>
        </p:nvSpPr>
        <p:spPr>
          <a:xfrm>
            <a:off x="11055096" y="381304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7" name="Text 23"/>
          <p:cNvSpPr txBox="1"/>
          <p:nvPr/>
        </p:nvSpPr>
        <p:spPr>
          <a:xfrm>
            <a:off x="6492240" y="3611880"/>
            <a:ext cx="4453128" cy="914400"/>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انقرْ صور </a:t>
            </a:r>
            <a:r>
              <a:rPr lang="ar-OM" altLang="en-US" sz="1900" b="1" dirty="0">
                <a:solidFill>
                  <a:srgbClr val="2E7D14"/>
                </a:solidFill>
                <a:latin typeface="Arial" pitchFamily="34" charset="0"/>
                <a:ea typeface="Arial" pitchFamily="34" charset="-122"/>
                <a:cs typeface="Arial" pitchFamily="34" charset="-120"/>
              </a:rPr>
              <a:t>(Pictures)</a:t>
            </a:r>
            <a:endParaRPr lang="ar-OM" sz="1900" dirty="0"/>
          </a:p>
        </p:txBody>
      </p:sp>
      <p:sp>
        <p:nvSpPr>
          <p:cNvPr id="28" name="step card"/>
          <p:cNvSpPr/>
          <p:nvPr/>
        </p:nvSpPr>
        <p:spPr>
          <a:xfrm>
            <a:off x="6309360" y="4700016"/>
            <a:ext cx="5422392" cy="987552"/>
          </a:xfrm>
          <a:prstGeom prst="roundRect">
            <a:avLst>
              <a:gd name="adj" fmla="val 13889"/>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9" name="step num"/>
          <p:cNvSpPr/>
          <p:nvPr/>
        </p:nvSpPr>
        <p:spPr>
          <a:xfrm>
            <a:off x="11055096" y="4937760"/>
            <a:ext cx="512064" cy="512064"/>
          </a:xfrm>
          <a:prstGeom prst="ellipse">
            <a:avLst/>
          </a:prstGeom>
          <a:solidFill>
            <a:srgbClr val="4FA62A"/>
          </a:solidFill>
          <a:ln/>
        </p:spPr>
        <p:txBody>
          <a:bodyPr/>
          <a:lstStyle/>
          <a:p>
            <a:endParaRPr lang="ar-OM"/>
          </a:p>
        </p:txBody>
      </p:sp>
      <p:sp>
        <p:nvSpPr>
          <p:cNvPr id="30" name="Text 26"/>
          <p:cNvSpPr txBox="1"/>
          <p:nvPr/>
        </p:nvSpPr>
        <p:spPr>
          <a:xfrm>
            <a:off x="11055096" y="4937760"/>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1" name="Text 27"/>
          <p:cNvSpPr txBox="1"/>
          <p:nvPr/>
        </p:nvSpPr>
        <p:spPr>
          <a:xfrm>
            <a:off x="6492240" y="4736592"/>
            <a:ext cx="4453128" cy="914400"/>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ثم انقرْ هذا الجهاز </a:t>
            </a:r>
            <a:r>
              <a:rPr lang="ar-OM" altLang="en-US" sz="1900" b="1" dirty="0">
                <a:solidFill>
                  <a:srgbClr val="2E7D14"/>
                </a:solidFill>
                <a:latin typeface="Arial" pitchFamily="34" charset="0"/>
                <a:ea typeface="Arial" pitchFamily="34" charset="-122"/>
                <a:cs typeface="Arial" pitchFamily="34" charset="-120"/>
              </a:rPr>
              <a:t>(This Device)</a:t>
            </a:r>
            <a:endParaRPr lang="ar-OM" sz="1900" dirty="0"/>
          </a:p>
        </p:txBody>
      </p:sp>
      <p:sp>
        <p:nvSpPr>
          <p:cNvPr id="32"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3" name="زر التالي" descr="preencoded.png">
            <a:hlinkClick r:id="" action="ppaction://hlinkshowjump?jump=nextslide"/>
          </p:cNvPr>
          <p:cNvPicPr>
            <a:picLocks noChangeAspect="1"/>
          </p:cNvPicPr>
          <p:nvPr/>
        </p:nvPicPr>
        <p:blipFill>
          <a:blip r:embed="rId5"/>
          <a:stretch>
            <a:fillRect/>
          </a:stretch>
        </p:blipFill>
        <p:spPr>
          <a:xfrm>
            <a:off x="612648" y="6208776"/>
            <a:ext cx="256032" cy="256032"/>
          </a:xfrm>
          <a:prstGeom prst="rect">
            <a:avLst/>
          </a:prstGeom>
        </p:spPr>
      </p:pic>
      <p:sp>
        <p:nvSpPr>
          <p:cNvPr id="34" name="زر انتقال">
            <a:hlinkClick r:id="rId6"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5" name="زر انتقال" descr="preencoded.png">
            <a:hlinkClick r:id="rId6" action="ppaction://hlinksldjump"/>
          </p:cNvPr>
          <p:cNvPicPr>
            <a:picLocks noChangeAspect="1"/>
          </p:cNvPicPr>
          <p:nvPr/>
        </p:nvPicPr>
        <p:blipFill>
          <a:blip r:embed="rId7"/>
          <a:stretch>
            <a:fillRect/>
          </a:stretch>
        </p:blipFill>
        <p:spPr>
          <a:xfrm>
            <a:off x="1316736" y="6208776"/>
            <a:ext cx="256032" cy="256032"/>
          </a:xfrm>
          <a:prstGeom prst="rect">
            <a:avLst/>
          </a:prstGeom>
        </p:spPr>
      </p:pic>
      <p:sp>
        <p:nvSpPr>
          <p:cNvPr id="36"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7" name="زر السابق" descr="preencoded.png">
            <a:hlinkClick r:id="" action="ppaction://hlinkshowjump?jump=previousslide"/>
          </p:cNvPr>
          <p:cNvPicPr>
            <a:picLocks noChangeAspect="1"/>
          </p:cNvPicPr>
          <p:nvPr/>
        </p:nvPicPr>
        <p:blipFill>
          <a:blip r:embed="rId8"/>
          <a:stretch>
            <a:fillRect/>
          </a:stretch>
        </p:blipFill>
        <p:spPr>
          <a:xfrm>
            <a:off x="2020824" y="6208776"/>
            <a:ext cx="256032" cy="2560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4FA62A"/>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إدراج صورة</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إدراج صورة من حاسوبك (2)</a:t>
            </a:r>
            <a:endParaRPr lang="ar-OM" sz="3200" dirty="0"/>
          </a:p>
        </p:txBody>
      </p:sp>
      <p:pic>
        <p:nvPicPr>
          <p:cNvPr id="5" name="img dlg_insert.png" descr="a/dlg_insert.png"/>
          <p:cNvPicPr>
            <a:picLocks noChangeAspect="1"/>
          </p:cNvPicPr>
          <p:nvPr/>
        </p:nvPicPr>
        <p:blipFill>
          <a:blip r:embed="rId3"/>
          <a:stretch>
            <a:fillRect/>
          </a:stretch>
        </p:blipFill>
        <p:spPr>
          <a:xfrm>
            <a:off x="457200" y="1325880"/>
            <a:ext cx="5486400" cy="3844066"/>
          </a:xfrm>
          <a:prstGeom prst="rect">
            <a:avLst/>
          </a:prstGeom>
          <a:effectLst>
            <a:outerShdw blurRad="76200" dist="38100" dir="5400000" algn="bl" rotWithShape="0">
              <a:srgbClr val="7A8CA0">
                <a:alpha val="35000"/>
              </a:srgbClr>
            </a:outerShdw>
          </a:effectLst>
        </p:spPr>
      </p:pic>
      <p:sp>
        <p:nvSpPr>
          <p:cNvPr id="6" name="marker 5"/>
          <p:cNvSpPr/>
          <p:nvPr/>
        </p:nvSpPr>
        <p:spPr>
          <a:xfrm>
            <a:off x="999923" y="3769121"/>
            <a:ext cx="420624" cy="420624"/>
          </a:xfrm>
          <a:prstGeom prst="ellipse">
            <a:avLst/>
          </a:prstGeom>
          <a:solidFill>
            <a:srgbClr val="4FA62A"/>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7" name="marker num 5"/>
          <p:cNvSpPr txBox="1"/>
          <p:nvPr/>
        </p:nvSpPr>
        <p:spPr>
          <a:xfrm>
            <a:off x="999923" y="3769121"/>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8" name="marker 6"/>
          <p:cNvSpPr/>
          <p:nvPr/>
        </p:nvSpPr>
        <p:spPr>
          <a:xfrm>
            <a:off x="3244686" y="2836792"/>
            <a:ext cx="420624" cy="420624"/>
          </a:xfrm>
          <a:prstGeom prst="ellipse">
            <a:avLst/>
          </a:prstGeom>
          <a:solidFill>
            <a:srgbClr val="4FA62A"/>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9" name="marker num 6"/>
          <p:cNvSpPr txBox="1"/>
          <p:nvPr/>
        </p:nvSpPr>
        <p:spPr>
          <a:xfrm>
            <a:off x="3244686" y="283679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10" name="marker 7"/>
          <p:cNvSpPr/>
          <p:nvPr/>
        </p:nvSpPr>
        <p:spPr>
          <a:xfrm>
            <a:off x="4212874" y="4758824"/>
            <a:ext cx="420624" cy="420624"/>
          </a:xfrm>
          <a:prstGeom prst="ellipse">
            <a:avLst/>
          </a:prstGeom>
          <a:solidFill>
            <a:srgbClr val="4FA62A"/>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11" name="marker num 7"/>
          <p:cNvSpPr txBox="1"/>
          <p:nvPr/>
        </p:nvSpPr>
        <p:spPr>
          <a:xfrm>
            <a:off x="4212874" y="475882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12" name="step card"/>
          <p:cNvSpPr/>
          <p:nvPr/>
        </p:nvSpPr>
        <p:spPr>
          <a:xfrm>
            <a:off x="6309360" y="1325880"/>
            <a:ext cx="5422392" cy="914400"/>
          </a:xfrm>
          <a:prstGeom prst="roundRect">
            <a:avLst>
              <a:gd name="adj" fmla="val 1500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3" name="step num"/>
          <p:cNvSpPr/>
          <p:nvPr/>
        </p:nvSpPr>
        <p:spPr>
          <a:xfrm>
            <a:off x="11055096" y="1527048"/>
            <a:ext cx="512064" cy="512064"/>
          </a:xfrm>
          <a:prstGeom prst="ellipse">
            <a:avLst/>
          </a:prstGeom>
          <a:solidFill>
            <a:srgbClr val="4FA62A"/>
          </a:solidFill>
          <a:ln/>
        </p:spPr>
        <p:txBody>
          <a:bodyPr/>
          <a:lstStyle/>
          <a:p>
            <a:endParaRPr lang="ar-OM"/>
          </a:p>
        </p:txBody>
      </p:sp>
      <p:sp>
        <p:nvSpPr>
          <p:cNvPr id="14" name="Text 11"/>
          <p:cNvSpPr txBox="1"/>
          <p:nvPr/>
        </p:nvSpPr>
        <p:spPr>
          <a:xfrm>
            <a:off x="11055096" y="152704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15" name="Text 12"/>
          <p:cNvSpPr txBox="1"/>
          <p:nvPr/>
        </p:nvSpPr>
        <p:spPr>
          <a:xfrm>
            <a:off x="6492240" y="1362456"/>
            <a:ext cx="4453128" cy="841248"/>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من نافذة إدراج صورة </a:t>
            </a:r>
            <a:r>
              <a:rPr lang="ar-OM" altLang="en-US" sz="1900" b="1" dirty="0">
                <a:solidFill>
                  <a:srgbClr val="2E7D14"/>
                </a:solidFill>
                <a:latin typeface="Arial" pitchFamily="34" charset="0"/>
                <a:ea typeface="Arial" pitchFamily="34" charset="-122"/>
                <a:cs typeface="Arial" pitchFamily="34" charset="-120"/>
              </a:rPr>
              <a:t>(Insert Picture)</a:t>
            </a:r>
            <a:r>
              <a:rPr lang="ar-OM" altLang="en-US" sz="1900" dirty="0">
                <a:solidFill>
                  <a:srgbClr val="1F2D3D"/>
                </a:solidFill>
                <a:latin typeface="Arial" pitchFamily="34" charset="0"/>
                <a:ea typeface="Arial" pitchFamily="34" charset="-122"/>
                <a:cs typeface="Arial" pitchFamily="34" charset="-120"/>
              </a:rPr>
              <a:t>، حدِّدْ موقعَ تخزين الصورة.</a:t>
            </a:r>
            <a:endParaRPr lang="ar-OM" sz="1900" dirty="0"/>
          </a:p>
        </p:txBody>
      </p:sp>
      <p:sp>
        <p:nvSpPr>
          <p:cNvPr id="16" name="step card"/>
          <p:cNvSpPr/>
          <p:nvPr/>
        </p:nvSpPr>
        <p:spPr>
          <a:xfrm>
            <a:off x="6309360" y="2377440"/>
            <a:ext cx="5422392" cy="914400"/>
          </a:xfrm>
          <a:prstGeom prst="roundRect">
            <a:avLst>
              <a:gd name="adj" fmla="val 1500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7" name="step num"/>
          <p:cNvSpPr/>
          <p:nvPr/>
        </p:nvSpPr>
        <p:spPr>
          <a:xfrm>
            <a:off x="11055096" y="2578608"/>
            <a:ext cx="512064" cy="512064"/>
          </a:xfrm>
          <a:prstGeom prst="ellipse">
            <a:avLst/>
          </a:prstGeom>
          <a:solidFill>
            <a:srgbClr val="4FA62A"/>
          </a:solidFill>
          <a:ln/>
        </p:spPr>
        <p:txBody>
          <a:bodyPr/>
          <a:lstStyle/>
          <a:p>
            <a:endParaRPr lang="ar-OM"/>
          </a:p>
        </p:txBody>
      </p:sp>
      <p:sp>
        <p:nvSpPr>
          <p:cNvPr id="18" name="Text 15"/>
          <p:cNvSpPr txBox="1"/>
          <p:nvPr/>
        </p:nvSpPr>
        <p:spPr>
          <a:xfrm>
            <a:off x="11055096" y="257860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19" name="Text 16"/>
          <p:cNvSpPr txBox="1"/>
          <p:nvPr/>
        </p:nvSpPr>
        <p:spPr>
          <a:xfrm>
            <a:off x="6492240" y="2414016"/>
            <a:ext cx="4453128" cy="841248"/>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ثم اخترِ الصورةَ التي تريدُ إدراجَها.</a:t>
            </a:r>
            <a:endParaRPr lang="ar-OM" sz="1900" dirty="0"/>
          </a:p>
        </p:txBody>
      </p:sp>
      <p:sp>
        <p:nvSpPr>
          <p:cNvPr id="20" name="step card"/>
          <p:cNvSpPr/>
          <p:nvPr/>
        </p:nvSpPr>
        <p:spPr>
          <a:xfrm>
            <a:off x="6309360" y="3429000"/>
            <a:ext cx="5422392" cy="914400"/>
          </a:xfrm>
          <a:prstGeom prst="roundRect">
            <a:avLst>
              <a:gd name="adj" fmla="val 1500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1" name="step num"/>
          <p:cNvSpPr/>
          <p:nvPr/>
        </p:nvSpPr>
        <p:spPr>
          <a:xfrm>
            <a:off x="11055096" y="3630168"/>
            <a:ext cx="512064" cy="512064"/>
          </a:xfrm>
          <a:prstGeom prst="ellipse">
            <a:avLst/>
          </a:prstGeom>
          <a:solidFill>
            <a:srgbClr val="4FA62A"/>
          </a:solidFill>
          <a:ln/>
        </p:spPr>
        <p:txBody>
          <a:bodyPr/>
          <a:lstStyle/>
          <a:p>
            <a:endParaRPr lang="ar-OM"/>
          </a:p>
        </p:txBody>
      </p:sp>
      <p:sp>
        <p:nvSpPr>
          <p:cNvPr id="22" name="Text 19"/>
          <p:cNvSpPr txBox="1"/>
          <p:nvPr/>
        </p:nvSpPr>
        <p:spPr>
          <a:xfrm>
            <a:off x="11055096" y="363016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23" name="Text 20"/>
          <p:cNvSpPr txBox="1"/>
          <p:nvPr/>
        </p:nvSpPr>
        <p:spPr>
          <a:xfrm>
            <a:off x="6492240" y="3465576"/>
            <a:ext cx="4453128" cy="841248"/>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انقرْ إدراج </a:t>
            </a:r>
            <a:r>
              <a:rPr lang="ar-OM" altLang="en-US" sz="1900" b="1" dirty="0">
                <a:solidFill>
                  <a:srgbClr val="2E7D14"/>
                </a:solidFill>
                <a:latin typeface="Arial" pitchFamily="34" charset="0"/>
                <a:ea typeface="Arial" pitchFamily="34" charset="-122"/>
                <a:cs typeface="Arial" pitchFamily="34" charset="-120"/>
              </a:rPr>
              <a:t>(Insert)</a:t>
            </a:r>
            <a:endParaRPr lang="ar-OM" sz="1900" dirty="0"/>
          </a:p>
        </p:txBody>
      </p:sp>
      <p:sp>
        <p:nvSpPr>
          <p:cNvPr id="24" name="card"/>
          <p:cNvSpPr/>
          <p:nvPr/>
        </p:nvSpPr>
        <p:spPr>
          <a:xfrm>
            <a:off x="6309360" y="4572000"/>
            <a:ext cx="5422392" cy="1234440"/>
          </a:xfrm>
          <a:prstGeom prst="roundRect">
            <a:avLst>
              <a:gd name="adj" fmla="val 13333"/>
            </a:avLst>
          </a:prstGeom>
          <a:solidFill>
            <a:srgbClr val="E6F6DD"/>
          </a:solidFill>
          <a:ln/>
        </p:spPr>
        <p:txBody>
          <a:bodyPr/>
          <a:lstStyle/>
          <a:p>
            <a:endParaRPr lang="ar-OM"/>
          </a:p>
        </p:txBody>
      </p:sp>
      <p:pic>
        <p:nvPicPr>
          <p:cNvPr id="25" name="img res_insert.png" descr="a/res_insert.png"/>
          <p:cNvPicPr>
            <a:picLocks noChangeAspect="1"/>
          </p:cNvPicPr>
          <p:nvPr/>
        </p:nvPicPr>
        <p:blipFill>
          <a:blip r:embed="rId4"/>
          <a:stretch>
            <a:fillRect/>
          </a:stretch>
        </p:blipFill>
        <p:spPr>
          <a:xfrm>
            <a:off x="6505478" y="4636008"/>
            <a:ext cx="1345125" cy="1106424"/>
          </a:xfrm>
          <a:prstGeom prst="rect">
            <a:avLst/>
          </a:prstGeom>
          <a:effectLst>
            <a:outerShdw blurRad="76200" dist="38100" dir="5400000" algn="bl" rotWithShape="0">
              <a:srgbClr val="7A8CA0">
                <a:alpha val="35000"/>
              </a:srgbClr>
            </a:outerShdw>
          </a:effectLst>
        </p:spPr>
      </p:pic>
      <p:sp>
        <p:nvSpPr>
          <p:cNvPr id="26" name="Text 22"/>
          <p:cNvSpPr txBox="1"/>
          <p:nvPr/>
        </p:nvSpPr>
        <p:spPr>
          <a:xfrm>
            <a:off x="8046720" y="4572000"/>
            <a:ext cx="3520440" cy="1234440"/>
          </a:xfrm>
          <a:prstGeom prst="rect">
            <a:avLst/>
          </a:prstGeom>
          <a:noFill/>
          <a:ln/>
        </p:spPr>
        <p:txBody>
          <a:bodyPr wrap="square" lIns="635" tIns="635" rIns="635" bIns="635" rtlCol="0" anchor="ctr"/>
          <a:lstStyle/>
          <a:p>
            <a:pPr marL="0" indent="0" algn="r" rtl="1">
              <a:buNone/>
            </a:pPr>
            <a:r>
              <a:rPr lang="ar-OM" altLang="en-US" sz="1800" b="1" dirty="0">
                <a:solidFill>
                  <a:srgbClr val="2E7D14"/>
                </a:solidFill>
                <a:latin typeface="Arial" pitchFamily="34" charset="0"/>
                <a:ea typeface="Arial" pitchFamily="34" charset="-122"/>
                <a:cs typeface="Arial" pitchFamily="34" charset="-120"/>
              </a:rPr>
              <a:t>رائع! تظهرُ الصورةُ في المستند بعد النقر على Insert</a:t>
            </a:r>
            <a:endParaRPr lang="ar-OM" sz="1800" dirty="0"/>
          </a:p>
        </p:txBody>
      </p:sp>
      <p:sp>
        <p:nvSpPr>
          <p:cNvPr id="27"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8" name="زر التالي" descr="preencoded.png">
            <a:hlinkClick r:id="" action="ppaction://hlinkshowjump?jump=nextslide"/>
          </p:cNvPr>
          <p:cNvPicPr>
            <a:picLocks noChangeAspect="1"/>
          </p:cNvPicPr>
          <p:nvPr/>
        </p:nvPicPr>
        <p:blipFill>
          <a:blip r:embed="rId5"/>
          <a:stretch>
            <a:fillRect/>
          </a:stretch>
        </p:blipFill>
        <p:spPr>
          <a:xfrm>
            <a:off x="612648" y="6208776"/>
            <a:ext cx="256032" cy="256032"/>
          </a:xfrm>
          <a:prstGeom prst="rect">
            <a:avLst/>
          </a:prstGeom>
        </p:spPr>
      </p:pic>
      <p:sp>
        <p:nvSpPr>
          <p:cNvPr id="29" name="زر انتقال">
            <a:hlinkClick r:id="rId6"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0" name="زر انتقال" descr="preencoded.png">
            <a:hlinkClick r:id="rId6" action="ppaction://hlinksldjump"/>
          </p:cNvPr>
          <p:cNvPicPr>
            <a:picLocks noChangeAspect="1"/>
          </p:cNvPicPr>
          <p:nvPr/>
        </p:nvPicPr>
        <p:blipFill>
          <a:blip r:embed="rId7"/>
          <a:stretch>
            <a:fillRect/>
          </a:stretch>
        </p:blipFill>
        <p:spPr>
          <a:xfrm>
            <a:off x="1316736" y="6208776"/>
            <a:ext cx="256032" cy="256032"/>
          </a:xfrm>
          <a:prstGeom prst="rect">
            <a:avLst/>
          </a:prstGeom>
        </p:spPr>
      </p:pic>
      <p:sp>
        <p:nvSpPr>
          <p:cNvPr id="31"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2" name="زر السابق" descr="preencoded.png">
            <a:hlinkClick r:id="" action="ppaction://hlinkshowjump?jump=previousslide"/>
          </p:cNvPr>
          <p:cNvPicPr>
            <a:picLocks noChangeAspect="1"/>
          </p:cNvPicPr>
          <p:nvPr/>
        </p:nvPicPr>
        <p:blipFill>
          <a:blip r:embed="rId8"/>
          <a:stretch>
            <a:fillRect/>
          </a:stretch>
        </p:blipFill>
        <p:spPr>
          <a:xfrm>
            <a:off x="2020824" y="6208776"/>
            <a:ext cx="256032" cy="2560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4FA62A"/>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إدراج صورة</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فيديو الهدف الأول: إدراج صورة</a:t>
            </a:r>
            <a:endParaRPr lang="ar-OM" sz="3200" dirty="0"/>
          </a:p>
        </p:txBody>
      </p:sp>
      <p:pic>
        <p:nvPicPr>
          <p:cNvPr id="5" name="video 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429000" y="1234440"/>
            <a:ext cx="8138160" cy="4577486"/>
          </a:xfrm>
          <a:prstGeom prst="rect">
            <a:avLst/>
          </a:prstGeom>
        </p:spPr>
      </p:pic>
      <p:sp>
        <p:nvSpPr>
          <p:cNvPr id="6" name="speech"/>
          <p:cNvSpPr/>
          <p:nvPr/>
        </p:nvSpPr>
        <p:spPr>
          <a:xfrm>
            <a:off x="411480" y="1325880"/>
            <a:ext cx="2743200" cy="1234440"/>
          </a:xfrm>
          <a:prstGeom prst="roundRect">
            <a:avLst>
              <a:gd name="adj" fmla="val 18519"/>
            </a:avLst>
          </a:prstGeom>
          <a:solidFill>
            <a:srgbClr val="FFFFFF"/>
          </a:solidFill>
          <a:ln w="25400">
            <a:solidFill>
              <a:srgbClr val="4FA62A"/>
            </a:solidFill>
            <a:prstDash val="solid"/>
          </a:ln>
          <a:effectLst>
            <a:outerShdw blurRad="101600" dist="25400" dir="5400000" algn="bl" rotWithShape="0">
              <a:srgbClr val="8FA6BF">
                <a:alpha val="30000"/>
              </a:srgbClr>
            </a:outerShdw>
          </a:effectLst>
        </p:spPr>
        <p:txBody>
          <a:bodyPr/>
          <a:lstStyle/>
          <a:p>
            <a:endParaRPr lang="ar-OM"/>
          </a:p>
        </p:txBody>
      </p:sp>
      <p:sp>
        <p:nvSpPr>
          <p:cNvPr id="7" name="Text 4"/>
          <p:cNvSpPr txBox="1"/>
          <p:nvPr/>
        </p:nvSpPr>
        <p:spPr>
          <a:xfrm>
            <a:off x="548640" y="1325880"/>
            <a:ext cx="2468880" cy="1234440"/>
          </a:xfrm>
          <a:prstGeom prst="rect">
            <a:avLst/>
          </a:prstGeom>
          <a:noFill/>
          <a:ln/>
        </p:spPr>
        <p:txBody>
          <a:bodyPr wrap="square" lIns="635" tIns="635" rIns="635" bIns="635" rtlCol="0" anchor="ctr"/>
          <a:lstStyle/>
          <a:p>
            <a:pPr marL="0" indent="0" algn="ctr" rtl="1">
              <a:buNone/>
            </a:pPr>
            <a:r>
              <a:rPr lang="ar-OM" altLang="en-US" sz="1600" b="1" dirty="0">
                <a:solidFill>
                  <a:srgbClr val="4FA62A"/>
                </a:solidFill>
                <a:latin typeface="Arial" pitchFamily="34" charset="0"/>
                <a:ea typeface="Arial" pitchFamily="34" charset="-122"/>
                <a:cs typeface="Arial" pitchFamily="34" charset="-120"/>
              </a:rPr>
              <a:t>انقر ▶ لتشغيل الفيديو وتابع الخطوات</a:t>
            </a:r>
            <a:endParaRPr lang="ar-OM" sz="1600" dirty="0"/>
          </a:p>
        </p:txBody>
      </p:sp>
      <p:pic>
        <p:nvPicPr>
          <p:cNvPr id="8" name="img boy_wave.png" descr="a/boy_wave.png"/>
          <p:cNvPicPr>
            <a:picLocks noChangeAspect="1"/>
          </p:cNvPicPr>
          <p:nvPr/>
        </p:nvPicPr>
        <p:blipFill>
          <a:blip r:embed="rId6"/>
          <a:stretch>
            <a:fillRect/>
          </a:stretch>
        </p:blipFill>
        <p:spPr>
          <a:xfrm>
            <a:off x="537744" y="2743200"/>
            <a:ext cx="2490672" cy="3063240"/>
          </a:xfrm>
          <a:prstGeom prst="rect">
            <a:avLst/>
          </a:prstGeom>
        </p:spPr>
      </p:pic>
      <p:sp>
        <p:nvSpPr>
          <p:cNvPr id="10"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1" name="زر التالي" descr="preencoded.png">
            <a:hlinkClick r:id="" action="ppaction://hlinkshowjump?jump=nextslide"/>
          </p:cNvPr>
          <p:cNvPicPr>
            <a:picLocks noChangeAspect="1"/>
          </p:cNvPicPr>
          <p:nvPr/>
        </p:nvPicPr>
        <p:blipFill>
          <a:blip r:embed="rId7"/>
          <a:stretch>
            <a:fillRect/>
          </a:stretch>
        </p:blipFill>
        <p:spPr>
          <a:xfrm>
            <a:off x="612648" y="6208776"/>
            <a:ext cx="256032" cy="256032"/>
          </a:xfrm>
          <a:prstGeom prst="rect">
            <a:avLst/>
          </a:prstGeom>
        </p:spPr>
      </p:pic>
      <p:sp>
        <p:nvSpPr>
          <p:cNvPr id="12" name="زر انتقال">
            <a:hlinkClick r:id="rId8"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3" name="زر انتقال" descr="preencoded.png">
            <a:hlinkClick r:id="rId8" action="ppaction://hlinksldjump"/>
          </p:cNvPr>
          <p:cNvPicPr>
            <a:picLocks noChangeAspect="1"/>
          </p:cNvPicPr>
          <p:nvPr/>
        </p:nvPicPr>
        <p:blipFill>
          <a:blip r:embed="rId9"/>
          <a:stretch>
            <a:fillRect/>
          </a:stretch>
        </p:blipFill>
        <p:spPr>
          <a:xfrm>
            <a:off x="1316736" y="6208776"/>
            <a:ext cx="256032" cy="256032"/>
          </a:xfrm>
          <a:prstGeom prst="rect">
            <a:avLst/>
          </a:prstGeom>
        </p:spPr>
      </p:pic>
      <p:sp>
        <p:nvSpPr>
          <p:cNvPr id="14"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5" name="زر السابق" descr="preencoded.png">
            <a:hlinkClick r:id="" action="ppaction://hlinkshowjump?jump=previousslide"/>
          </p:cNvPr>
          <p:cNvPicPr>
            <a:picLocks noChangeAspect="1"/>
          </p:cNvPicPr>
          <p:nvPr/>
        </p:nvPicPr>
        <p:blipFill>
          <a:blip r:embed="rId10"/>
          <a:stretch>
            <a:fillRect/>
          </a:stretch>
        </p:blipFill>
        <p:spPr>
          <a:xfrm>
            <a:off x="2020824" y="6208776"/>
            <a:ext cx="256032" cy="2560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4FA62A"/>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إدراج صورة</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سؤال سريع 1</a:t>
            </a:r>
            <a:endParaRPr lang="ar-OM" sz="3200" dirty="0"/>
          </a:p>
        </p:txBody>
      </p:sp>
      <p:sp>
        <p:nvSpPr>
          <p:cNvPr id="5" name="question"/>
          <p:cNvSpPr/>
          <p:nvPr/>
        </p:nvSpPr>
        <p:spPr>
          <a:xfrm>
            <a:off x="457200" y="1280160"/>
            <a:ext cx="11274552" cy="1371600"/>
          </a:xfrm>
          <a:prstGeom prst="roundRect">
            <a:avLst>
              <a:gd name="adj" fmla="val 12000"/>
            </a:avLst>
          </a:prstGeom>
          <a:solidFill>
            <a:srgbClr val="E6F6DD"/>
          </a:solidFill>
          <a:ln/>
        </p:spPr>
        <p:txBody>
          <a:bodyPr/>
          <a:lstStyle/>
          <a:p>
            <a:endParaRPr lang="ar-OM"/>
          </a:p>
        </p:txBody>
      </p:sp>
      <p:sp>
        <p:nvSpPr>
          <p:cNvPr id="6" name="icon bg"/>
          <p:cNvSpPr/>
          <p:nvPr/>
        </p:nvSpPr>
        <p:spPr>
          <a:xfrm>
            <a:off x="10927080" y="1645920"/>
            <a:ext cx="640080" cy="640080"/>
          </a:xfrm>
          <a:prstGeom prst="ellipse">
            <a:avLst/>
          </a:prstGeom>
          <a:solidFill>
            <a:srgbClr val="4FA62A"/>
          </a:solidFill>
          <a:ln/>
        </p:spPr>
        <p:txBody>
          <a:bodyPr/>
          <a:lstStyle/>
          <a:p>
            <a:endParaRPr lang="ar-OM"/>
          </a:p>
        </p:txBody>
      </p:sp>
      <p:pic>
        <p:nvPicPr>
          <p:cNvPr id="7" name="icon" descr="preencoded.png"/>
          <p:cNvPicPr>
            <a:picLocks noChangeAspect="1"/>
          </p:cNvPicPr>
          <p:nvPr/>
        </p:nvPicPr>
        <p:blipFill>
          <a:blip r:embed="rId3"/>
          <a:stretch>
            <a:fillRect/>
          </a:stretch>
        </p:blipFill>
        <p:spPr>
          <a:xfrm>
            <a:off x="11080699" y="1799539"/>
            <a:ext cx="332842" cy="332842"/>
          </a:xfrm>
          <a:prstGeom prst="rect">
            <a:avLst/>
          </a:prstGeom>
        </p:spPr>
      </p:pic>
      <p:sp>
        <p:nvSpPr>
          <p:cNvPr id="8" name="Text 5"/>
          <p:cNvSpPr txBox="1"/>
          <p:nvPr/>
        </p:nvSpPr>
        <p:spPr>
          <a:xfrm>
            <a:off x="685800" y="1280160"/>
            <a:ext cx="10104120" cy="1371600"/>
          </a:xfrm>
          <a:prstGeom prst="rect">
            <a:avLst/>
          </a:prstGeom>
          <a:noFill/>
          <a:ln/>
        </p:spPr>
        <p:txBody>
          <a:bodyPr wrap="square" lIns="635" tIns="635" rIns="635" bIns="635" rtlCol="0" anchor="ctr"/>
          <a:lstStyle/>
          <a:p>
            <a:pPr marL="0" indent="0" algn="r" rtl="1">
              <a:buNone/>
            </a:pPr>
            <a:r>
              <a:rPr lang="ar-OM" altLang="en-US" sz="2600" b="1" dirty="0">
                <a:solidFill>
                  <a:srgbClr val="0D3B66"/>
                </a:solidFill>
                <a:latin typeface="Arial" pitchFamily="34" charset="0"/>
                <a:ea typeface="Arial" pitchFamily="34" charset="-122"/>
                <a:cs typeface="Arial" pitchFamily="34" charset="-120"/>
              </a:rPr>
              <a:t>لإدراجِ صورةٍ من حاسوبك، نختارُ تبويب:</a:t>
            </a:r>
            <a:endParaRPr lang="ar-OM" sz="2600" dirty="0"/>
          </a:p>
        </p:txBody>
      </p:sp>
      <p:sp>
        <p:nvSpPr>
          <p:cNvPr id="9" name="إجابة">
            <a:hlinkClick r:id="rId4" action="ppaction://hlinksldjump">
              <a:snd r:embed="rId5" name="correct.wav"/>
            </a:hlinkClick>
          </p:cNvPr>
          <p:cNvSpPr/>
          <p:nvPr/>
        </p:nvSpPr>
        <p:spPr>
          <a:xfrm>
            <a:off x="8211312" y="2971800"/>
            <a:ext cx="3520440" cy="1417320"/>
          </a:xfrm>
          <a:prstGeom prst="roundRect">
            <a:avLst>
              <a:gd name="adj" fmla="val 12903"/>
            </a:avLst>
          </a:prstGeom>
          <a:solidFill>
            <a:srgbClr val="FFFFFF"/>
          </a:solidFill>
          <a:ln w="28575">
            <a:solidFill>
              <a:srgbClr val="4FA62A"/>
            </a:solidFill>
            <a:prstDash val="solid"/>
          </a:ln>
          <a:effectLst>
            <a:outerShdw blurRad="101600" dist="25400" dir="5400000" algn="bl" rotWithShape="0">
              <a:srgbClr val="8FA6BF">
                <a:alpha val="30000"/>
              </a:srgbClr>
            </a:outerShdw>
          </a:effectLst>
        </p:spPr>
        <p:txBody>
          <a:bodyPr/>
          <a:lstStyle/>
          <a:p>
            <a:endParaRPr lang="ar-OM"/>
          </a:p>
        </p:txBody>
      </p:sp>
      <p:sp>
        <p:nvSpPr>
          <p:cNvPr id="10" name="إجابة">
            <a:hlinkClick r:id="rId4" action="ppaction://hlinksldjump">
              <a:snd r:embed="rId5" name="correct.wav"/>
            </a:hlinkClick>
          </p:cNvPr>
          <p:cNvSpPr/>
          <p:nvPr/>
        </p:nvSpPr>
        <p:spPr>
          <a:xfrm>
            <a:off x="11000232" y="3396996"/>
            <a:ext cx="566928" cy="566928"/>
          </a:xfrm>
          <a:prstGeom prst="ellipse">
            <a:avLst/>
          </a:prstGeom>
          <a:solidFill>
            <a:srgbClr val="4FA62A"/>
          </a:solidFill>
          <a:ln/>
        </p:spPr>
        <p:txBody>
          <a:bodyPr/>
          <a:lstStyle/>
          <a:p>
            <a:endParaRPr lang="ar-OM"/>
          </a:p>
        </p:txBody>
      </p:sp>
      <p:sp>
        <p:nvSpPr>
          <p:cNvPr id="11" name="إجابة">
            <a:hlinkClick r:id="rId4" action="ppaction://hlinksldjump">
              <a:snd r:embed="rId5" name="correct.wav"/>
            </a:hlinkClick>
          </p:cNvPr>
          <p:cNvSpPr txBox="1"/>
          <p:nvPr/>
        </p:nvSpPr>
        <p:spPr>
          <a:xfrm>
            <a:off x="11000232"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أ</a:t>
            </a:r>
            <a:endParaRPr lang="en-US" sz="2200" dirty="0"/>
          </a:p>
        </p:txBody>
      </p:sp>
      <p:sp>
        <p:nvSpPr>
          <p:cNvPr id="12" name="إجابة">
            <a:hlinkClick r:id="rId4" action="ppaction://hlinksldjump">
              <a:snd r:embed="rId5" name="correct.wav"/>
            </a:hlinkClick>
          </p:cNvPr>
          <p:cNvSpPr txBox="1"/>
          <p:nvPr/>
        </p:nvSpPr>
        <p:spPr>
          <a:xfrm>
            <a:off x="8394192"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إدراج (Insert)</a:t>
            </a:r>
            <a:endParaRPr lang="ar-OM" sz="2000" dirty="0"/>
          </a:p>
        </p:txBody>
      </p:sp>
      <p:sp>
        <p:nvSpPr>
          <p:cNvPr id="13" name="إجابة">
            <a:hlinkClick r:id="rId6" action="ppaction://hlinksldjump">
              <a:snd r:embed="rId7" name="wrong.wav"/>
            </a:hlinkClick>
          </p:cNvPr>
          <p:cNvSpPr/>
          <p:nvPr/>
        </p:nvSpPr>
        <p:spPr>
          <a:xfrm>
            <a:off x="4334256" y="2971800"/>
            <a:ext cx="3520440" cy="1417320"/>
          </a:xfrm>
          <a:prstGeom prst="roundRect">
            <a:avLst>
              <a:gd name="adj" fmla="val 12903"/>
            </a:avLst>
          </a:prstGeom>
          <a:solidFill>
            <a:srgbClr val="FFFFFF"/>
          </a:solidFill>
          <a:ln w="28575">
            <a:solidFill>
              <a:srgbClr val="4FA62A"/>
            </a:solidFill>
            <a:prstDash val="solid"/>
          </a:ln>
          <a:effectLst>
            <a:outerShdw blurRad="101600" dist="25400" dir="5400000" algn="bl" rotWithShape="0">
              <a:srgbClr val="8FA6BF">
                <a:alpha val="30000"/>
              </a:srgbClr>
            </a:outerShdw>
          </a:effectLst>
        </p:spPr>
        <p:txBody>
          <a:bodyPr/>
          <a:lstStyle/>
          <a:p>
            <a:endParaRPr lang="ar-OM"/>
          </a:p>
        </p:txBody>
      </p:sp>
      <p:sp>
        <p:nvSpPr>
          <p:cNvPr id="14" name="إجابة">
            <a:hlinkClick r:id="rId6" action="ppaction://hlinksldjump">
              <a:snd r:embed="rId7" name="wrong.wav"/>
            </a:hlinkClick>
          </p:cNvPr>
          <p:cNvSpPr/>
          <p:nvPr/>
        </p:nvSpPr>
        <p:spPr>
          <a:xfrm>
            <a:off x="7123176" y="3396996"/>
            <a:ext cx="566928" cy="566928"/>
          </a:xfrm>
          <a:prstGeom prst="ellipse">
            <a:avLst/>
          </a:prstGeom>
          <a:solidFill>
            <a:srgbClr val="4FA62A"/>
          </a:solidFill>
          <a:ln/>
        </p:spPr>
        <p:txBody>
          <a:bodyPr/>
          <a:lstStyle/>
          <a:p>
            <a:endParaRPr lang="ar-OM"/>
          </a:p>
        </p:txBody>
      </p:sp>
      <p:sp>
        <p:nvSpPr>
          <p:cNvPr id="15" name="إجابة">
            <a:hlinkClick r:id="rId6" action="ppaction://hlinksldjump">
              <a:snd r:embed="rId7" name="wrong.wav"/>
            </a:hlinkClick>
          </p:cNvPr>
          <p:cNvSpPr txBox="1"/>
          <p:nvPr/>
        </p:nvSpPr>
        <p:spPr>
          <a:xfrm>
            <a:off x="7123176"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ب</a:t>
            </a:r>
            <a:endParaRPr lang="en-US" sz="2200" dirty="0"/>
          </a:p>
        </p:txBody>
      </p:sp>
      <p:sp>
        <p:nvSpPr>
          <p:cNvPr id="16" name="إجابة">
            <a:hlinkClick r:id="rId6" action="ppaction://hlinksldjump">
              <a:snd r:embed="rId7" name="wrong.wav"/>
            </a:hlinkClick>
          </p:cNvPr>
          <p:cNvSpPr txBox="1"/>
          <p:nvPr/>
        </p:nvSpPr>
        <p:spPr>
          <a:xfrm>
            <a:off x="4517136"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الصفحة الرئيسة (Home)</a:t>
            </a:r>
            <a:endParaRPr lang="ar-OM" sz="2000" dirty="0"/>
          </a:p>
        </p:txBody>
      </p:sp>
      <p:sp>
        <p:nvSpPr>
          <p:cNvPr id="17" name="إجابة">
            <a:hlinkClick r:id="rId6" action="ppaction://hlinksldjump">
              <a:snd r:embed="rId7" name="wrong.wav"/>
            </a:hlinkClick>
          </p:cNvPr>
          <p:cNvSpPr/>
          <p:nvPr/>
        </p:nvSpPr>
        <p:spPr>
          <a:xfrm>
            <a:off x="457200" y="2971800"/>
            <a:ext cx="3520440" cy="1417320"/>
          </a:xfrm>
          <a:prstGeom prst="roundRect">
            <a:avLst>
              <a:gd name="adj" fmla="val 12903"/>
            </a:avLst>
          </a:prstGeom>
          <a:solidFill>
            <a:srgbClr val="FFFFFF"/>
          </a:solidFill>
          <a:ln w="28575">
            <a:solidFill>
              <a:srgbClr val="4FA62A"/>
            </a:solidFill>
            <a:prstDash val="solid"/>
          </a:ln>
          <a:effectLst>
            <a:outerShdw blurRad="101600" dist="25400" dir="5400000" algn="bl" rotWithShape="0">
              <a:srgbClr val="8FA6BF">
                <a:alpha val="30000"/>
              </a:srgbClr>
            </a:outerShdw>
          </a:effectLst>
        </p:spPr>
        <p:txBody>
          <a:bodyPr/>
          <a:lstStyle/>
          <a:p>
            <a:endParaRPr lang="ar-OM"/>
          </a:p>
        </p:txBody>
      </p:sp>
      <p:sp>
        <p:nvSpPr>
          <p:cNvPr id="18" name="إجابة">
            <a:hlinkClick r:id="rId6" action="ppaction://hlinksldjump">
              <a:snd r:embed="rId7" name="wrong.wav"/>
            </a:hlinkClick>
          </p:cNvPr>
          <p:cNvSpPr/>
          <p:nvPr/>
        </p:nvSpPr>
        <p:spPr>
          <a:xfrm>
            <a:off x="3246120" y="3396996"/>
            <a:ext cx="566928" cy="566928"/>
          </a:xfrm>
          <a:prstGeom prst="ellipse">
            <a:avLst/>
          </a:prstGeom>
          <a:solidFill>
            <a:srgbClr val="4FA62A"/>
          </a:solidFill>
          <a:ln/>
        </p:spPr>
        <p:txBody>
          <a:bodyPr/>
          <a:lstStyle/>
          <a:p>
            <a:endParaRPr lang="ar-OM"/>
          </a:p>
        </p:txBody>
      </p:sp>
      <p:sp>
        <p:nvSpPr>
          <p:cNvPr id="19" name="إجابة">
            <a:hlinkClick r:id="rId6" action="ppaction://hlinksldjump">
              <a:snd r:embed="rId7" name="wrong.wav"/>
            </a:hlinkClick>
          </p:cNvPr>
          <p:cNvSpPr txBox="1"/>
          <p:nvPr/>
        </p:nvSpPr>
        <p:spPr>
          <a:xfrm>
            <a:off x="3246120"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ج</a:t>
            </a:r>
            <a:endParaRPr lang="en-US" sz="2200" dirty="0"/>
          </a:p>
        </p:txBody>
      </p:sp>
      <p:sp>
        <p:nvSpPr>
          <p:cNvPr id="20" name="إجابة">
            <a:hlinkClick r:id="rId6" action="ppaction://hlinksldjump">
              <a:snd r:embed="rId7" name="wrong.wav"/>
            </a:hlinkClick>
          </p:cNvPr>
          <p:cNvSpPr txBox="1"/>
          <p:nvPr/>
        </p:nvSpPr>
        <p:spPr>
          <a:xfrm>
            <a:off x="640080"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تخطيط (Layout)</a:t>
            </a:r>
            <a:endParaRPr lang="ar-OM" sz="2000" dirty="0"/>
          </a:p>
        </p:txBody>
      </p:sp>
      <p:pic>
        <p:nvPicPr>
          <p:cNvPr id="21" name="img boy_head.png" descr="a/boy_head.png"/>
          <p:cNvPicPr>
            <a:picLocks noChangeAspect="1"/>
          </p:cNvPicPr>
          <p:nvPr/>
        </p:nvPicPr>
        <p:blipFill>
          <a:blip r:embed="rId8"/>
          <a:stretch>
            <a:fillRect/>
          </a:stretch>
        </p:blipFill>
        <p:spPr>
          <a:xfrm>
            <a:off x="5505178" y="4572000"/>
            <a:ext cx="1151164" cy="1371600"/>
          </a:xfrm>
          <a:prstGeom prst="rect">
            <a:avLst/>
          </a:prstGeom>
        </p:spPr>
      </p:pic>
      <p:sp>
        <p:nvSpPr>
          <p:cNvPr id="22" name="Text 18"/>
          <p:cNvSpPr txBox="1"/>
          <p:nvPr/>
        </p:nvSpPr>
        <p:spPr>
          <a:xfrm>
            <a:off x="7132320" y="4754880"/>
            <a:ext cx="3840480" cy="548640"/>
          </a:xfrm>
          <a:prstGeom prst="rect">
            <a:avLst/>
          </a:prstGeom>
          <a:noFill/>
          <a:ln/>
        </p:spPr>
        <p:txBody>
          <a:bodyPr wrap="square" lIns="635" tIns="635" rIns="635" bIns="635" rtlCol="0" anchor="ctr"/>
          <a:lstStyle/>
          <a:p>
            <a:pPr marL="0" indent="0" algn="r" rtl="1">
              <a:buNone/>
            </a:pPr>
            <a:r>
              <a:rPr lang="ar-OM" altLang="en-US" sz="1800" b="1" dirty="0">
                <a:solidFill>
                  <a:srgbClr val="4A5B6D"/>
                </a:solidFill>
                <a:latin typeface="Arial" pitchFamily="34" charset="0"/>
                <a:ea typeface="Arial" pitchFamily="34" charset="-122"/>
                <a:cs typeface="Arial" pitchFamily="34" charset="-120"/>
              </a:rPr>
              <a:t>انقر الإجابة الصحيحة</a:t>
            </a:r>
            <a:endParaRPr lang="ar-OM" sz="1800" dirty="0"/>
          </a:p>
        </p:txBody>
      </p:sp>
      <p:sp>
        <p:nvSpPr>
          <p:cNvPr id="23"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4" name="زر التالي" descr="preencoded.png">
            <a:hlinkClick r:id="" action="ppaction://hlinkshowjump?jump=nextslide"/>
          </p:cNvPr>
          <p:cNvPicPr>
            <a:picLocks noChangeAspect="1"/>
          </p:cNvPicPr>
          <p:nvPr/>
        </p:nvPicPr>
        <p:blipFill>
          <a:blip r:embed="rId9"/>
          <a:stretch>
            <a:fillRect/>
          </a:stretch>
        </p:blipFill>
        <p:spPr>
          <a:xfrm>
            <a:off x="612648" y="6208776"/>
            <a:ext cx="256032" cy="256032"/>
          </a:xfrm>
          <a:prstGeom prst="rect">
            <a:avLst/>
          </a:prstGeom>
        </p:spPr>
      </p:pic>
      <p:sp>
        <p:nvSpPr>
          <p:cNvPr id="25" name="زر انتقال">
            <a:hlinkClick r:id="rId10"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6" name="زر انتقال" descr="preencoded.png">
            <a:hlinkClick r:id="rId10" action="ppaction://hlinksldjump"/>
          </p:cNvPr>
          <p:cNvPicPr>
            <a:picLocks noChangeAspect="1"/>
          </p:cNvPicPr>
          <p:nvPr/>
        </p:nvPicPr>
        <p:blipFill>
          <a:blip r:embed="rId11"/>
          <a:stretch>
            <a:fillRect/>
          </a:stretch>
        </p:blipFill>
        <p:spPr>
          <a:xfrm>
            <a:off x="1316736" y="6208776"/>
            <a:ext cx="256032" cy="256032"/>
          </a:xfrm>
          <a:prstGeom prst="rect">
            <a:avLst/>
          </a:prstGeom>
        </p:spPr>
      </p:pic>
      <p:sp>
        <p:nvSpPr>
          <p:cNvPr id="27"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8" name="زر السابق" descr="preencoded.png">
            <a:hlinkClick r:id="" action="ppaction://hlinkshowjump?jump=previousslide"/>
          </p:cNvPr>
          <p:cNvPicPr>
            <a:picLocks noChangeAspect="1"/>
          </p:cNvPicPr>
          <p:nvPr/>
        </p:nvPicPr>
        <p:blipFill>
          <a:blip r:embed="rId12"/>
          <a:stretch>
            <a:fillRect/>
          </a:stretch>
        </p:blipFill>
        <p:spPr>
          <a:xfrm>
            <a:off x="2020824" y="6208776"/>
            <a:ext cx="256032" cy="2560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4FA62A"/>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إدراج صورة</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سؤال سريع 2</a:t>
            </a:r>
            <a:endParaRPr lang="ar-OM" sz="3200" dirty="0"/>
          </a:p>
        </p:txBody>
      </p:sp>
      <p:sp>
        <p:nvSpPr>
          <p:cNvPr id="5" name="q image card"/>
          <p:cNvSpPr/>
          <p:nvPr/>
        </p:nvSpPr>
        <p:spPr>
          <a:xfrm>
            <a:off x="6903720" y="1280160"/>
            <a:ext cx="4828032" cy="4526280"/>
          </a:xfrm>
          <a:prstGeom prst="roundRect">
            <a:avLst>
              <a:gd name="adj" fmla="val 3636"/>
            </a:avLst>
          </a:prstGeom>
          <a:solidFill>
            <a:srgbClr val="FFFFFF"/>
          </a:solidFill>
          <a:ln/>
          <a:effectLst>
            <a:outerShdw blurRad="101600" dist="25400" dir="5400000" algn="bl" rotWithShape="0">
              <a:srgbClr val="8FA6BF">
                <a:alpha val="30000"/>
              </a:srgbClr>
            </a:outerShdw>
          </a:effectLst>
        </p:spPr>
        <p:txBody>
          <a:bodyPr/>
          <a:lstStyle/>
          <a:p>
            <a:endParaRPr lang="ar-OM"/>
          </a:p>
        </p:txBody>
      </p:sp>
      <p:pic>
        <p:nvPicPr>
          <p:cNvPr id="6" name="img dropdown.png" descr="a/dropdown.png"/>
          <p:cNvPicPr>
            <a:picLocks noChangeAspect="1"/>
          </p:cNvPicPr>
          <p:nvPr/>
        </p:nvPicPr>
        <p:blipFill>
          <a:blip r:embed="rId3"/>
          <a:stretch>
            <a:fillRect/>
          </a:stretch>
        </p:blipFill>
        <p:spPr>
          <a:xfrm>
            <a:off x="7086600" y="1705894"/>
            <a:ext cx="4462272" cy="3674812"/>
          </a:xfrm>
          <a:prstGeom prst="rect">
            <a:avLst/>
          </a:prstGeom>
        </p:spPr>
      </p:pic>
      <p:sp>
        <p:nvSpPr>
          <p:cNvPr id="7" name="question"/>
          <p:cNvSpPr/>
          <p:nvPr/>
        </p:nvSpPr>
        <p:spPr>
          <a:xfrm>
            <a:off x="457200" y="1280160"/>
            <a:ext cx="6217920" cy="1234440"/>
          </a:xfrm>
          <a:prstGeom prst="roundRect">
            <a:avLst>
              <a:gd name="adj" fmla="val 13333"/>
            </a:avLst>
          </a:prstGeom>
          <a:solidFill>
            <a:srgbClr val="E6F6DD"/>
          </a:solidFill>
          <a:ln/>
        </p:spPr>
        <p:txBody>
          <a:bodyPr/>
          <a:lstStyle/>
          <a:p>
            <a:endParaRPr lang="ar-OM"/>
          </a:p>
        </p:txBody>
      </p:sp>
      <p:sp>
        <p:nvSpPr>
          <p:cNvPr id="8" name="Text 5"/>
          <p:cNvSpPr txBox="1"/>
          <p:nvPr/>
        </p:nvSpPr>
        <p:spPr>
          <a:xfrm>
            <a:off x="640080" y="1280160"/>
            <a:ext cx="5852160" cy="1234440"/>
          </a:xfrm>
          <a:prstGeom prst="rect">
            <a:avLst/>
          </a:prstGeom>
          <a:noFill/>
          <a:ln/>
        </p:spPr>
        <p:txBody>
          <a:bodyPr wrap="square" lIns="635" tIns="635" rIns="635" bIns="635" rtlCol="0" anchor="ctr"/>
          <a:lstStyle/>
          <a:p>
            <a:pPr marL="0" indent="0" algn="r" rtl="1">
              <a:buNone/>
            </a:pPr>
            <a:r>
              <a:rPr lang="ar-OM" altLang="en-US" sz="2200" b="1" dirty="0">
                <a:solidFill>
                  <a:srgbClr val="0D3B66"/>
                </a:solidFill>
                <a:latin typeface="Arial" pitchFamily="34" charset="0"/>
                <a:ea typeface="Arial" pitchFamily="34" charset="-122"/>
                <a:cs typeface="Arial" pitchFamily="34" charset="-120"/>
              </a:rPr>
              <a:t>بعد النقر على صور (Pictures)، أيُّ خيارٍ نختارُ لإدراجِ صورةٍ محفوظةٍ في حاسوبنا؟</a:t>
            </a:r>
            <a:endParaRPr lang="ar-OM" sz="2200" dirty="0"/>
          </a:p>
        </p:txBody>
      </p:sp>
      <p:sp>
        <p:nvSpPr>
          <p:cNvPr id="9" name="إجابة">
            <a:hlinkClick r:id="rId4" action="ppaction://hlinksldjump">
              <a:snd r:embed="rId5" name="wrong.wav"/>
            </a:hlinkClick>
          </p:cNvPr>
          <p:cNvSpPr/>
          <p:nvPr/>
        </p:nvSpPr>
        <p:spPr>
          <a:xfrm>
            <a:off x="457200" y="2743200"/>
            <a:ext cx="6217920" cy="868680"/>
          </a:xfrm>
          <a:prstGeom prst="roundRect">
            <a:avLst>
              <a:gd name="adj" fmla="val 21053"/>
            </a:avLst>
          </a:prstGeom>
          <a:solidFill>
            <a:srgbClr val="FFFFFF"/>
          </a:solidFill>
          <a:ln w="28575">
            <a:solidFill>
              <a:srgbClr val="4FA62A"/>
            </a:solidFill>
            <a:prstDash val="solid"/>
          </a:ln>
          <a:effectLst>
            <a:outerShdw blurRad="101600" dist="25400" dir="5400000" algn="bl" rotWithShape="0">
              <a:srgbClr val="8FA6BF">
                <a:alpha val="30000"/>
              </a:srgbClr>
            </a:outerShdw>
          </a:effectLst>
        </p:spPr>
        <p:txBody>
          <a:bodyPr/>
          <a:lstStyle/>
          <a:p>
            <a:endParaRPr lang="ar-OM"/>
          </a:p>
        </p:txBody>
      </p:sp>
      <p:sp>
        <p:nvSpPr>
          <p:cNvPr id="10" name="إجابة">
            <a:hlinkClick r:id="rId4" action="ppaction://hlinksldjump">
              <a:snd r:embed="rId5" name="wrong.wav"/>
            </a:hlinkClick>
          </p:cNvPr>
          <p:cNvSpPr/>
          <p:nvPr/>
        </p:nvSpPr>
        <p:spPr>
          <a:xfrm>
            <a:off x="5943600" y="2894076"/>
            <a:ext cx="566928" cy="566928"/>
          </a:xfrm>
          <a:prstGeom prst="ellipse">
            <a:avLst/>
          </a:prstGeom>
          <a:solidFill>
            <a:srgbClr val="4FA62A"/>
          </a:solidFill>
          <a:ln/>
        </p:spPr>
        <p:txBody>
          <a:bodyPr/>
          <a:lstStyle/>
          <a:p>
            <a:endParaRPr lang="ar-OM"/>
          </a:p>
        </p:txBody>
      </p:sp>
      <p:sp>
        <p:nvSpPr>
          <p:cNvPr id="11" name="إجابة">
            <a:hlinkClick r:id="rId4" action="ppaction://hlinksldjump">
              <a:snd r:embed="rId5" name="wrong.wav"/>
            </a:hlinkClick>
          </p:cNvPr>
          <p:cNvSpPr txBox="1"/>
          <p:nvPr/>
        </p:nvSpPr>
        <p:spPr>
          <a:xfrm>
            <a:off x="5943600" y="289407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أ</a:t>
            </a:r>
            <a:endParaRPr lang="en-US" sz="2200" dirty="0"/>
          </a:p>
        </p:txBody>
      </p:sp>
      <p:sp>
        <p:nvSpPr>
          <p:cNvPr id="12" name="إجابة">
            <a:hlinkClick r:id="rId4" action="ppaction://hlinksldjump">
              <a:snd r:embed="rId5" name="wrong.wav"/>
            </a:hlinkClick>
          </p:cNvPr>
          <p:cNvSpPr txBox="1"/>
          <p:nvPr/>
        </p:nvSpPr>
        <p:spPr>
          <a:xfrm>
            <a:off x="640080" y="2743200"/>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صور مخزّنة (Stock Images)</a:t>
            </a:r>
            <a:endParaRPr lang="ar-OM" sz="2100" dirty="0"/>
          </a:p>
        </p:txBody>
      </p:sp>
      <p:sp>
        <p:nvSpPr>
          <p:cNvPr id="13" name="إجابة">
            <a:hlinkClick r:id="rId6" action="ppaction://hlinksldjump">
              <a:snd r:embed="rId7" name="correct.wav"/>
            </a:hlinkClick>
          </p:cNvPr>
          <p:cNvSpPr/>
          <p:nvPr/>
        </p:nvSpPr>
        <p:spPr>
          <a:xfrm>
            <a:off x="457200" y="3767328"/>
            <a:ext cx="6217920" cy="868680"/>
          </a:xfrm>
          <a:prstGeom prst="roundRect">
            <a:avLst>
              <a:gd name="adj" fmla="val 21053"/>
            </a:avLst>
          </a:prstGeom>
          <a:solidFill>
            <a:srgbClr val="FFFFFF"/>
          </a:solidFill>
          <a:ln w="28575">
            <a:solidFill>
              <a:srgbClr val="4FA62A"/>
            </a:solidFill>
            <a:prstDash val="solid"/>
          </a:ln>
          <a:effectLst>
            <a:outerShdw blurRad="101600" dist="25400" dir="5400000" algn="bl" rotWithShape="0">
              <a:srgbClr val="8FA6BF">
                <a:alpha val="30000"/>
              </a:srgbClr>
            </a:outerShdw>
          </a:effectLst>
        </p:spPr>
        <p:txBody>
          <a:bodyPr/>
          <a:lstStyle/>
          <a:p>
            <a:endParaRPr lang="ar-OM"/>
          </a:p>
        </p:txBody>
      </p:sp>
      <p:sp>
        <p:nvSpPr>
          <p:cNvPr id="14" name="إجابة">
            <a:hlinkClick r:id="rId6" action="ppaction://hlinksldjump">
              <a:snd r:embed="rId7" name="correct.wav"/>
            </a:hlinkClick>
          </p:cNvPr>
          <p:cNvSpPr/>
          <p:nvPr/>
        </p:nvSpPr>
        <p:spPr>
          <a:xfrm>
            <a:off x="5943600" y="3918204"/>
            <a:ext cx="566928" cy="566928"/>
          </a:xfrm>
          <a:prstGeom prst="ellipse">
            <a:avLst/>
          </a:prstGeom>
          <a:solidFill>
            <a:srgbClr val="4FA62A"/>
          </a:solidFill>
          <a:ln/>
        </p:spPr>
        <p:txBody>
          <a:bodyPr/>
          <a:lstStyle/>
          <a:p>
            <a:endParaRPr lang="ar-OM"/>
          </a:p>
        </p:txBody>
      </p:sp>
      <p:sp>
        <p:nvSpPr>
          <p:cNvPr id="15" name="إجابة">
            <a:hlinkClick r:id="rId6" action="ppaction://hlinksldjump">
              <a:snd r:embed="rId7" name="correct.wav"/>
            </a:hlinkClick>
          </p:cNvPr>
          <p:cNvSpPr txBox="1"/>
          <p:nvPr/>
        </p:nvSpPr>
        <p:spPr>
          <a:xfrm>
            <a:off x="5943600" y="391820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ب</a:t>
            </a:r>
            <a:endParaRPr lang="en-US" sz="2200" dirty="0"/>
          </a:p>
        </p:txBody>
      </p:sp>
      <p:sp>
        <p:nvSpPr>
          <p:cNvPr id="16" name="إجابة">
            <a:hlinkClick r:id="rId6" action="ppaction://hlinksldjump">
              <a:snd r:embed="rId7" name="correct.wav"/>
            </a:hlinkClick>
          </p:cNvPr>
          <p:cNvSpPr txBox="1"/>
          <p:nvPr/>
        </p:nvSpPr>
        <p:spPr>
          <a:xfrm>
            <a:off x="640080" y="3767328"/>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هذا الجهاز (This Device)</a:t>
            </a:r>
            <a:endParaRPr lang="ar-OM" sz="2100" dirty="0"/>
          </a:p>
        </p:txBody>
      </p:sp>
      <p:sp>
        <p:nvSpPr>
          <p:cNvPr id="17" name="إجابة">
            <a:hlinkClick r:id="rId4" action="ppaction://hlinksldjump">
              <a:snd r:embed="rId5" name="wrong.wav"/>
            </a:hlinkClick>
          </p:cNvPr>
          <p:cNvSpPr/>
          <p:nvPr/>
        </p:nvSpPr>
        <p:spPr>
          <a:xfrm>
            <a:off x="457200" y="4791456"/>
            <a:ext cx="6217920" cy="868680"/>
          </a:xfrm>
          <a:prstGeom prst="roundRect">
            <a:avLst>
              <a:gd name="adj" fmla="val 21053"/>
            </a:avLst>
          </a:prstGeom>
          <a:solidFill>
            <a:srgbClr val="FFFFFF"/>
          </a:solidFill>
          <a:ln w="28575">
            <a:solidFill>
              <a:srgbClr val="4FA62A"/>
            </a:solidFill>
            <a:prstDash val="solid"/>
          </a:ln>
          <a:effectLst>
            <a:outerShdw blurRad="101600" dist="25400" dir="5400000" algn="bl" rotWithShape="0">
              <a:srgbClr val="8FA6BF">
                <a:alpha val="30000"/>
              </a:srgbClr>
            </a:outerShdw>
          </a:effectLst>
        </p:spPr>
        <p:txBody>
          <a:bodyPr/>
          <a:lstStyle/>
          <a:p>
            <a:endParaRPr lang="ar-OM"/>
          </a:p>
        </p:txBody>
      </p:sp>
      <p:sp>
        <p:nvSpPr>
          <p:cNvPr id="18" name="إجابة">
            <a:hlinkClick r:id="rId4" action="ppaction://hlinksldjump">
              <a:snd r:embed="rId5" name="wrong.wav"/>
            </a:hlinkClick>
          </p:cNvPr>
          <p:cNvSpPr/>
          <p:nvPr/>
        </p:nvSpPr>
        <p:spPr>
          <a:xfrm>
            <a:off x="5943600" y="4942332"/>
            <a:ext cx="566928" cy="566928"/>
          </a:xfrm>
          <a:prstGeom prst="ellipse">
            <a:avLst/>
          </a:prstGeom>
          <a:solidFill>
            <a:srgbClr val="4FA62A"/>
          </a:solidFill>
          <a:ln/>
        </p:spPr>
        <p:txBody>
          <a:bodyPr/>
          <a:lstStyle/>
          <a:p>
            <a:endParaRPr lang="ar-OM"/>
          </a:p>
        </p:txBody>
      </p:sp>
      <p:sp>
        <p:nvSpPr>
          <p:cNvPr id="19" name="إجابة">
            <a:hlinkClick r:id="rId4" action="ppaction://hlinksldjump">
              <a:snd r:embed="rId5" name="wrong.wav"/>
            </a:hlinkClick>
          </p:cNvPr>
          <p:cNvSpPr txBox="1"/>
          <p:nvPr/>
        </p:nvSpPr>
        <p:spPr>
          <a:xfrm>
            <a:off x="5943600" y="49423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ج</a:t>
            </a:r>
            <a:endParaRPr lang="en-US" sz="2200" dirty="0"/>
          </a:p>
        </p:txBody>
      </p:sp>
      <p:sp>
        <p:nvSpPr>
          <p:cNvPr id="20" name="إجابة">
            <a:hlinkClick r:id="rId4" action="ppaction://hlinksldjump">
              <a:snd r:embed="rId5" name="wrong.wav"/>
            </a:hlinkClick>
          </p:cNvPr>
          <p:cNvSpPr txBox="1"/>
          <p:nvPr/>
        </p:nvSpPr>
        <p:spPr>
          <a:xfrm>
            <a:off x="640080" y="4791456"/>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صور عبر الإنترنت (Online Pictures)</a:t>
            </a:r>
            <a:endParaRPr lang="ar-OM" sz="2100" dirty="0"/>
          </a:p>
        </p:txBody>
      </p:sp>
      <p:sp>
        <p:nvSpPr>
          <p:cNvPr id="21"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2" name="زر التالي" descr="preencoded.png">
            <a:hlinkClick r:id="" action="ppaction://hlinkshowjump?jump=nextslide"/>
          </p:cNvPr>
          <p:cNvPicPr>
            <a:picLocks noChangeAspect="1"/>
          </p:cNvPicPr>
          <p:nvPr/>
        </p:nvPicPr>
        <p:blipFill>
          <a:blip r:embed="rId8"/>
          <a:stretch>
            <a:fillRect/>
          </a:stretch>
        </p:blipFill>
        <p:spPr>
          <a:xfrm>
            <a:off x="612648" y="6208776"/>
            <a:ext cx="256032" cy="256032"/>
          </a:xfrm>
          <a:prstGeom prst="rect">
            <a:avLst/>
          </a:prstGeom>
        </p:spPr>
      </p:pic>
      <p:sp>
        <p:nvSpPr>
          <p:cNvPr id="23" name="زر انتقال">
            <a:hlinkClick r:id="rId9"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4" name="زر انتقال" descr="preencoded.png">
            <a:hlinkClick r:id="rId9" action="ppaction://hlinksldjump"/>
          </p:cNvPr>
          <p:cNvPicPr>
            <a:picLocks noChangeAspect="1"/>
          </p:cNvPicPr>
          <p:nvPr/>
        </p:nvPicPr>
        <p:blipFill>
          <a:blip r:embed="rId10"/>
          <a:stretch>
            <a:fillRect/>
          </a:stretch>
        </p:blipFill>
        <p:spPr>
          <a:xfrm>
            <a:off x="1316736" y="6208776"/>
            <a:ext cx="256032" cy="256032"/>
          </a:xfrm>
          <a:prstGeom prst="rect">
            <a:avLst/>
          </a:prstGeom>
        </p:spPr>
      </p:pic>
      <p:sp>
        <p:nvSpPr>
          <p:cNvPr id="25"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6" name="زر السابق" descr="preencoded.png">
            <a:hlinkClick r:id="" action="ppaction://hlinkshowjump?jump=previousslide"/>
          </p:cNvPr>
          <p:cNvPicPr>
            <a:picLocks noChangeAspect="1"/>
          </p:cNvPicPr>
          <p:nvPr/>
        </p:nvPicPr>
        <p:blipFill>
          <a:blip r:embed="rId11"/>
          <a:stretch>
            <a:fillRect/>
          </a:stretch>
        </p:blipFill>
        <p:spPr>
          <a:xfrm>
            <a:off x="2020824" y="6208776"/>
            <a:ext cx="256032" cy="2560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F2A90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0D3B66"/>
                </a:solidFill>
                <a:latin typeface="Arial" pitchFamily="34" charset="0"/>
                <a:ea typeface="Arial" pitchFamily="34" charset="-122"/>
                <a:cs typeface="Arial" pitchFamily="34" charset="-120"/>
              </a:rPr>
              <a:t>الحجم والقص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تغيير حجم الصورة</a:t>
            </a:r>
            <a:endParaRPr lang="ar-OM" sz="3200" dirty="0"/>
          </a:p>
        </p:txBody>
      </p:sp>
      <p:pic>
        <p:nvPicPr>
          <p:cNvPr id="5" name="img resize.png" descr="a/resize.png"/>
          <p:cNvPicPr>
            <a:picLocks noChangeAspect="1"/>
          </p:cNvPicPr>
          <p:nvPr/>
        </p:nvPicPr>
        <p:blipFill>
          <a:blip r:embed="rId3"/>
          <a:stretch>
            <a:fillRect/>
          </a:stretch>
        </p:blipFill>
        <p:spPr>
          <a:xfrm>
            <a:off x="457200" y="1339596"/>
            <a:ext cx="5486400" cy="4087368"/>
          </a:xfrm>
          <a:prstGeom prst="rect">
            <a:avLst/>
          </a:prstGeom>
          <a:effectLst>
            <a:outerShdw blurRad="76200" dist="38100" dir="5400000" algn="bl" rotWithShape="0">
              <a:srgbClr val="7A8CA0">
                <a:alpha val="35000"/>
              </a:srgbClr>
            </a:outerShdw>
          </a:effectLst>
        </p:spPr>
      </p:pic>
      <p:sp>
        <p:nvSpPr>
          <p:cNvPr id="6" name="marker 1"/>
          <p:cNvSpPr/>
          <p:nvPr/>
        </p:nvSpPr>
        <p:spPr>
          <a:xfrm>
            <a:off x="2990088" y="3186684"/>
            <a:ext cx="420624" cy="420624"/>
          </a:xfrm>
          <a:prstGeom prst="ellipse">
            <a:avLst/>
          </a:prstGeom>
          <a:solidFill>
            <a:srgbClr val="F2A900"/>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7" name="marker num 1"/>
          <p:cNvSpPr txBox="1"/>
          <p:nvPr/>
        </p:nvSpPr>
        <p:spPr>
          <a:xfrm>
            <a:off x="2990088" y="318668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marker 2"/>
          <p:cNvSpPr/>
          <p:nvPr/>
        </p:nvSpPr>
        <p:spPr>
          <a:xfrm>
            <a:off x="5006340" y="4421124"/>
            <a:ext cx="420624" cy="420624"/>
          </a:xfrm>
          <a:prstGeom prst="ellipse">
            <a:avLst/>
          </a:prstGeom>
          <a:solidFill>
            <a:srgbClr val="F2A900"/>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9" name="marker num 2"/>
          <p:cNvSpPr txBox="1"/>
          <p:nvPr/>
        </p:nvSpPr>
        <p:spPr>
          <a:xfrm>
            <a:off x="5006340" y="442112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card"/>
          <p:cNvSpPr/>
          <p:nvPr/>
        </p:nvSpPr>
        <p:spPr>
          <a:xfrm>
            <a:off x="6309360" y="1325880"/>
            <a:ext cx="5422392" cy="1097280"/>
          </a:xfrm>
          <a:prstGeom prst="roundRect">
            <a:avLst>
              <a:gd name="adj" fmla="val 15000"/>
            </a:avLst>
          </a:prstGeom>
          <a:solidFill>
            <a:srgbClr val="FFF3CC"/>
          </a:solidFill>
          <a:ln/>
        </p:spPr>
        <p:txBody>
          <a:bodyPr/>
          <a:lstStyle/>
          <a:p>
            <a:endParaRPr lang="ar-OM"/>
          </a:p>
        </p:txBody>
      </p:sp>
      <p:sp>
        <p:nvSpPr>
          <p:cNvPr id="11" name="Text 8"/>
          <p:cNvSpPr txBox="1"/>
          <p:nvPr/>
        </p:nvSpPr>
        <p:spPr>
          <a:xfrm>
            <a:off x="6492240" y="1325880"/>
            <a:ext cx="5056632" cy="1097280"/>
          </a:xfrm>
          <a:prstGeom prst="rect">
            <a:avLst/>
          </a:prstGeom>
          <a:noFill/>
          <a:ln/>
        </p:spPr>
        <p:txBody>
          <a:bodyPr wrap="square" lIns="635" tIns="635" rIns="635" bIns="635" rtlCol="0" anchor="ctr"/>
          <a:lstStyle/>
          <a:p>
            <a:pPr marL="0" indent="0" algn="r" rtl="1">
              <a:buNone/>
            </a:pPr>
            <a:r>
              <a:rPr lang="ar-OM" altLang="en-US" sz="1800" dirty="0">
                <a:solidFill>
                  <a:srgbClr val="1F2D3D"/>
                </a:solidFill>
                <a:latin typeface="Arial" pitchFamily="34" charset="0"/>
                <a:ea typeface="Arial" pitchFamily="34" charset="-122"/>
                <a:cs typeface="Arial" pitchFamily="34" charset="-120"/>
              </a:rPr>
              <a:t>تحتاجُ الصورةُ إلى بعضِ التعديلاتِ لتتناسبَ مع النص، مثل: تغيير حجمها، أو قصّ أجزاءٍ منها.</a:t>
            </a:r>
            <a:endParaRPr lang="ar-OM" sz="1800" dirty="0"/>
          </a:p>
        </p:txBody>
      </p:sp>
      <p:sp>
        <p:nvSpPr>
          <p:cNvPr id="12" name="step card"/>
          <p:cNvSpPr/>
          <p:nvPr/>
        </p:nvSpPr>
        <p:spPr>
          <a:xfrm>
            <a:off x="6309360" y="2651760"/>
            <a:ext cx="5422392" cy="1051560"/>
          </a:xfrm>
          <a:prstGeom prst="roundRect">
            <a:avLst>
              <a:gd name="adj" fmla="val 13043"/>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3" name="step num"/>
          <p:cNvSpPr/>
          <p:nvPr/>
        </p:nvSpPr>
        <p:spPr>
          <a:xfrm>
            <a:off x="11055096" y="2921508"/>
            <a:ext cx="512064" cy="512064"/>
          </a:xfrm>
          <a:prstGeom prst="ellipse">
            <a:avLst/>
          </a:prstGeom>
          <a:solidFill>
            <a:srgbClr val="F2A900"/>
          </a:solidFill>
          <a:ln/>
        </p:spPr>
        <p:txBody>
          <a:bodyPr/>
          <a:lstStyle/>
          <a:p>
            <a:endParaRPr lang="ar-OM"/>
          </a:p>
        </p:txBody>
      </p:sp>
      <p:sp>
        <p:nvSpPr>
          <p:cNvPr id="14" name="Text 11"/>
          <p:cNvSpPr txBox="1"/>
          <p:nvPr/>
        </p:nvSpPr>
        <p:spPr>
          <a:xfrm>
            <a:off x="11055096" y="2921508"/>
            <a:ext cx="512064" cy="512064"/>
          </a:xfrm>
          <a:prstGeom prst="rect">
            <a:avLst/>
          </a:prstGeom>
          <a:noFill/>
          <a:ln/>
        </p:spPr>
        <p:txBody>
          <a:bodyPr wrap="square" lIns="0" tIns="0" rIns="0" bIns="0" rtlCol="0" anchor="ctr"/>
          <a:lstStyle/>
          <a:p>
            <a:pPr marL="0" indent="0" algn="ctr">
              <a:buNone/>
            </a:pPr>
            <a:r>
              <a:rPr lang="en-US" sz="1800" b="1" dirty="0">
                <a:solidFill>
                  <a:srgbClr val="0D3B66"/>
                </a:solidFill>
                <a:latin typeface="Arial" pitchFamily="34" charset="0"/>
                <a:ea typeface="Arial" pitchFamily="34" charset="-122"/>
                <a:cs typeface="Arial" pitchFamily="34" charset="-120"/>
              </a:rPr>
              <a:t>1</a:t>
            </a:r>
            <a:endParaRPr lang="en-US" sz="1800" dirty="0"/>
          </a:p>
        </p:txBody>
      </p:sp>
      <p:sp>
        <p:nvSpPr>
          <p:cNvPr id="15" name="Text 12"/>
          <p:cNvSpPr txBox="1"/>
          <p:nvPr/>
        </p:nvSpPr>
        <p:spPr>
          <a:xfrm>
            <a:off x="6492240" y="2688336"/>
            <a:ext cx="4453128" cy="978408"/>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حدِّدِ الصورةَ التي تريدُ تغييرَ حجمِها.</a:t>
            </a:r>
            <a:endParaRPr lang="ar-OM" sz="1900" dirty="0"/>
          </a:p>
        </p:txBody>
      </p:sp>
      <p:sp>
        <p:nvSpPr>
          <p:cNvPr id="16" name="step card"/>
          <p:cNvSpPr/>
          <p:nvPr/>
        </p:nvSpPr>
        <p:spPr>
          <a:xfrm>
            <a:off x="6309360" y="3840480"/>
            <a:ext cx="5422392" cy="1051560"/>
          </a:xfrm>
          <a:prstGeom prst="roundRect">
            <a:avLst>
              <a:gd name="adj" fmla="val 13043"/>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7" name="step num"/>
          <p:cNvSpPr/>
          <p:nvPr/>
        </p:nvSpPr>
        <p:spPr>
          <a:xfrm>
            <a:off x="11055096" y="4110228"/>
            <a:ext cx="512064" cy="512064"/>
          </a:xfrm>
          <a:prstGeom prst="ellipse">
            <a:avLst/>
          </a:prstGeom>
          <a:solidFill>
            <a:srgbClr val="F2A900"/>
          </a:solidFill>
          <a:ln/>
        </p:spPr>
        <p:txBody>
          <a:bodyPr/>
          <a:lstStyle/>
          <a:p>
            <a:endParaRPr lang="ar-OM"/>
          </a:p>
        </p:txBody>
      </p:sp>
      <p:sp>
        <p:nvSpPr>
          <p:cNvPr id="18" name="Text 15"/>
          <p:cNvSpPr txBox="1"/>
          <p:nvPr/>
        </p:nvSpPr>
        <p:spPr>
          <a:xfrm>
            <a:off x="11055096" y="4110228"/>
            <a:ext cx="512064" cy="512064"/>
          </a:xfrm>
          <a:prstGeom prst="rect">
            <a:avLst/>
          </a:prstGeom>
          <a:noFill/>
          <a:ln/>
        </p:spPr>
        <p:txBody>
          <a:bodyPr wrap="square" lIns="0" tIns="0" rIns="0" bIns="0" rtlCol="0" anchor="ctr"/>
          <a:lstStyle/>
          <a:p>
            <a:pPr marL="0" indent="0" algn="ctr">
              <a:buNone/>
            </a:pPr>
            <a:r>
              <a:rPr lang="en-US" sz="1800" b="1" dirty="0">
                <a:solidFill>
                  <a:srgbClr val="0D3B66"/>
                </a:solidFill>
                <a:latin typeface="Arial" pitchFamily="34" charset="0"/>
                <a:ea typeface="Arial" pitchFamily="34" charset="-122"/>
                <a:cs typeface="Arial" pitchFamily="34" charset="-120"/>
              </a:rPr>
              <a:t>2</a:t>
            </a:r>
            <a:endParaRPr lang="en-US" sz="1800" dirty="0"/>
          </a:p>
        </p:txBody>
      </p:sp>
      <p:sp>
        <p:nvSpPr>
          <p:cNvPr id="19" name="Text 16"/>
          <p:cNvSpPr txBox="1"/>
          <p:nvPr/>
        </p:nvSpPr>
        <p:spPr>
          <a:xfrm>
            <a:off x="6492240" y="3877056"/>
            <a:ext cx="4453128" cy="978408"/>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ثم انقرْ أحدَ مقابضِها (الدوائر الصغيرة) واسحبِ الفأرةَ لتغييرِ حجمِها.</a:t>
            </a:r>
            <a:endParaRPr lang="ar-OM" sz="1900" dirty="0"/>
          </a:p>
        </p:txBody>
      </p:sp>
      <p:sp>
        <p:nvSpPr>
          <p:cNvPr id="20" name="tip"/>
          <p:cNvSpPr/>
          <p:nvPr/>
        </p:nvSpPr>
        <p:spPr>
          <a:xfrm>
            <a:off x="6309360" y="4983480"/>
            <a:ext cx="5422392" cy="868680"/>
          </a:xfrm>
          <a:prstGeom prst="roundRect">
            <a:avLst>
              <a:gd name="adj" fmla="val 15789"/>
            </a:avLst>
          </a:prstGeom>
          <a:solidFill>
            <a:srgbClr val="FFF3CC"/>
          </a:solidFill>
          <a:ln/>
        </p:spPr>
        <p:txBody>
          <a:bodyPr/>
          <a:lstStyle/>
          <a:p>
            <a:endParaRPr lang="ar-OM"/>
          </a:p>
        </p:txBody>
      </p:sp>
      <p:sp>
        <p:nvSpPr>
          <p:cNvPr id="21" name="icon bg"/>
          <p:cNvSpPr/>
          <p:nvPr/>
        </p:nvSpPr>
        <p:spPr>
          <a:xfrm>
            <a:off x="11045952" y="5166360"/>
            <a:ext cx="502920" cy="502920"/>
          </a:xfrm>
          <a:prstGeom prst="ellipse">
            <a:avLst/>
          </a:prstGeom>
          <a:solidFill>
            <a:srgbClr val="F2A900"/>
          </a:solidFill>
          <a:ln/>
        </p:spPr>
        <p:txBody>
          <a:bodyPr/>
          <a:lstStyle/>
          <a:p>
            <a:endParaRPr lang="ar-OM"/>
          </a:p>
        </p:txBody>
      </p:sp>
      <p:pic>
        <p:nvPicPr>
          <p:cNvPr id="22" name="icon" descr="preencoded.png"/>
          <p:cNvPicPr>
            <a:picLocks noChangeAspect="1"/>
          </p:cNvPicPr>
          <p:nvPr/>
        </p:nvPicPr>
        <p:blipFill>
          <a:blip r:embed="rId4"/>
          <a:stretch>
            <a:fillRect/>
          </a:stretch>
        </p:blipFill>
        <p:spPr>
          <a:xfrm>
            <a:off x="11166653" y="5287061"/>
            <a:ext cx="261518" cy="261518"/>
          </a:xfrm>
          <a:prstGeom prst="rect">
            <a:avLst/>
          </a:prstGeom>
        </p:spPr>
      </p:pic>
      <p:sp>
        <p:nvSpPr>
          <p:cNvPr id="23" name="Text 19"/>
          <p:cNvSpPr txBox="1"/>
          <p:nvPr/>
        </p:nvSpPr>
        <p:spPr>
          <a:xfrm>
            <a:off x="6492240" y="4983480"/>
            <a:ext cx="4462272" cy="868680"/>
          </a:xfrm>
          <a:prstGeom prst="rect">
            <a:avLst/>
          </a:prstGeom>
          <a:noFill/>
          <a:ln/>
        </p:spPr>
        <p:txBody>
          <a:bodyPr wrap="square" lIns="635" tIns="635" rIns="635" bIns="635" rtlCol="0" anchor="ctr"/>
          <a:lstStyle/>
          <a:p>
            <a:pPr marL="0" indent="0" algn="r" rtl="1">
              <a:buNone/>
            </a:pPr>
            <a:r>
              <a:rPr lang="ar-OM" altLang="en-US" sz="1700" dirty="0">
                <a:solidFill>
                  <a:srgbClr val="1F2D3D"/>
                </a:solidFill>
                <a:latin typeface="Arial" pitchFamily="34" charset="0"/>
                <a:ea typeface="Arial" pitchFamily="34" charset="-122"/>
                <a:cs typeface="Arial" pitchFamily="34" charset="-120"/>
              </a:rPr>
              <a:t>اسحبْ من مقبضِ الزاوية ليبقى شكلُ الصورةِ متناسقًا.</a:t>
            </a:r>
            <a:endParaRPr lang="ar-OM" sz="1700" dirty="0"/>
          </a:p>
        </p:txBody>
      </p:sp>
      <p:sp>
        <p:nvSpPr>
          <p:cNvPr id="24"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5" name="زر التالي" descr="preencoded.png">
            <a:hlinkClick r:id="" action="ppaction://hlinkshowjump?jump=nextslide"/>
          </p:cNvPr>
          <p:cNvPicPr>
            <a:picLocks noChangeAspect="1"/>
          </p:cNvPicPr>
          <p:nvPr/>
        </p:nvPicPr>
        <p:blipFill>
          <a:blip r:embed="rId5"/>
          <a:stretch>
            <a:fillRect/>
          </a:stretch>
        </p:blipFill>
        <p:spPr>
          <a:xfrm>
            <a:off x="612648" y="6208776"/>
            <a:ext cx="256032" cy="256032"/>
          </a:xfrm>
          <a:prstGeom prst="rect">
            <a:avLst/>
          </a:prstGeom>
        </p:spPr>
      </p:pic>
      <p:sp>
        <p:nvSpPr>
          <p:cNvPr id="26" name="زر انتقال">
            <a:hlinkClick r:id="rId6"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7" name="زر انتقال" descr="preencoded.png">
            <a:hlinkClick r:id="rId6" action="ppaction://hlinksldjump"/>
          </p:cNvPr>
          <p:cNvPicPr>
            <a:picLocks noChangeAspect="1"/>
          </p:cNvPicPr>
          <p:nvPr/>
        </p:nvPicPr>
        <p:blipFill>
          <a:blip r:embed="rId7"/>
          <a:stretch>
            <a:fillRect/>
          </a:stretch>
        </p:blipFill>
        <p:spPr>
          <a:xfrm>
            <a:off x="1316736" y="6208776"/>
            <a:ext cx="256032" cy="256032"/>
          </a:xfrm>
          <a:prstGeom prst="rect">
            <a:avLst/>
          </a:prstGeom>
        </p:spPr>
      </p:pic>
      <p:sp>
        <p:nvSpPr>
          <p:cNvPr id="28"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9" name="زر السابق" descr="preencoded.png">
            <a:hlinkClick r:id="" action="ppaction://hlinkshowjump?jump=previousslide"/>
          </p:cNvPr>
          <p:cNvPicPr>
            <a:picLocks noChangeAspect="1"/>
          </p:cNvPicPr>
          <p:nvPr/>
        </p:nvPicPr>
        <p:blipFill>
          <a:blip r:embed="rId8"/>
          <a:stretch>
            <a:fillRect/>
          </a:stretch>
        </p:blipFill>
        <p:spPr>
          <a:xfrm>
            <a:off x="2020824" y="6208776"/>
            <a:ext cx="256032" cy="2560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F2A90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0D3B66"/>
                </a:solidFill>
                <a:latin typeface="Arial" pitchFamily="34" charset="0"/>
                <a:ea typeface="Arial" pitchFamily="34" charset="-122"/>
                <a:cs typeface="Arial" pitchFamily="34" charset="-120"/>
              </a:rPr>
              <a:t>الحجم والقص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قصّ الصورة</a:t>
            </a:r>
            <a:endParaRPr lang="ar-OM" sz="3200" dirty="0"/>
          </a:p>
        </p:txBody>
      </p:sp>
      <p:pic>
        <p:nvPicPr>
          <p:cNvPr id="5" name="img size_group.png" descr="a/size_group.png"/>
          <p:cNvPicPr>
            <a:picLocks noChangeAspect="1"/>
          </p:cNvPicPr>
          <p:nvPr/>
        </p:nvPicPr>
        <p:blipFill>
          <a:blip r:embed="rId3"/>
          <a:stretch>
            <a:fillRect/>
          </a:stretch>
        </p:blipFill>
        <p:spPr>
          <a:xfrm>
            <a:off x="1036930" y="1325880"/>
            <a:ext cx="4326941" cy="1600200"/>
          </a:xfrm>
          <a:prstGeom prst="rect">
            <a:avLst/>
          </a:prstGeom>
          <a:effectLst>
            <a:outerShdw blurRad="76200" dist="38100" dir="5400000" algn="bl" rotWithShape="0">
              <a:srgbClr val="7A8CA0">
                <a:alpha val="35000"/>
              </a:srgbClr>
            </a:outerShdw>
          </a:effectLst>
        </p:spPr>
      </p:pic>
      <p:sp>
        <p:nvSpPr>
          <p:cNvPr id="6" name="marker 2"/>
          <p:cNvSpPr/>
          <p:nvPr/>
        </p:nvSpPr>
        <p:spPr>
          <a:xfrm>
            <a:off x="3809390" y="1973275"/>
            <a:ext cx="420624" cy="420624"/>
          </a:xfrm>
          <a:prstGeom prst="ellipse">
            <a:avLst/>
          </a:prstGeom>
          <a:solidFill>
            <a:srgbClr val="F2A900"/>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7" name="marker num 2"/>
          <p:cNvSpPr txBox="1"/>
          <p:nvPr/>
        </p:nvSpPr>
        <p:spPr>
          <a:xfrm>
            <a:off x="3809390" y="1973275"/>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pic>
        <p:nvPicPr>
          <p:cNvPr id="8" name="img crop_img.png" descr="a/crop_img.png"/>
          <p:cNvPicPr>
            <a:picLocks noChangeAspect="1"/>
          </p:cNvPicPr>
          <p:nvPr/>
        </p:nvPicPr>
        <p:blipFill>
          <a:blip r:embed="rId4"/>
          <a:stretch>
            <a:fillRect/>
          </a:stretch>
        </p:blipFill>
        <p:spPr>
          <a:xfrm>
            <a:off x="870303" y="3154680"/>
            <a:ext cx="4660194" cy="2651760"/>
          </a:xfrm>
          <a:prstGeom prst="rect">
            <a:avLst/>
          </a:prstGeom>
          <a:effectLst>
            <a:outerShdw blurRad="76200" dist="38100" dir="5400000" algn="bl" rotWithShape="0">
              <a:srgbClr val="7A8CA0">
                <a:alpha val="35000"/>
              </a:srgbClr>
            </a:outerShdw>
          </a:effectLst>
        </p:spPr>
      </p:pic>
      <p:sp>
        <p:nvSpPr>
          <p:cNvPr id="9" name="marker 3"/>
          <p:cNvSpPr/>
          <p:nvPr/>
        </p:nvSpPr>
        <p:spPr>
          <a:xfrm>
            <a:off x="2990088" y="3038513"/>
            <a:ext cx="420624" cy="420624"/>
          </a:xfrm>
          <a:prstGeom prst="ellipse">
            <a:avLst/>
          </a:prstGeom>
          <a:solidFill>
            <a:srgbClr val="F2A900"/>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10" name="marker num 3"/>
          <p:cNvSpPr txBox="1"/>
          <p:nvPr/>
        </p:nvSpPr>
        <p:spPr>
          <a:xfrm>
            <a:off x="2990088" y="3038513"/>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step card"/>
          <p:cNvSpPr/>
          <p:nvPr/>
        </p:nvSpPr>
        <p:spPr>
          <a:xfrm>
            <a:off x="6309360" y="1325880"/>
            <a:ext cx="5422392" cy="1143000"/>
          </a:xfrm>
          <a:prstGeom prst="roundRect">
            <a:avLst>
              <a:gd name="adj" fmla="val 1200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2" name="step num"/>
          <p:cNvSpPr/>
          <p:nvPr/>
        </p:nvSpPr>
        <p:spPr>
          <a:xfrm>
            <a:off x="11055096" y="1641348"/>
            <a:ext cx="512064" cy="512064"/>
          </a:xfrm>
          <a:prstGeom prst="ellipse">
            <a:avLst/>
          </a:prstGeom>
          <a:solidFill>
            <a:srgbClr val="F2A900"/>
          </a:solidFill>
          <a:ln/>
        </p:spPr>
        <p:txBody>
          <a:bodyPr/>
          <a:lstStyle/>
          <a:p>
            <a:endParaRPr lang="ar-OM"/>
          </a:p>
        </p:txBody>
      </p:sp>
      <p:sp>
        <p:nvSpPr>
          <p:cNvPr id="13" name="Text 9"/>
          <p:cNvSpPr txBox="1"/>
          <p:nvPr/>
        </p:nvSpPr>
        <p:spPr>
          <a:xfrm>
            <a:off x="11055096" y="1641348"/>
            <a:ext cx="512064" cy="512064"/>
          </a:xfrm>
          <a:prstGeom prst="rect">
            <a:avLst/>
          </a:prstGeom>
          <a:noFill/>
          <a:ln/>
        </p:spPr>
        <p:txBody>
          <a:bodyPr wrap="square" lIns="0" tIns="0" rIns="0" bIns="0" rtlCol="0" anchor="ctr"/>
          <a:lstStyle/>
          <a:p>
            <a:pPr marL="0" indent="0" algn="ctr">
              <a:buNone/>
            </a:pPr>
            <a:r>
              <a:rPr lang="en-US" sz="1800" b="1" dirty="0">
                <a:solidFill>
                  <a:srgbClr val="0D3B66"/>
                </a:solidFill>
                <a:latin typeface="Arial" pitchFamily="34" charset="0"/>
                <a:ea typeface="Arial" pitchFamily="34" charset="-122"/>
                <a:cs typeface="Arial" pitchFamily="34" charset="-120"/>
              </a:rPr>
              <a:t>1</a:t>
            </a:r>
            <a:endParaRPr lang="en-US" sz="1800" dirty="0"/>
          </a:p>
        </p:txBody>
      </p:sp>
      <p:sp>
        <p:nvSpPr>
          <p:cNvPr id="14" name="Text 10"/>
          <p:cNvSpPr txBox="1"/>
          <p:nvPr/>
        </p:nvSpPr>
        <p:spPr>
          <a:xfrm>
            <a:off x="6492240" y="1362456"/>
            <a:ext cx="4453128" cy="1069848"/>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حدِّدِ الصورة.</a:t>
            </a:r>
            <a:endParaRPr lang="ar-OM" sz="1900" dirty="0"/>
          </a:p>
        </p:txBody>
      </p:sp>
      <p:sp>
        <p:nvSpPr>
          <p:cNvPr id="15" name="step card"/>
          <p:cNvSpPr/>
          <p:nvPr/>
        </p:nvSpPr>
        <p:spPr>
          <a:xfrm>
            <a:off x="6309360" y="2606040"/>
            <a:ext cx="5422392" cy="1143000"/>
          </a:xfrm>
          <a:prstGeom prst="roundRect">
            <a:avLst>
              <a:gd name="adj" fmla="val 1200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6" name="step num"/>
          <p:cNvSpPr/>
          <p:nvPr/>
        </p:nvSpPr>
        <p:spPr>
          <a:xfrm>
            <a:off x="11055096" y="2921508"/>
            <a:ext cx="512064" cy="512064"/>
          </a:xfrm>
          <a:prstGeom prst="ellipse">
            <a:avLst/>
          </a:prstGeom>
          <a:solidFill>
            <a:srgbClr val="F2A900"/>
          </a:solidFill>
          <a:ln/>
        </p:spPr>
        <p:txBody>
          <a:bodyPr/>
          <a:lstStyle/>
          <a:p>
            <a:endParaRPr lang="ar-OM"/>
          </a:p>
        </p:txBody>
      </p:sp>
      <p:sp>
        <p:nvSpPr>
          <p:cNvPr id="17" name="Text 13"/>
          <p:cNvSpPr txBox="1"/>
          <p:nvPr/>
        </p:nvSpPr>
        <p:spPr>
          <a:xfrm>
            <a:off x="11055096" y="2921508"/>
            <a:ext cx="512064" cy="512064"/>
          </a:xfrm>
          <a:prstGeom prst="rect">
            <a:avLst/>
          </a:prstGeom>
          <a:noFill/>
          <a:ln/>
        </p:spPr>
        <p:txBody>
          <a:bodyPr wrap="square" lIns="0" tIns="0" rIns="0" bIns="0" rtlCol="0" anchor="ctr"/>
          <a:lstStyle/>
          <a:p>
            <a:pPr marL="0" indent="0" algn="ctr">
              <a:buNone/>
            </a:pPr>
            <a:r>
              <a:rPr lang="en-US" sz="1800" b="1" dirty="0">
                <a:solidFill>
                  <a:srgbClr val="0D3B66"/>
                </a:solidFill>
                <a:latin typeface="Arial" pitchFamily="34" charset="0"/>
                <a:ea typeface="Arial" pitchFamily="34" charset="-122"/>
                <a:cs typeface="Arial" pitchFamily="34" charset="-120"/>
              </a:rPr>
              <a:t>2</a:t>
            </a:r>
            <a:endParaRPr lang="en-US" sz="1800" dirty="0"/>
          </a:p>
        </p:txBody>
      </p:sp>
      <p:sp>
        <p:nvSpPr>
          <p:cNvPr id="18" name="Text 14"/>
          <p:cNvSpPr txBox="1"/>
          <p:nvPr/>
        </p:nvSpPr>
        <p:spPr>
          <a:xfrm>
            <a:off x="6492240" y="2642616"/>
            <a:ext cx="4453128" cy="1069848"/>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من تبويب تنسيق الصورة </a:t>
            </a:r>
            <a:r>
              <a:rPr lang="ar-OM" altLang="en-US" sz="1900" b="1" dirty="0">
                <a:solidFill>
                  <a:srgbClr val="A06F00"/>
                </a:solidFill>
                <a:latin typeface="Arial" pitchFamily="34" charset="0"/>
                <a:ea typeface="Arial" pitchFamily="34" charset="-122"/>
                <a:cs typeface="Arial" pitchFamily="34" charset="-120"/>
              </a:rPr>
              <a:t>(Picture Format)</a:t>
            </a:r>
            <a:r>
              <a:rPr lang="ar-OM" altLang="en-US" sz="1900" dirty="0">
                <a:solidFill>
                  <a:srgbClr val="1F2D3D"/>
                </a:solidFill>
                <a:latin typeface="Arial" pitchFamily="34" charset="0"/>
                <a:ea typeface="Arial" pitchFamily="34" charset="-122"/>
                <a:cs typeface="Arial" pitchFamily="34" charset="-120"/>
              </a:rPr>
              <a:t>، ومن مجموعة الحجم </a:t>
            </a:r>
            <a:r>
              <a:rPr lang="ar-OM" altLang="en-US" sz="1900" b="1" dirty="0">
                <a:solidFill>
                  <a:srgbClr val="A06F00"/>
                </a:solidFill>
                <a:latin typeface="Arial" pitchFamily="34" charset="0"/>
                <a:ea typeface="Arial" pitchFamily="34" charset="-122"/>
                <a:cs typeface="Arial" pitchFamily="34" charset="-120"/>
              </a:rPr>
              <a:t>(Size)</a:t>
            </a:r>
            <a:r>
              <a:rPr lang="ar-OM" altLang="en-US" sz="1900" dirty="0">
                <a:solidFill>
                  <a:srgbClr val="1F2D3D"/>
                </a:solidFill>
                <a:latin typeface="Arial" pitchFamily="34" charset="0"/>
                <a:ea typeface="Arial" pitchFamily="34" charset="-122"/>
                <a:cs typeface="Arial" pitchFamily="34" charset="-120"/>
              </a:rPr>
              <a:t> انقرْ قص </a:t>
            </a:r>
            <a:r>
              <a:rPr lang="ar-OM" altLang="en-US" sz="1900" b="1" dirty="0">
                <a:solidFill>
                  <a:srgbClr val="A06F00"/>
                </a:solidFill>
                <a:latin typeface="Arial" pitchFamily="34" charset="0"/>
                <a:ea typeface="Arial" pitchFamily="34" charset="-122"/>
                <a:cs typeface="Arial" pitchFamily="34" charset="-120"/>
              </a:rPr>
              <a:t>(Crop)</a:t>
            </a:r>
            <a:endParaRPr lang="ar-OM" sz="1900" dirty="0"/>
          </a:p>
        </p:txBody>
      </p:sp>
      <p:sp>
        <p:nvSpPr>
          <p:cNvPr id="19" name="step card"/>
          <p:cNvSpPr/>
          <p:nvPr/>
        </p:nvSpPr>
        <p:spPr>
          <a:xfrm>
            <a:off x="6309360" y="3886200"/>
            <a:ext cx="5422392" cy="1143000"/>
          </a:xfrm>
          <a:prstGeom prst="roundRect">
            <a:avLst>
              <a:gd name="adj" fmla="val 1200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0" name="step num"/>
          <p:cNvSpPr/>
          <p:nvPr/>
        </p:nvSpPr>
        <p:spPr>
          <a:xfrm>
            <a:off x="11055096" y="4201668"/>
            <a:ext cx="512064" cy="512064"/>
          </a:xfrm>
          <a:prstGeom prst="ellipse">
            <a:avLst/>
          </a:prstGeom>
          <a:solidFill>
            <a:srgbClr val="F2A900"/>
          </a:solidFill>
          <a:ln/>
        </p:spPr>
        <p:txBody>
          <a:bodyPr/>
          <a:lstStyle/>
          <a:p>
            <a:endParaRPr lang="ar-OM"/>
          </a:p>
        </p:txBody>
      </p:sp>
      <p:sp>
        <p:nvSpPr>
          <p:cNvPr id="21" name="Text 17"/>
          <p:cNvSpPr txBox="1"/>
          <p:nvPr/>
        </p:nvSpPr>
        <p:spPr>
          <a:xfrm>
            <a:off x="11055096" y="4201668"/>
            <a:ext cx="512064" cy="512064"/>
          </a:xfrm>
          <a:prstGeom prst="rect">
            <a:avLst/>
          </a:prstGeom>
          <a:noFill/>
          <a:ln/>
        </p:spPr>
        <p:txBody>
          <a:bodyPr wrap="square" lIns="0" tIns="0" rIns="0" bIns="0" rtlCol="0" anchor="ctr"/>
          <a:lstStyle/>
          <a:p>
            <a:pPr marL="0" indent="0" algn="ctr">
              <a:buNone/>
            </a:pPr>
            <a:r>
              <a:rPr lang="en-US" sz="1800" b="1" dirty="0">
                <a:solidFill>
                  <a:srgbClr val="0D3B66"/>
                </a:solidFill>
                <a:latin typeface="Arial" pitchFamily="34" charset="0"/>
                <a:ea typeface="Arial" pitchFamily="34" charset="-122"/>
                <a:cs typeface="Arial" pitchFamily="34" charset="-120"/>
              </a:rPr>
              <a:t>3</a:t>
            </a:r>
            <a:endParaRPr lang="en-US" sz="1800" dirty="0"/>
          </a:p>
        </p:txBody>
      </p:sp>
      <p:sp>
        <p:nvSpPr>
          <p:cNvPr id="22" name="Text 18"/>
          <p:cNvSpPr txBox="1"/>
          <p:nvPr/>
        </p:nvSpPr>
        <p:spPr>
          <a:xfrm>
            <a:off x="6492240" y="3922776"/>
            <a:ext cx="4453128" cy="1069848"/>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قُصَّ الجزءَ المطلوبَ من الصورة، ثم اضغطْ مفتاح </a:t>
            </a:r>
            <a:r>
              <a:rPr lang="ar-OM" altLang="en-US" sz="1900" b="1" dirty="0">
                <a:solidFill>
                  <a:srgbClr val="A06F00"/>
                </a:solidFill>
                <a:latin typeface="Arial" pitchFamily="34" charset="0"/>
                <a:ea typeface="Arial" pitchFamily="34" charset="-122"/>
                <a:cs typeface="Arial" pitchFamily="34" charset="-120"/>
              </a:rPr>
              <a:t>Enter</a:t>
            </a:r>
            <a:endParaRPr lang="ar-OM" sz="1900" dirty="0"/>
          </a:p>
        </p:txBody>
      </p:sp>
      <p:sp>
        <p:nvSpPr>
          <p:cNvPr id="23" name="tip"/>
          <p:cNvSpPr/>
          <p:nvPr/>
        </p:nvSpPr>
        <p:spPr>
          <a:xfrm>
            <a:off x="6309360" y="4983480"/>
            <a:ext cx="5422392" cy="868680"/>
          </a:xfrm>
          <a:prstGeom prst="roundRect">
            <a:avLst>
              <a:gd name="adj" fmla="val 15789"/>
            </a:avLst>
          </a:prstGeom>
          <a:solidFill>
            <a:srgbClr val="FFF3CC"/>
          </a:solidFill>
          <a:ln/>
        </p:spPr>
        <p:txBody>
          <a:bodyPr/>
          <a:lstStyle/>
          <a:p>
            <a:endParaRPr lang="ar-OM"/>
          </a:p>
        </p:txBody>
      </p:sp>
      <p:sp>
        <p:nvSpPr>
          <p:cNvPr id="24" name="icon bg"/>
          <p:cNvSpPr/>
          <p:nvPr/>
        </p:nvSpPr>
        <p:spPr>
          <a:xfrm>
            <a:off x="11045952" y="5166360"/>
            <a:ext cx="502920" cy="502920"/>
          </a:xfrm>
          <a:prstGeom prst="ellipse">
            <a:avLst/>
          </a:prstGeom>
          <a:solidFill>
            <a:srgbClr val="F2A900"/>
          </a:solidFill>
          <a:ln/>
        </p:spPr>
        <p:txBody>
          <a:bodyPr/>
          <a:lstStyle/>
          <a:p>
            <a:endParaRPr lang="ar-OM"/>
          </a:p>
        </p:txBody>
      </p:sp>
      <p:pic>
        <p:nvPicPr>
          <p:cNvPr id="25" name="icon" descr="preencoded.png"/>
          <p:cNvPicPr>
            <a:picLocks noChangeAspect="1"/>
          </p:cNvPicPr>
          <p:nvPr/>
        </p:nvPicPr>
        <p:blipFill>
          <a:blip r:embed="rId5"/>
          <a:stretch>
            <a:fillRect/>
          </a:stretch>
        </p:blipFill>
        <p:spPr>
          <a:xfrm>
            <a:off x="11166653" y="5287061"/>
            <a:ext cx="261518" cy="261518"/>
          </a:xfrm>
          <a:prstGeom prst="rect">
            <a:avLst/>
          </a:prstGeom>
        </p:spPr>
      </p:pic>
      <p:sp>
        <p:nvSpPr>
          <p:cNvPr id="26" name="Text 21"/>
          <p:cNvSpPr txBox="1"/>
          <p:nvPr/>
        </p:nvSpPr>
        <p:spPr>
          <a:xfrm>
            <a:off x="6492240" y="4983480"/>
            <a:ext cx="4462272" cy="868680"/>
          </a:xfrm>
          <a:prstGeom prst="rect">
            <a:avLst/>
          </a:prstGeom>
          <a:noFill/>
          <a:ln/>
        </p:spPr>
        <p:txBody>
          <a:bodyPr wrap="square" lIns="635" tIns="635" rIns="635" bIns="635" rtlCol="0" anchor="ctr"/>
          <a:lstStyle/>
          <a:p>
            <a:pPr marL="0" indent="0" algn="r" rtl="1">
              <a:buNone/>
            </a:pPr>
            <a:r>
              <a:rPr lang="ar-OM" altLang="en-US" sz="1700" dirty="0">
                <a:solidFill>
                  <a:srgbClr val="1F2D3D"/>
                </a:solidFill>
                <a:latin typeface="Arial" pitchFamily="34" charset="0"/>
                <a:ea typeface="Arial" pitchFamily="34" charset="-122"/>
                <a:cs typeface="Arial" pitchFamily="34" charset="-120"/>
              </a:rPr>
              <a:t>الخطوطُ السوداءُ السميكةُ حولَ الصورةِ هي مقابضُ القص.</a:t>
            </a:r>
            <a:endParaRPr lang="ar-OM" sz="1700" dirty="0"/>
          </a:p>
        </p:txBody>
      </p:sp>
      <p:sp>
        <p:nvSpPr>
          <p:cNvPr id="27"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8" name="زر التالي" descr="preencoded.png">
            <a:hlinkClick r:id="" action="ppaction://hlinkshowjump?jump=nextslide"/>
          </p:cNvPr>
          <p:cNvPicPr>
            <a:picLocks noChangeAspect="1"/>
          </p:cNvPicPr>
          <p:nvPr/>
        </p:nvPicPr>
        <p:blipFill>
          <a:blip r:embed="rId6"/>
          <a:stretch>
            <a:fillRect/>
          </a:stretch>
        </p:blipFill>
        <p:spPr>
          <a:xfrm>
            <a:off x="612648" y="6208776"/>
            <a:ext cx="256032" cy="256032"/>
          </a:xfrm>
          <a:prstGeom prst="rect">
            <a:avLst/>
          </a:prstGeom>
        </p:spPr>
      </p:pic>
      <p:sp>
        <p:nvSpPr>
          <p:cNvPr id="29" name="زر انتقال">
            <a:hlinkClick r:id="rId7"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0" name="زر انتقال" descr="preencoded.png">
            <a:hlinkClick r:id="rId7" action="ppaction://hlinksldjump"/>
          </p:cNvPr>
          <p:cNvPicPr>
            <a:picLocks noChangeAspect="1"/>
          </p:cNvPicPr>
          <p:nvPr/>
        </p:nvPicPr>
        <p:blipFill>
          <a:blip r:embed="rId8"/>
          <a:stretch>
            <a:fillRect/>
          </a:stretch>
        </p:blipFill>
        <p:spPr>
          <a:xfrm>
            <a:off x="1316736" y="6208776"/>
            <a:ext cx="256032" cy="256032"/>
          </a:xfrm>
          <a:prstGeom prst="rect">
            <a:avLst/>
          </a:prstGeom>
        </p:spPr>
      </p:pic>
      <p:sp>
        <p:nvSpPr>
          <p:cNvPr id="31"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2" name="زر السابق" descr="preencoded.png">
            <a:hlinkClick r:id="" action="ppaction://hlinkshowjump?jump=previousslide"/>
          </p:cNvPr>
          <p:cNvPicPr>
            <a:picLocks noChangeAspect="1"/>
          </p:cNvPicPr>
          <p:nvPr/>
        </p:nvPicPr>
        <p:blipFill>
          <a:blip r:embed="rId9"/>
          <a:stretch>
            <a:fillRect/>
          </a:stretch>
        </p:blipFill>
        <p:spPr>
          <a:xfrm>
            <a:off x="2020824" y="6208776"/>
            <a:ext cx="256032" cy="2560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F2A90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0D3B66"/>
                </a:solidFill>
                <a:latin typeface="Arial" pitchFamily="34" charset="0"/>
                <a:ea typeface="Arial" pitchFamily="34" charset="-122"/>
                <a:cs typeface="Arial" pitchFamily="34" charset="-120"/>
              </a:rPr>
              <a:t>الحجم والقص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فيديو الهدف الثاني: الحجم والقص</a:t>
            </a:r>
            <a:endParaRPr lang="ar-OM" sz="3200" dirty="0"/>
          </a:p>
        </p:txBody>
      </p:sp>
      <p:pic>
        <p:nvPicPr>
          <p:cNvPr id="5" name="video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429000" y="1234440"/>
            <a:ext cx="8138160" cy="4577486"/>
          </a:xfrm>
          <a:prstGeom prst="rect">
            <a:avLst/>
          </a:prstGeom>
        </p:spPr>
      </p:pic>
      <p:sp>
        <p:nvSpPr>
          <p:cNvPr id="6" name="speech"/>
          <p:cNvSpPr/>
          <p:nvPr/>
        </p:nvSpPr>
        <p:spPr>
          <a:xfrm>
            <a:off x="411480" y="1325880"/>
            <a:ext cx="2743200" cy="1234440"/>
          </a:xfrm>
          <a:prstGeom prst="roundRect">
            <a:avLst>
              <a:gd name="adj" fmla="val 18519"/>
            </a:avLst>
          </a:prstGeom>
          <a:solidFill>
            <a:srgbClr val="FFFFFF"/>
          </a:solidFill>
          <a:ln w="25400">
            <a:solidFill>
              <a:srgbClr val="A06F00"/>
            </a:solidFill>
            <a:prstDash val="solid"/>
          </a:ln>
          <a:effectLst>
            <a:outerShdw blurRad="101600" dist="25400" dir="5400000" algn="bl" rotWithShape="0">
              <a:srgbClr val="8FA6BF">
                <a:alpha val="30000"/>
              </a:srgbClr>
            </a:outerShdw>
          </a:effectLst>
        </p:spPr>
        <p:txBody>
          <a:bodyPr/>
          <a:lstStyle/>
          <a:p>
            <a:endParaRPr lang="ar-OM"/>
          </a:p>
        </p:txBody>
      </p:sp>
      <p:sp>
        <p:nvSpPr>
          <p:cNvPr id="7" name="Text 4"/>
          <p:cNvSpPr txBox="1"/>
          <p:nvPr/>
        </p:nvSpPr>
        <p:spPr>
          <a:xfrm>
            <a:off x="548640" y="1325880"/>
            <a:ext cx="2468880" cy="1234440"/>
          </a:xfrm>
          <a:prstGeom prst="rect">
            <a:avLst/>
          </a:prstGeom>
          <a:noFill/>
          <a:ln/>
        </p:spPr>
        <p:txBody>
          <a:bodyPr wrap="square" lIns="635" tIns="635" rIns="635" bIns="635" rtlCol="0" anchor="ctr"/>
          <a:lstStyle/>
          <a:p>
            <a:pPr marL="0" indent="0" algn="ctr" rtl="1">
              <a:buNone/>
            </a:pPr>
            <a:r>
              <a:rPr lang="ar-OM" altLang="en-US" sz="1600" b="1" dirty="0">
                <a:solidFill>
                  <a:srgbClr val="A06F00"/>
                </a:solidFill>
                <a:latin typeface="Arial" pitchFamily="34" charset="0"/>
                <a:ea typeface="Arial" pitchFamily="34" charset="-122"/>
                <a:cs typeface="Arial" pitchFamily="34" charset="-120"/>
              </a:rPr>
              <a:t>شاهد كيف نغيّر الحجم ونقصّ الصورة</a:t>
            </a:r>
            <a:endParaRPr lang="ar-OM" sz="1600" dirty="0"/>
          </a:p>
        </p:txBody>
      </p:sp>
      <p:pic>
        <p:nvPicPr>
          <p:cNvPr id="8" name="img girl_wave.png" descr="a/girl_wave.png"/>
          <p:cNvPicPr>
            <a:picLocks noChangeAspect="1"/>
          </p:cNvPicPr>
          <p:nvPr/>
        </p:nvPicPr>
        <p:blipFill>
          <a:blip r:embed="rId6"/>
          <a:stretch>
            <a:fillRect/>
          </a:stretch>
        </p:blipFill>
        <p:spPr>
          <a:xfrm>
            <a:off x="457200" y="2772774"/>
            <a:ext cx="2651760" cy="3004092"/>
          </a:xfrm>
          <a:prstGeom prst="rect">
            <a:avLst/>
          </a:prstGeom>
        </p:spPr>
      </p:pic>
      <p:sp>
        <p:nvSpPr>
          <p:cNvPr id="10"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1" name="زر التالي" descr="preencoded.png">
            <a:hlinkClick r:id="" action="ppaction://hlinkshowjump?jump=nextslide"/>
          </p:cNvPr>
          <p:cNvPicPr>
            <a:picLocks noChangeAspect="1"/>
          </p:cNvPicPr>
          <p:nvPr/>
        </p:nvPicPr>
        <p:blipFill>
          <a:blip r:embed="rId7"/>
          <a:stretch>
            <a:fillRect/>
          </a:stretch>
        </p:blipFill>
        <p:spPr>
          <a:xfrm>
            <a:off x="612648" y="6208776"/>
            <a:ext cx="256032" cy="256032"/>
          </a:xfrm>
          <a:prstGeom prst="rect">
            <a:avLst/>
          </a:prstGeom>
        </p:spPr>
      </p:pic>
      <p:sp>
        <p:nvSpPr>
          <p:cNvPr id="12" name="زر انتقال">
            <a:hlinkClick r:id="rId8"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3" name="زر انتقال" descr="preencoded.png">
            <a:hlinkClick r:id="rId8" action="ppaction://hlinksldjump"/>
          </p:cNvPr>
          <p:cNvPicPr>
            <a:picLocks noChangeAspect="1"/>
          </p:cNvPicPr>
          <p:nvPr/>
        </p:nvPicPr>
        <p:blipFill>
          <a:blip r:embed="rId9"/>
          <a:stretch>
            <a:fillRect/>
          </a:stretch>
        </p:blipFill>
        <p:spPr>
          <a:xfrm>
            <a:off x="1316736" y="6208776"/>
            <a:ext cx="256032" cy="256032"/>
          </a:xfrm>
          <a:prstGeom prst="rect">
            <a:avLst/>
          </a:prstGeom>
        </p:spPr>
      </p:pic>
      <p:sp>
        <p:nvSpPr>
          <p:cNvPr id="14"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5" name="زر السابق" descr="preencoded.png">
            <a:hlinkClick r:id="" action="ppaction://hlinkshowjump?jump=previousslide"/>
          </p:cNvPr>
          <p:cNvPicPr>
            <a:picLocks noChangeAspect="1"/>
          </p:cNvPicPr>
          <p:nvPr/>
        </p:nvPicPr>
        <p:blipFill>
          <a:blip r:embed="rId10"/>
          <a:stretch>
            <a:fillRect/>
          </a:stretch>
        </p:blipFill>
        <p:spPr>
          <a:xfrm>
            <a:off x="2020824" y="6208776"/>
            <a:ext cx="256032" cy="2560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F2A90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0D3B66"/>
                </a:solidFill>
                <a:latin typeface="Arial" pitchFamily="34" charset="0"/>
                <a:ea typeface="Arial" pitchFamily="34" charset="-122"/>
                <a:cs typeface="Arial" pitchFamily="34" charset="-120"/>
              </a:rPr>
              <a:t>الحجم والقص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سؤال سريع 3</a:t>
            </a:r>
            <a:endParaRPr lang="ar-OM" sz="3200" dirty="0"/>
          </a:p>
        </p:txBody>
      </p:sp>
      <p:sp>
        <p:nvSpPr>
          <p:cNvPr id="5" name="question"/>
          <p:cNvSpPr/>
          <p:nvPr/>
        </p:nvSpPr>
        <p:spPr>
          <a:xfrm>
            <a:off x="457200" y="1280160"/>
            <a:ext cx="11274552" cy="1371600"/>
          </a:xfrm>
          <a:prstGeom prst="roundRect">
            <a:avLst>
              <a:gd name="adj" fmla="val 12000"/>
            </a:avLst>
          </a:prstGeom>
          <a:solidFill>
            <a:srgbClr val="FFF3CC"/>
          </a:solidFill>
          <a:ln/>
        </p:spPr>
        <p:txBody>
          <a:bodyPr/>
          <a:lstStyle/>
          <a:p>
            <a:endParaRPr lang="ar-OM"/>
          </a:p>
        </p:txBody>
      </p:sp>
      <p:sp>
        <p:nvSpPr>
          <p:cNvPr id="6" name="icon bg"/>
          <p:cNvSpPr/>
          <p:nvPr/>
        </p:nvSpPr>
        <p:spPr>
          <a:xfrm>
            <a:off x="10927080" y="1645920"/>
            <a:ext cx="640080" cy="640080"/>
          </a:xfrm>
          <a:prstGeom prst="ellipse">
            <a:avLst/>
          </a:prstGeom>
          <a:solidFill>
            <a:srgbClr val="F2A900"/>
          </a:solidFill>
          <a:ln/>
        </p:spPr>
        <p:txBody>
          <a:bodyPr/>
          <a:lstStyle/>
          <a:p>
            <a:endParaRPr lang="ar-OM"/>
          </a:p>
        </p:txBody>
      </p:sp>
      <p:pic>
        <p:nvPicPr>
          <p:cNvPr id="7" name="icon" descr="preencoded.png"/>
          <p:cNvPicPr>
            <a:picLocks noChangeAspect="1"/>
          </p:cNvPicPr>
          <p:nvPr/>
        </p:nvPicPr>
        <p:blipFill>
          <a:blip r:embed="rId3"/>
          <a:stretch>
            <a:fillRect/>
          </a:stretch>
        </p:blipFill>
        <p:spPr>
          <a:xfrm>
            <a:off x="11080699" y="1799539"/>
            <a:ext cx="332842" cy="332842"/>
          </a:xfrm>
          <a:prstGeom prst="rect">
            <a:avLst/>
          </a:prstGeom>
        </p:spPr>
      </p:pic>
      <p:sp>
        <p:nvSpPr>
          <p:cNvPr id="8" name="Text 5"/>
          <p:cNvSpPr txBox="1"/>
          <p:nvPr/>
        </p:nvSpPr>
        <p:spPr>
          <a:xfrm>
            <a:off x="685800" y="1280160"/>
            <a:ext cx="10104120" cy="1371600"/>
          </a:xfrm>
          <a:prstGeom prst="rect">
            <a:avLst/>
          </a:prstGeom>
          <a:noFill/>
          <a:ln/>
        </p:spPr>
        <p:txBody>
          <a:bodyPr wrap="square" lIns="635" tIns="635" rIns="635" bIns="635" rtlCol="0" anchor="ctr"/>
          <a:lstStyle/>
          <a:p>
            <a:pPr marL="0" indent="0" algn="r" rtl="1">
              <a:buNone/>
            </a:pPr>
            <a:r>
              <a:rPr lang="ar-OM" altLang="en-US" sz="2600" b="1" dirty="0">
                <a:solidFill>
                  <a:srgbClr val="0D3B66"/>
                </a:solidFill>
                <a:latin typeface="Arial" pitchFamily="34" charset="0"/>
                <a:ea typeface="Arial" pitchFamily="34" charset="-122"/>
                <a:cs typeface="Arial" pitchFamily="34" charset="-120"/>
              </a:rPr>
              <a:t>لقصِّ جزءٍ غيرِ مطلوبٍ من الصورة، نستخدمُ أداة:</a:t>
            </a:r>
            <a:endParaRPr lang="ar-OM" sz="2600" dirty="0"/>
          </a:p>
        </p:txBody>
      </p:sp>
      <p:sp>
        <p:nvSpPr>
          <p:cNvPr id="9" name="إجابة">
            <a:hlinkClick r:id="rId4" action="ppaction://hlinksldjump">
              <a:snd r:embed="rId5" name="wrong.wav"/>
            </a:hlinkClick>
          </p:cNvPr>
          <p:cNvSpPr/>
          <p:nvPr/>
        </p:nvSpPr>
        <p:spPr>
          <a:xfrm>
            <a:off x="8211312" y="2971800"/>
            <a:ext cx="3520440" cy="1417320"/>
          </a:xfrm>
          <a:prstGeom prst="roundRect">
            <a:avLst>
              <a:gd name="adj" fmla="val 12903"/>
            </a:avLst>
          </a:prstGeom>
          <a:solidFill>
            <a:srgbClr val="FFFFFF"/>
          </a:solidFill>
          <a:ln w="28575">
            <a:solidFill>
              <a:srgbClr val="F2A900"/>
            </a:solidFill>
            <a:prstDash val="solid"/>
          </a:ln>
          <a:effectLst>
            <a:outerShdw blurRad="101600" dist="25400" dir="5400000" algn="bl" rotWithShape="0">
              <a:srgbClr val="8FA6BF">
                <a:alpha val="30000"/>
              </a:srgbClr>
            </a:outerShdw>
          </a:effectLst>
        </p:spPr>
        <p:txBody>
          <a:bodyPr/>
          <a:lstStyle/>
          <a:p>
            <a:endParaRPr lang="ar-OM"/>
          </a:p>
        </p:txBody>
      </p:sp>
      <p:sp>
        <p:nvSpPr>
          <p:cNvPr id="10" name="إجابة">
            <a:hlinkClick r:id="rId4" action="ppaction://hlinksldjump">
              <a:snd r:embed="rId5" name="wrong.wav"/>
            </a:hlinkClick>
          </p:cNvPr>
          <p:cNvSpPr/>
          <p:nvPr/>
        </p:nvSpPr>
        <p:spPr>
          <a:xfrm>
            <a:off x="11000232" y="3396996"/>
            <a:ext cx="566928" cy="566928"/>
          </a:xfrm>
          <a:prstGeom prst="ellipse">
            <a:avLst/>
          </a:prstGeom>
          <a:solidFill>
            <a:srgbClr val="F2A900"/>
          </a:solidFill>
          <a:ln/>
        </p:spPr>
        <p:txBody>
          <a:bodyPr/>
          <a:lstStyle/>
          <a:p>
            <a:endParaRPr lang="ar-OM"/>
          </a:p>
        </p:txBody>
      </p:sp>
      <p:sp>
        <p:nvSpPr>
          <p:cNvPr id="11" name="إجابة">
            <a:hlinkClick r:id="rId4" action="ppaction://hlinksldjump">
              <a:snd r:embed="rId5" name="wrong.wav"/>
            </a:hlinkClick>
          </p:cNvPr>
          <p:cNvSpPr txBox="1"/>
          <p:nvPr/>
        </p:nvSpPr>
        <p:spPr>
          <a:xfrm>
            <a:off x="11000232" y="3396996"/>
            <a:ext cx="566928" cy="566928"/>
          </a:xfrm>
          <a:prstGeom prst="rect">
            <a:avLst/>
          </a:prstGeom>
          <a:noFill/>
          <a:ln/>
        </p:spPr>
        <p:txBody>
          <a:bodyPr wrap="square" lIns="0" tIns="0" rIns="0" bIns="0" rtlCol="0" anchor="ctr"/>
          <a:lstStyle/>
          <a:p>
            <a:pPr marL="0" indent="0" algn="ctr">
              <a:buNone/>
            </a:pPr>
            <a:r>
              <a:rPr lang="en-US" sz="2200" b="1" dirty="0">
                <a:solidFill>
                  <a:srgbClr val="0D3B66"/>
                </a:solidFill>
                <a:latin typeface="Arial" pitchFamily="34" charset="0"/>
                <a:ea typeface="Arial" pitchFamily="34" charset="-122"/>
                <a:cs typeface="Arial" pitchFamily="34" charset="-120"/>
              </a:rPr>
              <a:t>أ</a:t>
            </a:r>
            <a:endParaRPr lang="en-US" sz="2200" dirty="0"/>
          </a:p>
        </p:txBody>
      </p:sp>
      <p:pic>
        <p:nvPicPr>
          <p:cNvPr id="12" name="إجابة" descr="preencoded.png">
            <a:hlinkClick r:id="rId4" action="ppaction://hlinksldjump">
              <a:snd r:embed="rId5" name="wrong.wav"/>
            </a:hlinkClick>
          </p:cNvPr>
          <p:cNvPicPr>
            <a:picLocks noChangeAspect="1"/>
          </p:cNvPicPr>
          <p:nvPr/>
        </p:nvPicPr>
        <p:blipFill>
          <a:blip r:embed="rId6"/>
          <a:stretch>
            <a:fillRect/>
          </a:stretch>
        </p:blipFill>
        <p:spPr>
          <a:xfrm>
            <a:off x="8439912" y="3406140"/>
            <a:ext cx="548640" cy="548640"/>
          </a:xfrm>
          <a:prstGeom prst="rect">
            <a:avLst/>
          </a:prstGeom>
        </p:spPr>
      </p:pic>
      <p:sp>
        <p:nvSpPr>
          <p:cNvPr id="13" name="إجابة">
            <a:hlinkClick r:id="rId4" action="ppaction://hlinksldjump">
              <a:snd r:embed="rId5" name="wrong.wav"/>
            </a:hlinkClick>
          </p:cNvPr>
          <p:cNvSpPr txBox="1"/>
          <p:nvPr/>
        </p:nvSpPr>
        <p:spPr>
          <a:xfrm>
            <a:off x="9125712" y="2971800"/>
            <a:ext cx="176479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التفاف النص (Wrap Text)</a:t>
            </a:r>
            <a:endParaRPr lang="ar-OM" sz="2000" dirty="0"/>
          </a:p>
        </p:txBody>
      </p:sp>
      <p:sp>
        <p:nvSpPr>
          <p:cNvPr id="14" name="إجابة">
            <a:hlinkClick r:id="rId4" action="ppaction://hlinksldjump">
              <a:snd r:embed="rId5" name="wrong.wav"/>
            </a:hlinkClick>
          </p:cNvPr>
          <p:cNvSpPr/>
          <p:nvPr/>
        </p:nvSpPr>
        <p:spPr>
          <a:xfrm>
            <a:off x="4334256" y="2971800"/>
            <a:ext cx="3520440" cy="1417320"/>
          </a:xfrm>
          <a:prstGeom prst="roundRect">
            <a:avLst>
              <a:gd name="adj" fmla="val 12903"/>
            </a:avLst>
          </a:prstGeom>
          <a:solidFill>
            <a:srgbClr val="FFFFFF"/>
          </a:solidFill>
          <a:ln w="28575">
            <a:solidFill>
              <a:srgbClr val="F2A900"/>
            </a:solidFill>
            <a:prstDash val="solid"/>
          </a:ln>
          <a:effectLst>
            <a:outerShdw blurRad="101600" dist="25400" dir="5400000" algn="bl" rotWithShape="0">
              <a:srgbClr val="8FA6BF">
                <a:alpha val="30000"/>
              </a:srgbClr>
            </a:outerShdw>
          </a:effectLst>
        </p:spPr>
        <p:txBody>
          <a:bodyPr/>
          <a:lstStyle/>
          <a:p>
            <a:endParaRPr lang="ar-OM"/>
          </a:p>
        </p:txBody>
      </p:sp>
      <p:sp>
        <p:nvSpPr>
          <p:cNvPr id="15" name="إجابة">
            <a:hlinkClick r:id="rId4" action="ppaction://hlinksldjump">
              <a:snd r:embed="rId5" name="wrong.wav"/>
            </a:hlinkClick>
          </p:cNvPr>
          <p:cNvSpPr/>
          <p:nvPr/>
        </p:nvSpPr>
        <p:spPr>
          <a:xfrm>
            <a:off x="7123176" y="3396996"/>
            <a:ext cx="566928" cy="566928"/>
          </a:xfrm>
          <a:prstGeom prst="ellipse">
            <a:avLst/>
          </a:prstGeom>
          <a:solidFill>
            <a:srgbClr val="F2A900"/>
          </a:solidFill>
          <a:ln/>
        </p:spPr>
        <p:txBody>
          <a:bodyPr/>
          <a:lstStyle/>
          <a:p>
            <a:endParaRPr lang="ar-OM"/>
          </a:p>
        </p:txBody>
      </p:sp>
      <p:sp>
        <p:nvSpPr>
          <p:cNvPr id="16" name="إجابة">
            <a:hlinkClick r:id="rId4" action="ppaction://hlinksldjump">
              <a:snd r:embed="rId5" name="wrong.wav"/>
            </a:hlinkClick>
          </p:cNvPr>
          <p:cNvSpPr txBox="1"/>
          <p:nvPr/>
        </p:nvSpPr>
        <p:spPr>
          <a:xfrm>
            <a:off x="7123176" y="3396996"/>
            <a:ext cx="566928" cy="566928"/>
          </a:xfrm>
          <a:prstGeom prst="rect">
            <a:avLst/>
          </a:prstGeom>
          <a:noFill/>
          <a:ln/>
        </p:spPr>
        <p:txBody>
          <a:bodyPr wrap="square" lIns="0" tIns="0" rIns="0" bIns="0" rtlCol="0" anchor="ctr"/>
          <a:lstStyle/>
          <a:p>
            <a:pPr marL="0" indent="0" algn="ctr">
              <a:buNone/>
            </a:pPr>
            <a:r>
              <a:rPr lang="en-US" sz="2200" b="1" dirty="0">
                <a:solidFill>
                  <a:srgbClr val="0D3B66"/>
                </a:solidFill>
                <a:latin typeface="Arial" pitchFamily="34" charset="0"/>
                <a:ea typeface="Arial" pitchFamily="34" charset="-122"/>
                <a:cs typeface="Arial" pitchFamily="34" charset="-120"/>
              </a:rPr>
              <a:t>ب</a:t>
            </a:r>
            <a:endParaRPr lang="en-US" sz="2200" dirty="0"/>
          </a:p>
        </p:txBody>
      </p:sp>
      <p:pic>
        <p:nvPicPr>
          <p:cNvPr id="17" name="إجابة" descr="preencoded.png">
            <a:hlinkClick r:id="rId4" action="ppaction://hlinksldjump">
              <a:snd r:embed="rId5" name="wrong.wav"/>
            </a:hlinkClick>
          </p:cNvPr>
          <p:cNvPicPr>
            <a:picLocks noChangeAspect="1"/>
          </p:cNvPicPr>
          <p:nvPr/>
        </p:nvPicPr>
        <p:blipFill>
          <a:blip r:embed="rId7"/>
          <a:stretch>
            <a:fillRect/>
          </a:stretch>
        </p:blipFill>
        <p:spPr>
          <a:xfrm>
            <a:off x="4562856" y="3406140"/>
            <a:ext cx="548640" cy="548640"/>
          </a:xfrm>
          <a:prstGeom prst="rect">
            <a:avLst/>
          </a:prstGeom>
        </p:spPr>
      </p:pic>
      <p:sp>
        <p:nvSpPr>
          <p:cNvPr id="18" name="إجابة">
            <a:hlinkClick r:id="rId4" action="ppaction://hlinksldjump">
              <a:snd r:embed="rId5" name="wrong.wav"/>
            </a:hlinkClick>
          </p:cNvPr>
          <p:cNvSpPr txBox="1"/>
          <p:nvPr/>
        </p:nvSpPr>
        <p:spPr>
          <a:xfrm>
            <a:off x="5248656" y="2971800"/>
            <a:ext cx="176479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حدود الصورة (Picture Border)</a:t>
            </a:r>
            <a:endParaRPr lang="ar-OM" sz="2000" dirty="0"/>
          </a:p>
        </p:txBody>
      </p:sp>
      <p:sp>
        <p:nvSpPr>
          <p:cNvPr id="19" name="إجابة">
            <a:hlinkClick r:id="rId8" action="ppaction://hlinksldjump">
              <a:snd r:embed="rId9" name="correct.wav"/>
            </a:hlinkClick>
          </p:cNvPr>
          <p:cNvSpPr/>
          <p:nvPr/>
        </p:nvSpPr>
        <p:spPr>
          <a:xfrm>
            <a:off x="457200" y="2971800"/>
            <a:ext cx="3520440" cy="1417320"/>
          </a:xfrm>
          <a:prstGeom prst="roundRect">
            <a:avLst>
              <a:gd name="adj" fmla="val 12903"/>
            </a:avLst>
          </a:prstGeom>
          <a:solidFill>
            <a:srgbClr val="FFFFFF"/>
          </a:solidFill>
          <a:ln w="28575">
            <a:solidFill>
              <a:srgbClr val="F2A900"/>
            </a:solidFill>
            <a:prstDash val="solid"/>
          </a:ln>
          <a:effectLst>
            <a:outerShdw blurRad="101600" dist="25400" dir="5400000" algn="bl" rotWithShape="0">
              <a:srgbClr val="8FA6BF">
                <a:alpha val="30000"/>
              </a:srgbClr>
            </a:outerShdw>
          </a:effectLst>
        </p:spPr>
        <p:txBody>
          <a:bodyPr/>
          <a:lstStyle/>
          <a:p>
            <a:endParaRPr lang="ar-OM"/>
          </a:p>
        </p:txBody>
      </p:sp>
      <p:sp>
        <p:nvSpPr>
          <p:cNvPr id="20" name="إجابة">
            <a:hlinkClick r:id="rId8" action="ppaction://hlinksldjump">
              <a:snd r:embed="rId9" name="correct.wav"/>
            </a:hlinkClick>
          </p:cNvPr>
          <p:cNvSpPr/>
          <p:nvPr/>
        </p:nvSpPr>
        <p:spPr>
          <a:xfrm>
            <a:off x="3246120" y="3396996"/>
            <a:ext cx="566928" cy="566928"/>
          </a:xfrm>
          <a:prstGeom prst="ellipse">
            <a:avLst/>
          </a:prstGeom>
          <a:solidFill>
            <a:srgbClr val="F2A900"/>
          </a:solidFill>
          <a:ln/>
        </p:spPr>
        <p:txBody>
          <a:bodyPr/>
          <a:lstStyle/>
          <a:p>
            <a:endParaRPr lang="ar-OM"/>
          </a:p>
        </p:txBody>
      </p:sp>
      <p:sp>
        <p:nvSpPr>
          <p:cNvPr id="21" name="إجابة">
            <a:hlinkClick r:id="rId8" action="ppaction://hlinksldjump">
              <a:snd r:embed="rId9" name="correct.wav"/>
            </a:hlinkClick>
          </p:cNvPr>
          <p:cNvSpPr txBox="1"/>
          <p:nvPr/>
        </p:nvSpPr>
        <p:spPr>
          <a:xfrm>
            <a:off x="3246120" y="3396996"/>
            <a:ext cx="566928" cy="566928"/>
          </a:xfrm>
          <a:prstGeom prst="rect">
            <a:avLst/>
          </a:prstGeom>
          <a:noFill/>
          <a:ln/>
        </p:spPr>
        <p:txBody>
          <a:bodyPr wrap="square" lIns="0" tIns="0" rIns="0" bIns="0" rtlCol="0" anchor="ctr"/>
          <a:lstStyle/>
          <a:p>
            <a:pPr marL="0" indent="0" algn="ctr">
              <a:buNone/>
            </a:pPr>
            <a:r>
              <a:rPr lang="en-US" sz="2200" b="1" dirty="0">
                <a:solidFill>
                  <a:srgbClr val="0D3B66"/>
                </a:solidFill>
                <a:latin typeface="Arial" pitchFamily="34" charset="0"/>
                <a:ea typeface="Arial" pitchFamily="34" charset="-122"/>
                <a:cs typeface="Arial" pitchFamily="34" charset="-120"/>
              </a:rPr>
              <a:t>ج</a:t>
            </a:r>
            <a:endParaRPr lang="en-US" sz="2200" dirty="0"/>
          </a:p>
        </p:txBody>
      </p:sp>
      <p:pic>
        <p:nvPicPr>
          <p:cNvPr id="22" name="إجابة" descr="preencoded.png">
            <a:hlinkClick r:id="rId8" action="ppaction://hlinksldjump">
              <a:snd r:embed="rId9" name="correct.wav"/>
            </a:hlinkClick>
          </p:cNvPr>
          <p:cNvPicPr>
            <a:picLocks noChangeAspect="1"/>
          </p:cNvPicPr>
          <p:nvPr/>
        </p:nvPicPr>
        <p:blipFill>
          <a:blip r:embed="rId10"/>
          <a:stretch>
            <a:fillRect/>
          </a:stretch>
        </p:blipFill>
        <p:spPr>
          <a:xfrm>
            <a:off x="685800" y="3406140"/>
            <a:ext cx="548640" cy="548640"/>
          </a:xfrm>
          <a:prstGeom prst="rect">
            <a:avLst/>
          </a:prstGeom>
        </p:spPr>
      </p:pic>
      <p:sp>
        <p:nvSpPr>
          <p:cNvPr id="23" name="إجابة">
            <a:hlinkClick r:id="rId8" action="ppaction://hlinksldjump">
              <a:snd r:embed="rId9" name="correct.wav"/>
            </a:hlinkClick>
          </p:cNvPr>
          <p:cNvSpPr txBox="1"/>
          <p:nvPr/>
        </p:nvSpPr>
        <p:spPr>
          <a:xfrm>
            <a:off x="1371600" y="2971800"/>
            <a:ext cx="176479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قص (Crop)</a:t>
            </a:r>
            <a:endParaRPr lang="ar-OM" sz="2000" dirty="0"/>
          </a:p>
        </p:txBody>
      </p:sp>
      <p:pic>
        <p:nvPicPr>
          <p:cNvPr id="24" name="img boy_head.png" descr="a/boy_head.png"/>
          <p:cNvPicPr>
            <a:picLocks noChangeAspect="1"/>
          </p:cNvPicPr>
          <p:nvPr/>
        </p:nvPicPr>
        <p:blipFill>
          <a:blip r:embed="rId11"/>
          <a:stretch>
            <a:fillRect/>
          </a:stretch>
        </p:blipFill>
        <p:spPr>
          <a:xfrm>
            <a:off x="5505178" y="4572000"/>
            <a:ext cx="1151164" cy="1371600"/>
          </a:xfrm>
          <a:prstGeom prst="rect">
            <a:avLst/>
          </a:prstGeom>
        </p:spPr>
      </p:pic>
      <p:sp>
        <p:nvSpPr>
          <p:cNvPr id="25" name="Text 18"/>
          <p:cNvSpPr txBox="1"/>
          <p:nvPr/>
        </p:nvSpPr>
        <p:spPr>
          <a:xfrm>
            <a:off x="7132320" y="4754880"/>
            <a:ext cx="3840480" cy="548640"/>
          </a:xfrm>
          <a:prstGeom prst="rect">
            <a:avLst/>
          </a:prstGeom>
          <a:noFill/>
          <a:ln/>
        </p:spPr>
        <p:txBody>
          <a:bodyPr wrap="square" lIns="635" tIns="635" rIns="635" bIns="635" rtlCol="0" anchor="ctr"/>
          <a:lstStyle/>
          <a:p>
            <a:pPr marL="0" indent="0" algn="r" rtl="1">
              <a:buNone/>
            </a:pPr>
            <a:r>
              <a:rPr lang="ar-OM" altLang="en-US" sz="1800" b="1" dirty="0">
                <a:solidFill>
                  <a:srgbClr val="4A5B6D"/>
                </a:solidFill>
                <a:latin typeface="Arial" pitchFamily="34" charset="0"/>
                <a:ea typeface="Arial" pitchFamily="34" charset="-122"/>
                <a:cs typeface="Arial" pitchFamily="34" charset="-120"/>
              </a:rPr>
              <a:t>انقر الإجابة الصحيحة</a:t>
            </a:r>
            <a:endParaRPr lang="ar-OM" sz="1800" dirty="0"/>
          </a:p>
        </p:txBody>
      </p:sp>
      <p:sp>
        <p:nvSpPr>
          <p:cNvPr id="26"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7" name="زر التالي" descr="preencoded.png">
            <a:hlinkClick r:id="" action="ppaction://hlinkshowjump?jump=nextslide"/>
          </p:cNvPr>
          <p:cNvPicPr>
            <a:picLocks noChangeAspect="1"/>
          </p:cNvPicPr>
          <p:nvPr/>
        </p:nvPicPr>
        <p:blipFill>
          <a:blip r:embed="rId12"/>
          <a:stretch>
            <a:fillRect/>
          </a:stretch>
        </p:blipFill>
        <p:spPr>
          <a:xfrm>
            <a:off x="612648" y="6208776"/>
            <a:ext cx="256032" cy="256032"/>
          </a:xfrm>
          <a:prstGeom prst="rect">
            <a:avLst/>
          </a:prstGeom>
        </p:spPr>
      </p:pic>
      <p:sp>
        <p:nvSpPr>
          <p:cNvPr id="28" name="زر انتقال">
            <a:hlinkClick r:id="rId13"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9" name="زر انتقال" descr="preencoded.png">
            <a:hlinkClick r:id="rId13" action="ppaction://hlinksldjump"/>
          </p:cNvPr>
          <p:cNvPicPr>
            <a:picLocks noChangeAspect="1"/>
          </p:cNvPicPr>
          <p:nvPr/>
        </p:nvPicPr>
        <p:blipFill>
          <a:blip r:embed="rId14"/>
          <a:stretch>
            <a:fillRect/>
          </a:stretch>
        </p:blipFill>
        <p:spPr>
          <a:xfrm>
            <a:off x="1316736" y="6208776"/>
            <a:ext cx="256032" cy="256032"/>
          </a:xfrm>
          <a:prstGeom prst="rect">
            <a:avLst/>
          </a:prstGeom>
        </p:spPr>
      </p:pic>
      <p:sp>
        <p:nvSpPr>
          <p:cNvPr id="30"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1" name="زر السابق" descr="preencoded.png">
            <a:hlinkClick r:id="" action="ppaction://hlinkshowjump?jump=previousslide"/>
          </p:cNvPr>
          <p:cNvPicPr>
            <a:picLocks noChangeAspect="1"/>
          </p:cNvPicPr>
          <p:nvPr/>
        </p:nvPicPr>
        <p:blipFill>
          <a:blip r:embed="rId15"/>
          <a:stretch>
            <a:fillRect/>
          </a:stretch>
        </p:blipFill>
        <p:spPr>
          <a:xfrm>
            <a:off x="2020824" y="6208776"/>
            <a:ext cx="256032" cy="2560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F2A90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0D3B66"/>
                </a:solidFill>
                <a:latin typeface="Arial" pitchFamily="34" charset="0"/>
                <a:ea typeface="Arial" pitchFamily="34" charset="-122"/>
                <a:cs typeface="Arial" pitchFamily="34" charset="-120"/>
              </a:rPr>
              <a:t>الحجم والقص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صح أم خطأ؟ (1)</a:t>
            </a:r>
            <a:endParaRPr lang="ar-OM" sz="3200" dirty="0"/>
          </a:p>
        </p:txBody>
      </p:sp>
      <p:sp>
        <p:nvSpPr>
          <p:cNvPr id="5" name="statement"/>
          <p:cNvSpPr/>
          <p:nvPr/>
        </p:nvSpPr>
        <p:spPr>
          <a:xfrm>
            <a:off x="2377440" y="1325880"/>
            <a:ext cx="9354312" cy="1920240"/>
          </a:xfrm>
          <a:prstGeom prst="roundRect">
            <a:avLst>
              <a:gd name="adj" fmla="val 8571"/>
            </a:avLst>
          </a:prstGeom>
          <a:solidFill>
            <a:srgbClr val="FFF3CC"/>
          </a:solidFill>
          <a:ln/>
        </p:spPr>
        <p:txBody>
          <a:bodyPr/>
          <a:lstStyle/>
          <a:p>
            <a:endParaRPr lang="ar-OM"/>
          </a:p>
        </p:txBody>
      </p:sp>
      <p:sp>
        <p:nvSpPr>
          <p:cNvPr id="6" name="Text 4"/>
          <p:cNvSpPr txBox="1"/>
          <p:nvPr/>
        </p:nvSpPr>
        <p:spPr>
          <a:xfrm>
            <a:off x="2651760" y="1325880"/>
            <a:ext cx="8778240" cy="1920240"/>
          </a:xfrm>
          <a:prstGeom prst="rect">
            <a:avLst/>
          </a:prstGeom>
          <a:noFill/>
          <a:ln/>
        </p:spPr>
        <p:txBody>
          <a:bodyPr wrap="square" lIns="635" tIns="635" rIns="635" bIns="635" rtlCol="0" anchor="ctr"/>
          <a:lstStyle/>
          <a:p>
            <a:pPr marL="0" indent="0" algn="ctr" rtl="1">
              <a:buNone/>
            </a:pPr>
            <a:r>
              <a:rPr lang="ar-OM" altLang="en-US" sz="2600" b="1" dirty="0">
                <a:solidFill>
                  <a:srgbClr val="0D3B66"/>
                </a:solidFill>
                <a:latin typeface="Arial" pitchFamily="34" charset="0"/>
                <a:ea typeface="Arial" pitchFamily="34" charset="-122"/>
                <a:cs typeface="Arial" pitchFamily="34" charset="-120"/>
              </a:rPr>
              <a:t>لا يمكنك قصُّ الصورةِ بعدَ إدراجِها في مستندِ معالجِ الكلمات.</a:t>
            </a:r>
            <a:endParaRPr lang="ar-OM" sz="2600" dirty="0"/>
          </a:p>
        </p:txBody>
      </p:sp>
      <p:pic>
        <p:nvPicPr>
          <p:cNvPr id="7" name="img girl_wave.png" descr="a/girl_wave.png"/>
          <p:cNvPicPr>
            <a:picLocks noChangeAspect="1"/>
          </p:cNvPicPr>
          <p:nvPr/>
        </p:nvPicPr>
        <p:blipFill>
          <a:blip r:embed="rId3"/>
          <a:stretch>
            <a:fillRect/>
          </a:stretch>
        </p:blipFill>
        <p:spPr>
          <a:xfrm>
            <a:off x="365760" y="1387266"/>
            <a:ext cx="1828800" cy="2071787"/>
          </a:xfrm>
          <a:prstGeom prst="rect">
            <a:avLst/>
          </a:prstGeom>
        </p:spPr>
      </p:pic>
      <p:sp>
        <p:nvSpPr>
          <p:cNvPr id="8" name="إجابة">
            <a:hlinkClick r:id="rId4" action="ppaction://hlinksldjump">
              <a:snd r:embed="rId5" name="wrong.wav"/>
            </a:hlinkClick>
          </p:cNvPr>
          <p:cNvSpPr/>
          <p:nvPr/>
        </p:nvSpPr>
        <p:spPr>
          <a:xfrm>
            <a:off x="6446520" y="3657600"/>
            <a:ext cx="4023360" cy="1600200"/>
          </a:xfrm>
          <a:prstGeom prst="roundRect">
            <a:avLst>
              <a:gd name="adj" fmla="val 17143"/>
            </a:avLst>
          </a:prstGeom>
          <a:solidFill>
            <a:srgbClr val="4FA62A"/>
          </a:solidFill>
          <a:ln w="38100">
            <a:solidFill>
              <a:srgbClr val="FFFFFF"/>
            </a:solidFill>
            <a:prstDash val="solid"/>
          </a:ln>
          <a:effectLst>
            <a:outerShdw blurRad="76200" dist="38100" dir="5400000" algn="bl" rotWithShape="0">
              <a:srgbClr val="000000">
                <a:alpha val="25000"/>
              </a:srgbClr>
            </a:outerShdw>
          </a:effectLst>
        </p:spPr>
        <p:txBody>
          <a:bodyPr/>
          <a:lstStyle/>
          <a:p>
            <a:endParaRPr lang="ar-OM"/>
          </a:p>
        </p:txBody>
      </p:sp>
      <p:sp>
        <p:nvSpPr>
          <p:cNvPr id="9" name="إجابة">
            <a:hlinkClick r:id="rId4" action="ppaction://hlinksldjump">
              <a:snd r:embed="rId5" name="wrong.wav"/>
            </a:hlinkClick>
          </p:cNvPr>
          <p:cNvSpPr/>
          <p:nvPr/>
        </p:nvSpPr>
        <p:spPr>
          <a:xfrm>
            <a:off x="9144000" y="4023360"/>
            <a:ext cx="868680" cy="868680"/>
          </a:xfrm>
          <a:prstGeom prst="ellipse">
            <a:avLst/>
          </a:prstGeom>
          <a:solidFill>
            <a:srgbClr val="FFFFFF"/>
          </a:solidFill>
          <a:ln/>
        </p:spPr>
        <p:txBody>
          <a:bodyPr/>
          <a:lstStyle/>
          <a:p>
            <a:endParaRPr lang="ar-OM"/>
          </a:p>
        </p:txBody>
      </p:sp>
      <p:pic>
        <p:nvPicPr>
          <p:cNvPr id="10" name="إجابة" descr="preencoded.png">
            <a:hlinkClick r:id="rId4" action="ppaction://hlinksldjump">
              <a:snd r:embed="rId5" name="wrong.wav"/>
            </a:hlinkClick>
          </p:cNvPr>
          <p:cNvPicPr>
            <a:picLocks noChangeAspect="1"/>
          </p:cNvPicPr>
          <p:nvPr/>
        </p:nvPicPr>
        <p:blipFill>
          <a:blip r:embed="rId6"/>
          <a:stretch>
            <a:fillRect/>
          </a:stretch>
        </p:blipFill>
        <p:spPr>
          <a:xfrm>
            <a:off x="9352483" y="4231843"/>
            <a:ext cx="451714" cy="451714"/>
          </a:xfrm>
          <a:prstGeom prst="rect">
            <a:avLst/>
          </a:prstGeom>
        </p:spPr>
      </p:pic>
      <p:sp>
        <p:nvSpPr>
          <p:cNvPr id="11" name="إجابة">
            <a:hlinkClick r:id="rId4" action="ppaction://hlinksldjump">
              <a:snd r:embed="rId5" name="wrong.wav"/>
            </a:hlinkClick>
          </p:cNvPr>
          <p:cNvSpPr txBox="1"/>
          <p:nvPr/>
        </p:nvSpPr>
        <p:spPr>
          <a:xfrm>
            <a:off x="6720840" y="3657600"/>
            <a:ext cx="2286000" cy="1600200"/>
          </a:xfrm>
          <a:prstGeom prst="rect">
            <a:avLst/>
          </a:prstGeom>
          <a:noFill/>
          <a:ln/>
        </p:spPr>
        <p:txBody>
          <a:bodyPr wrap="square" lIns="635" tIns="635" rIns="635" bIns="635" rtlCol="0" anchor="ctr"/>
          <a:lstStyle/>
          <a:p>
            <a:pPr marL="0" indent="0" algn="ctr" rtl="1">
              <a:buNone/>
            </a:pPr>
            <a:r>
              <a:rPr lang="ar-OM" altLang="en-US" sz="4400" b="1" dirty="0">
                <a:solidFill>
                  <a:srgbClr val="FFFFFF"/>
                </a:solidFill>
                <a:latin typeface="Arial" pitchFamily="34" charset="0"/>
                <a:ea typeface="Arial" pitchFamily="34" charset="-122"/>
                <a:cs typeface="Arial" pitchFamily="34" charset="-120"/>
              </a:rPr>
              <a:t>صح</a:t>
            </a:r>
            <a:endParaRPr lang="ar-OM" sz="4400" dirty="0"/>
          </a:p>
        </p:txBody>
      </p:sp>
      <p:sp>
        <p:nvSpPr>
          <p:cNvPr id="12" name="إجابة">
            <a:hlinkClick r:id="rId7" action="ppaction://hlinksldjump">
              <a:snd r:embed="rId8" name="correct.wav"/>
            </a:hlinkClick>
          </p:cNvPr>
          <p:cNvSpPr/>
          <p:nvPr/>
        </p:nvSpPr>
        <p:spPr>
          <a:xfrm>
            <a:off x="1691640" y="3657600"/>
            <a:ext cx="4023360" cy="1600200"/>
          </a:xfrm>
          <a:prstGeom prst="roundRect">
            <a:avLst>
              <a:gd name="adj" fmla="val 17143"/>
            </a:avLst>
          </a:prstGeom>
          <a:solidFill>
            <a:srgbClr val="E2453B"/>
          </a:solidFill>
          <a:ln w="38100">
            <a:solidFill>
              <a:srgbClr val="FFFFFF"/>
            </a:solidFill>
            <a:prstDash val="solid"/>
          </a:ln>
          <a:effectLst>
            <a:outerShdw blurRad="76200" dist="38100" dir="5400000" algn="bl" rotWithShape="0">
              <a:srgbClr val="000000">
                <a:alpha val="25000"/>
              </a:srgbClr>
            </a:outerShdw>
          </a:effectLst>
        </p:spPr>
        <p:txBody>
          <a:bodyPr/>
          <a:lstStyle/>
          <a:p>
            <a:endParaRPr lang="ar-OM"/>
          </a:p>
        </p:txBody>
      </p:sp>
      <p:sp>
        <p:nvSpPr>
          <p:cNvPr id="13" name="إجابة">
            <a:hlinkClick r:id="rId7" action="ppaction://hlinksldjump">
              <a:snd r:embed="rId8" name="correct.wav"/>
            </a:hlinkClick>
          </p:cNvPr>
          <p:cNvSpPr/>
          <p:nvPr/>
        </p:nvSpPr>
        <p:spPr>
          <a:xfrm>
            <a:off x="4389120" y="4023360"/>
            <a:ext cx="868680" cy="868680"/>
          </a:xfrm>
          <a:prstGeom prst="ellipse">
            <a:avLst/>
          </a:prstGeom>
          <a:solidFill>
            <a:srgbClr val="FFFFFF"/>
          </a:solidFill>
          <a:ln/>
        </p:spPr>
        <p:txBody>
          <a:bodyPr/>
          <a:lstStyle/>
          <a:p>
            <a:endParaRPr lang="ar-OM"/>
          </a:p>
        </p:txBody>
      </p:sp>
      <p:pic>
        <p:nvPicPr>
          <p:cNvPr id="14" name="إجابة" descr="preencoded.png">
            <a:hlinkClick r:id="rId7" action="ppaction://hlinksldjump">
              <a:snd r:embed="rId8" name="correct.wav"/>
            </a:hlinkClick>
          </p:cNvPr>
          <p:cNvPicPr>
            <a:picLocks noChangeAspect="1"/>
          </p:cNvPicPr>
          <p:nvPr/>
        </p:nvPicPr>
        <p:blipFill>
          <a:blip r:embed="rId9"/>
          <a:stretch>
            <a:fillRect/>
          </a:stretch>
        </p:blipFill>
        <p:spPr>
          <a:xfrm>
            <a:off x="4597603" y="4231843"/>
            <a:ext cx="451714" cy="451714"/>
          </a:xfrm>
          <a:prstGeom prst="rect">
            <a:avLst/>
          </a:prstGeom>
        </p:spPr>
      </p:pic>
      <p:sp>
        <p:nvSpPr>
          <p:cNvPr id="15" name="إجابة">
            <a:hlinkClick r:id="rId7" action="ppaction://hlinksldjump">
              <a:snd r:embed="rId8" name="correct.wav"/>
            </a:hlinkClick>
          </p:cNvPr>
          <p:cNvSpPr txBox="1"/>
          <p:nvPr/>
        </p:nvSpPr>
        <p:spPr>
          <a:xfrm>
            <a:off x="1965960" y="3657600"/>
            <a:ext cx="2286000" cy="1600200"/>
          </a:xfrm>
          <a:prstGeom prst="rect">
            <a:avLst/>
          </a:prstGeom>
          <a:noFill/>
          <a:ln/>
        </p:spPr>
        <p:txBody>
          <a:bodyPr wrap="square" lIns="635" tIns="635" rIns="635" bIns="635" rtlCol="0" anchor="ctr"/>
          <a:lstStyle/>
          <a:p>
            <a:pPr marL="0" indent="0" algn="ctr" rtl="1">
              <a:buNone/>
            </a:pPr>
            <a:r>
              <a:rPr lang="ar-OM" altLang="en-US" sz="4400" b="1" dirty="0">
                <a:solidFill>
                  <a:srgbClr val="FFFFFF"/>
                </a:solidFill>
                <a:latin typeface="Arial" pitchFamily="34" charset="0"/>
                <a:ea typeface="Arial" pitchFamily="34" charset="-122"/>
                <a:cs typeface="Arial" pitchFamily="34" charset="-120"/>
              </a:rPr>
              <a:t>خطأ</a:t>
            </a:r>
            <a:endParaRPr lang="ar-OM" sz="4400" dirty="0"/>
          </a:p>
        </p:txBody>
      </p:sp>
      <p:sp>
        <p:nvSpPr>
          <p:cNvPr id="16"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7" name="زر التالي" descr="preencoded.png">
            <a:hlinkClick r:id="" action="ppaction://hlinkshowjump?jump=nextslide"/>
          </p:cNvPr>
          <p:cNvPicPr>
            <a:picLocks noChangeAspect="1"/>
          </p:cNvPicPr>
          <p:nvPr/>
        </p:nvPicPr>
        <p:blipFill>
          <a:blip r:embed="rId10"/>
          <a:stretch>
            <a:fillRect/>
          </a:stretch>
        </p:blipFill>
        <p:spPr>
          <a:xfrm>
            <a:off x="612648" y="6208776"/>
            <a:ext cx="256032" cy="256032"/>
          </a:xfrm>
          <a:prstGeom prst="rect">
            <a:avLst/>
          </a:prstGeom>
        </p:spPr>
      </p:pic>
      <p:sp>
        <p:nvSpPr>
          <p:cNvPr id="18" name="زر انتقال">
            <a:hlinkClick r:id="rId11"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9" name="زر انتقال" descr="preencoded.png">
            <a:hlinkClick r:id="rId11" action="ppaction://hlinksldjump"/>
          </p:cNvPr>
          <p:cNvPicPr>
            <a:picLocks noChangeAspect="1"/>
          </p:cNvPicPr>
          <p:nvPr/>
        </p:nvPicPr>
        <p:blipFill>
          <a:blip r:embed="rId12"/>
          <a:stretch>
            <a:fillRect/>
          </a:stretch>
        </p:blipFill>
        <p:spPr>
          <a:xfrm>
            <a:off x="1316736" y="6208776"/>
            <a:ext cx="256032" cy="256032"/>
          </a:xfrm>
          <a:prstGeom prst="rect">
            <a:avLst/>
          </a:prstGeom>
        </p:spPr>
      </p:pic>
      <p:sp>
        <p:nvSpPr>
          <p:cNvPr id="20"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1" name="زر السابق" descr="preencoded.png">
            <a:hlinkClick r:id="" action="ppaction://hlinkshowjump?jump=previousslide"/>
          </p:cNvPr>
          <p:cNvPicPr>
            <a:picLocks noChangeAspect="1"/>
          </p:cNvPicPr>
          <p:nvPr/>
        </p:nvPicPr>
        <p:blipFill>
          <a:blip r:embed="rId13"/>
          <a:stretch>
            <a:fillRect/>
          </a:stretch>
        </p:blipFill>
        <p:spPr>
          <a:xfrm>
            <a:off x="2020824" y="6208776"/>
            <a:ext cx="256032" cy="2560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1A9BB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الحدود والنمط</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تنسيق الصورة</a:t>
            </a:r>
            <a:endParaRPr lang="ar-OM" sz="3200" dirty="0"/>
          </a:p>
        </p:txBody>
      </p:sp>
      <p:sp>
        <p:nvSpPr>
          <p:cNvPr id="5" name="Text 3"/>
          <p:cNvSpPr txBox="1"/>
          <p:nvPr/>
        </p:nvSpPr>
        <p:spPr>
          <a:xfrm>
            <a:off x="457200" y="1188720"/>
            <a:ext cx="11274552" cy="685800"/>
          </a:xfrm>
          <a:prstGeom prst="rect">
            <a:avLst/>
          </a:prstGeom>
          <a:noFill/>
          <a:ln/>
        </p:spPr>
        <p:txBody>
          <a:bodyPr wrap="square" lIns="635" tIns="635" rIns="635" bIns="635" rtlCol="0" anchor="ctr"/>
          <a:lstStyle/>
          <a:p>
            <a:pPr marL="0" indent="0" algn="r" rtl="1">
              <a:buNone/>
            </a:pPr>
            <a:r>
              <a:rPr lang="ar-OM" altLang="en-US" sz="2000" dirty="0">
                <a:solidFill>
                  <a:srgbClr val="1F2D3D"/>
                </a:solidFill>
                <a:latin typeface="Arial" pitchFamily="34" charset="0"/>
                <a:ea typeface="Arial" pitchFamily="34" charset="-122"/>
                <a:cs typeface="Arial" pitchFamily="34" charset="-120"/>
              </a:rPr>
              <a:t>يمكنُك تعديلُ الصورةِ بطرقٍ مختلفة، مثل: إضافة حدودٍ بألوانٍ مختلفة، أو تغيير موضعها، أو تغيير نمطها.</a:t>
            </a:r>
            <a:endParaRPr lang="ar-OM" sz="2000" dirty="0"/>
          </a:p>
        </p:txBody>
      </p:sp>
      <p:pic>
        <p:nvPicPr>
          <p:cNvPr id="6" name="img pf_ribbon.png" descr="a/pf_ribbon.png"/>
          <p:cNvPicPr>
            <a:picLocks noChangeAspect="1"/>
          </p:cNvPicPr>
          <p:nvPr/>
        </p:nvPicPr>
        <p:blipFill>
          <a:blip r:embed="rId3"/>
          <a:stretch>
            <a:fillRect/>
          </a:stretch>
        </p:blipFill>
        <p:spPr>
          <a:xfrm>
            <a:off x="457200" y="1975830"/>
            <a:ext cx="11274552" cy="2129100"/>
          </a:xfrm>
          <a:prstGeom prst="rect">
            <a:avLst/>
          </a:prstGeom>
          <a:effectLst>
            <a:outerShdw blurRad="76200" dist="38100" dir="5400000" algn="bl" rotWithShape="0">
              <a:srgbClr val="7A8CA0">
                <a:alpha val="35000"/>
              </a:srgbClr>
            </a:outerShdw>
          </a:effectLst>
        </p:spPr>
      </p:pic>
      <p:sp>
        <p:nvSpPr>
          <p:cNvPr id="7" name="marker 1"/>
          <p:cNvSpPr/>
          <p:nvPr/>
        </p:nvSpPr>
        <p:spPr>
          <a:xfrm>
            <a:off x="2666320" y="2975234"/>
            <a:ext cx="420624" cy="420624"/>
          </a:xfrm>
          <a:prstGeom prst="ellipse">
            <a:avLst/>
          </a:prstGeom>
          <a:solidFill>
            <a:srgbClr val="1A9BB0"/>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8" name="marker num 1"/>
          <p:cNvSpPr txBox="1"/>
          <p:nvPr/>
        </p:nvSpPr>
        <p:spPr>
          <a:xfrm>
            <a:off x="2666320" y="297523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marker 2"/>
          <p:cNvSpPr/>
          <p:nvPr/>
        </p:nvSpPr>
        <p:spPr>
          <a:xfrm>
            <a:off x="5472861" y="2588125"/>
            <a:ext cx="420624" cy="420624"/>
          </a:xfrm>
          <a:prstGeom prst="ellipse">
            <a:avLst/>
          </a:prstGeom>
          <a:solidFill>
            <a:srgbClr val="1A9BB0"/>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10" name="marker num 2"/>
          <p:cNvSpPr txBox="1"/>
          <p:nvPr/>
        </p:nvSpPr>
        <p:spPr>
          <a:xfrm>
            <a:off x="5472861" y="2588125"/>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marker 3"/>
          <p:cNvSpPr/>
          <p:nvPr/>
        </p:nvSpPr>
        <p:spPr>
          <a:xfrm>
            <a:off x="9343951" y="2854262"/>
            <a:ext cx="420624" cy="420624"/>
          </a:xfrm>
          <a:prstGeom prst="ellipse">
            <a:avLst/>
          </a:prstGeom>
          <a:solidFill>
            <a:srgbClr val="1A9BB0"/>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12" name="marker num 3"/>
          <p:cNvSpPr txBox="1"/>
          <p:nvPr/>
        </p:nvSpPr>
        <p:spPr>
          <a:xfrm>
            <a:off x="9343951" y="285426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card"/>
          <p:cNvSpPr/>
          <p:nvPr/>
        </p:nvSpPr>
        <p:spPr>
          <a:xfrm>
            <a:off x="8119872" y="4343400"/>
            <a:ext cx="3611880" cy="1508760"/>
          </a:xfrm>
          <a:prstGeom prst="roundRect">
            <a:avLst>
              <a:gd name="adj" fmla="val 10909"/>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4" name="Shape 11"/>
          <p:cNvSpPr/>
          <p:nvPr/>
        </p:nvSpPr>
        <p:spPr>
          <a:xfrm>
            <a:off x="11164824" y="4480560"/>
            <a:ext cx="420624" cy="420624"/>
          </a:xfrm>
          <a:prstGeom prst="ellipse">
            <a:avLst/>
          </a:prstGeom>
          <a:solidFill>
            <a:srgbClr val="1A9BB0"/>
          </a:solidFill>
          <a:ln/>
        </p:spPr>
        <p:txBody>
          <a:bodyPr/>
          <a:lstStyle/>
          <a:p>
            <a:endParaRPr lang="ar-OM"/>
          </a:p>
        </p:txBody>
      </p:sp>
      <p:sp>
        <p:nvSpPr>
          <p:cNvPr id="15" name="Text 12"/>
          <p:cNvSpPr txBox="1"/>
          <p:nvPr/>
        </p:nvSpPr>
        <p:spPr>
          <a:xfrm>
            <a:off x="11164824" y="448056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6" name="Text 13"/>
          <p:cNvSpPr txBox="1"/>
          <p:nvPr/>
        </p:nvSpPr>
        <p:spPr>
          <a:xfrm>
            <a:off x="8257032" y="4434840"/>
            <a:ext cx="2834640" cy="502920"/>
          </a:xfrm>
          <a:prstGeom prst="rect">
            <a:avLst/>
          </a:prstGeom>
          <a:noFill/>
          <a:ln/>
        </p:spPr>
        <p:txBody>
          <a:bodyPr wrap="square" lIns="635" tIns="635" rIns="635" bIns="635" rtlCol="0" anchor="ctr"/>
          <a:lstStyle/>
          <a:p>
            <a:pPr marL="0" indent="0" algn="r">
              <a:buNone/>
            </a:pPr>
            <a:r>
              <a:rPr lang="ar-OM" altLang="en-US" sz="1700" b="1" dirty="0">
                <a:solidFill>
                  <a:srgbClr val="0D3B66"/>
                </a:solidFill>
                <a:latin typeface="Arial" pitchFamily="34" charset="0"/>
                <a:ea typeface="Arial" pitchFamily="34" charset="-122"/>
                <a:cs typeface="Arial" pitchFamily="34" charset="-120"/>
              </a:rPr>
              <a:t>أنماط الصورة </a:t>
            </a:r>
            <a:r>
              <a:rPr lang="ar-OM" altLang="en-US" sz="1700" b="1" dirty="0">
                <a:solidFill>
                  <a:srgbClr val="0F7A8C"/>
                </a:solidFill>
                <a:latin typeface="Arial" pitchFamily="34" charset="0"/>
                <a:ea typeface="Arial" pitchFamily="34" charset="-122"/>
                <a:cs typeface="Arial" pitchFamily="34" charset="-120"/>
              </a:rPr>
              <a:t>(Picture Styles)</a:t>
            </a:r>
            <a:endParaRPr lang="ar-OM" sz="1700" dirty="0"/>
          </a:p>
        </p:txBody>
      </p:sp>
      <p:sp>
        <p:nvSpPr>
          <p:cNvPr id="17" name="Text 14"/>
          <p:cNvSpPr txBox="1"/>
          <p:nvPr/>
        </p:nvSpPr>
        <p:spPr>
          <a:xfrm>
            <a:off x="8257032" y="4983480"/>
            <a:ext cx="3337560" cy="777240"/>
          </a:xfrm>
          <a:prstGeom prst="rect">
            <a:avLst/>
          </a:prstGeom>
          <a:noFill/>
          <a:ln/>
        </p:spPr>
        <p:txBody>
          <a:bodyPr wrap="square" lIns="635" tIns="635" rIns="635" bIns="635" rtlCol="0" anchor="ctr"/>
          <a:lstStyle/>
          <a:p>
            <a:pPr marL="0" indent="0" algn="r" rtl="1">
              <a:buNone/>
            </a:pPr>
            <a:r>
              <a:rPr lang="ar-OM" altLang="en-US" sz="1600" dirty="0">
                <a:solidFill>
                  <a:srgbClr val="1F2D3D"/>
                </a:solidFill>
                <a:latin typeface="Arial" pitchFamily="34" charset="0"/>
                <a:ea typeface="Arial" pitchFamily="34" charset="-122"/>
                <a:cs typeface="Arial" pitchFamily="34" charset="-120"/>
              </a:rPr>
              <a:t>لتغييرِ مظهرِ الصورةِ العام.</a:t>
            </a:r>
            <a:endParaRPr lang="ar-OM" sz="1600" dirty="0"/>
          </a:p>
        </p:txBody>
      </p:sp>
      <p:sp>
        <p:nvSpPr>
          <p:cNvPr id="18" name="card"/>
          <p:cNvSpPr/>
          <p:nvPr/>
        </p:nvSpPr>
        <p:spPr>
          <a:xfrm>
            <a:off x="4288536" y="4343400"/>
            <a:ext cx="3611880" cy="1508760"/>
          </a:xfrm>
          <a:prstGeom prst="roundRect">
            <a:avLst>
              <a:gd name="adj" fmla="val 10909"/>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9" name="Shape 16"/>
          <p:cNvSpPr/>
          <p:nvPr/>
        </p:nvSpPr>
        <p:spPr>
          <a:xfrm>
            <a:off x="7333488" y="4480560"/>
            <a:ext cx="420624" cy="420624"/>
          </a:xfrm>
          <a:prstGeom prst="ellipse">
            <a:avLst/>
          </a:prstGeom>
          <a:solidFill>
            <a:srgbClr val="1A9BB0"/>
          </a:solidFill>
          <a:ln/>
        </p:spPr>
        <p:txBody>
          <a:bodyPr/>
          <a:lstStyle/>
          <a:p>
            <a:endParaRPr lang="ar-OM"/>
          </a:p>
        </p:txBody>
      </p:sp>
      <p:sp>
        <p:nvSpPr>
          <p:cNvPr id="20" name="Text 17"/>
          <p:cNvSpPr txBox="1"/>
          <p:nvPr/>
        </p:nvSpPr>
        <p:spPr>
          <a:xfrm>
            <a:off x="7333488" y="448056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1" name="Text 18"/>
          <p:cNvSpPr txBox="1"/>
          <p:nvPr/>
        </p:nvSpPr>
        <p:spPr>
          <a:xfrm>
            <a:off x="4425696" y="4434840"/>
            <a:ext cx="2834640" cy="502920"/>
          </a:xfrm>
          <a:prstGeom prst="rect">
            <a:avLst/>
          </a:prstGeom>
          <a:noFill/>
          <a:ln/>
        </p:spPr>
        <p:txBody>
          <a:bodyPr wrap="square" lIns="635" tIns="635" rIns="635" bIns="635" rtlCol="0" anchor="ctr"/>
          <a:lstStyle/>
          <a:p>
            <a:pPr marL="0" indent="0" algn="r">
              <a:buNone/>
            </a:pPr>
            <a:r>
              <a:rPr lang="ar-OM" altLang="en-US" sz="1700" b="1" dirty="0">
                <a:solidFill>
                  <a:srgbClr val="0D3B66"/>
                </a:solidFill>
                <a:latin typeface="Arial" pitchFamily="34" charset="0"/>
                <a:ea typeface="Arial" pitchFamily="34" charset="-122"/>
                <a:cs typeface="Arial" pitchFamily="34" charset="-120"/>
              </a:rPr>
              <a:t>حدود الصورة </a:t>
            </a:r>
            <a:r>
              <a:rPr lang="ar-OM" altLang="en-US" sz="1700" b="1" dirty="0">
                <a:solidFill>
                  <a:srgbClr val="0F7A8C"/>
                </a:solidFill>
                <a:latin typeface="Arial" pitchFamily="34" charset="0"/>
                <a:ea typeface="Arial" pitchFamily="34" charset="-122"/>
                <a:cs typeface="Arial" pitchFamily="34" charset="-120"/>
              </a:rPr>
              <a:t>(Picture Border)</a:t>
            </a:r>
            <a:endParaRPr lang="ar-OM" sz="1700" dirty="0"/>
          </a:p>
        </p:txBody>
      </p:sp>
      <p:sp>
        <p:nvSpPr>
          <p:cNvPr id="22" name="Text 19"/>
          <p:cNvSpPr txBox="1"/>
          <p:nvPr/>
        </p:nvSpPr>
        <p:spPr>
          <a:xfrm>
            <a:off x="4425696" y="4983480"/>
            <a:ext cx="3337560" cy="777240"/>
          </a:xfrm>
          <a:prstGeom prst="rect">
            <a:avLst/>
          </a:prstGeom>
          <a:noFill/>
          <a:ln/>
        </p:spPr>
        <p:txBody>
          <a:bodyPr wrap="square" lIns="635" tIns="635" rIns="635" bIns="635" rtlCol="0" anchor="ctr"/>
          <a:lstStyle/>
          <a:p>
            <a:pPr marL="0" indent="0" algn="r" rtl="1">
              <a:buNone/>
            </a:pPr>
            <a:r>
              <a:rPr lang="ar-OM" altLang="en-US" sz="1600" dirty="0">
                <a:solidFill>
                  <a:srgbClr val="1F2D3D"/>
                </a:solidFill>
                <a:latin typeface="Arial" pitchFamily="34" charset="0"/>
                <a:ea typeface="Arial" pitchFamily="34" charset="-122"/>
                <a:cs typeface="Arial" pitchFamily="34" charset="-120"/>
              </a:rPr>
              <a:t>لإضافةِ حدودٍ بألوانٍ وأحجامٍ وأنماطٍ مختلفة.</a:t>
            </a:r>
            <a:endParaRPr lang="ar-OM" sz="1600" dirty="0"/>
          </a:p>
        </p:txBody>
      </p:sp>
      <p:sp>
        <p:nvSpPr>
          <p:cNvPr id="23" name="card"/>
          <p:cNvSpPr/>
          <p:nvPr/>
        </p:nvSpPr>
        <p:spPr>
          <a:xfrm>
            <a:off x="457200" y="4343400"/>
            <a:ext cx="3611880" cy="1508760"/>
          </a:xfrm>
          <a:prstGeom prst="roundRect">
            <a:avLst>
              <a:gd name="adj" fmla="val 10909"/>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4" name="Shape 21"/>
          <p:cNvSpPr/>
          <p:nvPr/>
        </p:nvSpPr>
        <p:spPr>
          <a:xfrm>
            <a:off x="3502152" y="4480560"/>
            <a:ext cx="420624" cy="420624"/>
          </a:xfrm>
          <a:prstGeom prst="ellipse">
            <a:avLst/>
          </a:prstGeom>
          <a:solidFill>
            <a:srgbClr val="1A9BB0"/>
          </a:solidFill>
          <a:ln/>
        </p:spPr>
        <p:txBody>
          <a:bodyPr/>
          <a:lstStyle/>
          <a:p>
            <a:endParaRPr lang="ar-OM"/>
          </a:p>
        </p:txBody>
      </p:sp>
      <p:sp>
        <p:nvSpPr>
          <p:cNvPr id="25" name="Text 22"/>
          <p:cNvSpPr txBox="1"/>
          <p:nvPr/>
        </p:nvSpPr>
        <p:spPr>
          <a:xfrm>
            <a:off x="3502152" y="448056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6" name="Text 23"/>
          <p:cNvSpPr txBox="1"/>
          <p:nvPr/>
        </p:nvSpPr>
        <p:spPr>
          <a:xfrm>
            <a:off x="594360" y="4434840"/>
            <a:ext cx="2834640" cy="502920"/>
          </a:xfrm>
          <a:prstGeom prst="rect">
            <a:avLst/>
          </a:prstGeom>
          <a:noFill/>
          <a:ln/>
        </p:spPr>
        <p:txBody>
          <a:bodyPr wrap="square" lIns="635" tIns="635" rIns="635" bIns="635" rtlCol="0" anchor="ctr"/>
          <a:lstStyle/>
          <a:p>
            <a:pPr marL="0" indent="0" algn="r">
              <a:buNone/>
            </a:pPr>
            <a:r>
              <a:rPr lang="ar-OM" altLang="en-US" sz="1700" b="1" dirty="0">
                <a:solidFill>
                  <a:srgbClr val="0D3B66"/>
                </a:solidFill>
                <a:latin typeface="Arial" pitchFamily="34" charset="0"/>
                <a:ea typeface="Arial" pitchFamily="34" charset="-122"/>
                <a:cs typeface="Arial" pitchFamily="34" charset="-120"/>
              </a:rPr>
              <a:t>التفاف النص </a:t>
            </a:r>
            <a:r>
              <a:rPr lang="ar-OM" altLang="en-US" sz="1700" b="1" dirty="0">
                <a:solidFill>
                  <a:srgbClr val="0F7A8C"/>
                </a:solidFill>
                <a:latin typeface="Arial" pitchFamily="34" charset="0"/>
                <a:ea typeface="Arial" pitchFamily="34" charset="-122"/>
                <a:cs typeface="Arial" pitchFamily="34" charset="-120"/>
              </a:rPr>
              <a:t>(Wrap Text)</a:t>
            </a:r>
            <a:endParaRPr lang="ar-OM" sz="1700" dirty="0"/>
          </a:p>
        </p:txBody>
      </p:sp>
      <p:sp>
        <p:nvSpPr>
          <p:cNvPr id="27" name="Text 24"/>
          <p:cNvSpPr txBox="1"/>
          <p:nvPr/>
        </p:nvSpPr>
        <p:spPr>
          <a:xfrm>
            <a:off x="594360" y="4983480"/>
            <a:ext cx="3337560" cy="777240"/>
          </a:xfrm>
          <a:prstGeom prst="rect">
            <a:avLst/>
          </a:prstGeom>
          <a:noFill/>
          <a:ln/>
        </p:spPr>
        <p:txBody>
          <a:bodyPr wrap="square" lIns="635" tIns="635" rIns="635" bIns="635" rtlCol="0" anchor="ctr"/>
          <a:lstStyle/>
          <a:p>
            <a:pPr marL="0" indent="0" algn="r" rtl="1">
              <a:buNone/>
            </a:pPr>
            <a:r>
              <a:rPr lang="ar-OM" altLang="en-US" sz="1600" dirty="0">
                <a:solidFill>
                  <a:srgbClr val="1F2D3D"/>
                </a:solidFill>
                <a:latin typeface="Arial" pitchFamily="34" charset="0"/>
                <a:ea typeface="Arial" pitchFamily="34" charset="-122"/>
                <a:cs typeface="Arial" pitchFamily="34" charset="-120"/>
              </a:rPr>
              <a:t>للتحكّمِ بطريقةِ ظهورِ النصِّ حولَ الصورة.</a:t>
            </a:r>
            <a:endParaRPr lang="ar-OM" sz="1600" dirty="0"/>
          </a:p>
        </p:txBody>
      </p:sp>
      <p:sp>
        <p:nvSpPr>
          <p:cNvPr id="28"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9" name="زر التالي" descr="preencoded.png">
            <a:hlinkClick r:id="" action="ppaction://hlinkshowjump?jump=nextslide"/>
          </p:cNvPr>
          <p:cNvPicPr>
            <a:picLocks noChangeAspect="1"/>
          </p:cNvPicPr>
          <p:nvPr/>
        </p:nvPicPr>
        <p:blipFill>
          <a:blip r:embed="rId4"/>
          <a:stretch>
            <a:fillRect/>
          </a:stretch>
        </p:blipFill>
        <p:spPr>
          <a:xfrm>
            <a:off x="612648" y="6208776"/>
            <a:ext cx="256032" cy="256032"/>
          </a:xfrm>
          <a:prstGeom prst="rect">
            <a:avLst/>
          </a:prstGeom>
        </p:spPr>
      </p:pic>
      <p:sp>
        <p:nvSpPr>
          <p:cNvPr id="30" name="زر انتقال">
            <a:hlinkClick r:id="rId5"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1" name="زر انتقال" descr="preencoded.png">
            <a:hlinkClick r:id="rId5" action="ppaction://hlinksldjump"/>
          </p:cNvPr>
          <p:cNvPicPr>
            <a:picLocks noChangeAspect="1"/>
          </p:cNvPicPr>
          <p:nvPr/>
        </p:nvPicPr>
        <p:blipFill>
          <a:blip r:embed="rId6"/>
          <a:stretch>
            <a:fillRect/>
          </a:stretch>
        </p:blipFill>
        <p:spPr>
          <a:xfrm>
            <a:off x="1316736" y="6208776"/>
            <a:ext cx="256032" cy="256032"/>
          </a:xfrm>
          <a:prstGeom prst="rect">
            <a:avLst/>
          </a:prstGeom>
        </p:spPr>
      </p:pic>
      <p:sp>
        <p:nvSpPr>
          <p:cNvPr id="32"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3" name="زر السابق" descr="preencoded.png">
            <a:hlinkClick r:id="" action="ppaction://hlinkshowjump?jump=previousslide"/>
          </p:cNvPr>
          <p:cNvPicPr>
            <a:picLocks noChangeAspect="1"/>
          </p:cNvPicPr>
          <p:nvPr/>
        </p:nvPicPr>
        <p:blipFill>
          <a:blip r:embed="rId7"/>
          <a:stretch>
            <a:fillRect/>
          </a:stretch>
        </p:blipFill>
        <p:spPr>
          <a:xfrm>
            <a:off x="2020824" y="6208776"/>
            <a:ext cx="256032" cy="2560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1A9BB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الحدود والنمط</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حدود الصورة</a:t>
            </a:r>
            <a:endParaRPr lang="ar-OM" sz="3200" dirty="0"/>
          </a:p>
        </p:txBody>
      </p:sp>
      <p:pic>
        <p:nvPicPr>
          <p:cNvPr id="5" name="img border_menu.png" descr="a/border_menu.png"/>
          <p:cNvPicPr>
            <a:picLocks noChangeAspect="1"/>
          </p:cNvPicPr>
          <p:nvPr/>
        </p:nvPicPr>
        <p:blipFill>
          <a:blip r:embed="rId3"/>
          <a:stretch>
            <a:fillRect/>
          </a:stretch>
        </p:blipFill>
        <p:spPr>
          <a:xfrm>
            <a:off x="457200" y="1282334"/>
            <a:ext cx="2377440" cy="4521932"/>
          </a:xfrm>
          <a:prstGeom prst="rect">
            <a:avLst/>
          </a:prstGeom>
          <a:effectLst>
            <a:outerShdw blurRad="76200" dist="38100" dir="5400000" algn="bl" rotWithShape="0">
              <a:srgbClr val="7A8CA0">
                <a:alpha val="35000"/>
              </a:srgbClr>
            </a:outerShdw>
          </a:effectLst>
        </p:spPr>
      </p:pic>
      <p:sp>
        <p:nvSpPr>
          <p:cNvPr id="6" name="marker 2"/>
          <p:cNvSpPr/>
          <p:nvPr/>
        </p:nvSpPr>
        <p:spPr>
          <a:xfrm>
            <a:off x="760744" y="1551621"/>
            <a:ext cx="420624" cy="420624"/>
          </a:xfrm>
          <a:prstGeom prst="ellipse">
            <a:avLst/>
          </a:prstGeom>
          <a:solidFill>
            <a:srgbClr val="1A9BB0"/>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7" name="marker num 2"/>
          <p:cNvSpPr txBox="1"/>
          <p:nvPr/>
        </p:nvSpPr>
        <p:spPr>
          <a:xfrm>
            <a:off x="760744" y="1551621"/>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marker 3"/>
          <p:cNvSpPr/>
          <p:nvPr/>
        </p:nvSpPr>
        <p:spPr>
          <a:xfrm>
            <a:off x="2473597" y="2387493"/>
            <a:ext cx="420624" cy="420624"/>
          </a:xfrm>
          <a:prstGeom prst="ellipse">
            <a:avLst/>
          </a:prstGeom>
          <a:solidFill>
            <a:srgbClr val="1A9BB0"/>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9" name="marker num 3"/>
          <p:cNvSpPr txBox="1"/>
          <p:nvPr/>
        </p:nvSpPr>
        <p:spPr>
          <a:xfrm>
            <a:off x="2473597" y="2387493"/>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pic>
        <p:nvPicPr>
          <p:cNvPr id="10" name="arrow" descr="preencoded.png"/>
          <p:cNvPicPr>
            <a:picLocks noChangeAspect="1"/>
          </p:cNvPicPr>
          <p:nvPr/>
        </p:nvPicPr>
        <p:blipFill>
          <a:blip r:embed="rId4"/>
          <a:stretch>
            <a:fillRect/>
          </a:stretch>
        </p:blipFill>
        <p:spPr>
          <a:xfrm>
            <a:off x="3063240" y="3108960"/>
            <a:ext cx="457200" cy="457200"/>
          </a:xfrm>
          <a:prstGeom prst="rect">
            <a:avLst/>
          </a:prstGeom>
        </p:spPr>
      </p:pic>
      <p:pic>
        <p:nvPicPr>
          <p:cNvPr id="11" name="img border_res.png" descr="a/border_res.png"/>
          <p:cNvPicPr>
            <a:picLocks noChangeAspect="1"/>
          </p:cNvPicPr>
          <p:nvPr/>
        </p:nvPicPr>
        <p:blipFill>
          <a:blip r:embed="rId5"/>
          <a:stretch>
            <a:fillRect/>
          </a:stretch>
        </p:blipFill>
        <p:spPr>
          <a:xfrm>
            <a:off x="3703320" y="2425901"/>
            <a:ext cx="2514600" cy="1640438"/>
          </a:xfrm>
          <a:prstGeom prst="rect">
            <a:avLst/>
          </a:prstGeom>
          <a:effectLst>
            <a:outerShdw blurRad="76200" dist="38100" dir="5400000" algn="bl" rotWithShape="0">
              <a:srgbClr val="7A8CA0">
                <a:alpha val="35000"/>
              </a:srgbClr>
            </a:outerShdw>
          </a:effectLst>
        </p:spPr>
      </p:pic>
      <p:sp>
        <p:nvSpPr>
          <p:cNvPr id="12" name="Text 7"/>
          <p:cNvSpPr txBox="1"/>
          <p:nvPr/>
        </p:nvSpPr>
        <p:spPr>
          <a:xfrm>
            <a:off x="3703320" y="4663440"/>
            <a:ext cx="2514600" cy="411480"/>
          </a:xfrm>
          <a:prstGeom prst="rect">
            <a:avLst/>
          </a:prstGeom>
          <a:noFill/>
          <a:ln/>
        </p:spPr>
        <p:txBody>
          <a:bodyPr wrap="square" lIns="635" tIns="635" rIns="635" bIns="635" rtlCol="0" anchor="ctr"/>
          <a:lstStyle/>
          <a:p>
            <a:pPr marL="0" indent="0" algn="ctr" rtl="1">
              <a:buNone/>
            </a:pPr>
            <a:r>
              <a:rPr lang="ar-OM" altLang="en-US" sz="1500" b="1" dirty="0">
                <a:solidFill>
                  <a:srgbClr val="0F7A8C"/>
                </a:solidFill>
                <a:latin typeface="Arial" pitchFamily="34" charset="0"/>
                <a:ea typeface="Arial" pitchFamily="34" charset="-122"/>
                <a:cs typeface="Arial" pitchFamily="34" charset="-120"/>
              </a:rPr>
              <a:t>النتيجة: حدود خضراء</a:t>
            </a:r>
            <a:endParaRPr lang="ar-OM" sz="1500" dirty="0"/>
          </a:p>
        </p:txBody>
      </p:sp>
      <p:sp>
        <p:nvSpPr>
          <p:cNvPr id="13" name="step card"/>
          <p:cNvSpPr/>
          <p:nvPr/>
        </p:nvSpPr>
        <p:spPr>
          <a:xfrm>
            <a:off x="6492240" y="1280160"/>
            <a:ext cx="5239512" cy="1051560"/>
          </a:xfrm>
          <a:prstGeom prst="roundRect">
            <a:avLst>
              <a:gd name="adj" fmla="val 13043"/>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4" name="step num"/>
          <p:cNvSpPr/>
          <p:nvPr/>
        </p:nvSpPr>
        <p:spPr>
          <a:xfrm>
            <a:off x="11055096" y="1549908"/>
            <a:ext cx="512064" cy="512064"/>
          </a:xfrm>
          <a:prstGeom prst="ellipse">
            <a:avLst/>
          </a:prstGeom>
          <a:solidFill>
            <a:srgbClr val="1A9BB0"/>
          </a:solidFill>
          <a:ln/>
        </p:spPr>
        <p:txBody>
          <a:bodyPr/>
          <a:lstStyle/>
          <a:p>
            <a:endParaRPr lang="ar-OM"/>
          </a:p>
        </p:txBody>
      </p:sp>
      <p:sp>
        <p:nvSpPr>
          <p:cNvPr id="15" name="Text 10"/>
          <p:cNvSpPr txBox="1"/>
          <p:nvPr/>
        </p:nvSpPr>
        <p:spPr>
          <a:xfrm>
            <a:off x="11055096" y="154990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6" name="Text 11"/>
          <p:cNvSpPr txBox="1"/>
          <p:nvPr/>
        </p:nvSpPr>
        <p:spPr>
          <a:xfrm>
            <a:off x="6675120" y="1316736"/>
            <a:ext cx="4270248" cy="978408"/>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حدِّدِ الصورة.</a:t>
            </a:r>
            <a:endParaRPr lang="ar-OM" sz="1700" dirty="0"/>
          </a:p>
        </p:txBody>
      </p:sp>
      <p:sp>
        <p:nvSpPr>
          <p:cNvPr id="17" name="step card"/>
          <p:cNvSpPr/>
          <p:nvPr/>
        </p:nvSpPr>
        <p:spPr>
          <a:xfrm>
            <a:off x="6492240" y="2468880"/>
            <a:ext cx="5239512" cy="1051560"/>
          </a:xfrm>
          <a:prstGeom prst="roundRect">
            <a:avLst>
              <a:gd name="adj" fmla="val 13043"/>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8" name="step num"/>
          <p:cNvSpPr/>
          <p:nvPr/>
        </p:nvSpPr>
        <p:spPr>
          <a:xfrm>
            <a:off x="11055096" y="2738628"/>
            <a:ext cx="512064" cy="512064"/>
          </a:xfrm>
          <a:prstGeom prst="ellipse">
            <a:avLst/>
          </a:prstGeom>
          <a:solidFill>
            <a:srgbClr val="1A9BB0"/>
          </a:solidFill>
          <a:ln/>
        </p:spPr>
        <p:txBody>
          <a:bodyPr/>
          <a:lstStyle/>
          <a:p>
            <a:endParaRPr lang="ar-OM"/>
          </a:p>
        </p:txBody>
      </p:sp>
      <p:sp>
        <p:nvSpPr>
          <p:cNvPr id="19" name="Text 14"/>
          <p:cNvSpPr txBox="1"/>
          <p:nvPr/>
        </p:nvSpPr>
        <p:spPr>
          <a:xfrm>
            <a:off x="11055096" y="273862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20" name="Text 15"/>
          <p:cNvSpPr txBox="1"/>
          <p:nvPr/>
        </p:nvSpPr>
        <p:spPr>
          <a:xfrm>
            <a:off x="6675120" y="2505456"/>
            <a:ext cx="4270248" cy="978408"/>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انقرْ خيارَ حدود الصورة </a:t>
            </a:r>
            <a:r>
              <a:rPr lang="ar-OM" altLang="en-US" sz="1700" b="1" dirty="0">
                <a:solidFill>
                  <a:srgbClr val="0F7A8C"/>
                </a:solidFill>
                <a:latin typeface="Arial" pitchFamily="34" charset="0"/>
                <a:ea typeface="Arial" pitchFamily="34" charset="-122"/>
                <a:cs typeface="Arial" pitchFamily="34" charset="-120"/>
              </a:rPr>
              <a:t>(Picture Border)</a:t>
            </a:r>
            <a:r>
              <a:rPr lang="ar-OM" altLang="en-US" sz="1700" dirty="0">
                <a:solidFill>
                  <a:srgbClr val="1F2D3D"/>
                </a:solidFill>
                <a:latin typeface="Arial" pitchFamily="34" charset="0"/>
                <a:ea typeface="Arial" pitchFamily="34" charset="-122"/>
                <a:cs typeface="Arial" pitchFamily="34" charset="-120"/>
              </a:rPr>
              <a:t> في مجموعة أنماط الصورة، من تبويب تنسيق الصورة </a:t>
            </a:r>
            <a:r>
              <a:rPr lang="ar-OM" altLang="en-US" sz="1700" b="1" dirty="0">
                <a:solidFill>
                  <a:srgbClr val="0F7A8C"/>
                </a:solidFill>
                <a:latin typeface="Arial" pitchFamily="34" charset="0"/>
                <a:ea typeface="Arial" pitchFamily="34" charset="-122"/>
                <a:cs typeface="Arial" pitchFamily="34" charset="-120"/>
              </a:rPr>
              <a:t>(Picture Format)</a:t>
            </a:r>
            <a:endParaRPr lang="ar-OM" sz="1700" dirty="0"/>
          </a:p>
        </p:txBody>
      </p:sp>
      <p:sp>
        <p:nvSpPr>
          <p:cNvPr id="21" name="step card"/>
          <p:cNvSpPr/>
          <p:nvPr/>
        </p:nvSpPr>
        <p:spPr>
          <a:xfrm>
            <a:off x="6492240" y="3657600"/>
            <a:ext cx="5239512" cy="1051560"/>
          </a:xfrm>
          <a:prstGeom prst="roundRect">
            <a:avLst>
              <a:gd name="adj" fmla="val 13043"/>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2" name="step num"/>
          <p:cNvSpPr/>
          <p:nvPr/>
        </p:nvSpPr>
        <p:spPr>
          <a:xfrm>
            <a:off x="11055096" y="3927348"/>
            <a:ext cx="512064" cy="512064"/>
          </a:xfrm>
          <a:prstGeom prst="ellipse">
            <a:avLst/>
          </a:prstGeom>
          <a:solidFill>
            <a:srgbClr val="1A9BB0"/>
          </a:solidFill>
          <a:ln/>
        </p:spPr>
        <p:txBody>
          <a:bodyPr/>
          <a:lstStyle/>
          <a:p>
            <a:endParaRPr lang="ar-OM"/>
          </a:p>
        </p:txBody>
      </p:sp>
      <p:sp>
        <p:nvSpPr>
          <p:cNvPr id="23" name="Text 18"/>
          <p:cNvSpPr txBox="1"/>
          <p:nvPr/>
        </p:nvSpPr>
        <p:spPr>
          <a:xfrm>
            <a:off x="11055096" y="392734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4" name="Text 19"/>
          <p:cNvSpPr txBox="1"/>
          <p:nvPr/>
        </p:nvSpPr>
        <p:spPr>
          <a:xfrm>
            <a:off x="6675120" y="3694176"/>
            <a:ext cx="4270248" cy="978408"/>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اخترِ اللونَ الذي يناسبُك للحدود، وليكن أخضر.</a:t>
            </a:r>
            <a:endParaRPr lang="ar-OM" sz="1700" dirty="0"/>
          </a:p>
        </p:txBody>
      </p:sp>
      <p:sp>
        <p:nvSpPr>
          <p:cNvPr id="25" name="tip"/>
          <p:cNvSpPr/>
          <p:nvPr/>
        </p:nvSpPr>
        <p:spPr>
          <a:xfrm>
            <a:off x="6492240" y="4846320"/>
            <a:ext cx="5239512" cy="960120"/>
          </a:xfrm>
          <a:prstGeom prst="roundRect">
            <a:avLst>
              <a:gd name="adj" fmla="val 14286"/>
            </a:avLst>
          </a:prstGeom>
          <a:solidFill>
            <a:srgbClr val="DDF4F8"/>
          </a:solidFill>
          <a:ln/>
        </p:spPr>
        <p:txBody>
          <a:bodyPr/>
          <a:lstStyle/>
          <a:p>
            <a:endParaRPr lang="ar-OM"/>
          </a:p>
        </p:txBody>
      </p:sp>
      <p:sp>
        <p:nvSpPr>
          <p:cNvPr id="26" name="icon bg"/>
          <p:cNvSpPr/>
          <p:nvPr/>
        </p:nvSpPr>
        <p:spPr>
          <a:xfrm>
            <a:off x="11045952" y="5074920"/>
            <a:ext cx="502920" cy="502920"/>
          </a:xfrm>
          <a:prstGeom prst="ellipse">
            <a:avLst/>
          </a:prstGeom>
          <a:solidFill>
            <a:srgbClr val="1A9BB0"/>
          </a:solidFill>
          <a:ln/>
        </p:spPr>
        <p:txBody>
          <a:bodyPr/>
          <a:lstStyle/>
          <a:p>
            <a:endParaRPr lang="ar-OM"/>
          </a:p>
        </p:txBody>
      </p:sp>
      <p:pic>
        <p:nvPicPr>
          <p:cNvPr id="27" name="icon" descr="preencoded.png"/>
          <p:cNvPicPr>
            <a:picLocks noChangeAspect="1"/>
          </p:cNvPicPr>
          <p:nvPr/>
        </p:nvPicPr>
        <p:blipFill>
          <a:blip r:embed="rId6"/>
          <a:stretch>
            <a:fillRect/>
          </a:stretch>
        </p:blipFill>
        <p:spPr>
          <a:xfrm>
            <a:off x="11166653" y="5195621"/>
            <a:ext cx="261518" cy="261518"/>
          </a:xfrm>
          <a:prstGeom prst="rect">
            <a:avLst/>
          </a:prstGeom>
        </p:spPr>
      </p:pic>
      <p:sp>
        <p:nvSpPr>
          <p:cNvPr id="28" name="Text 22"/>
          <p:cNvSpPr txBox="1"/>
          <p:nvPr/>
        </p:nvSpPr>
        <p:spPr>
          <a:xfrm>
            <a:off x="6675120" y="4846320"/>
            <a:ext cx="4279392" cy="960120"/>
          </a:xfrm>
          <a:prstGeom prst="rect">
            <a:avLst/>
          </a:prstGeom>
          <a:noFill/>
          <a:ln/>
        </p:spPr>
        <p:txBody>
          <a:bodyPr wrap="square" lIns="635" tIns="635" rIns="635" bIns="635" rtlCol="0" anchor="ctr"/>
          <a:lstStyle/>
          <a:p>
            <a:pPr marL="0" indent="0" algn="r" rtl="1">
              <a:buNone/>
            </a:pPr>
            <a:r>
              <a:rPr lang="ar-OM" altLang="en-US" sz="1700" dirty="0">
                <a:solidFill>
                  <a:srgbClr val="1F2D3D"/>
                </a:solidFill>
                <a:latin typeface="Arial" pitchFamily="34" charset="0"/>
                <a:ea typeface="Arial" pitchFamily="34" charset="-122"/>
                <a:cs typeface="Arial" pitchFamily="34" charset="-120"/>
              </a:rPr>
              <a:t>لتغييرِ سُمكِ الحدود: افتحِ القائمةَ المنسدلةَ واخترِ السماكة (Weight).</a:t>
            </a:r>
            <a:endParaRPr lang="ar-OM" sz="1700" dirty="0"/>
          </a:p>
        </p:txBody>
      </p:sp>
      <p:sp>
        <p:nvSpPr>
          <p:cNvPr id="29"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0" name="زر التالي" descr="preencoded.png">
            <a:hlinkClick r:id="" action="ppaction://hlinkshowjump?jump=nextslide"/>
          </p:cNvPr>
          <p:cNvPicPr>
            <a:picLocks noChangeAspect="1"/>
          </p:cNvPicPr>
          <p:nvPr/>
        </p:nvPicPr>
        <p:blipFill>
          <a:blip r:embed="rId7"/>
          <a:stretch>
            <a:fillRect/>
          </a:stretch>
        </p:blipFill>
        <p:spPr>
          <a:xfrm>
            <a:off x="612648" y="6208776"/>
            <a:ext cx="256032" cy="256032"/>
          </a:xfrm>
          <a:prstGeom prst="rect">
            <a:avLst/>
          </a:prstGeom>
        </p:spPr>
      </p:pic>
      <p:sp>
        <p:nvSpPr>
          <p:cNvPr id="31" name="زر انتقال">
            <a:hlinkClick r:id="rId8"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2" name="زر انتقال" descr="preencoded.png">
            <a:hlinkClick r:id="rId8" action="ppaction://hlinksldjump"/>
          </p:cNvPr>
          <p:cNvPicPr>
            <a:picLocks noChangeAspect="1"/>
          </p:cNvPicPr>
          <p:nvPr/>
        </p:nvPicPr>
        <p:blipFill>
          <a:blip r:embed="rId9"/>
          <a:stretch>
            <a:fillRect/>
          </a:stretch>
        </p:blipFill>
        <p:spPr>
          <a:xfrm>
            <a:off x="1316736" y="6208776"/>
            <a:ext cx="256032" cy="256032"/>
          </a:xfrm>
          <a:prstGeom prst="rect">
            <a:avLst/>
          </a:prstGeom>
        </p:spPr>
      </p:pic>
      <p:sp>
        <p:nvSpPr>
          <p:cNvPr id="33"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4" name="زر السابق" descr="preencoded.png">
            <a:hlinkClick r:id="" action="ppaction://hlinkshowjump?jump=previousslide"/>
          </p:cNvPr>
          <p:cNvPicPr>
            <a:picLocks noChangeAspect="1"/>
          </p:cNvPicPr>
          <p:nvPr/>
        </p:nvPicPr>
        <p:blipFill>
          <a:blip r:embed="rId10"/>
          <a:stretch>
            <a:fillRect/>
          </a:stretch>
        </p:blipFill>
        <p:spPr>
          <a:xfrm>
            <a:off x="2020824" y="6208776"/>
            <a:ext cx="256032" cy="2560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1A9BB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الحدود والنمط</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نمط الصورة</a:t>
            </a:r>
            <a:endParaRPr lang="ar-OM" sz="3200" dirty="0"/>
          </a:p>
        </p:txBody>
      </p:sp>
      <p:pic>
        <p:nvPicPr>
          <p:cNvPr id="5" name="img styles_gal.png" descr="a/styles_gal.png"/>
          <p:cNvPicPr>
            <a:picLocks noChangeAspect="1"/>
          </p:cNvPicPr>
          <p:nvPr/>
        </p:nvPicPr>
        <p:blipFill>
          <a:blip r:embed="rId3"/>
          <a:stretch>
            <a:fillRect/>
          </a:stretch>
        </p:blipFill>
        <p:spPr>
          <a:xfrm>
            <a:off x="457200" y="1722075"/>
            <a:ext cx="3017520" cy="3642450"/>
          </a:xfrm>
          <a:prstGeom prst="rect">
            <a:avLst/>
          </a:prstGeom>
          <a:effectLst>
            <a:outerShdw blurRad="76200" dist="38100" dir="5400000" algn="bl" rotWithShape="0">
              <a:srgbClr val="7A8CA0">
                <a:alpha val="35000"/>
              </a:srgbClr>
            </a:outerShdw>
          </a:effectLst>
        </p:spPr>
      </p:pic>
      <p:sp>
        <p:nvSpPr>
          <p:cNvPr id="6" name="marker 3"/>
          <p:cNvSpPr/>
          <p:nvPr/>
        </p:nvSpPr>
        <p:spPr>
          <a:xfrm>
            <a:off x="2362723" y="3011595"/>
            <a:ext cx="420624" cy="420624"/>
          </a:xfrm>
          <a:prstGeom prst="ellipse">
            <a:avLst/>
          </a:prstGeom>
          <a:solidFill>
            <a:srgbClr val="1A9BB0"/>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7" name="marker num 3"/>
          <p:cNvSpPr txBox="1"/>
          <p:nvPr/>
        </p:nvSpPr>
        <p:spPr>
          <a:xfrm>
            <a:off x="2362723" y="3011595"/>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pic>
        <p:nvPicPr>
          <p:cNvPr id="8" name="arrow" descr="preencoded.png"/>
          <p:cNvPicPr>
            <a:picLocks noChangeAspect="1"/>
          </p:cNvPicPr>
          <p:nvPr/>
        </p:nvPicPr>
        <p:blipFill>
          <a:blip r:embed="rId4"/>
          <a:stretch>
            <a:fillRect/>
          </a:stretch>
        </p:blipFill>
        <p:spPr>
          <a:xfrm>
            <a:off x="3611880" y="3154680"/>
            <a:ext cx="411480" cy="411480"/>
          </a:xfrm>
          <a:prstGeom prst="rect">
            <a:avLst/>
          </a:prstGeom>
        </p:spPr>
      </p:pic>
      <p:pic>
        <p:nvPicPr>
          <p:cNvPr id="9" name="img styled.png" descr="a/styled.png"/>
          <p:cNvPicPr>
            <a:picLocks noChangeAspect="1"/>
          </p:cNvPicPr>
          <p:nvPr/>
        </p:nvPicPr>
        <p:blipFill>
          <a:blip r:embed="rId5"/>
          <a:stretch>
            <a:fillRect/>
          </a:stretch>
        </p:blipFill>
        <p:spPr>
          <a:xfrm>
            <a:off x="4114800" y="2337347"/>
            <a:ext cx="2194560" cy="1451786"/>
          </a:xfrm>
          <a:prstGeom prst="rect">
            <a:avLst/>
          </a:prstGeom>
        </p:spPr>
      </p:pic>
      <p:sp>
        <p:nvSpPr>
          <p:cNvPr id="10" name="Text 5"/>
          <p:cNvSpPr txBox="1"/>
          <p:nvPr/>
        </p:nvSpPr>
        <p:spPr>
          <a:xfrm>
            <a:off x="3977640" y="4069080"/>
            <a:ext cx="2468880" cy="411480"/>
          </a:xfrm>
          <a:prstGeom prst="rect">
            <a:avLst/>
          </a:prstGeom>
          <a:noFill/>
          <a:ln/>
        </p:spPr>
        <p:txBody>
          <a:bodyPr wrap="square" lIns="635" tIns="635" rIns="635" bIns="635" rtlCol="0" anchor="ctr"/>
          <a:lstStyle/>
          <a:p>
            <a:pPr marL="0" indent="0" algn="ctr" rtl="1">
              <a:buNone/>
            </a:pPr>
            <a:r>
              <a:rPr lang="ar-OM" altLang="en-US" sz="1500" b="1" dirty="0">
                <a:solidFill>
                  <a:srgbClr val="0F7A8C"/>
                </a:solidFill>
                <a:latin typeface="Arial" pitchFamily="34" charset="0"/>
                <a:ea typeface="Arial" pitchFamily="34" charset="-122"/>
                <a:cs typeface="Arial" pitchFamily="34" charset="-120"/>
              </a:rPr>
              <a:t>النتيجة: زوايا دائرية وظل</a:t>
            </a:r>
            <a:endParaRPr lang="ar-OM" sz="1500" dirty="0"/>
          </a:p>
        </p:txBody>
      </p:sp>
      <p:sp>
        <p:nvSpPr>
          <p:cNvPr id="11" name="step card"/>
          <p:cNvSpPr/>
          <p:nvPr/>
        </p:nvSpPr>
        <p:spPr>
          <a:xfrm>
            <a:off x="6492240" y="1280160"/>
            <a:ext cx="5239512" cy="1051560"/>
          </a:xfrm>
          <a:prstGeom prst="roundRect">
            <a:avLst>
              <a:gd name="adj" fmla="val 13043"/>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2" name="step num"/>
          <p:cNvSpPr/>
          <p:nvPr/>
        </p:nvSpPr>
        <p:spPr>
          <a:xfrm>
            <a:off x="11055096" y="1549908"/>
            <a:ext cx="512064" cy="512064"/>
          </a:xfrm>
          <a:prstGeom prst="ellipse">
            <a:avLst/>
          </a:prstGeom>
          <a:solidFill>
            <a:srgbClr val="1A9BB0"/>
          </a:solidFill>
          <a:ln/>
        </p:spPr>
        <p:txBody>
          <a:bodyPr/>
          <a:lstStyle/>
          <a:p>
            <a:endParaRPr lang="ar-OM"/>
          </a:p>
        </p:txBody>
      </p:sp>
      <p:sp>
        <p:nvSpPr>
          <p:cNvPr id="13" name="Text 8"/>
          <p:cNvSpPr txBox="1"/>
          <p:nvPr/>
        </p:nvSpPr>
        <p:spPr>
          <a:xfrm>
            <a:off x="11055096" y="154990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4" name="Text 9"/>
          <p:cNvSpPr txBox="1"/>
          <p:nvPr/>
        </p:nvSpPr>
        <p:spPr>
          <a:xfrm>
            <a:off x="6675120" y="1316736"/>
            <a:ext cx="4270248" cy="978408"/>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حدِّدِ الصورة.</a:t>
            </a:r>
            <a:endParaRPr lang="ar-OM" sz="1700" dirty="0"/>
          </a:p>
        </p:txBody>
      </p:sp>
      <p:sp>
        <p:nvSpPr>
          <p:cNvPr id="15" name="step card"/>
          <p:cNvSpPr/>
          <p:nvPr/>
        </p:nvSpPr>
        <p:spPr>
          <a:xfrm>
            <a:off x="6492240" y="2468880"/>
            <a:ext cx="5239512" cy="1051560"/>
          </a:xfrm>
          <a:prstGeom prst="roundRect">
            <a:avLst>
              <a:gd name="adj" fmla="val 13043"/>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6" name="step num"/>
          <p:cNvSpPr/>
          <p:nvPr/>
        </p:nvSpPr>
        <p:spPr>
          <a:xfrm>
            <a:off x="11055096" y="2738628"/>
            <a:ext cx="512064" cy="512064"/>
          </a:xfrm>
          <a:prstGeom prst="ellipse">
            <a:avLst/>
          </a:prstGeom>
          <a:solidFill>
            <a:srgbClr val="1A9BB0"/>
          </a:solidFill>
          <a:ln/>
        </p:spPr>
        <p:txBody>
          <a:bodyPr/>
          <a:lstStyle/>
          <a:p>
            <a:endParaRPr lang="ar-OM"/>
          </a:p>
        </p:txBody>
      </p:sp>
      <p:sp>
        <p:nvSpPr>
          <p:cNvPr id="17" name="Text 12"/>
          <p:cNvSpPr txBox="1"/>
          <p:nvPr/>
        </p:nvSpPr>
        <p:spPr>
          <a:xfrm>
            <a:off x="11055096" y="273862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8" name="Text 13"/>
          <p:cNvSpPr txBox="1"/>
          <p:nvPr/>
        </p:nvSpPr>
        <p:spPr>
          <a:xfrm>
            <a:off x="6675120" y="2505456"/>
            <a:ext cx="4270248" cy="978408"/>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انقرْ خيارَ أنماط الصورة في مجموعة </a:t>
            </a:r>
            <a:r>
              <a:rPr lang="ar-OM" altLang="en-US" sz="1700" b="1" dirty="0">
                <a:solidFill>
                  <a:srgbClr val="0F7A8C"/>
                </a:solidFill>
                <a:latin typeface="Arial" pitchFamily="34" charset="0"/>
                <a:ea typeface="Arial" pitchFamily="34" charset="-122"/>
                <a:cs typeface="Arial" pitchFamily="34" charset="-120"/>
              </a:rPr>
              <a:t>(Picture Styles)</a:t>
            </a:r>
            <a:r>
              <a:rPr lang="ar-OM" altLang="en-US" sz="1700" dirty="0">
                <a:solidFill>
                  <a:srgbClr val="1F2D3D"/>
                </a:solidFill>
                <a:latin typeface="Arial" pitchFamily="34" charset="0"/>
                <a:ea typeface="Arial" pitchFamily="34" charset="-122"/>
                <a:cs typeface="Arial" pitchFamily="34" charset="-120"/>
              </a:rPr>
              <a:t> في تبويب تنسيق الصورة </a:t>
            </a:r>
            <a:r>
              <a:rPr lang="ar-OM" altLang="en-US" sz="1700" b="1" dirty="0">
                <a:solidFill>
                  <a:srgbClr val="0F7A8C"/>
                </a:solidFill>
                <a:latin typeface="Arial" pitchFamily="34" charset="0"/>
                <a:ea typeface="Arial" pitchFamily="34" charset="-122"/>
                <a:cs typeface="Arial" pitchFamily="34" charset="-120"/>
              </a:rPr>
              <a:t>(Picture Format)</a:t>
            </a:r>
            <a:endParaRPr lang="ar-OM" sz="1700" dirty="0"/>
          </a:p>
        </p:txBody>
      </p:sp>
      <p:sp>
        <p:nvSpPr>
          <p:cNvPr id="19" name="step card"/>
          <p:cNvSpPr/>
          <p:nvPr/>
        </p:nvSpPr>
        <p:spPr>
          <a:xfrm>
            <a:off x="6492240" y="3657600"/>
            <a:ext cx="5239512" cy="1051560"/>
          </a:xfrm>
          <a:prstGeom prst="roundRect">
            <a:avLst>
              <a:gd name="adj" fmla="val 13043"/>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0" name="step num"/>
          <p:cNvSpPr/>
          <p:nvPr/>
        </p:nvSpPr>
        <p:spPr>
          <a:xfrm>
            <a:off x="11055096" y="3927348"/>
            <a:ext cx="512064" cy="512064"/>
          </a:xfrm>
          <a:prstGeom prst="ellipse">
            <a:avLst/>
          </a:prstGeom>
          <a:solidFill>
            <a:srgbClr val="1A9BB0"/>
          </a:solidFill>
          <a:ln/>
        </p:spPr>
        <p:txBody>
          <a:bodyPr/>
          <a:lstStyle/>
          <a:p>
            <a:endParaRPr lang="ar-OM"/>
          </a:p>
        </p:txBody>
      </p:sp>
      <p:sp>
        <p:nvSpPr>
          <p:cNvPr id="21" name="Text 16"/>
          <p:cNvSpPr txBox="1"/>
          <p:nvPr/>
        </p:nvSpPr>
        <p:spPr>
          <a:xfrm>
            <a:off x="11055096" y="392734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2" name="Text 17"/>
          <p:cNvSpPr txBox="1"/>
          <p:nvPr/>
        </p:nvSpPr>
        <p:spPr>
          <a:xfrm>
            <a:off x="6675120" y="3694176"/>
            <a:ext cx="4270248" cy="978408"/>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اخترِ النمطَ الذي يناسبُك.</a:t>
            </a:r>
            <a:endParaRPr lang="ar-OM" sz="1700" dirty="0"/>
          </a:p>
        </p:txBody>
      </p:sp>
      <p:pic>
        <p:nvPicPr>
          <p:cNvPr id="23" name="img try_robot.png" descr="a/try_robot.png"/>
          <p:cNvPicPr>
            <a:picLocks noChangeAspect="1"/>
          </p:cNvPicPr>
          <p:nvPr/>
        </p:nvPicPr>
        <p:blipFill>
          <a:blip r:embed="rId6"/>
          <a:stretch>
            <a:fillRect/>
          </a:stretch>
        </p:blipFill>
        <p:spPr>
          <a:xfrm>
            <a:off x="10792160" y="4709160"/>
            <a:ext cx="727039" cy="1188720"/>
          </a:xfrm>
          <a:prstGeom prst="rect">
            <a:avLst/>
          </a:prstGeom>
        </p:spPr>
      </p:pic>
      <p:sp>
        <p:nvSpPr>
          <p:cNvPr id="24" name="speech"/>
          <p:cNvSpPr/>
          <p:nvPr/>
        </p:nvSpPr>
        <p:spPr>
          <a:xfrm>
            <a:off x="6492240" y="4892040"/>
            <a:ext cx="3931920" cy="868680"/>
          </a:xfrm>
          <a:prstGeom prst="roundRect">
            <a:avLst>
              <a:gd name="adj" fmla="val 26316"/>
            </a:avLst>
          </a:prstGeom>
          <a:solidFill>
            <a:srgbClr val="FFFFFF"/>
          </a:solidFill>
          <a:ln w="25400">
            <a:solidFill>
              <a:srgbClr val="1A9BB0"/>
            </a:solidFill>
            <a:prstDash val="solid"/>
          </a:ln>
          <a:effectLst>
            <a:outerShdw blurRad="101600" dist="25400" dir="5400000" algn="bl" rotWithShape="0">
              <a:srgbClr val="8FA6BF">
                <a:alpha val="30000"/>
              </a:srgbClr>
            </a:outerShdw>
          </a:effectLst>
        </p:spPr>
        <p:txBody>
          <a:bodyPr/>
          <a:lstStyle/>
          <a:p>
            <a:endParaRPr lang="ar-OM"/>
          </a:p>
        </p:txBody>
      </p:sp>
      <p:sp>
        <p:nvSpPr>
          <p:cNvPr id="25" name="Text 19"/>
          <p:cNvSpPr txBox="1"/>
          <p:nvPr/>
        </p:nvSpPr>
        <p:spPr>
          <a:xfrm>
            <a:off x="6629400" y="4892040"/>
            <a:ext cx="3657600" cy="868680"/>
          </a:xfrm>
          <a:prstGeom prst="rect">
            <a:avLst/>
          </a:prstGeom>
          <a:noFill/>
          <a:ln/>
        </p:spPr>
        <p:txBody>
          <a:bodyPr wrap="square" lIns="635" tIns="635" rIns="635" bIns="635" rtlCol="0" anchor="ctr"/>
          <a:lstStyle/>
          <a:p>
            <a:pPr marL="0" indent="0" algn="ctr" rtl="1">
              <a:buNone/>
            </a:pPr>
            <a:r>
              <a:rPr lang="ar-OM" altLang="en-US" sz="1700" b="1" dirty="0">
                <a:solidFill>
                  <a:srgbClr val="1A9BB0"/>
                </a:solidFill>
                <a:latin typeface="Arial" pitchFamily="34" charset="0"/>
                <a:ea typeface="Arial" pitchFamily="34" charset="-122"/>
                <a:cs typeface="Arial" pitchFamily="34" charset="-120"/>
              </a:rPr>
              <a:t>جرِّبِ الأنماطَ المختلفةَ واخترِ الأجمل!</a:t>
            </a:r>
            <a:endParaRPr lang="ar-OM" sz="1700" dirty="0"/>
          </a:p>
        </p:txBody>
      </p:sp>
      <p:sp>
        <p:nvSpPr>
          <p:cNvPr id="26"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7" name="زر التالي" descr="preencoded.png">
            <a:hlinkClick r:id="" action="ppaction://hlinkshowjump?jump=nextslide"/>
          </p:cNvPr>
          <p:cNvPicPr>
            <a:picLocks noChangeAspect="1"/>
          </p:cNvPicPr>
          <p:nvPr/>
        </p:nvPicPr>
        <p:blipFill>
          <a:blip r:embed="rId7"/>
          <a:stretch>
            <a:fillRect/>
          </a:stretch>
        </p:blipFill>
        <p:spPr>
          <a:xfrm>
            <a:off x="612648" y="6208776"/>
            <a:ext cx="256032" cy="256032"/>
          </a:xfrm>
          <a:prstGeom prst="rect">
            <a:avLst/>
          </a:prstGeom>
        </p:spPr>
      </p:pic>
      <p:sp>
        <p:nvSpPr>
          <p:cNvPr id="28" name="زر انتقال">
            <a:hlinkClick r:id="rId8"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9" name="زر انتقال" descr="preencoded.png">
            <a:hlinkClick r:id="rId8" action="ppaction://hlinksldjump"/>
          </p:cNvPr>
          <p:cNvPicPr>
            <a:picLocks noChangeAspect="1"/>
          </p:cNvPicPr>
          <p:nvPr/>
        </p:nvPicPr>
        <p:blipFill>
          <a:blip r:embed="rId9"/>
          <a:stretch>
            <a:fillRect/>
          </a:stretch>
        </p:blipFill>
        <p:spPr>
          <a:xfrm>
            <a:off x="1316736" y="6208776"/>
            <a:ext cx="256032" cy="256032"/>
          </a:xfrm>
          <a:prstGeom prst="rect">
            <a:avLst/>
          </a:prstGeom>
        </p:spPr>
      </p:pic>
      <p:sp>
        <p:nvSpPr>
          <p:cNvPr id="30"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1" name="زر السابق" descr="preencoded.png">
            <a:hlinkClick r:id="" action="ppaction://hlinkshowjump?jump=previousslide"/>
          </p:cNvPr>
          <p:cNvPicPr>
            <a:picLocks noChangeAspect="1"/>
          </p:cNvPicPr>
          <p:nvPr/>
        </p:nvPicPr>
        <p:blipFill>
          <a:blip r:embed="rId10"/>
          <a:stretch>
            <a:fillRect/>
          </a:stretch>
        </p:blipFill>
        <p:spPr>
          <a:xfrm>
            <a:off x="2020824" y="6208776"/>
            <a:ext cx="256032" cy="2560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1A9BB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الحدود والنمط</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فيديو الهدف الثالث: الحدود والنمط</a:t>
            </a:r>
            <a:endParaRPr lang="ar-OM" sz="3200" dirty="0"/>
          </a:p>
        </p:txBody>
      </p:sp>
      <p:pic>
        <p:nvPicPr>
          <p:cNvPr id="5" name="video 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429000" y="1234440"/>
            <a:ext cx="8138160" cy="4577486"/>
          </a:xfrm>
          <a:prstGeom prst="rect">
            <a:avLst/>
          </a:prstGeom>
        </p:spPr>
      </p:pic>
      <p:sp>
        <p:nvSpPr>
          <p:cNvPr id="6" name="speech"/>
          <p:cNvSpPr/>
          <p:nvPr/>
        </p:nvSpPr>
        <p:spPr>
          <a:xfrm>
            <a:off x="411480" y="1325880"/>
            <a:ext cx="2743200" cy="1234440"/>
          </a:xfrm>
          <a:prstGeom prst="roundRect">
            <a:avLst>
              <a:gd name="adj" fmla="val 18519"/>
            </a:avLst>
          </a:prstGeom>
          <a:solidFill>
            <a:srgbClr val="FFFFFF"/>
          </a:solidFill>
          <a:ln w="25400">
            <a:solidFill>
              <a:srgbClr val="1A9BB0"/>
            </a:solidFill>
            <a:prstDash val="solid"/>
          </a:ln>
          <a:effectLst>
            <a:outerShdw blurRad="101600" dist="25400" dir="5400000" algn="bl" rotWithShape="0">
              <a:srgbClr val="8FA6BF">
                <a:alpha val="30000"/>
              </a:srgbClr>
            </a:outerShdw>
          </a:effectLst>
        </p:spPr>
        <p:txBody>
          <a:bodyPr/>
          <a:lstStyle/>
          <a:p>
            <a:endParaRPr lang="ar-OM"/>
          </a:p>
        </p:txBody>
      </p:sp>
      <p:sp>
        <p:nvSpPr>
          <p:cNvPr id="7" name="Text 4"/>
          <p:cNvSpPr txBox="1"/>
          <p:nvPr/>
        </p:nvSpPr>
        <p:spPr>
          <a:xfrm>
            <a:off x="548640" y="1325880"/>
            <a:ext cx="2468880" cy="1234440"/>
          </a:xfrm>
          <a:prstGeom prst="rect">
            <a:avLst/>
          </a:prstGeom>
          <a:noFill/>
          <a:ln/>
        </p:spPr>
        <p:txBody>
          <a:bodyPr wrap="square" lIns="635" tIns="635" rIns="635" bIns="635" rtlCol="0" anchor="ctr"/>
          <a:lstStyle/>
          <a:p>
            <a:pPr marL="0" indent="0" algn="ctr" rtl="1">
              <a:buNone/>
            </a:pPr>
            <a:r>
              <a:rPr lang="ar-OM" altLang="en-US" sz="1600" b="1" dirty="0">
                <a:solidFill>
                  <a:srgbClr val="1A9BB0"/>
                </a:solidFill>
                <a:latin typeface="Arial" pitchFamily="34" charset="0"/>
                <a:ea typeface="Arial" pitchFamily="34" charset="-122"/>
                <a:cs typeface="Arial" pitchFamily="34" charset="-120"/>
              </a:rPr>
              <a:t>إطار ملوّن ونمط جميل للصورة</a:t>
            </a:r>
            <a:endParaRPr lang="ar-OM" sz="1600" dirty="0"/>
          </a:p>
        </p:txBody>
      </p:sp>
      <p:pic>
        <p:nvPicPr>
          <p:cNvPr id="8" name="img boy_wave.png" descr="a/boy_wave.png"/>
          <p:cNvPicPr>
            <a:picLocks noChangeAspect="1"/>
          </p:cNvPicPr>
          <p:nvPr/>
        </p:nvPicPr>
        <p:blipFill>
          <a:blip r:embed="rId6"/>
          <a:stretch>
            <a:fillRect/>
          </a:stretch>
        </p:blipFill>
        <p:spPr>
          <a:xfrm>
            <a:off x="537744" y="2743200"/>
            <a:ext cx="2490672" cy="3063240"/>
          </a:xfrm>
          <a:prstGeom prst="rect">
            <a:avLst/>
          </a:prstGeom>
        </p:spPr>
      </p:pic>
      <p:sp>
        <p:nvSpPr>
          <p:cNvPr id="10"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1" name="زر التالي" descr="preencoded.png">
            <a:hlinkClick r:id="" action="ppaction://hlinkshowjump?jump=nextslide"/>
          </p:cNvPr>
          <p:cNvPicPr>
            <a:picLocks noChangeAspect="1"/>
          </p:cNvPicPr>
          <p:nvPr/>
        </p:nvPicPr>
        <p:blipFill>
          <a:blip r:embed="rId7"/>
          <a:stretch>
            <a:fillRect/>
          </a:stretch>
        </p:blipFill>
        <p:spPr>
          <a:xfrm>
            <a:off x="612648" y="6208776"/>
            <a:ext cx="256032" cy="256032"/>
          </a:xfrm>
          <a:prstGeom prst="rect">
            <a:avLst/>
          </a:prstGeom>
        </p:spPr>
      </p:pic>
      <p:sp>
        <p:nvSpPr>
          <p:cNvPr id="12" name="زر انتقال">
            <a:hlinkClick r:id="rId8"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3" name="زر انتقال" descr="preencoded.png">
            <a:hlinkClick r:id="rId8" action="ppaction://hlinksldjump"/>
          </p:cNvPr>
          <p:cNvPicPr>
            <a:picLocks noChangeAspect="1"/>
          </p:cNvPicPr>
          <p:nvPr/>
        </p:nvPicPr>
        <p:blipFill>
          <a:blip r:embed="rId9"/>
          <a:stretch>
            <a:fillRect/>
          </a:stretch>
        </p:blipFill>
        <p:spPr>
          <a:xfrm>
            <a:off x="1316736" y="6208776"/>
            <a:ext cx="256032" cy="256032"/>
          </a:xfrm>
          <a:prstGeom prst="rect">
            <a:avLst/>
          </a:prstGeom>
        </p:spPr>
      </p:pic>
      <p:sp>
        <p:nvSpPr>
          <p:cNvPr id="14"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5" name="زر السابق" descr="preencoded.png">
            <a:hlinkClick r:id="" action="ppaction://hlinkshowjump?jump=previousslide"/>
          </p:cNvPr>
          <p:cNvPicPr>
            <a:picLocks noChangeAspect="1"/>
          </p:cNvPicPr>
          <p:nvPr/>
        </p:nvPicPr>
        <p:blipFill>
          <a:blip r:embed="rId10"/>
          <a:stretch>
            <a:fillRect/>
          </a:stretch>
        </p:blipFill>
        <p:spPr>
          <a:xfrm>
            <a:off x="2020824" y="6208776"/>
            <a:ext cx="256032" cy="2560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1A9BB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الحدود والنمط</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سؤال سريع 4</a:t>
            </a:r>
            <a:endParaRPr lang="ar-OM" sz="3200" dirty="0"/>
          </a:p>
        </p:txBody>
      </p:sp>
      <p:sp>
        <p:nvSpPr>
          <p:cNvPr id="5" name="q image card"/>
          <p:cNvSpPr/>
          <p:nvPr/>
        </p:nvSpPr>
        <p:spPr>
          <a:xfrm>
            <a:off x="6903720" y="1280160"/>
            <a:ext cx="4828032" cy="4526280"/>
          </a:xfrm>
          <a:prstGeom prst="roundRect">
            <a:avLst>
              <a:gd name="adj" fmla="val 3636"/>
            </a:avLst>
          </a:prstGeom>
          <a:solidFill>
            <a:srgbClr val="FFFFFF"/>
          </a:solidFill>
          <a:ln/>
          <a:effectLst>
            <a:outerShdw blurRad="101600" dist="25400" dir="5400000" algn="bl" rotWithShape="0">
              <a:srgbClr val="8FA6BF">
                <a:alpha val="30000"/>
              </a:srgbClr>
            </a:outerShdw>
          </a:effectLst>
        </p:spPr>
        <p:txBody>
          <a:bodyPr/>
          <a:lstStyle/>
          <a:p>
            <a:endParaRPr lang="ar-OM"/>
          </a:p>
        </p:txBody>
      </p:sp>
      <p:pic>
        <p:nvPicPr>
          <p:cNvPr id="6" name="img border_res.png" descr="a/border_res.png"/>
          <p:cNvPicPr>
            <a:picLocks noChangeAspect="1"/>
          </p:cNvPicPr>
          <p:nvPr/>
        </p:nvPicPr>
        <p:blipFill>
          <a:blip r:embed="rId3"/>
          <a:stretch>
            <a:fillRect/>
          </a:stretch>
        </p:blipFill>
        <p:spPr>
          <a:xfrm>
            <a:off x="7086600" y="2087784"/>
            <a:ext cx="4462272" cy="2911031"/>
          </a:xfrm>
          <a:prstGeom prst="rect">
            <a:avLst/>
          </a:prstGeom>
        </p:spPr>
      </p:pic>
      <p:sp>
        <p:nvSpPr>
          <p:cNvPr id="7" name="question"/>
          <p:cNvSpPr/>
          <p:nvPr/>
        </p:nvSpPr>
        <p:spPr>
          <a:xfrm>
            <a:off x="457200" y="1280160"/>
            <a:ext cx="6217920" cy="1234440"/>
          </a:xfrm>
          <a:prstGeom prst="roundRect">
            <a:avLst>
              <a:gd name="adj" fmla="val 13333"/>
            </a:avLst>
          </a:prstGeom>
          <a:solidFill>
            <a:srgbClr val="DDF4F8"/>
          </a:solidFill>
          <a:ln/>
        </p:spPr>
        <p:txBody>
          <a:bodyPr/>
          <a:lstStyle/>
          <a:p>
            <a:endParaRPr lang="ar-OM"/>
          </a:p>
        </p:txBody>
      </p:sp>
      <p:sp>
        <p:nvSpPr>
          <p:cNvPr id="8" name="Text 5"/>
          <p:cNvSpPr txBox="1"/>
          <p:nvPr/>
        </p:nvSpPr>
        <p:spPr>
          <a:xfrm>
            <a:off x="640080" y="1280160"/>
            <a:ext cx="5852160" cy="1234440"/>
          </a:xfrm>
          <a:prstGeom prst="rect">
            <a:avLst/>
          </a:prstGeom>
          <a:noFill/>
          <a:ln/>
        </p:spPr>
        <p:txBody>
          <a:bodyPr wrap="square" lIns="635" tIns="635" rIns="635" bIns="635" rtlCol="0" anchor="ctr"/>
          <a:lstStyle/>
          <a:p>
            <a:pPr marL="0" indent="0" algn="r" rtl="1">
              <a:buNone/>
            </a:pPr>
            <a:r>
              <a:rPr lang="ar-OM" altLang="en-US" sz="2200" b="1" dirty="0">
                <a:solidFill>
                  <a:srgbClr val="0D3B66"/>
                </a:solidFill>
                <a:latin typeface="Arial" pitchFamily="34" charset="0"/>
                <a:ea typeface="Arial" pitchFamily="34" charset="-122"/>
                <a:cs typeface="Arial" pitchFamily="34" charset="-120"/>
              </a:rPr>
              <a:t>أيُّ خيارٍ استخدمنا لإضافةِ الإطارِ الأخضرِ حولَ هذه الصورة؟</a:t>
            </a:r>
            <a:endParaRPr lang="ar-OM" sz="2200" dirty="0"/>
          </a:p>
        </p:txBody>
      </p:sp>
      <p:sp>
        <p:nvSpPr>
          <p:cNvPr id="9" name="إجابة">
            <a:hlinkClick r:id="rId4" action="ppaction://hlinksldjump">
              <a:snd r:embed="rId5" name="wrong.wav"/>
            </a:hlinkClick>
          </p:cNvPr>
          <p:cNvSpPr/>
          <p:nvPr/>
        </p:nvSpPr>
        <p:spPr>
          <a:xfrm>
            <a:off x="457200" y="2743200"/>
            <a:ext cx="6217920" cy="868680"/>
          </a:xfrm>
          <a:prstGeom prst="roundRect">
            <a:avLst>
              <a:gd name="adj" fmla="val 21053"/>
            </a:avLst>
          </a:prstGeom>
          <a:solidFill>
            <a:srgbClr val="FFFFFF"/>
          </a:solidFill>
          <a:ln w="28575">
            <a:solidFill>
              <a:srgbClr val="1A9BB0"/>
            </a:solidFill>
            <a:prstDash val="solid"/>
          </a:ln>
          <a:effectLst>
            <a:outerShdw blurRad="101600" dist="25400" dir="5400000" algn="bl" rotWithShape="0">
              <a:srgbClr val="8FA6BF">
                <a:alpha val="30000"/>
              </a:srgbClr>
            </a:outerShdw>
          </a:effectLst>
        </p:spPr>
        <p:txBody>
          <a:bodyPr/>
          <a:lstStyle/>
          <a:p>
            <a:endParaRPr lang="ar-OM"/>
          </a:p>
        </p:txBody>
      </p:sp>
      <p:sp>
        <p:nvSpPr>
          <p:cNvPr id="10" name="إجابة">
            <a:hlinkClick r:id="rId4" action="ppaction://hlinksldjump">
              <a:snd r:embed="rId5" name="wrong.wav"/>
            </a:hlinkClick>
          </p:cNvPr>
          <p:cNvSpPr/>
          <p:nvPr/>
        </p:nvSpPr>
        <p:spPr>
          <a:xfrm>
            <a:off x="5943600" y="2894076"/>
            <a:ext cx="566928" cy="566928"/>
          </a:xfrm>
          <a:prstGeom prst="ellipse">
            <a:avLst/>
          </a:prstGeom>
          <a:solidFill>
            <a:srgbClr val="1A9BB0"/>
          </a:solidFill>
          <a:ln/>
        </p:spPr>
        <p:txBody>
          <a:bodyPr/>
          <a:lstStyle/>
          <a:p>
            <a:endParaRPr lang="ar-OM"/>
          </a:p>
        </p:txBody>
      </p:sp>
      <p:sp>
        <p:nvSpPr>
          <p:cNvPr id="11" name="إجابة">
            <a:hlinkClick r:id="rId4" action="ppaction://hlinksldjump">
              <a:snd r:embed="rId5" name="wrong.wav"/>
            </a:hlinkClick>
          </p:cNvPr>
          <p:cNvSpPr txBox="1"/>
          <p:nvPr/>
        </p:nvSpPr>
        <p:spPr>
          <a:xfrm>
            <a:off x="5943600" y="289407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أ</a:t>
            </a:r>
            <a:endParaRPr lang="en-US" sz="2200" dirty="0"/>
          </a:p>
        </p:txBody>
      </p:sp>
      <p:sp>
        <p:nvSpPr>
          <p:cNvPr id="12" name="إجابة">
            <a:hlinkClick r:id="rId4" action="ppaction://hlinksldjump">
              <a:snd r:embed="rId5" name="wrong.wav"/>
            </a:hlinkClick>
          </p:cNvPr>
          <p:cNvSpPr txBox="1"/>
          <p:nvPr/>
        </p:nvSpPr>
        <p:spPr>
          <a:xfrm>
            <a:off x="640080" y="2743200"/>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قص (Crop)</a:t>
            </a:r>
            <a:endParaRPr lang="ar-OM" sz="2100" dirty="0"/>
          </a:p>
        </p:txBody>
      </p:sp>
      <p:sp>
        <p:nvSpPr>
          <p:cNvPr id="13" name="إجابة">
            <a:hlinkClick r:id="rId4" action="ppaction://hlinksldjump">
              <a:snd r:embed="rId5" name="wrong.wav"/>
            </a:hlinkClick>
          </p:cNvPr>
          <p:cNvSpPr/>
          <p:nvPr/>
        </p:nvSpPr>
        <p:spPr>
          <a:xfrm>
            <a:off x="457200" y="3767328"/>
            <a:ext cx="6217920" cy="868680"/>
          </a:xfrm>
          <a:prstGeom prst="roundRect">
            <a:avLst>
              <a:gd name="adj" fmla="val 21053"/>
            </a:avLst>
          </a:prstGeom>
          <a:solidFill>
            <a:srgbClr val="FFFFFF"/>
          </a:solidFill>
          <a:ln w="28575">
            <a:solidFill>
              <a:srgbClr val="1A9BB0"/>
            </a:solidFill>
            <a:prstDash val="solid"/>
          </a:ln>
          <a:effectLst>
            <a:outerShdw blurRad="101600" dist="25400" dir="5400000" algn="bl" rotWithShape="0">
              <a:srgbClr val="8FA6BF">
                <a:alpha val="30000"/>
              </a:srgbClr>
            </a:outerShdw>
          </a:effectLst>
        </p:spPr>
        <p:txBody>
          <a:bodyPr/>
          <a:lstStyle/>
          <a:p>
            <a:endParaRPr lang="ar-OM"/>
          </a:p>
        </p:txBody>
      </p:sp>
      <p:sp>
        <p:nvSpPr>
          <p:cNvPr id="14" name="إجابة">
            <a:hlinkClick r:id="rId4" action="ppaction://hlinksldjump">
              <a:snd r:embed="rId5" name="wrong.wav"/>
            </a:hlinkClick>
          </p:cNvPr>
          <p:cNvSpPr/>
          <p:nvPr/>
        </p:nvSpPr>
        <p:spPr>
          <a:xfrm>
            <a:off x="5943600" y="3918204"/>
            <a:ext cx="566928" cy="566928"/>
          </a:xfrm>
          <a:prstGeom prst="ellipse">
            <a:avLst/>
          </a:prstGeom>
          <a:solidFill>
            <a:srgbClr val="1A9BB0"/>
          </a:solidFill>
          <a:ln/>
        </p:spPr>
        <p:txBody>
          <a:bodyPr/>
          <a:lstStyle/>
          <a:p>
            <a:endParaRPr lang="ar-OM"/>
          </a:p>
        </p:txBody>
      </p:sp>
      <p:sp>
        <p:nvSpPr>
          <p:cNvPr id="15" name="إجابة">
            <a:hlinkClick r:id="rId4" action="ppaction://hlinksldjump">
              <a:snd r:embed="rId5" name="wrong.wav"/>
            </a:hlinkClick>
          </p:cNvPr>
          <p:cNvSpPr txBox="1"/>
          <p:nvPr/>
        </p:nvSpPr>
        <p:spPr>
          <a:xfrm>
            <a:off x="5943600" y="391820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ب</a:t>
            </a:r>
            <a:endParaRPr lang="en-US" sz="2200" dirty="0"/>
          </a:p>
        </p:txBody>
      </p:sp>
      <p:sp>
        <p:nvSpPr>
          <p:cNvPr id="16" name="إجابة">
            <a:hlinkClick r:id="rId4" action="ppaction://hlinksldjump">
              <a:snd r:embed="rId5" name="wrong.wav"/>
            </a:hlinkClick>
          </p:cNvPr>
          <p:cNvSpPr txBox="1"/>
          <p:nvPr/>
        </p:nvSpPr>
        <p:spPr>
          <a:xfrm>
            <a:off x="640080" y="3767328"/>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التفاف النص (Wrap Text)</a:t>
            </a:r>
            <a:endParaRPr lang="ar-OM" sz="2100" dirty="0"/>
          </a:p>
        </p:txBody>
      </p:sp>
      <p:sp>
        <p:nvSpPr>
          <p:cNvPr id="17" name="إجابة">
            <a:hlinkClick r:id="rId6" action="ppaction://hlinksldjump">
              <a:snd r:embed="rId7" name="correct.wav"/>
            </a:hlinkClick>
          </p:cNvPr>
          <p:cNvSpPr/>
          <p:nvPr/>
        </p:nvSpPr>
        <p:spPr>
          <a:xfrm>
            <a:off x="457200" y="4791456"/>
            <a:ext cx="6217920" cy="868680"/>
          </a:xfrm>
          <a:prstGeom prst="roundRect">
            <a:avLst>
              <a:gd name="adj" fmla="val 21053"/>
            </a:avLst>
          </a:prstGeom>
          <a:solidFill>
            <a:srgbClr val="FFFFFF"/>
          </a:solidFill>
          <a:ln w="28575">
            <a:solidFill>
              <a:srgbClr val="1A9BB0"/>
            </a:solidFill>
            <a:prstDash val="solid"/>
          </a:ln>
          <a:effectLst>
            <a:outerShdw blurRad="101600" dist="25400" dir="5400000" algn="bl" rotWithShape="0">
              <a:srgbClr val="8FA6BF">
                <a:alpha val="30000"/>
              </a:srgbClr>
            </a:outerShdw>
          </a:effectLst>
        </p:spPr>
        <p:txBody>
          <a:bodyPr/>
          <a:lstStyle/>
          <a:p>
            <a:endParaRPr lang="ar-OM"/>
          </a:p>
        </p:txBody>
      </p:sp>
      <p:sp>
        <p:nvSpPr>
          <p:cNvPr id="18" name="إجابة">
            <a:hlinkClick r:id="rId6" action="ppaction://hlinksldjump">
              <a:snd r:embed="rId7" name="correct.wav"/>
            </a:hlinkClick>
          </p:cNvPr>
          <p:cNvSpPr/>
          <p:nvPr/>
        </p:nvSpPr>
        <p:spPr>
          <a:xfrm>
            <a:off x="5943600" y="4942332"/>
            <a:ext cx="566928" cy="566928"/>
          </a:xfrm>
          <a:prstGeom prst="ellipse">
            <a:avLst/>
          </a:prstGeom>
          <a:solidFill>
            <a:srgbClr val="1A9BB0"/>
          </a:solidFill>
          <a:ln/>
        </p:spPr>
        <p:txBody>
          <a:bodyPr/>
          <a:lstStyle/>
          <a:p>
            <a:endParaRPr lang="ar-OM"/>
          </a:p>
        </p:txBody>
      </p:sp>
      <p:sp>
        <p:nvSpPr>
          <p:cNvPr id="19" name="إجابة">
            <a:hlinkClick r:id="rId6" action="ppaction://hlinksldjump">
              <a:snd r:embed="rId7" name="correct.wav"/>
            </a:hlinkClick>
          </p:cNvPr>
          <p:cNvSpPr txBox="1"/>
          <p:nvPr/>
        </p:nvSpPr>
        <p:spPr>
          <a:xfrm>
            <a:off x="5943600" y="49423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ج</a:t>
            </a:r>
            <a:endParaRPr lang="en-US" sz="2200" dirty="0"/>
          </a:p>
        </p:txBody>
      </p:sp>
      <p:sp>
        <p:nvSpPr>
          <p:cNvPr id="20" name="إجابة">
            <a:hlinkClick r:id="rId6" action="ppaction://hlinksldjump">
              <a:snd r:embed="rId7" name="correct.wav"/>
            </a:hlinkClick>
          </p:cNvPr>
          <p:cNvSpPr txBox="1"/>
          <p:nvPr/>
        </p:nvSpPr>
        <p:spPr>
          <a:xfrm>
            <a:off x="640080" y="4791456"/>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حدود الصورة (Picture Border)</a:t>
            </a:r>
            <a:endParaRPr lang="ar-OM" sz="2100" dirty="0"/>
          </a:p>
        </p:txBody>
      </p:sp>
      <p:sp>
        <p:nvSpPr>
          <p:cNvPr id="21"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2" name="زر التالي" descr="preencoded.png">
            <a:hlinkClick r:id="" action="ppaction://hlinkshowjump?jump=nextslide"/>
          </p:cNvPr>
          <p:cNvPicPr>
            <a:picLocks noChangeAspect="1"/>
          </p:cNvPicPr>
          <p:nvPr/>
        </p:nvPicPr>
        <p:blipFill>
          <a:blip r:embed="rId8"/>
          <a:stretch>
            <a:fillRect/>
          </a:stretch>
        </p:blipFill>
        <p:spPr>
          <a:xfrm>
            <a:off x="612648" y="6208776"/>
            <a:ext cx="256032" cy="256032"/>
          </a:xfrm>
          <a:prstGeom prst="rect">
            <a:avLst/>
          </a:prstGeom>
        </p:spPr>
      </p:pic>
      <p:sp>
        <p:nvSpPr>
          <p:cNvPr id="23" name="زر انتقال">
            <a:hlinkClick r:id="rId9"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4" name="زر انتقال" descr="preencoded.png">
            <a:hlinkClick r:id="rId9" action="ppaction://hlinksldjump"/>
          </p:cNvPr>
          <p:cNvPicPr>
            <a:picLocks noChangeAspect="1"/>
          </p:cNvPicPr>
          <p:nvPr/>
        </p:nvPicPr>
        <p:blipFill>
          <a:blip r:embed="rId10"/>
          <a:stretch>
            <a:fillRect/>
          </a:stretch>
        </p:blipFill>
        <p:spPr>
          <a:xfrm>
            <a:off x="1316736" y="6208776"/>
            <a:ext cx="256032" cy="256032"/>
          </a:xfrm>
          <a:prstGeom prst="rect">
            <a:avLst/>
          </a:prstGeom>
        </p:spPr>
      </p:pic>
      <p:sp>
        <p:nvSpPr>
          <p:cNvPr id="25"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6" name="زر السابق" descr="preencoded.png">
            <a:hlinkClick r:id="" action="ppaction://hlinkshowjump?jump=previousslide"/>
          </p:cNvPr>
          <p:cNvPicPr>
            <a:picLocks noChangeAspect="1"/>
          </p:cNvPicPr>
          <p:nvPr/>
        </p:nvPicPr>
        <p:blipFill>
          <a:blip r:embed="rId11"/>
          <a:stretch>
            <a:fillRect/>
          </a:stretch>
        </p:blipFill>
        <p:spPr>
          <a:xfrm>
            <a:off x="2020824" y="6208776"/>
            <a:ext cx="256032" cy="2560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1A9BB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الحدود والنمط</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صح أم خطأ؟ (2)</a:t>
            </a:r>
            <a:endParaRPr lang="ar-OM" sz="3200" dirty="0"/>
          </a:p>
        </p:txBody>
      </p:sp>
      <p:sp>
        <p:nvSpPr>
          <p:cNvPr id="5" name="statement"/>
          <p:cNvSpPr/>
          <p:nvPr/>
        </p:nvSpPr>
        <p:spPr>
          <a:xfrm>
            <a:off x="2377440" y="1325880"/>
            <a:ext cx="9354312" cy="1920240"/>
          </a:xfrm>
          <a:prstGeom prst="roundRect">
            <a:avLst>
              <a:gd name="adj" fmla="val 8571"/>
            </a:avLst>
          </a:prstGeom>
          <a:solidFill>
            <a:srgbClr val="DDF4F8"/>
          </a:solidFill>
          <a:ln/>
        </p:spPr>
        <p:txBody>
          <a:bodyPr/>
          <a:lstStyle/>
          <a:p>
            <a:endParaRPr lang="ar-OM"/>
          </a:p>
        </p:txBody>
      </p:sp>
      <p:sp>
        <p:nvSpPr>
          <p:cNvPr id="6" name="Text 4"/>
          <p:cNvSpPr txBox="1"/>
          <p:nvPr/>
        </p:nvSpPr>
        <p:spPr>
          <a:xfrm>
            <a:off x="2651760" y="1325880"/>
            <a:ext cx="8778240" cy="1920240"/>
          </a:xfrm>
          <a:prstGeom prst="rect">
            <a:avLst/>
          </a:prstGeom>
          <a:noFill/>
          <a:ln/>
        </p:spPr>
        <p:txBody>
          <a:bodyPr wrap="square" lIns="635" tIns="635" rIns="635" bIns="635" rtlCol="0" anchor="ctr"/>
          <a:lstStyle/>
          <a:p>
            <a:pPr marL="0" indent="0" algn="ctr" rtl="1">
              <a:buNone/>
            </a:pPr>
            <a:r>
              <a:rPr lang="ar-OM" altLang="en-US" sz="2600" b="1" dirty="0">
                <a:solidFill>
                  <a:srgbClr val="0D3B66"/>
                </a:solidFill>
                <a:latin typeface="Arial" pitchFamily="34" charset="0"/>
                <a:ea typeface="Arial" pitchFamily="34" charset="-122"/>
                <a:cs typeface="Arial" pitchFamily="34" charset="-120"/>
              </a:rPr>
              <a:t>يمكنك إدراجُ صورةٍ في مستندِ معالجِ الكلمات، ولكن لا يمكنك تغييرُ مظهرِها.</a:t>
            </a:r>
            <a:endParaRPr lang="ar-OM" sz="2600" dirty="0"/>
          </a:p>
        </p:txBody>
      </p:sp>
      <p:pic>
        <p:nvPicPr>
          <p:cNvPr id="7" name="img boy_wave.png" descr="a/boy_wave.png"/>
          <p:cNvPicPr>
            <a:picLocks noChangeAspect="1"/>
          </p:cNvPicPr>
          <p:nvPr/>
        </p:nvPicPr>
        <p:blipFill>
          <a:blip r:embed="rId3"/>
          <a:stretch>
            <a:fillRect/>
          </a:stretch>
        </p:blipFill>
        <p:spPr>
          <a:xfrm>
            <a:off x="387979" y="1325880"/>
            <a:ext cx="1784362" cy="2194560"/>
          </a:xfrm>
          <a:prstGeom prst="rect">
            <a:avLst/>
          </a:prstGeom>
        </p:spPr>
      </p:pic>
      <p:sp>
        <p:nvSpPr>
          <p:cNvPr id="8" name="إجابة">
            <a:hlinkClick r:id="rId4" action="ppaction://hlinksldjump">
              <a:snd r:embed="rId5" name="wrong.wav"/>
            </a:hlinkClick>
          </p:cNvPr>
          <p:cNvSpPr/>
          <p:nvPr/>
        </p:nvSpPr>
        <p:spPr>
          <a:xfrm>
            <a:off x="6446520" y="3657600"/>
            <a:ext cx="4023360" cy="1600200"/>
          </a:xfrm>
          <a:prstGeom prst="roundRect">
            <a:avLst>
              <a:gd name="adj" fmla="val 17143"/>
            </a:avLst>
          </a:prstGeom>
          <a:solidFill>
            <a:srgbClr val="4FA62A"/>
          </a:solidFill>
          <a:ln w="38100">
            <a:solidFill>
              <a:srgbClr val="FFFFFF"/>
            </a:solidFill>
            <a:prstDash val="solid"/>
          </a:ln>
          <a:effectLst>
            <a:outerShdw blurRad="76200" dist="38100" dir="5400000" algn="bl" rotWithShape="0">
              <a:srgbClr val="000000">
                <a:alpha val="25000"/>
              </a:srgbClr>
            </a:outerShdw>
          </a:effectLst>
        </p:spPr>
        <p:txBody>
          <a:bodyPr/>
          <a:lstStyle/>
          <a:p>
            <a:endParaRPr lang="ar-OM"/>
          </a:p>
        </p:txBody>
      </p:sp>
      <p:sp>
        <p:nvSpPr>
          <p:cNvPr id="9" name="إجابة">
            <a:hlinkClick r:id="rId4" action="ppaction://hlinksldjump">
              <a:snd r:embed="rId5" name="wrong.wav"/>
            </a:hlinkClick>
          </p:cNvPr>
          <p:cNvSpPr/>
          <p:nvPr/>
        </p:nvSpPr>
        <p:spPr>
          <a:xfrm>
            <a:off x="9144000" y="4023360"/>
            <a:ext cx="868680" cy="868680"/>
          </a:xfrm>
          <a:prstGeom prst="ellipse">
            <a:avLst/>
          </a:prstGeom>
          <a:solidFill>
            <a:srgbClr val="FFFFFF"/>
          </a:solidFill>
          <a:ln/>
        </p:spPr>
        <p:txBody>
          <a:bodyPr/>
          <a:lstStyle/>
          <a:p>
            <a:endParaRPr lang="ar-OM"/>
          </a:p>
        </p:txBody>
      </p:sp>
      <p:pic>
        <p:nvPicPr>
          <p:cNvPr id="10" name="إجابة" descr="preencoded.png">
            <a:hlinkClick r:id="rId4" action="ppaction://hlinksldjump">
              <a:snd r:embed="rId5" name="wrong.wav"/>
            </a:hlinkClick>
          </p:cNvPr>
          <p:cNvPicPr>
            <a:picLocks noChangeAspect="1"/>
          </p:cNvPicPr>
          <p:nvPr/>
        </p:nvPicPr>
        <p:blipFill>
          <a:blip r:embed="rId6"/>
          <a:stretch>
            <a:fillRect/>
          </a:stretch>
        </p:blipFill>
        <p:spPr>
          <a:xfrm>
            <a:off x="9352483" y="4231843"/>
            <a:ext cx="451714" cy="451714"/>
          </a:xfrm>
          <a:prstGeom prst="rect">
            <a:avLst/>
          </a:prstGeom>
        </p:spPr>
      </p:pic>
      <p:sp>
        <p:nvSpPr>
          <p:cNvPr id="11" name="إجابة">
            <a:hlinkClick r:id="rId4" action="ppaction://hlinksldjump">
              <a:snd r:embed="rId5" name="wrong.wav"/>
            </a:hlinkClick>
          </p:cNvPr>
          <p:cNvSpPr txBox="1"/>
          <p:nvPr/>
        </p:nvSpPr>
        <p:spPr>
          <a:xfrm>
            <a:off x="6720840" y="3657600"/>
            <a:ext cx="2286000" cy="1600200"/>
          </a:xfrm>
          <a:prstGeom prst="rect">
            <a:avLst/>
          </a:prstGeom>
          <a:noFill/>
          <a:ln/>
        </p:spPr>
        <p:txBody>
          <a:bodyPr wrap="square" lIns="635" tIns="635" rIns="635" bIns="635" rtlCol="0" anchor="ctr"/>
          <a:lstStyle/>
          <a:p>
            <a:pPr marL="0" indent="0" algn="ctr" rtl="1">
              <a:buNone/>
            </a:pPr>
            <a:r>
              <a:rPr lang="ar-OM" altLang="en-US" sz="4400" b="1" dirty="0">
                <a:solidFill>
                  <a:srgbClr val="FFFFFF"/>
                </a:solidFill>
                <a:latin typeface="Arial" pitchFamily="34" charset="0"/>
                <a:ea typeface="Arial" pitchFamily="34" charset="-122"/>
                <a:cs typeface="Arial" pitchFamily="34" charset="-120"/>
              </a:rPr>
              <a:t>صح</a:t>
            </a:r>
            <a:endParaRPr lang="ar-OM" sz="4400" dirty="0"/>
          </a:p>
        </p:txBody>
      </p:sp>
      <p:sp>
        <p:nvSpPr>
          <p:cNvPr id="12" name="إجابة">
            <a:hlinkClick r:id="rId7" action="ppaction://hlinksldjump">
              <a:snd r:embed="rId8" name="correct.wav"/>
            </a:hlinkClick>
          </p:cNvPr>
          <p:cNvSpPr/>
          <p:nvPr/>
        </p:nvSpPr>
        <p:spPr>
          <a:xfrm>
            <a:off x="1691640" y="3657600"/>
            <a:ext cx="4023360" cy="1600200"/>
          </a:xfrm>
          <a:prstGeom prst="roundRect">
            <a:avLst>
              <a:gd name="adj" fmla="val 17143"/>
            </a:avLst>
          </a:prstGeom>
          <a:solidFill>
            <a:srgbClr val="E2453B"/>
          </a:solidFill>
          <a:ln w="38100">
            <a:solidFill>
              <a:srgbClr val="FFFFFF"/>
            </a:solidFill>
            <a:prstDash val="solid"/>
          </a:ln>
          <a:effectLst>
            <a:outerShdw blurRad="76200" dist="38100" dir="5400000" algn="bl" rotWithShape="0">
              <a:srgbClr val="000000">
                <a:alpha val="25000"/>
              </a:srgbClr>
            </a:outerShdw>
          </a:effectLst>
        </p:spPr>
        <p:txBody>
          <a:bodyPr/>
          <a:lstStyle/>
          <a:p>
            <a:endParaRPr lang="ar-OM"/>
          </a:p>
        </p:txBody>
      </p:sp>
      <p:sp>
        <p:nvSpPr>
          <p:cNvPr id="13" name="إجابة">
            <a:hlinkClick r:id="rId7" action="ppaction://hlinksldjump">
              <a:snd r:embed="rId8" name="correct.wav"/>
            </a:hlinkClick>
          </p:cNvPr>
          <p:cNvSpPr/>
          <p:nvPr/>
        </p:nvSpPr>
        <p:spPr>
          <a:xfrm>
            <a:off x="4389120" y="4023360"/>
            <a:ext cx="868680" cy="868680"/>
          </a:xfrm>
          <a:prstGeom prst="ellipse">
            <a:avLst/>
          </a:prstGeom>
          <a:solidFill>
            <a:srgbClr val="FFFFFF"/>
          </a:solidFill>
          <a:ln/>
        </p:spPr>
        <p:txBody>
          <a:bodyPr/>
          <a:lstStyle/>
          <a:p>
            <a:endParaRPr lang="ar-OM"/>
          </a:p>
        </p:txBody>
      </p:sp>
      <p:pic>
        <p:nvPicPr>
          <p:cNvPr id="14" name="إجابة" descr="preencoded.png">
            <a:hlinkClick r:id="rId7" action="ppaction://hlinksldjump">
              <a:snd r:embed="rId8" name="correct.wav"/>
            </a:hlinkClick>
          </p:cNvPr>
          <p:cNvPicPr>
            <a:picLocks noChangeAspect="1"/>
          </p:cNvPicPr>
          <p:nvPr/>
        </p:nvPicPr>
        <p:blipFill>
          <a:blip r:embed="rId9"/>
          <a:stretch>
            <a:fillRect/>
          </a:stretch>
        </p:blipFill>
        <p:spPr>
          <a:xfrm>
            <a:off x="4597603" y="4231843"/>
            <a:ext cx="451714" cy="451714"/>
          </a:xfrm>
          <a:prstGeom prst="rect">
            <a:avLst/>
          </a:prstGeom>
        </p:spPr>
      </p:pic>
      <p:sp>
        <p:nvSpPr>
          <p:cNvPr id="15" name="إجابة">
            <a:hlinkClick r:id="rId7" action="ppaction://hlinksldjump">
              <a:snd r:embed="rId8" name="correct.wav"/>
            </a:hlinkClick>
          </p:cNvPr>
          <p:cNvSpPr txBox="1"/>
          <p:nvPr/>
        </p:nvSpPr>
        <p:spPr>
          <a:xfrm>
            <a:off x="1965960" y="3657600"/>
            <a:ext cx="2286000" cy="1600200"/>
          </a:xfrm>
          <a:prstGeom prst="rect">
            <a:avLst/>
          </a:prstGeom>
          <a:noFill/>
          <a:ln/>
        </p:spPr>
        <p:txBody>
          <a:bodyPr wrap="square" lIns="635" tIns="635" rIns="635" bIns="635" rtlCol="0" anchor="ctr"/>
          <a:lstStyle/>
          <a:p>
            <a:pPr marL="0" indent="0" algn="ctr" rtl="1">
              <a:buNone/>
            </a:pPr>
            <a:r>
              <a:rPr lang="ar-OM" altLang="en-US" sz="4400" b="1" dirty="0">
                <a:solidFill>
                  <a:srgbClr val="FFFFFF"/>
                </a:solidFill>
                <a:latin typeface="Arial" pitchFamily="34" charset="0"/>
                <a:ea typeface="Arial" pitchFamily="34" charset="-122"/>
                <a:cs typeface="Arial" pitchFamily="34" charset="-120"/>
              </a:rPr>
              <a:t>خطأ</a:t>
            </a:r>
            <a:endParaRPr lang="ar-OM" sz="4400" dirty="0"/>
          </a:p>
        </p:txBody>
      </p:sp>
      <p:sp>
        <p:nvSpPr>
          <p:cNvPr id="16"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7" name="زر التالي" descr="preencoded.png">
            <a:hlinkClick r:id="" action="ppaction://hlinkshowjump?jump=nextslide"/>
          </p:cNvPr>
          <p:cNvPicPr>
            <a:picLocks noChangeAspect="1"/>
          </p:cNvPicPr>
          <p:nvPr/>
        </p:nvPicPr>
        <p:blipFill>
          <a:blip r:embed="rId10"/>
          <a:stretch>
            <a:fillRect/>
          </a:stretch>
        </p:blipFill>
        <p:spPr>
          <a:xfrm>
            <a:off x="612648" y="6208776"/>
            <a:ext cx="256032" cy="256032"/>
          </a:xfrm>
          <a:prstGeom prst="rect">
            <a:avLst/>
          </a:prstGeom>
        </p:spPr>
      </p:pic>
      <p:sp>
        <p:nvSpPr>
          <p:cNvPr id="18" name="زر انتقال">
            <a:hlinkClick r:id="rId11"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9" name="زر انتقال" descr="preencoded.png">
            <a:hlinkClick r:id="rId11" action="ppaction://hlinksldjump"/>
          </p:cNvPr>
          <p:cNvPicPr>
            <a:picLocks noChangeAspect="1"/>
          </p:cNvPicPr>
          <p:nvPr/>
        </p:nvPicPr>
        <p:blipFill>
          <a:blip r:embed="rId12"/>
          <a:stretch>
            <a:fillRect/>
          </a:stretch>
        </p:blipFill>
        <p:spPr>
          <a:xfrm>
            <a:off x="1316736" y="6208776"/>
            <a:ext cx="256032" cy="256032"/>
          </a:xfrm>
          <a:prstGeom prst="rect">
            <a:avLst/>
          </a:prstGeom>
        </p:spPr>
      </p:pic>
      <p:sp>
        <p:nvSpPr>
          <p:cNvPr id="20"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1" name="زر السابق" descr="preencoded.png">
            <a:hlinkClick r:id="" action="ppaction://hlinkshowjump?jump=previousslide"/>
          </p:cNvPr>
          <p:cNvPicPr>
            <a:picLocks noChangeAspect="1"/>
          </p:cNvPicPr>
          <p:nvPr/>
        </p:nvPicPr>
        <p:blipFill>
          <a:blip r:embed="rId13"/>
          <a:stretch>
            <a:fillRect/>
          </a:stretch>
        </p:blipFill>
        <p:spPr>
          <a:xfrm>
            <a:off x="2020824" y="6208776"/>
            <a:ext cx="256032" cy="25603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E2453B"/>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التفاف النص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التفاف النص</a:t>
            </a:r>
            <a:endParaRPr lang="ar-OM" sz="3200" dirty="0"/>
          </a:p>
        </p:txBody>
      </p:sp>
      <p:pic>
        <p:nvPicPr>
          <p:cNvPr id="5" name="img arrange.png" descr="a/arrange.png"/>
          <p:cNvPicPr>
            <a:picLocks noChangeAspect="1"/>
          </p:cNvPicPr>
          <p:nvPr/>
        </p:nvPicPr>
        <p:blipFill>
          <a:blip r:embed="rId3"/>
          <a:stretch>
            <a:fillRect/>
          </a:stretch>
        </p:blipFill>
        <p:spPr>
          <a:xfrm>
            <a:off x="457200" y="1417824"/>
            <a:ext cx="3108960" cy="1096272"/>
          </a:xfrm>
          <a:prstGeom prst="rect">
            <a:avLst/>
          </a:prstGeom>
          <a:effectLst>
            <a:outerShdw blurRad="76200" dist="38100" dir="5400000" algn="bl" rotWithShape="0">
              <a:srgbClr val="7A8CA0">
                <a:alpha val="35000"/>
              </a:srgbClr>
            </a:outerShdw>
          </a:effectLst>
        </p:spPr>
      </p:pic>
      <p:sp>
        <p:nvSpPr>
          <p:cNvPr id="6" name="marker 2"/>
          <p:cNvSpPr/>
          <p:nvPr/>
        </p:nvSpPr>
        <p:spPr>
          <a:xfrm>
            <a:off x="1077657" y="1592920"/>
            <a:ext cx="420624" cy="420624"/>
          </a:xfrm>
          <a:prstGeom prst="ellipse">
            <a:avLst/>
          </a:prstGeom>
          <a:solidFill>
            <a:srgbClr val="E2453B"/>
          </a:solidFill>
          <a:ln w="31750">
            <a:solidFill>
              <a:srgbClr val="FFFFFF"/>
            </a:solidFill>
            <a:prstDash val="solid"/>
          </a:ln>
          <a:effectLst>
            <a:outerShdw blurRad="38100" dist="19050" dir="5400000" algn="bl" rotWithShape="0">
              <a:srgbClr val="000000">
                <a:alpha val="30000"/>
              </a:srgbClr>
            </a:outerShdw>
          </a:effectLst>
        </p:spPr>
        <p:txBody>
          <a:bodyPr/>
          <a:lstStyle/>
          <a:p>
            <a:endParaRPr lang="ar-OM"/>
          </a:p>
        </p:txBody>
      </p:sp>
      <p:sp>
        <p:nvSpPr>
          <p:cNvPr id="7" name="marker num 2"/>
          <p:cNvSpPr txBox="1"/>
          <p:nvPr/>
        </p:nvSpPr>
        <p:spPr>
          <a:xfrm>
            <a:off x="1077657" y="159292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pic>
        <p:nvPicPr>
          <p:cNvPr id="8" name="img wrap_menu.png" descr="a/wrap_menu.png"/>
          <p:cNvPicPr>
            <a:picLocks noChangeAspect="1"/>
          </p:cNvPicPr>
          <p:nvPr/>
        </p:nvPicPr>
        <p:blipFill>
          <a:blip r:embed="rId4"/>
          <a:stretch>
            <a:fillRect/>
          </a:stretch>
        </p:blipFill>
        <p:spPr>
          <a:xfrm>
            <a:off x="4162535" y="1280160"/>
            <a:ext cx="2373409" cy="4526280"/>
          </a:xfrm>
          <a:prstGeom prst="rect">
            <a:avLst/>
          </a:prstGeom>
          <a:effectLst>
            <a:outerShdw blurRad="76200" dist="38100" dir="5400000" algn="bl" rotWithShape="0">
              <a:srgbClr val="7A8CA0">
                <a:alpha val="35000"/>
              </a:srgbClr>
            </a:outerShdw>
          </a:effectLst>
        </p:spPr>
      </p:pic>
      <p:pic>
        <p:nvPicPr>
          <p:cNvPr id="9" name="arrow" descr="preencoded.png"/>
          <p:cNvPicPr>
            <a:picLocks noChangeAspect="1"/>
          </p:cNvPicPr>
          <p:nvPr/>
        </p:nvPicPr>
        <p:blipFill>
          <a:blip r:embed="rId5"/>
          <a:stretch>
            <a:fillRect/>
          </a:stretch>
        </p:blipFill>
        <p:spPr>
          <a:xfrm>
            <a:off x="3611880" y="1737360"/>
            <a:ext cx="411480" cy="411480"/>
          </a:xfrm>
          <a:prstGeom prst="rect">
            <a:avLst/>
          </a:prstGeom>
        </p:spPr>
      </p:pic>
      <p:pic>
        <p:nvPicPr>
          <p:cNvPr id="10" name="img wrap_icon.png" descr="a/wrap_icon.png"/>
          <p:cNvPicPr>
            <a:picLocks noChangeAspect="1"/>
          </p:cNvPicPr>
          <p:nvPr/>
        </p:nvPicPr>
        <p:blipFill>
          <a:blip r:embed="rId6"/>
          <a:stretch>
            <a:fillRect/>
          </a:stretch>
        </p:blipFill>
        <p:spPr>
          <a:xfrm>
            <a:off x="1277319" y="3703320"/>
            <a:ext cx="1011523" cy="2011680"/>
          </a:xfrm>
          <a:prstGeom prst="rect">
            <a:avLst/>
          </a:prstGeom>
        </p:spPr>
      </p:pic>
      <p:sp>
        <p:nvSpPr>
          <p:cNvPr id="11" name="step card"/>
          <p:cNvSpPr/>
          <p:nvPr/>
        </p:nvSpPr>
        <p:spPr>
          <a:xfrm>
            <a:off x="6720840" y="1325880"/>
            <a:ext cx="5010912" cy="1325880"/>
          </a:xfrm>
          <a:prstGeom prst="roundRect">
            <a:avLst>
              <a:gd name="adj" fmla="val 10345"/>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2" name="step num"/>
          <p:cNvSpPr/>
          <p:nvPr/>
        </p:nvSpPr>
        <p:spPr>
          <a:xfrm>
            <a:off x="11055096" y="1732788"/>
            <a:ext cx="512064" cy="512064"/>
          </a:xfrm>
          <a:prstGeom prst="ellipse">
            <a:avLst/>
          </a:prstGeom>
          <a:solidFill>
            <a:srgbClr val="E2453B"/>
          </a:solidFill>
          <a:ln/>
        </p:spPr>
        <p:txBody>
          <a:bodyPr/>
          <a:lstStyle/>
          <a:p>
            <a:endParaRPr lang="ar-OM"/>
          </a:p>
        </p:txBody>
      </p:sp>
      <p:sp>
        <p:nvSpPr>
          <p:cNvPr id="13" name="Text 7"/>
          <p:cNvSpPr txBox="1"/>
          <p:nvPr/>
        </p:nvSpPr>
        <p:spPr>
          <a:xfrm>
            <a:off x="11055096" y="173278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4" name="Text 8"/>
          <p:cNvSpPr txBox="1"/>
          <p:nvPr/>
        </p:nvSpPr>
        <p:spPr>
          <a:xfrm>
            <a:off x="6903720" y="1362456"/>
            <a:ext cx="4041648" cy="1252728"/>
          </a:xfrm>
          <a:prstGeom prst="rect">
            <a:avLst/>
          </a:prstGeom>
          <a:noFill/>
          <a:ln/>
        </p:spPr>
        <p:txBody>
          <a:bodyPr wrap="square" lIns="635" tIns="635" rIns="635" bIns="635" rtlCol="0" anchor="ctr"/>
          <a:lstStyle/>
          <a:p>
            <a:pPr marL="0" indent="0" algn="r">
              <a:buNone/>
            </a:pPr>
            <a:r>
              <a:rPr lang="ar-OM" altLang="en-US" sz="1800" dirty="0">
                <a:solidFill>
                  <a:srgbClr val="1F2D3D"/>
                </a:solidFill>
                <a:latin typeface="Arial" pitchFamily="34" charset="0"/>
                <a:ea typeface="Arial" pitchFamily="34" charset="-122"/>
                <a:cs typeface="Arial" pitchFamily="34" charset="-120"/>
              </a:rPr>
              <a:t>حدِّدِ الصورة.</a:t>
            </a:r>
            <a:endParaRPr lang="ar-OM" sz="1800" dirty="0"/>
          </a:p>
        </p:txBody>
      </p:sp>
      <p:sp>
        <p:nvSpPr>
          <p:cNvPr id="15" name="step card"/>
          <p:cNvSpPr/>
          <p:nvPr/>
        </p:nvSpPr>
        <p:spPr>
          <a:xfrm>
            <a:off x="6720840" y="2788920"/>
            <a:ext cx="5010912" cy="1325880"/>
          </a:xfrm>
          <a:prstGeom prst="roundRect">
            <a:avLst>
              <a:gd name="adj" fmla="val 10345"/>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6" name="step num"/>
          <p:cNvSpPr/>
          <p:nvPr/>
        </p:nvSpPr>
        <p:spPr>
          <a:xfrm>
            <a:off x="11055096" y="3195828"/>
            <a:ext cx="512064" cy="512064"/>
          </a:xfrm>
          <a:prstGeom prst="ellipse">
            <a:avLst/>
          </a:prstGeom>
          <a:solidFill>
            <a:srgbClr val="E2453B"/>
          </a:solidFill>
          <a:ln/>
        </p:spPr>
        <p:txBody>
          <a:bodyPr/>
          <a:lstStyle/>
          <a:p>
            <a:endParaRPr lang="ar-OM"/>
          </a:p>
        </p:txBody>
      </p:sp>
      <p:sp>
        <p:nvSpPr>
          <p:cNvPr id="17" name="Text 11"/>
          <p:cNvSpPr txBox="1"/>
          <p:nvPr/>
        </p:nvSpPr>
        <p:spPr>
          <a:xfrm>
            <a:off x="11055096" y="319582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8" name="Text 12"/>
          <p:cNvSpPr txBox="1"/>
          <p:nvPr/>
        </p:nvSpPr>
        <p:spPr>
          <a:xfrm>
            <a:off x="6903720" y="2825496"/>
            <a:ext cx="4041648" cy="1252728"/>
          </a:xfrm>
          <a:prstGeom prst="rect">
            <a:avLst/>
          </a:prstGeom>
          <a:noFill/>
          <a:ln/>
        </p:spPr>
        <p:txBody>
          <a:bodyPr wrap="square" lIns="635" tIns="635" rIns="635" bIns="635" rtlCol="0" anchor="ctr"/>
          <a:lstStyle/>
          <a:p>
            <a:pPr marL="0" indent="0" algn="r">
              <a:buNone/>
            </a:pPr>
            <a:r>
              <a:rPr lang="ar-OM" altLang="en-US" sz="1800" dirty="0">
                <a:solidFill>
                  <a:srgbClr val="1F2D3D"/>
                </a:solidFill>
                <a:latin typeface="Arial" pitchFamily="34" charset="0"/>
                <a:ea typeface="Arial" pitchFamily="34" charset="-122"/>
                <a:cs typeface="Arial" pitchFamily="34" charset="-120"/>
              </a:rPr>
              <a:t>انقرْ خيارَ التفاف النص </a:t>
            </a:r>
            <a:r>
              <a:rPr lang="ar-OM" altLang="en-US" sz="1800" b="1" dirty="0">
                <a:solidFill>
                  <a:srgbClr val="B3261E"/>
                </a:solidFill>
                <a:latin typeface="Arial" pitchFamily="34" charset="0"/>
                <a:ea typeface="Arial" pitchFamily="34" charset="-122"/>
                <a:cs typeface="Arial" pitchFamily="34" charset="-120"/>
              </a:rPr>
              <a:t>(Wrap Text)</a:t>
            </a:r>
            <a:r>
              <a:rPr lang="ar-OM" altLang="en-US" sz="1800" dirty="0">
                <a:solidFill>
                  <a:srgbClr val="1F2D3D"/>
                </a:solidFill>
                <a:latin typeface="Arial" pitchFamily="34" charset="0"/>
                <a:ea typeface="Arial" pitchFamily="34" charset="-122"/>
                <a:cs typeface="Arial" pitchFamily="34" charset="-120"/>
              </a:rPr>
              <a:t> الموجودَ في مجموعة ترتيب </a:t>
            </a:r>
            <a:r>
              <a:rPr lang="ar-OM" altLang="en-US" sz="1800" b="1" dirty="0">
                <a:solidFill>
                  <a:srgbClr val="B3261E"/>
                </a:solidFill>
                <a:latin typeface="Arial" pitchFamily="34" charset="0"/>
                <a:ea typeface="Arial" pitchFamily="34" charset="-122"/>
                <a:cs typeface="Arial" pitchFamily="34" charset="-120"/>
              </a:rPr>
              <a:t>(Arrange)</a:t>
            </a:r>
            <a:r>
              <a:rPr lang="ar-OM" altLang="en-US" sz="1800" dirty="0">
                <a:solidFill>
                  <a:srgbClr val="1F2D3D"/>
                </a:solidFill>
                <a:latin typeface="Arial" pitchFamily="34" charset="0"/>
                <a:ea typeface="Arial" pitchFamily="34" charset="-122"/>
                <a:cs typeface="Arial" pitchFamily="34" charset="-120"/>
              </a:rPr>
              <a:t>، واخترِ الالتفافَ الذي يناسبُك.</a:t>
            </a:r>
            <a:endParaRPr lang="ar-OM" sz="1800" dirty="0"/>
          </a:p>
        </p:txBody>
      </p:sp>
      <p:sp>
        <p:nvSpPr>
          <p:cNvPr id="19" name="tip"/>
          <p:cNvSpPr/>
          <p:nvPr/>
        </p:nvSpPr>
        <p:spPr>
          <a:xfrm>
            <a:off x="6720840" y="4297680"/>
            <a:ext cx="5010912" cy="1463040"/>
          </a:xfrm>
          <a:prstGeom prst="roundRect">
            <a:avLst>
              <a:gd name="adj" fmla="val 9375"/>
            </a:avLst>
          </a:prstGeom>
          <a:solidFill>
            <a:srgbClr val="FDE3E1"/>
          </a:solidFill>
          <a:ln/>
        </p:spPr>
        <p:txBody>
          <a:bodyPr/>
          <a:lstStyle/>
          <a:p>
            <a:endParaRPr lang="ar-OM"/>
          </a:p>
        </p:txBody>
      </p:sp>
      <p:sp>
        <p:nvSpPr>
          <p:cNvPr id="20" name="icon bg"/>
          <p:cNvSpPr/>
          <p:nvPr/>
        </p:nvSpPr>
        <p:spPr>
          <a:xfrm>
            <a:off x="11045952" y="4777740"/>
            <a:ext cx="502920" cy="502920"/>
          </a:xfrm>
          <a:prstGeom prst="ellipse">
            <a:avLst/>
          </a:prstGeom>
          <a:solidFill>
            <a:srgbClr val="E2453B"/>
          </a:solidFill>
          <a:ln/>
        </p:spPr>
        <p:txBody>
          <a:bodyPr/>
          <a:lstStyle/>
          <a:p>
            <a:endParaRPr lang="ar-OM"/>
          </a:p>
        </p:txBody>
      </p:sp>
      <p:pic>
        <p:nvPicPr>
          <p:cNvPr id="21" name="icon" descr="preencoded.png"/>
          <p:cNvPicPr>
            <a:picLocks noChangeAspect="1"/>
          </p:cNvPicPr>
          <p:nvPr/>
        </p:nvPicPr>
        <p:blipFill>
          <a:blip r:embed="rId7"/>
          <a:stretch>
            <a:fillRect/>
          </a:stretch>
        </p:blipFill>
        <p:spPr>
          <a:xfrm>
            <a:off x="11166653" y="4898441"/>
            <a:ext cx="261518" cy="261518"/>
          </a:xfrm>
          <a:prstGeom prst="rect">
            <a:avLst/>
          </a:prstGeom>
        </p:spPr>
      </p:pic>
      <p:sp>
        <p:nvSpPr>
          <p:cNvPr id="22" name="Text 15"/>
          <p:cNvSpPr txBox="1"/>
          <p:nvPr/>
        </p:nvSpPr>
        <p:spPr>
          <a:xfrm>
            <a:off x="6903720" y="4297680"/>
            <a:ext cx="4050792" cy="1463040"/>
          </a:xfrm>
          <a:prstGeom prst="rect">
            <a:avLst/>
          </a:prstGeom>
          <a:noFill/>
          <a:ln/>
        </p:spPr>
        <p:txBody>
          <a:bodyPr wrap="square" lIns="635" tIns="635" rIns="635" bIns="635" rtlCol="0" anchor="ctr"/>
          <a:lstStyle/>
          <a:p>
            <a:pPr marL="0" indent="0" algn="r" rtl="1">
              <a:buNone/>
            </a:pPr>
            <a:r>
              <a:rPr lang="ar-OM" altLang="en-US" sz="1700" dirty="0">
                <a:solidFill>
                  <a:srgbClr val="1F2D3D"/>
                </a:solidFill>
                <a:latin typeface="Arial" pitchFamily="34" charset="0"/>
                <a:ea typeface="Arial" pitchFamily="34" charset="-122"/>
                <a:cs typeface="Arial" pitchFamily="34" charset="-120"/>
              </a:rPr>
              <a:t>التفافُ النصِّ يتحكّمُ بطريقةِ ظهورِ النصِّ حولَ الصورة: بجانبها، أو أعلاها وأسفلها، أو خلفها، أو أمامها.</a:t>
            </a:r>
            <a:endParaRPr lang="ar-OM" sz="1700" dirty="0"/>
          </a:p>
        </p:txBody>
      </p:sp>
      <p:sp>
        <p:nvSpPr>
          <p:cNvPr id="23"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4" name="زر التالي" descr="preencoded.png">
            <a:hlinkClick r:id="" action="ppaction://hlinkshowjump?jump=nextslide"/>
          </p:cNvPr>
          <p:cNvPicPr>
            <a:picLocks noChangeAspect="1"/>
          </p:cNvPicPr>
          <p:nvPr/>
        </p:nvPicPr>
        <p:blipFill>
          <a:blip r:embed="rId8"/>
          <a:stretch>
            <a:fillRect/>
          </a:stretch>
        </p:blipFill>
        <p:spPr>
          <a:xfrm>
            <a:off x="612648" y="6208776"/>
            <a:ext cx="256032" cy="256032"/>
          </a:xfrm>
          <a:prstGeom prst="rect">
            <a:avLst/>
          </a:prstGeom>
        </p:spPr>
      </p:pic>
      <p:sp>
        <p:nvSpPr>
          <p:cNvPr id="25" name="زر انتقال">
            <a:hlinkClick r:id="rId9"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6" name="زر انتقال" descr="preencoded.png">
            <a:hlinkClick r:id="rId9" action="ppaction://hlinksldjump"/>
          </p:cNvPr>
          <p:cNvPicPr>
            <a:picLocks noChangeAspect="1"/>
          </p:cNvPicPr>
          <p:nvPr/>
        </p:nvPicPr>
        <p:blipFill>
          <a:blip r:embed="rId10"/>
          <a:stretch>
            <a:fillRect/>
          </a:stretch>
        </p:blipFill>
        <p:spPr>
          <a:xfrm>
            <a:off x="1316736" y="6208776"/>
            <a:ext cx="256032" cy="256032"/>
          </a:xfrm>
          <a:prstGeom prst="rect">
            <a:avLst/>
          </a:prstGeom>
        </p:spPr>
      </p:pic>
      <p:sp>
        <p:nvSpPr>
          <p:cNvPr id="27"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8" name="زر السابق" descr="preencoded.png">
            <a:hlinkClick r:id="" action="ppaction://hlinkshowjump?jump=previousslide"/>
          </p:cNvPr>
          <p:cNvPicPr>
            <a:picLocks noChangeAspect="1"/>
          </p:cNvPicPr>
          <p:nvPr/>
        </p:nvPicPr>
        <p:blipFill>
          <a:blip r:embed="rId11"/>
          <a:stretch>
            <a:fillRect/>
          </a:stretch>
        </p:blipFill>
        <p:spPr>
          <a:xfrm>
            <a:off x="2020824" y="6208776"/>
            <a:ext cx="256032" cy="25603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E2453B"/>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التفاف النص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أنواع التفاف النص (1)</a:t>
            </a:r>
            <a:endParaRPr lang="ar-OM" sz="3200" dirty="0"/>
          </a:p>
        </p:txBody>
      </p:sp>
      <p:sp>
        <p:nvSpPr>
          <p:cNvPr id="5" name="card"/>
          <p:cNvSpPr/>
          <p:nvPr/>
        </p:nvSpPr>
        <p:spPr>
          <a:xfrm>
            <a:off x="8119872" y="1280160"/>
            <a:ext cx="3611880" cy="4526280"/>
          </a:xfrm>
          <a:prstGeom prst="roundRect">
            <a:avLst>
              <a:gd name="adj" fmla="val 4557"/>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6" name="Shape 4"/>
          <p:cNvSpPr/>
          <p:nvPr/>
        </p:nvSpPr>
        <p:spPr>
          <a:xfrm>
            <a:off x="8302752" y="1417320"/>
            <a:ext cx="3246120" cy="566928"/>
          </a:xfrm>
          <a:prstGeom prst="roundRect">
            <a:avLst>
              <a:gd name="adj" fmla="val 48387"/>
            </a:avLst>
          </a:prstGeom>
          <a:solidFill>
            <a:srgbClr val="E2453B"/>
          </a:solidFill>
          <a:ln/>
        </p:spPr>
        <p:txBody>
          <a:bodyPr/>
          <a:lstStyle/>
          <a:p>
            <a:endParaRPr lang="ar-OM"/>
          </a:p>
        </p:txBody>
      </p:sp>
      <p:sp>
        <p:nvSpPr>
          <p:cNvPr id="7" name="Text 5"/>
          <p:cNvSpPr txBox="1"/>
          <p:nvPr/>
        </p:nvSpPr>
        <p:spPr>
          <a:xfrm>
            <a:off x="8302752" y="1417320"/>
            <a:ext cx="3246120" cy="566928"/>
          </a:xfrm>
          <a:prstGeom prst="rect">
            <a:avLst/>
          </a:prstGeom>
          <a:noFill/>
          <a:ln/>
        </p:spPr>
        <p:txBody>
          <a:bodyPr wrap="square" lIns="635" tIns="635" rIns="635" bIns="635" rtlCol="0" anchor="ctr"/>
          <a:lstStyle/>
          <a:p>
            <a:pPr marL="0" indent="0" algn="ctr">
              <a:buNone/>
            </a:pPr>
            <a:r>
              <a:rPr lang="ar-OM" altLang="en-US" sz="1800" b="1" dirty="0">
                <a:solidFill>
                  <a:srgbClr val="FFFFFF"/>
                </a:solidFill>
                <a:latin typeface="Arial" pitchFamily="34" charset="0"/>
                <a:ea typeface="Arial" pitchFamily="34" charset="-122"/>
                <a:cs typeface="Arial" pitchFamily="34" charset="-120"/>
              </a:rPr>
              <a:t>سطريّ مع النص </a:t>
            </a:r>
            <a:r>
              <a:rPr lang="ar-OM" altLang="en-US" sz="1400" b="1" dirty="0">
                <a:solidFill>
                  <a:srgbClr val="FFFFFF"/>
                </a:solidFill>
                <a:latin typeface="Arial" pitchFamily="34" charset="0"/>
                <a:ea typeface="Arial" pitchFamily="34" charset="-122"/>
                <a:cs typeface="Arial" pitchFamily="34" charset="-120"/>
              </a:rPr>
              <a:t>(In Line with Text)</a:t>
            </a:r>
            <a:endParaRPr lang="ar-OM" sz="1800" dirty="0"/>
          </a:p>
        </p:txBody>
      </p:sp>
      <p:pic>
        <p:nvPicPr>
          <p:cNvPr id="8" name="img wrap_inline.png" descr="a/wrap_inline.png"/>
          <p:cNvPicPr>
            <a:picLocks noChangeAspect="1"/>
          </p:cNvPicPr>
          <p:nvPr/>
        </p:nvPicPr>
        <p:blipFill>
          <a:blip r:embed="rId3"/>
          <a:stretch>
            <a:fillRect/>
          </a:stretch>
        </p:blipFill>
        <p:spPr>
          <a:xfrm>
            <a:off x="8490607" y="2103120"/>
            <a:ext cx="2870410" cy="2331720"/>
          </a:xfrm>
          <a:prstGeom prst="rect">
            <a:avLst/>
          </a:prstGeom>
        </p:spPr>
      </p:pic>
      <p:sp>
        <p:nvSpPr>
          <p:cNvPr id="9" name="Text 6"/>
          <p:cNvSpPr txBox="1"/>
          <p:nvPr/>
        </p:nvSpPr>
        <p:spPr>
          <a:xfrm>
            <a:off x="8302752" y="4526280"/>
            <a:ext cx="3246120" cy="1188720"/>
          </a:xfrm>
          <a:prstGeom prst="rect">
            <a:avLst/>
          </a:prstGeom>
          <a:noFill/>
          <a:ln/>
        </p:spPr>
        <p:txBody>
          <a:bodyPr wrap="square" lIns="635" tIns="635" rIns="635" bIns="635" rtlCol="0" anchor="t"/>
          <a:lstStyle/>
          <a:p>
            <a:pPr marL="0" indent="0" algn="r" rtl="1">
              <a:buNone/>
            </a:pPr>
            <a:r>
              <a:rPr lang="ar-OM" altLang="en-US" sz="1600" dirty="0">
                <a:solidFill>
                  <a:srgbClr val="1F2D3D"/>
                </a:solidFill>
                <a:latin typeface="Arial" pitchFamily="34" charset="0"/>
                <a:ea typeface="Arial" pitchFamily="34" charset="-122"/>
                <a:cs typeface="Arial" pitchFamily="34" charset="-120"/>
              </a:rPr>
              <a:t>توضَعُ الصورةُ في سطرِ النصِّ كأنّها كلمة. يُوصى به للصورِ الصغيرةِ والأيقونات.</a:t>
            </a:r>
            <a:endParaRPr lang="ar-OM" sz="1600" dirty="0"/>
          </a:p>
        </p:txBody>
      </p:sp>
      <p:sp>
        <p:nvSpPr>
          <p:cNvPr id="10" name="card"/>
          <p:cNvSpPr/>
          <p:nvPr/>
        </p:nvSpPr>
        <p:spPr>
          <a:xfrm>
            <a:off x="4288536" y="1280160"/>
            <a:ext cx="3611880" cy="4526280"/>
          </a:xfrm>
          <a:prstGeom prst="roundRect">
            <a:avLst>
              <a:gd name="adj" fmla="val 4557"/>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1" name="Shape 8"/>
          <p:cNvSpPr/>
          <p:nvPr/>
        </p:nvSpPr>
        <p:spPr>
          <a:xfrm>
            <a:off x="4471416" y="1417320"/>
            <a:ext cx="3246120" cy="566928"/>
          </a:xfrm>
          <a:prstGeom prst="roundRect">
            <a:avLst>
              <a:gd name="adj" fmla="val 48387"/>
            </a:avLst>
          </a:prstGeom>
          <a:solidFill>
            <a:srgbClr val="E2453B"/>
          </a:solidFill>
          <a:ln/>
        </p:spPr>
        <p:txBody>
          <a:bodyPr/>
          <a:lstStyle/>
          <a:p>
            <a:endParaRPr lang="ar-OM"/>
          </a:p>
        </p:txBody>
      </p:sp>
      <p:sp>
        <p:nvSpPr>
          <p:cNvPr id="12" name="Text 9"/>
          <p:cNvSpPr txBox="1"/>
          <p:nvPr/>
        </p:nvSpPr>
        <p:spPr>
          <a:xfrm>
            <a:off x="4471416" y="1417320"/>
            <a:ext cx="3246120" cy="566928"/>
          </a:xfrm>
          <a:prstGeom prst="rect">
            <a:avLst/>
          </a:prstGeom>
          <a:noFill/>
          <a:ln/>
        </p:spPr>
        <p:txBody>
          <a:bodyPr wrap="square" lIns="635" tIns="635" rIns="635" bIns="635" rtlCol="0" anchor="ctr"/>
          <a:lstStyle/>
          <a:p>
            <a:pPr marL="0" indent="0" algn="ctr">
              <a:buNone/>
            </a:pPr>
            <a:r>
              <a:rPr lang="ar-OM" altLang="en-US" sz="1800" b="1" dirty="0">
                <a:solidFill>
                  <a:srgbClr val="FFFFFF"/>
                </a:solidFill>
                <a:latin typeface="Arial" pitchFamily="34" charset="0"/>
                <a:ea typeface="Arial" pitchFamily="34" charset="-122"/>
                <a:cs typeface="Arial" pitchFamily="34" charset="-120"/>
              </a:rPr>
              <a:t>مشدود </a:t>
            </a:r>
            <a:r>
              <a:rPr lang="ar-OM" altLang="en-US" sz="1400" b="1" dirty="0">
                <a:solidFill>
                  <a:srgbClr val="FFFFFF"/>
                </a:solidFill>
                <a:latin typeface="Arial" pitchFamily="34" charset="0"/>
                <a:ea typeface="Arial" pitchFamily="34" charset="-122"/>
                <a:cs typeface="Arial" pitchFamily="34" charset="-120"/>
              </a:rPr>
              <a:t>(Tight)</a:t>
            </a:r>
            <a:endParaRPr lang="ar-OM" sz="1800" dirty="0"/>
          </a:p>
        </p:txBody>
      </p:sp>
      <p:pic>
        <p:nvPicPr>
          <p:cNvPr id="13" name="img wrap_tight.png" descr="a/wrap_tight.png"/>
          <p:cNvPicPr>
            <a:picLocks noChangeAspect="1"/>
          </p:cNvPicPr>
          <p:nvPr/>
        </p:nvPicPr>
        <p:blipFill>
          <a:blip r:embed="rId4"/>
          <a:stretch>
            <a:fillRect/>
          </a:stretch>
        </p:blipFill>
        <p:spPr>
          <a:xfrm>
            <a:off x="4471416" y="2128571"/>
            <a:ext cx="3246120" cy="2280819"/>
          </a:xfrm>
          <a:prstGeom prst="rect">
            <a:avLst/>
          </a:prstGeom>
        </p:spPr>
      </p:pic>
      <p:sp>
        <p:nvSpPr>
          <p:cNvPr id="14" name="Text 10"/>
          <p:cNvSpPr txBox="1"/>
          <p:nvPr/>
        </p:nvSpPr>
        <p:spPr>
          <a:xfrm>
            <a:off x="4471416" y="4526280"/>
            <a:ext cx="3246120" cy="1188720"/>
          </a:xfrm>
          <a:prstGeom prst="rect">
            <a:avLst/>
          </a:prstGeom>
          <a:noFill/>
          <a:ln/>
        </p:spPr>
        <p:txBody>
          <a:bodyPr wrap="square" lIns="635" tIns="635" rIns="635" bIns="635" rtlCol="0" anchor="t"/>
          <a:lstStyle/>
          <a:p>
            <a:pPr marL="0" indent="0" algn="r" rtl="1">
              <a:buNone/>
            </a:pPr>
            <a:r>
              <a:rPr lang="ar-OM" altLang="en-US" sz="1600" dirty="0">
                <a:solidFill>
                  <a:srgbClr val="1F2D3D"/>
                </a:solidFill>
                <a:latin typeface="Arial" pitchFamily="34" charset="0"/>
                <a:ea typeface="Arial" pitchFamily="34" charset="-122"/>
                <a:cs typeface="Arial" pitchFamily="34" charset="-120"/>
              </a:rPr>
              <a:t>يلتفُّ النصُّ حولَ حدودِ الصورةِ غيرِ المنتظمةِ ليأخذَ شكلَها.</a:t>
            </a:r>
            <a:endParaRPr lang="ar-OM" sz="1600" dirty="0"/>
          </a:p>
        </p:txBody>
      </p:sp>
      <p:sp>
        <p:nvSpPr>
          <p:cNvPr id="15" name="card"/>
          <p:cNvSpPr/>
          <p:nvPr/>
        </p:nvSpPr>
        <p:spPr>
          <a:xfrm>
            <a:off x="457200" y="1280160"/>
            <a:ext cx="3611880" cy="4526280"/>
          </a:xfrm>
          <a:prstGeom prst="roundRect">
            <a:avLst>
              <a:gd name="adj" fmla="val 4557"/>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6" name="Shape 12"/>
          <p:cNvSpPr/>
          <p:nvPr/>
        </p:nvSpPr>
        <p:spPr>
          <a:xfrm>
            <a:off x="640080" y="1417320"/>
            <a:ext cx="3246120" cy="566928"/>
          </a:xfrm>
          <a:prstGeom prst="roundRect">
            <a:avLst>
              <a:gd name="adj" fmla="val 48387"/>
            </a:avLst>
          </a:prstGeom>
          <a:solidFill>
            <a:srgbClr val="E2453B"/>
          </a:solidFill>
          <a:ln/>
        </p:spPr>
        <p:txBody>
          <a:bodyPr/>
          <a:lstStyle/>
          <a:p>
            <a:endParaRPr lang="ar-OM"/>
          </a:p>
        </p:txBody>
      </p:sp>
      <p:sp>
        <p:nvSpPr>
          <p:cNvPr id="17" name="Text 13"/>
          <p:cNvSpPr txBox="1"/>
          <p:nvPr/>
        </p:nvSpPr>
        <p:spPr>
          <a:xfrm>
            <a:off x="640080" y="1417320"/>
            <a:ext cx="3246120" cy="566928"/>
          </a:xfrm>
          <a:prstGeom prst="rect">
            <a:avLst/>
          </a:prstGeom>
          <a:noFill/>
          <a:ln/>
        </p:spPr>
        <p:txBody>
          <a:bodyPr wrap="square" lIns="635" tIns="635" rIns="635" bIns="635" rtlCol="0" anchor="ctr"/>
          <a:lstStyle/>
          <a:p>
            <a:pPr marL="0" indent="0" algn="ctr">
              <a:buNone/>
            </a:pPr>
            <a:r>
              <a:rPr lang="ar-OM" altLang="en-US" sz="1800" b="1" dirty="0">
                <a:solidFill>
                  <a:srgbClr val="FFFFFF"/>
                </a:solidFill>
                <a:latin typeface="Arial" pitchFamily="34" charset="0"/>
                <a:ea typeface="Arial" pitchFamily="34" charset="-122"/>
                <a:cs typeface="Arial" pitchFamily="34" charset="-120"/>
              </a:rPr>
              <a:t>أعلى وأسفل </a:t>
            </a:r>
            <a:r>
              <a:rPr lang="ar-OM" altLang="en-US" sz="1400" b="1" dirty="0">
                <a:solidFill>
                  <a:srgbClr val="FFFFFF"/>
                </a:solidFill>
                <a:latin typeface="Arial" pitchFamily="34" charset="0"/>
                <a:ea typeface="Arial" pitchFamily="34" charset="-122"/>
                <a:cs typeface="Arial" pitchFamily="34" charset="-120"/>
              </a:rPr>
              <a:t>(Top and Bottom)</a:t>
            </a:r>
            <a:endParaRPr lang="ar-OM" sz="1800" dirty="0"/>
          </a:p>
        </p:txBody>
      </p:sp>
      <p:pic>
        <p:nvPicPr>
          <p:cNvPr id="18" name="img wrap_tb.png" descr="a/wrap_tb.png"/>
          <p:cNvPicPr>
            <a:picLocks noChangeAspect="1"/>
          </p:cNvPicPr>
          <p:nvPr/>
        </p:nvPicPr>
        <p:blipFill>
          <a:blip r:embed="rId5"/>
          <a:stretch>
            <a:fillRect/>
          </a:stretch>
        </p:blipFill>
        <p:spPr>
          <a:xfrm>
            <a:off x="753817" y="2103120"/>
            <a:ext cx="3018647" cy="2331720"/>
          </a:xfrm>
          <a:prstGeom prst="rect">
            <a:avLst/>
          </a:prstGeom>
        </p:spPr>
      </p:pic>
      <p:sp>
        <p:nvSpPr>
          <p:cNvPr id="19" name="Text 14"/>
          <p:cNvSpPr txBox="1"/>
          <p:nvPr/>
        </p:nvSpPr>
        <p:spPr>
          <a:xfrm>
            <a:off x="640080" y="4526280"/>
            <a:ext cx="3246120" cy="1188720"/>
          </a:xfrm>
          <a:prstGeom prst="rect">
            <a:avLst/>
          </a:prstGeom>
          <a:noFill/>
          <a:ln/>
        </p:spPr>
        <p:txBody>
          <a:bodyPr wrap="square" lIns="635" tIns="635" rIns="635" bIns="635" rtlCol="0" anchor="t"/>
          <a:lstStyle/>
          <a:p>
            <a:pPr marL="0" indent="0" algn="r" rtl="1">
              <a:buNone/>
            </a:pPr>
            <a:r>
              <a:rPr lang="ar-OM" altLang="en-US" sz="1600" dirty="0">
                <a:solidFill>
                  <a:srgbClr val="1F2D3D"/>
                </a:solidFill>
                <a:latin typeface="Arial" pitchFamily="34" charset="0"/>
                <a:ea typeface="Arial" pitchFamily="34" charset="-122"/>
                <a:cs typeface="Arial" pitchFamily="34" charset="-120"/>
              </a:rPr>
              <a:t>يوضَعُ النصُّ أعلى الصورةِ وأسفلَها فقط.</a:t>
            </a:r>
            <a:endParaRPr lang="ar-OM" sz="1600" dirty="0"/>
          </a:p>
        </p:txBody>
      </p:sp>
      <p:sp>
        <p:nvSpPr>
          <p:cNvPr id="20"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1" name="زر التالي" descr="preencoded.png">
            <a:hlinkClick r:id="" action="ppaction://hlinkshowjump?jump=nextslide"/>
          </p:cNvPr>
          <p:cNvPicPr>
            <a:picLocks noChangeAspect="1"/>
          </p:cNvPicPr>
          <p:nvPr/>
        </p:nvPicPr>
        <p:blipFill>
          <a:blip r:embed="rId6"/>
          <a:stretch>
            <a:fillRect/>
          </a:stretch>
        </p:blipFill>
        <p:spPr>
          <a:xfrm>
            <a:off x="612648" y="6208776"/>
            <a:ext cx="256032" cy="256032"/>
          </a:xfrm>
          <a:prstGeom prst="rect">
            <a:avLst/>
          </a:prstGeom>
        </p:spPr>
      </p:pic>
      <p:sp>
        <p:nvSpPr>
          <p:cNvPr id="22" name="زر انتقال">
            <a:hlinkClick r:id="rId7"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3" name="زر انتقال" descr="preencoded.png">
            <a:hlinkClick r:id="rId7" action="ppaction://hlinksldjump"/>
          </p:cNvPr>
          <p:cNvPicPr>
            <a:picLocks noChangeAspect="1"/>
          </p:cNvPicPr>
          <p:nvPr/>
        </p:nvPicPr>
        <p:blipFill>
          <a:blip r:embed="rId8"/>
          <a:stretch>
            <a:fillRect/>
          </a:stretch>
        </p:blipFill>
        <p:spPr>
          <a:xfrm>
            <a:off x="1316736" y="6208776"/>
            <a:ext cx="256032" cy="256032"/>
          </a:xfrm>
          <a:prstGeom prst="rect">
            <a:avLst/>
          </a:prstGeom>
        </p:spPr>
      </p:pic>
      <p:sp>
        <p:nvSpPr>
          <p:cNvPr id="24"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5" name="زر السابق" descr="preencoded.png">
            <a:hlinkClick r:id="" action="ppaction://hlinkshowjump?jump=previousslide"/>
          </p:cNvPr>
          <p:cNvPicPr>
            <a:picLocks noChangeAspect="1"/>
          </p:cNvPicPr>
          <p:nvPr/>
        </p:nvPicPr>
        <p:blipFill>
          <a:blip r:embed="rId9"/>
          <a:stretch>
            <a:fillRect/>
          </a:stretch>
        </p:blipFill>
        <p:spPr>
          <a:xfrm>
            <a:off x="2020824" y="6208776"/>
            <a:ext cx="256032" cy="25603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E2453B"/>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التفاف النص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أنواع التفاف النص (2)</a:t>
            </a:r>
            <a:endParaRPr lang="ar-OM" sz="3200" dirty="0"/>
          </a:p>
        </p:txBody>
      </p:sp>
      <p:sp>
        <p:nvSpPr>
          <p:cNvPr id="5" name="card"/>
          <p:cNvSpPr/>
          <p:nvPr/>
        </p:nvSpPr>
        <p:spPr>
          <a:xfrm>
            <a:off x="8119872" y="1280160"/>
            <a:ext cx="3611880" cy="4526280"/>
          </a:xfrm>
          <a:prstGeom prst="roundRect">
            <a:avLst>
              <a:gd name="adj" fmla="val 4557"/>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6" name="Shape 4"/>
          <p:cNvSpPr/>
          <p:nvPr/>
        </p:nvSpPr>
        <p:spPr>
          <a:xfrm>
            <a:off x="8302752" y="1417320"/>
            <a:ext cx="3246120" cy="566928"/>
          </a:xfrm>
          <a:prstGeom prst="roundRect">
            <a:avLst>
              <a:gd name="adj" fmla="val 48387"/>
            </a:avLst>
          </a:prstGeom>
          <a:solidFill>
            <a:srgbClr val="E2453B"/>
          </a:solidFill>
          <a:ln/>
        </p:spPr>
        <p:txBody>
          <a:bodyPr/>
          <a:lstStyle/>
          <a:p>
            <a:endParaRPr lang="ar-OM"/>
          </a:p>
        </p:txBody>
      </p:sp>
      <p:sp>
        <p:nvSpPr>
          <p:cNvPr id="7" name="Text 5"/>
          <p:cNvSpPr txBox="1"/>
          <p:nvPr/>
        </p:nvSpPr>
        <p:spPr>
          <a:xfrm>
            <a:off x="8302752" y="1417320"/>
            <a:ext cx="3246120" cy="566928"/>
          </a:xfrm>
          <a:prstGeom prst="rect">
            <a:avLst/>
          </a:prstGeom>
          <a:noFill/>
          <a:ln/>
        </p:spPr>
        <p:txBody>
          <a:bodyPr wrap="square" lIns="635" tIns="635" rIns="635" bIns="635" rtlCol="0" anchor="ctr"/>
          <a:lstStyle/>
          <a:p>
            <a:pPr marL="0" indent="0" algn="ctr">
              <a:buNone/>
            </a:pPr>
            <a:r>
              <a:rPr lang="ar-OM" altLang="en-US" sz="1800" b="1" dirty="0">
                <a:solidFill>
                  <a:srgbClr val="FFFFFF"/>
                </a:solidFill>
                <a:latin typeface="Arial" pitchFamily="34" charset="0"/>
                <a:ea typeface="Arial" pitchFamily="34" charset="-122"/>
                <a:cs typeface="Arial" pitchFamily="34" charset="-120"/>
              </a:rPr>
              <a:t>مربع </a:t>
            </a:r>
            <a:r>
              <a:rPr lang="ar-OM" altLang="en-US" sz="1400" b="1" dirty="0">
                <a:solidFill>
                  <a:srgbClr val="FFFFFF"/>
                </a:solidFill>
                <a:latin typeface="Arial" pitchFamily="34" charset="0"/>
                <a:ea typeface="Arial" pitchFamily="34" charset="-122"/>
                <a:cs typeface="Arial" pitchFamily="34" charset="-120"/>
              </a:rPr>
              <a:t>(Square)</a:t>
            </a:r>
            <a:endParaRPr lang="ar-OM" sz="1800" dirty="0"/>
          </a:p>
        </p:txBody>
      </p:sp>
      <p:sp>
        <p:nvSpPr>
          <p:cNvPr id="8" name="doc"/>
          <p:cNvSpPr/>
          <p:nvPr/>
        </p:nvSpPr>
        <p:spPr>
          <a:xfrm>
            <a:off x="8622792" y="2103120"/>
            <a:ext cx="2606040" cy="2331720"/>
          </a:xfrm>
          <a:prstGeom prst="roundRect">
            <a:avLst>
              <a:gd name="adj" fmla="val 4706"/>
            </a:avLst>
          </a:prstGeom>
          <a:solidFill>
            <a:srgbClr val="FFFFFF"/>
          </a:solidFill>
          <a:ln w="19050">
            <a:solidFill>
              <a:srgbClr val="B8C7D9"/>
            </a:solidFill>
            <a:prstDash val="solid"/>
          </a:ln>
        </p:spPr>
        <p:txBody>
          <a:bodyPr/>
          <a:lstStyle/>
          <a:p>
            <a:endParaRPr lang="ar-OM"/>
          </a:p>
        </p:txBody>
      </p:sp>
      <p:sp>
        <p:nvSpPr>
          <p:cNvPr id="9" name="pic frame"/>
          <p:cNvSpPr/>
          <p:nvPr/>
        </p:nvSpPr>
        <p:spPr>
          <a:xfrm>
            <a:off x="9378544" y="2732684"/>
            <a:ext cx="1094537" cy="1049274"/>
          </a:xfrm>
          <a:prstGeom prst="rect">
            <a:avLst/>
          </a:prstGeom>
          <a:solidFill>
            <a:srgbClr val="FFFFFF"/>
          </a:solidFill>
          <a:ln w="12700">
            <a:solidFill>
              <a:srgbClr val="333333"/>
            </a:solidFill>
            <a:prstDash val="solid"/>
          </a:ln>
        </p:spPr>
        <p:txBody>
          <a:bodyPr/>
          <a:lstStyle/>
          <a:p>
            <a:endParaRPr lang="ar-OM"/>
          </a:p>
        </p:txBody>
      </p:sp>
      <p:pic>
        <p:nvPicPr>
          <p:cNvPr id="10" name="img robot.png" descr="a/robot.png"/>
          <p:cNvPicPr>
            <a:picLocks noChangeAspect="1"/>
          </p:cNvPicPr>
          <p:nvPr/>
        </p:nvPicPr>
        <p:blipFill>
          <a:blip r:embed="rId3"/>
          <a:stretch>
            <a:fillRect/>
          </a:stretch>
        </p:blipFill>
        <p:spPr>
          <a:xfrm>
            <a:off x="9446895" y="2778404"/>
            <a:ext cx="957834" cy="957834"/>
          </a:xfrm>
          <a:prstGeom prst="rect">
            <a:avLst/>
          </a:prstGeom>
        </p:spPr>
      </p:pic>
      <p:sp>
        <p:nvSpPr>
          <p:cNvPr id="11" name="text line"/>
          <p:cNvSpPr/>
          <p:nvPr/>
        </p:nvSpPr>
        <p:spPr>
          <a:xfrm>
            <a:off x="8942832" y="2466594"/>
            <a:ext cx="1965960" cy="64008"/>
          </a:xfrm>
          <a:prstGeom prst="rect">
            <a:avLst/>
          </a:prstGeom>
          <a:solidFill>
            <a:srgbClr val="7D8A99"/>
          </a:solidFill>
          <a:ln/>
        </p:spPr>
        <p:txBody>
          <a:bodyPr/>
          <a:lstStyle/>
          <a:p>
            <a:endParaRPr lang="ar-OM"/>
          </a:p>
        </p:txBody>
      </p:sp>
      <p:sp>
        <p:nvSpPr>
          <p:cNvPr id="12" name="text line"/>
          <p:cNvSpPr/>
          <p:nvPr/>
        </p:nvSpPr>
        <p:spPr>
          <a:xfrm>
            <a:off x="8942832" y="2644902"/>
            <a:ext cx="1965960" cy="64008"/>
          </a:xfrm>
          <a:prstGeom prst="rect">
            <a:avLst/>
          </a:prstGeom>
          <a:solidFill>
            <a:srgbClr val="7D8A99"/>
          </a:solidFill>
          <a:ln/>
        </p:spPr>
        <p:txBody>
          <a:bodyPr/>
          <a:lstStyle/>
          <a:p>
            <a:endParaRPr lang="ar-OM"/>
          </a:p>
        </p:txBody>
      </p:sp>
      <p:sp>
        <p:nvSpPr>
          <p:cNvPr id="13" name="text line"/>
          <p:cNvSpPr/>
          <p:nvPr/>
        </p:nvSpPr>
        <p:spPr>
          <a:xfrm>
            <a:off x="8942832" y="2823210"/>
            <a:ext cx="298552" cy="64008"/>
          </a:xfrm>
          <a:prstGeom prst="rect">
            <a:avLst/>
          </a:prstGeom>
          <a:solidFill>
            <a:srgbClr val="7D8A99"/>
          </a:solidFill>
          <a:ln/>
        </p:spPr>
        <p:txBody>
          <a:bodyPr/>
          <a:lstStyle/>
          <a:p>
            <a:endParaRPr lang="ar-OM"/>
          </a:p>
        </p:txBody>
      </p:sp>
      <p:sp>
        <p:nvSpPr>
          <p:cNvPr id="14" name="text line"/>
          <p:cNvSpPr/>
          <p:nvPr/>
        </p:nvSpPr>
        <p:spPr>
          <a:xfrm>
            <a:off x="10610240" y="2823210"/>
            <a:ext cx="298552" cy="64008"/>
          </a:xfrm>
          <a:prstGeom prst="rect">
            <a:avLst/>
          </a:prstGeom>
          <a:solidFill>
            <a:srgbClr val="7D8A99"/>
          </a:solidFill>
          <a:ln/>
        </p:spPr>
        <p:txBody>
          <a:bodyPr/>
          <a:lstStyle/>
          <a:p>
            <a:endParaRPr lang="ar-OM"/>
          </a:p>
        </p:txBody>
      </p:sp>
      <p:sp>
        <p:nvSpPr>
          <p:cNvPr id="15" name="text line"/>
          <p:cNvSpPr/>
          <p:nvPr/>
        </p:nvSpPr>
        <p:spPr>
          <a:xfrm>
            <a:off x="8942832" y="3001518"/>
            <a:ext cx="298552" cy="64008"/>
          </a:xfrm>
          <a:prstGeom prst="rect">
            <a:avLst/>
          </a:prstGeom>
          <a:solidFill>
            <a:srgbClr val="7D8A99"/>
          </a:solidFill>
          <a:ln/>
        </p:spPr>
        <p:txBody>
          <a:bodyPr/>
          <a:lstStyle/>
          <a:p>
            <a:endParaRPr lang="ar-OM"/>
          </a:p>
        </p:txBody>
      </p:sp>
      <p:sp>
        <p:nvSpPr>
          <p:cNvPr id="16" name="text line"/>
          <p:cNvSpPr/>
          <p:nvPr/>
        </p:nvSpPr>
        <p:spPr>
          <a:xfrm>
            <a:off x="10610240" y="3001518"/>
            <a:ext cx="298552" cy="64008"/>
          </a:xfrm>
          <a:prstGeom prst="rect">
            <a:avLst/>
          </a:prstGeom>
          <a:solidFill>
            <a:srgbClr val="7D8A99"/>
          </a:solidFill>
          <a:ln/>
        </p:spPr>
        <p:txBody>
          <a:bodyPr/>
          <a:lstStyle/>
          <a:p>
            <a:endParaRPr lang="ar-OM"/>
          </a:p>
        </p:txBody>
      </p:sp>
      <p:sp>
        <p:nvSpPr>
          <p:cNvPr id="17" name="text line"/>
          <p:cNvSpPr/>
          <p:nvPr/>
        </p:nvSpPr>
        <p:spPr>
          <a:xfrm>
            <a:off x="8942832" y="3179826"/>
            <a:ext cx="298552" cy="64008"/>
          </a:xfrm>
          <a:prstGeom prst="rect">
            <a:avLst/>
          </a:prstGeom>
          <a:solidFill>
            <a:srgbClr val="7D8A99"/>
          </a:solidFill>
          <a:ln/>
        </p:spPr>
        <p:txBody>
          <a:bodyPr/>
          <a:lstStyle/>
          <a:p>
            <a:endParaRPr lang="ar-OM"/>
          </a:p>
        </p:txBody>
      </p:sp>
      <p:sp>
        <p:nvSpPr>
          <p:cNvPr id="18" name="text line"/>
          <p:cNvSpPr/>
          <p:nvPr/>
        </p:nvSpPr>
        <p:spPr>
          <a:xfrm>
            <a:off x="10610240" y="3179826"/>
            <a:ext cx="298552" cy="64008"/>
          </a:xfrm>
          <a:prstGeom prst="rect">
            <a:avLst/>
          </a:prstGeom>
          <a:solidFill>
            <a:srgbClr val="7D8A99"/>
          </a:solidFill>
          <a:ln/>
        </p:spPr>
        <p:txBody>
          <a:bodyPr/>
          <a:lstStyle/>
          <a:p>
            <a:endParaRPr lang="ar-OM"/>
          </a:p>
        </p:txBody>
      </p:sp>
      <p:sp>
        <p:nvSpPr>
          <p:cNvPr id="19" name="text line"/>
          <p:cNvSpPr/>
          <p:nvPr/>
        </p:nvSpPr>
        <p:spPr>
          <a:xfrm>
            <a:off x="8942832" y="3358134"/>
            <a:ext cx="298552" cy="64008"/>
          </a:xfrm>
          <a:prstGeom prst="rect">
            <a:avLst/>
          </a:prstGeom>
          <a:solidFill>
            <a:srgbClr val="7D8A99"/>
          </a:solidFill>
          <a:ln/>
        </p:spPr>
        <p:txBody>
          <a:bodyPr/>
          <a:lstStyle/>
          <a:p>
            <a:endParaRPr lang="ar-OM"/>
          </a:p>
        </p:txBody>
      </p:sp>
      <p:sp>
        <p:nvSpPr>
          <p:cNvPr id="20" name="text line"/>
          <p:cNvSpPr/>
          <p:nvPr/>
        </p:nvSpPr>
        <p:spPr>
          <a:xfrm>
            <a:off x="10610240" y="3358134"/>
            <a:ext cx="298552" cy="64008"/>
          </a:xfrm>
          <a:prstGeom prst="rect">
            <a:avLst/>
          </a:prstGeom>
          <a:solidFill>
            <a:srgbClr val="7D8A99"/>
          </a:solidFill>
          <a:ln/>
        </p:spPr>
        <p:txBody>
          <a:bodyPr/>
          <a:lstStyle/>
          <a:p>
            <a:endParaRPr lang="ar-OM"/>
          </a:p>
        </p:txBody>
      </p:sp>
      <p:sp>
        <p:nvSpPr>
          <p:cNvPr id="21" name="text line"/>
          <p:cNvSpPr/>
          <p:nvPr/>
        </p:nvSpPr>
        <p:spPr>
          <a:xfrm>
            <a:off x="8942832" y="3536442"/>
            <a:ext cx="298552" cy="64008"/>
          </a:xfrm>
          <a:prstGeom prst="rect">
            <a:avLst/>
          </a:prstGeom>
          <a:solidFill>
            <a:srgbClr val="7D8A99"/>
          </a:solidFill>
          <a:ln/>
        </p:spPr>
        <p:txBody>
          <a:bodyPr/>
          <a:lstStyle/>
          <a:p>
            <a:endParaRPr lang="ar-OM"/>
          </a:p>
        </p:txBody>
      </p:sp>
      <p:sp>
        <p:nvSpPr>
          <p:cNvPr id="22" name="text line"/>
          <p:cNvSpPr/>
          <p:nvPr/>
        </p:nvSpPr>
        <p:spPr>
          <a:xfrm>
            <a:off x="10610240" y="3536442"/>
            <a:ext cx="298552" cy="64008"/>
          </a:xfrm>
          <a:prstGeom prst="rect">
            <a:avLst/>
          </a:prstGeom>
          <a:solidFill>
            <a:srgbClr val="7D8A99"/>
          </a:solidFill>
          <a:ln/>
        </p:spPr>
        <p:txBody>
          <a:bodyPr/>
          <a:lstStyle/>
          <a:p>
            <a:endParaRPr lang="ar-OM"/>
          </a:p>
        </p:txBody>
      </p:sp>
      <p:sp>
        <p:nvSpPr>
          <p:cNvPr id="23" name="text line"/>
          <p:cNvSpPr/>
          <p:nvPr/>
        </p:nvSpPr>
        <p:spPr>
          <a:xfrm>
            <a:off x="8942832" y="3714750"/>
            <a:ext cx="298552" cy="64008"/>
          </a:xfrm>
          <a:prstGeom prst="rect">
            <a:avLst/>
          </a:prstGeom>
          <a:solidFill>
            <a:srgbClr val="7D8A99"/>
          </a:solidFill>
          <a:ln/>
        </p:spPr>
        <p:txBody>
          <a:bodyPr/>
          <a:lstStyle/>
          <a:p>
            <a:endParaRPr lang="ar-OM"/>
          </a:p>
        </p:txBody>
      </p:sp>
      <p:sp>
        <p:nvSpPr>
          <p:cNvPr id="24" name="text line"/>
          <p:cNvSpPr/>
          <p:nvPr/>
        </p:nvSpPr>
        <p:spPr>
          <a:xfrm>
            <a:off x="10610240" y="3714750"/>
            <a:ext cx="298552" cy="64008"/>
          </a:xfrm>
          <a:prstGeom prst="rect">
            <a:avLst/>
          </a:prstGeom>
          <a:solidFill>
            <a:srgbClr val="7D8A99"/>
          </a:solidFill>
          <a:ln/>
        </p:spPr>
        <p:txBody>
          <a:bodyPr/>
          <a:lstStyle/>
          <a:p>
            <a:endParaRPr lang="ar-OM"/>
          </a:p>
        </p:txBody>
      </p:sp>
      <p:sp>
        <p:nvSpPr>
          <p:cNvPr id="25" name="text line"/>
          <p:cNvSpPr/>
          <p:nvPr/>
        </p:nvSpPr>
        <p:spPr>
          <a:xfrm>
            <a:off x="8942832" y="3893058"/>
            <a:ext cx="1965960" cy="64008"/>
          </a:xfrm>
          <a:prstGeom prst="rect">
            <a:avLst/>
          </a:prstGeom>
          <a:solidFill>
            <a:srgbClr val="7D8A99"/>
          </a:solidFill>
          <a:ln/>
        </p:spPr>
        <p:txBody>
          <a:bodyPr/>
          <a:lstStyle/>
          <a:p>
            <a:endParaRPr lang="ar-OM"/>
          </a:p>
        </p:txBody>
      </p:sp>
      <p:sp>
        <p:nvSpPr>
          <p:cNvPr id="26" name="text line"/>
          <p:cNvSpPr/>
          <p:nvPr/>
        </p:nvSpPr>
        <p:spPr>
          <a:xfrm>
            <a:off x="8942832" y="4071366"/>
            <a:ext cx="1965960" cy="64008"/>
          </a:xfrm>
          <a:prstGeom prst="rect">
            <a:avLst/>
          </a:prstGeom>
          <a:solidFill>
            <a:srgbClr val="7D8A99"/>
          </a:solidFill>
          <a:ln/>
        </p:spPr>
        <p:txBody>
          <a:bodyPr/>
          <a:lstStyle/>
          <a:p>
            <a:endParaRPr lang="ar-OM"/>
          </a:p>
        </p:txBody>
      </p:sp>
      <p:sp>
        <p:nvSpPr>
          <p:cNvPr id="27" name="Text 24"/>
          <p:cNvSpPr txBox="1"/>
          <p:nvPr/>
        </p:nvSpPr>
        <p:spPr>
          <a:xfrm>
            <a:off x="8302752" y="4526280"/>
            <a:ext cx="3246120" cy="1188720"/>
          </a:xfrm>
          <a:prstGeom prst="rect">
            <a:avLst/>
          </a:prstGeom>
          <a:noFill/>
          <a:ln/>
        </p:spPr>
        <p:txBody>
          <a:bodyPr wrap="square" lIns="635" tIns="635" rIns="635" bIns="635" rtlCol="0" anchor="t"/>
          <a:lstStyle/>
          <a:p>
            <a:pPr marL="0" indent="0" algn="r" rtl="1">
              <a:buNone/>
            </a:pPr>
            <a:r>
              <a:rPr lang="ar-OM" altLang="en-US" sz="1600" dirty="0">
                <a:solidFill>
                  <a:srgbClr val="1F2D3D"/>
                </a:solidFill>
                <a:latin typeface="Arial" pitchFamily="34" charset="0"/>
                <a:ea typeface="Arial" pitchFamily="34" charset="-122"/>
                <a:cs typeface="Arial" pitchFamily="34" charset="-120"/>
              </a:rPr>
              <a:t>يلتفُّ النصُّ حولَ إطارٍ مربعٍ يحيطُ بالصورة.</a:t>
            </a:r>
            <a:endParaRPr lang="ar-OM" sz="1600" dirty="0"/>
          </a:p>
        </p:txBody>
      </p:sp>
      <p:sp>
        <p:nvSpPr>
          <p:cNvPr id="28" name="card"/>
          <p:cNvSpPr/>
          <p:nvPr/>
        </p:nvSpPr>
        <p:spPr>
          <a:xfrm>
            <a:off x="4288536" y="1280160"/>
            <a:ext cx="3611880" cy="4526280"/>
          </a:xfrm>
          <a:prstGeom prst="roundRect">
            <a:avLst>
              <a:gd name="adj" fmla="val 4557"/>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9" name="Shape 26"/>
          <p:cNvSpPr/>
          <p:nvPr/>
        </p:nvSpPr>
        <p:spPr>
          <a:xfrm>
            <a:off x="4471416" y="1417320"/>
            <a:ext cx="3246120" cy="566928"/>
          </a:xfrm>
          <a:prstGeom prst="roundRect">
            <a:avLst>
              <a:gd name="adj" fmla="val 48387"/>
            </a:avLst>
          </a:prstGeom>
          <a:solidFill>
            <a:srgbClr val="E2453B"/>
          </a:solidFill>
          <a:ln/>
        </p:spPr>
        <p:txBody>
          <a:bodyPr/>
          <a:lstStyle/>
          <a:p>
            <a:endParaRPr lang="ar-OM"/>
          </a:p>
        </p:txBody>
      </p:sp>
      <p:sp>
        <p:nvSpPr>
          <p:cNvPr id="30" name="Text 27"/>
          <p:cNvSpPr txBox="1"/>
          <p:nvPr/>
        </p:nvSpPr>
        <p:spPr>
          <a:xfrm>
            <a:off x="4471416" y="1417320"/>
            <a:ext cx="3246120" cy="566928"/>
          </a:xfrm>
          <a:prstGeom prst="rect">
            <a:avLst/>
          </a:prstGeom>
          <a:noFill/>
          <a:ln/>
        </p:spPr>
        <p:txBody>
          <a:bodyPr wrap="square" lIns="635" tIns="635" rIns="635" bIns="635" rtlCol="0" anchor="ctr"/>
          <a:lstStyle/>
          <a:p>
            <a:pPr marL="0" indent="0" algn="ctr">
              <a:buNone/>
            </a:pPr>
            <a:r>
              <a:rPr lang="ar-OM" altLang="en-US" sz="1800" b="1" dirty="0">
                <a:solidFill>
                  <a:srgbClr val="FFFFFF"/>
                </a:solidFill>
                <a:latin typeface="Arial" pitchFamily="34" charset="0"/>
                <a:ea typeface="Arial" pitchFamily="34" charset="-122"/>
                <a:cs typeface="Arial" pitchFamily="34" charset="-120"/>
              </a:rPr>
              <a:t>خلف النص </a:t>
            </a:r>
            <a:r>
              <a:rPr lang="ar-OM" altLang="en-US" sz="1400" b="1" dirty="0">
                <a:solidFill>
                  <a:srgbClr val="FFFFFF"/>
                </a:solidFill>
                <a:latin typeface="Arial" pitchFamily="34" charset="0"/>
                <a:ea typeface="Arial" pitchFamily="34" charset="-122"/>
                <a:cs typeface="Arial" pitchFamily="34" charset="-120"/>
              </a:rPr>
              <a:t>(Behind Text)</a:t>
            </a:r>
            <a:endParaRPr lang="ar-OM" sz="1800" dirty="0"/>
          </a:p>
        </p:txBody>
      </p:sp>
      <p:sp>
        <p:nvSpPr>
          <p:cNvPr id="31" name="doc"/>
          <p:cNvSpPr/>
          <p:nvPr/>
        </p:nvSpPr>
        <p:spPr>
          <a:xfrm>
            <a:off x="4791456" y="2103120"/>
            <a:ext cx="2606040" cy="2331720"/>
          </a:xfrm>
          <a:prstGeom prst="roundRect">
            <a:avLst>
              <a:gd name="adj" fmla="val 4706"/>
            </a:avLst>
          </a:prstGeom>
          <a:solidFill>
            <a:srgbClr val="FFFFFF"/>
          </a:solidFill>
          <a:ln w="19050">
            <a:solidFill>
              <a:srgbClr val="B8C7D9"/>
            </a:solidFill>
            <a:prstDash val="solid"/>
          </a:ln>
        </p:spPr>
        <p:txBody>
          <a:bodyPr/>
          <a:lstStyle/>
          <a:p>
            <a:endParaRPr lang="ar-OM"/>
          </a:p>
        </p:txBody>
      </p:sp>
      <p:sp>
        <p:nvSpPr>
          <p:cNvPr id="32" name="pic frame"/>
          <p:cNvSpPr/>
          <p:nvPr/>
        </p:nvSpPr>
        <p:spPr>
          <a:xfrm>
            <a:off x="5547208" y="2732684"/>
            <a:ext cx="1094537" cy="1049274"/>
          </a:xfrm>
          <a:prstGeom prst="rect">
            <a:avLst/>
          </a:prstGeom>
          <a:solidFill>
            <a:srgbClr val="FFFFFF"/>
          </a:solidFill>
          <a:ln w="12700">
            <a:solidFill>
              <a:srgbClr val="333333"/>
            </a:solidFill>
            <a:prstDash val="solid"/>
          </a:ln>
        </p:spPr>
        <p:txBody>
          <a:bodyPr/>
          <a:lstStyle/>
          <a:p>
            <a:endParaRPr lang="ar-OM"/>
          </a:p>
        </p:txBody>
      </p:sp>
      <p:pic>
        <p:nvPicPr>
          <p:cNvPr id="33" name="img robot.png" descr="a/robot.png"/>
          <p:cNvPicPr>
            <a:picLocks noChangeAspect="1"/>
          </p:cNvPicPr>
          <p:nvPr/>
        </p:nvPicPr>
        <p:blipFill>
          <a:blip r:embed="rId3"/>
          <a:stretch>
            <a:fillRect/>
          </a:stretch>
        </p:blipFill>
        <p:spPr>
          <a:xfrm>
            <a:off x="5615559" y="2778404"/>
            <a:ext cx="957834" cy="957834"/>
          </a:xfrm>
          <a:prstGeom prst="rect">
            <a:avLst/>
          </a:prstGeom>
        </p:spPr>
      </p:pic>
      <p:sp>
        <p:nvSpPr>
          <p:cNvPr id="34" name="text line"/>
          <p:cNvSpPr/>
          <p:nvPr/>
        </p:nvSpPr>
        <p:spPr>
          <a:xfrm>
            <a:off x="5111496" y="2466594"/>
            <a:ext cx="1965960" cy="64008"/>
          </a:xfrm>
          <a:prstGeom prst="rect">
            <a:avLst/>
          </a:prstGeom>
          <a:solidFill>
            <a:srgbClr val="7D8A99"/>
          </a:solidFill>
          <a:ln/>
        </p:spPr>
        <p:txBody>
          <a:bodyPr/>
          <a:lstStyle/>
          <a:p>
            <a:endParaRPr lang="ar-OM"/>
          </a:p>
        </p:txBody>
      </p:sp>
      <p:sp>
        <p:nvSpPr>
          <p:cNvPr id="35" name="text line"/>
          <p:cNvSpPr/>
          <p:nvPr/>
        </p:nvSpPr>
        <p:spPr>
          <a:xfrm>
            <a:off x="5111496" y="2644902"/>
            <a:ext cx="1965960" cy="64008"/>
          </a:xfrm>
          <a:prstGeom prst="rect">
            <a:avLst/>
          </a:prstGeom>
          <a:solidFill>
            <a:srgbClr val="7D8A99"/>
          </a:solidFill>
          <a:ln/>
        </p:spPr>
        <p:txBody>
          <a:bodyPr/>
          <a:lstStyle/>
          <a:p>
            <a:endParaRPr lang="ar-OM"/>
          </a:p>
        </p:txBody>
      </p:sp>
      <p:sp>
        <p:nvSpPr>
          <p:cNvPr id="36" name="text line"/>
          <p:cNvSpPr/>
          <p:nvPr/>
        </p:nvSpPr>
        <p:spPr>
          <a:xfrm>
            <a:off x="5111496" y="2823210"/>
            <a:ext cx="1965960" cy="64008"/>
          </a:xfrm>
          <a:prstGeom prst="rect">
            <a:avLst/>
          </a:prstGeom>
          <a:solidFill>
            <a:srgbClr val="7D8A99"/>
          </a:solidFill>
          <a:ln/>
        </p:spPr>
        <p:txBody>
          <a:bodyPr/>
          <a:lstStyle/>
          <a:p>
            <a:endParaRPr lang="ar-OM"/>
          </a:p>
        </p:txBody>
      </p:sp>
      <p:sp>
        <p:nvSpPr>
          <p:cNvPr id="37" name="text line"/>
          <p:cNvSpPr/>
          <p:nvPr/>
        </p:nvSpPr>
        <p:spPr>
          <a:xfrm>
            <a:off x="5111496" y="3001518"/>
            <a:ext cx="1965960" cy="64008"/>
          </a:xfrm>
          <a:prstGeom prst="rect">
            <a:avLst/>
          </a:prstGeom>
          <a:solidFill>
            <a:srgbClr val="7D8A99"/>
          </a:solidFill>
          <a:ln/>
        </p:spPr>
        <p:txBody>
          <a:bodyPr/>
          <a:lstStyle/>
          <a:p>
            <a:endParaRPr lang="ar-OM"/>
          </a:p>
        </p:txBody>
      </p:sp>
      <p:sp>
        <p:nvSpPr>
          <p:cNvPr id="38" name="text line"/>
          <p:cNvSpPr/>
          <p:nvPr/>
        </p:nvSpPr>
        <p:spPr>
          <a:xfrm>
            <a:off x="5111496" y="3179826"/>
            <a:ext cx="1965960" cy="64008"/>
          </a:xfrm>
          <a:prstGeom prst="rect">
            <a:avLst/>
          </a:prstGeom>
          <a:solidFill>
            <a:srgbClr val="7D8A99"/>
          </a:solidFill>
          <a:ln/>
        </p:spPr>
        <p:txBody>
          <a:bodyPr/>
          <a:lstStyle/>
          <a:p>
            <a:endParaRPr lang="ar-OM"/>
          </a:p>
        </p:txBody>
      </p:sp>
      <p:sp>
        <p:nvSpPr>
          <p:cNvPr id="39" name="text line"/>
          <p:cNvSpPr/>
          <p:nvPr/>
        </p:nvSpPr>
        <p:spPr>
          <a:xfrm>
            <a:off x="5111496" y="3358134"/>
            <a:ext cx="1965960" cy="64008"/>
          </a:xfrm>
          <a:prstGeom prst="rect">
            <a:avLst/>
          </a:prstGeom>
          <a:solidFill>
            <a:srgbClr val="7D8A99"/>
          </a:solidFill>
          <a:ln/>
        </p:spPr>
        <p:txBody>
          <a:bodyPr/>
          <a:lstStyle/>
          <a:p>
            <a:endParaRPr lang="ar-OM"/>
          </a:p>
        </p:txBody>
      </p:sp>
      <p:sp>
        <p:nvSpPr>
          <p:cNvPr id="40" name="text line"/>
          <p:cNvSpPr/>
          <p:nvPr/>
        </p:nvSpPr>
        <p:spPr>
          <a:xfrm>
            <a:off x="5111496" y="3536442"/>
            <a:ext cx="1965960" cy="64008"/>
          </a:xfrm>
          <a:prstGeom prst="rect">
            <a:avLst/>
          </a:prstGeom>
          <a:solidFill>
            <a:srgbClr val="7D8A99"/>
          </a:solidFill>
          <a:ln/>
        </p:spPr>
        <p:txBody>
          <a:bodyPr/>
          <a:lstStyle/>
          <a:p>
            <a:endParaRPr lang="ar-OM"/>
          </a:p>
        </p:txBody>
      </p:sp>
      <p:sp>
        <p:nvSpPr>
          <p:cNvPr id="41" name="text line"/>
          <p:cNvSpPr/>
          <p:nvPr/>
        </p:nvSpPr>
        <p:spPr>
          <a:xfrm>
            <a:off x="5111496" y="3714750"/>
            <a:ext cx="1965960" cy="64008"/>
          </a:xfrm>
          <a:prstGeom prst="rect">
            <a:avLst/>
          </a:prstGeom>
          <a:solidFill>
            <a:srgbClr val="7D8A99"/>
          </a:solidFill>
          <a:ln/>
        </p:spPr>
        <p:txBody>
          <a:bodyPr/>
          <a:lstStyle/>
          <a:p>
            <a:endParaRPr lang="ar-OM"/>
          </a:p>
        </p:txBody>
      </p:sp>
      <p:sp>
        <p:nvSpPr>
          <p:cNvPr id="42" name="text line"/>
          <p:cNvSpPr/>
          <p:nvPr/>
        </p:nvSpPr>
        <p:spPr>
          <a:xfrm>
            <a:off x="5111496" y="3893058"/>
            <a:ext cx="1965960" cy="64008"/>
          </a:xfrm>
          <a:prstGeom prst="rect">
            <a:avLst/>
          </a:prstGeom>
          <a:solidFill>
            <a:srgbClr val="7D8A99"/>
          </a:solidFill>
          <a:ln/>
        </p:spPr>
        <p:txBody>
          <a:bodyPr/>
          <a:lstStyle/>
          <a:p>
            <a:endParaRPr lang="ar-OM"/>
          </a:p>
        </p:txBody>
      </p:sp>
      <p:sp>
        <p:nvSpPr>
          <p:cNvPr id="43" name="text line"/>
          <p:cNvSpPr/>
          <p:nvPr/>
        </p:nvSpPr>
        <p:spPr>
          <a:xfrm>
            <a:off x="5111496" y="4071366"/>
            <a:ext cx="1965960" cy="64008"/>
          </a:xfrm>
          <a:prstGeom prst="rect">
            <a:avLst/>
          </a:prstGeom>
          <a:solidFill>
            <a:srgbClr val="7D8A99"/>
          </a:solidFill>
          <a:ln/>
        </p:spPr>
        <p:txBody>
          <a:bodyPr/>
          <a:lstStyle/>
          <a:p>
            <a:endParaRPr lang="ar-OM"/>
          </a:p>
        </p:txBody>
      </p:sp>
      <p:sp>
        <p:nvSpPr>
          <p:cNvPr id="44" name="Text 40"/>
          <p:cNvSpPr txBox="1"/>
          <p:nvPr/>
        </p:nvSpPr>
        <p:spPr>
          <a:xfrm>
            <a:off x="4471416" y="4526280"/>
            <a:ext cx="3246120" cy="1188720"/>
          </a:xfrm>
          <a:prstGeom prst="rect">
            <a:avLst/>
          </a:prstGeom>
          <a:noFill/>
          <a:ln/>
        </p:spPr>
        <p:txBody>
          <a:bodyPr wrap="square" lIns="635" tIns="635" rIns="635" bIns="635" rtlCol="0" anchor="t"/>
          <a:lstStyle/>
          <a:p>
            <a:pPr marL="0" indent="0" algn="r" rtl="1">
              <a:buNone/>
            </a:pPr>
            <a:r>
              <a:rPr lang="ar-OM" altLang="en-US" sz="1600" dirty="0">
                <a:solidFill>
                  <a:srgbClr val="1F2D3D"/>
                </a:solidFill>
                <a:latin typeface="Arial" pitchFamily="34" charset="0"/>
                <a:ea typeface="Arial" pitchFamily="34" charset="-122"/>
                <a:cs typeface="Arial" pitchFamily="34" charset="-120"/>
              </a:rPr>
              <a:t>تظهرُ الصورةُ خلفَ النصِّ كأنّها خلفية.</a:t>
            </a:r>
            <a:endParaRPr lang="ar-OM" sz="1600" dirty="0"/>
          </a:p>
        </p:txBody>
      </p:sp>
      <p:sp>
        <p:nvSpPr>
          <p:cNvPr id="45" name="card"/>
          <p:cNvSpPr/>
          <p:nvPr/>
        </p:nvSpPr>
        <p:spPr>
          <a:xfrm>
            <a:off x="457200" y="1280160"/>
            <a:ext cx="3611880" cy="4526280"/>
          </a:xfrm>
          <a:prstGeom prst="roundRect">
            <a:avLst>
              <a:gd name="adj" fmla="val 4557"/>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46" name="Shape 42"/>
          <p:cNvSpPr/>
          <p:nvPr/>
        </p:nvSpPr>
        <p:spPr>
          <a:xfrm>
            <a:off x="640080" y="1417320"/>
            <a:ext cx="3246120" cy="566928"/>
          </a:xfrm>
          <a:prstGeom prst="roundRect">
            <a:avLst>
              <a:gd name="adj" fmla="val 48387"/>
            </a:avLst>
          </a:prstGeom>
          <a:solidFill>
            <a:srgbClr val="E2453B"/>
          </a:solidFill>
          <a:ln/>
        </p:spPr>
        <p:txBody>
          <a:bodyPr/>
          <a:lstStyle/>
          <a:p>
            <a:endParaRPr lang="ar-OM"/>
          </a:p>
        </p:txBody>
      </p:sp>
      <p:sp>
        <p:nvSpPr>
          <p:cNvPr id="47" name="Text 43"/>
          <p:cNvSpPr txBox="1"/>
          <p:nvPr/>
        </p:nvSpPr>
        <p:spPr>
          <a:xfrm>
            <a:off x="640080" y="1417320"/>
            <a:ext cx="3246120" cy="566928"/>
          </a:xfrm>
          <a:prstGeom prst="rect">
            <a:avLst/>
          </a:prstGeom>
          <a:noFill/>
          <a:ln/>
        </p:spPr>
        <p:txBody>
          <a:bodyPr wrap="square" lIns="635" tIns="635" rIns="635" bIns="635" rtlCol="0" anchor="ctr"/>
          <a:lstStyle/>
          <a:p>
            <a:pPr marL="0" indent="0" algn="ctr">
              <a:buNone/>
            </a:pPr>
            <a:r>
              <a:rPr lang="ar-OM" altLang="en-US" sz="1800" b="1" dirty="0">
                <a:solidFill>
                  <a:srgbClr val="FFFFFF"/>
                </a:solidFill>
                <a:latin typeface="Arial" pitchFamily="34" charset="0"/>
                <a:ea typeface="Arial" pitchFamily="34" charset="-122"/>
                <a:cs typeface="Arial" pitchFamily="34" charset="-120"/>
              </a:rPr>
              <a:t>أمام النص </a:t>
            </a:r>
            <a:r>
              <a:rPr lang="ar-OM" altLang="en-US" sz="1400" b="1" dirty="0">
                <a:solidFill>
                  <a:srgbClr val="FFFFFF"/>
                </a:solidFill>
                <a:latin typeface="Arial" pitchFamily="34" charset="0"/>
                <a:ea typeface="Arial" pitchFamily="34" charset="-122"/>
                <a:cs typeface="Arial" pitchFamily="34" charset="-120"/>
              </a:rPr>
              <a:t>(In Front of Text)</a:t>
            </a:r>
            <a:endParaRPr lang="ar-OM" sz="1800" dirty="0"/>
          </a:p>
        </p:txBody>
      </p:sp>
      <p:sp>
        <p:nvSpPr>
          <p:cNvPr id="48" name="doc"/>
          <p:cNvSpPr/>
          <p:nvPr/>
        </p:nvSpPr>
        <p:spPr>
          <a:xfrm>
            <a:off x="960120" y="2103120"/>
            <a:ext cx="2606040" cy="2331720"/>
          </a:xfrm>
          <a:prstGeom prst="roundRect">
            <a:avLst>
              <a:gd name="adj" fmla="val 4706"/>
            </a:avLst>
          </a:prstGeom>
          <a:solidFill>
            <a:srgbClr val="FFFFFF"/>
          </a:solidFill>
          <a:ln w="19050">
            <a:solidFill>
              <a:srgbClr val="B8C7D9"/>
            </a:solidFill>
            <a:prstDash val="solid"/>
          </a:ln>
        </p:spPr>
        <p:txBody>
          <a:bodyPr/>
          <a:lstStyle/>
          <a:p>
            <a:endParaRPr lang="ar-OM"/>
          </a:p>
        </p:txBody>
      </p:sp>
      <p:sp>
        <p:nvSpPr>
          <p:cNvPr id="49" name="text line"/>
          <p:cNvSpPr/>
          <p:nvPr/>
        </p:nvSpPr>
        <p:spPr>
          <a:xfrm>
            <a:off x="1280160" y="2466594"/>
            <a:ext cx="1965960" cy="64008"/>
          </a:xfrm>
          <a:prstGeom prst="rect">
            <a:avLst/>
          </a:prstGeom>
          <a:solidFill>
            <a:srgbClr val="7D8A99"/>
          </a:solidFill>
          <a:ln/>
        </p:spPr>
        <p:txBody>
          <a:bodyPr/>
          <a:lstStyle/>
          <a:p>
            <a:endParaRPr lang="ar-OM"/>
          </a:p>
        </p:txBody>
      </p:sp>
      <p:sp>
        <p:nvSpPr>
          <p:cNvPr id="50" name="text line"/>
          <p:cNvSpPr/>
          <p:nvPr/>
        </p:nvSpPr>
        <p:spPr>
          <a:xfrm>
            <a:off x="1280160" y="2644902"/>
            <a:ext cx="1965960" cy="64008"/>
          </a:xfrm>
          <a:prstGeom prst="rect">
            <a:avLst/>
          </a:prstGeom>
          <a:solidFill>
            <a:srgbClr val="7D8A99"/>
          </a:solidFill>
          <a:ln/>
        </p:spPr>
        <p:txBody>
          <a:bodyPr/>
          <a:lstStyle/>
          <a:p>
            <a:endParaRPr lang="ar-OM"/>
          </a:p>
        </p:txBody>
      </p:sp>
      <p:sp>
        <p:nvSpPr>
          <p:cNvPr id="51" name="text line"/>
          <p:cNvSpPr/>
          <p:nvPr/>
        </p:nvSpPr>
        <p:spPr>
          <a:xfrm>
            <a:off x="1280160" y="2823210"/>
            <a:ext cx="1965960" cy="64008"/>
          </a:xfrm>
          <a:prstGeom prst="rect">
            <a:avLst/>
          </a:prstGeom>
          <a:solidFill>
            <a:srgbClr val="7D8A99"/>
          </a:solidFill>
          <a:ln/>
        </p:spPr>
        <p:txBody>
          <a:bodyPr/>
          <a:lstStyle/>
          <a:p>
            <a:endParaRPr lang="ar-OM"/>
          </a:p>
        </p:txBody>
      </p:sp>
      <p:sp>
        <p:nvSpPr>
          <p:cNvPr id="52" name="text line"/>
          <p:cNvSpPr/>
          <p:nvPr/>
        </p:nvSpPr>
        <p:spPr>
          <a:xfrm>
            <a:off x="1280160" y="3001518"/>
            <a:ext cx="1965960" cy="64008"/>
          </a:xfrm>
          <a:prstGeom prst="rect">
            <a:avLst/>
          </a:prstGeom>
          <a:solidFill>
            <a:srgbClr val="7D8A99"/>
          </a:solidFill>
          <a:ln/>
        </p:spPr>
        <p:txBody>
          <a:bodyPr/>
          <a:lstStyle/>
          <a:p>
            <a:endParaRPr lang="ar-OM"/>
          </a:p>
        </p:txBody>
      </p:sp>
      <p:sp>
        <p:nvSpPr>
          <p:cNvPr id="53" name="text line"/>
          <p:cNvSpPr/>
          <p:nvPr/>
        </p:nvSpPr>
        <p:spPr>
          <a:xfrm>
            <a:off x="1280160" y="3179826"/>
            <a:ext cx="1965960" cy="64008"/>
          </a:xfrm>
          <a:prstGeom prst="rect">
            <a:avLst/>
          </a:prstGeom>
          <a:solidFill>
            <a:srgbClr val="7D8A99"/>
          </a:solidFill>
          <a:ln/>
        </p:spPr>
        <p:txBody>
          <a:bodyPr/>
          <a:lstStyle/>
          <a:p>
            <a:endParaRPr lang="ar-OM"/>
          </a:p>
        </p:txBody>
      </p:sp>
      <p:sp>
        <p:nvSpPr>
          <p:cNvPr id="54" name="text line"/>
          <p:cNvSpPr/>
          <p:nvPr/>
        </p:nvSpPr>
        <p:spPr>
          <a:xfrm>
            <a:off x="1280160" y="3358134"/>
            <a:ext cx="1965960" cy="64008"/>
          </a:xfrm>
          <a:prstGeom prst="rect">
            <a:avLst/>
          </a:prstGeom>
          <a:solidFill>
            <a:srgbClr val="7D8A99"/>
          </a:solidFill>
          <a:ln/>
        </p:spPr>
        <p:txBody>
          <a:bodyPr/>
          <a:lstStyle/>
          <a:p>
            <a:endParaRPr lang="ar-OM"/>
          </a:p>
        </p:txBody>
      </p:sp>
      <p:sp>
        <p:nvSpPr>
          <p:cNvPr id="55" name="text line"/>
          <p:cNvSpPr/>
          <p:nvPr/>
        </p:nvSpPr>
        <p:spPr>
          <a:xfrm>
            <a:off x="1280160" y="3536442"/>
            <a:ext cx="1965960" cy="64008"/>
          </a:xfrm>
          <a:prstGeom prst="rect">
            <a:avLst/>
          </a:prstGeom>
          <a:solidFill>
            <a:srgbClr val="7D8A99"/>
          </a:solidFill>
          <a:ln/>
        </p:spPr>
        <p:txBody>
          <a:bodyPr/>
          <a:lstStyle/>
          <a:p>
            <a:endParaRPr lang="ar-OM"/>
          </a:p>
        </p:txBody>
      </p:sp>
      <p:sp>
        <p:nvSpPr>
          <p:cNvPr id="56" name="text line"/>
          <p:cNvSpPr/>
          <p:nvPr/>
        </p:nvSpPr>
        <p:spPr>
          <a:xfrm>
            <a:off x="1280160" y="3714750"/>
            <a:ext cx="1965960" cy="64008"/>
          </a:xfrm>
          <a:prstGeom prst="rect">
            <a:avLst/>
          </a:prstGeom>
          <a:solidFill>
            <a:srgbClr val="7D8A99"/>
          </a:solidFill>
          <a:ln/>
        </p:spPr>
        <p:txBody>
          <a:bodyPr/>
          <a:lstStyle/>
          <a:p>
            <a:endParaRPr lang="ar-OM"/>
          </a:p>
        </p:txBody>
      </p:sp>
      <p:sp>
        <p:nvSpPr>
          <p:cNvPr id="57" name="text line"/>
          <p:cNvSpPr/>
          <p:nvPr/>
        </p:nvSpPr>
        <p:spPr>
          <a:xfrm>
            <a:off x="1280160" y="3893058"/>
            <a:ext cx="1965960" cy="64008"/>
          </a:xfrm>
          <a:prstGeom prst="rect">
            <a:avLst/>
          </a:prstGeom>
          <a:solidFill>
            <a:srgbClr val="7D8A99"/>
          </a:solidFill>
          <a:ln/>
        </p:spPr>
        <p:txBody>
          <a:bodyPr/>
          <a:lstStyle/>
          <a:p>
            <a:endParaRPr lang="ar-OM"/>
          </a:p>
        </p:txBody>
      </p:sp>
      <p:sp>
        <p:nvSpPr>
          <p:cNvPr id="58" name="text line"/>
          <p:cNvSpPr/>
          <p:nvPr/>
        </p:nvSpPr>
        <p:spPr>
          <a:xfrm>
            <a:off x="1280160" y="4071366"/>
            <a:ext cx="1965960" cy="64008"/>
          </a:xfrm>
          <a:prstGeom prst="rect">
            <a:avLst/>
          </a:prstGeom>
          <a:solidFill>
            <a:srgbClr val="7D8A99"/>
          </a:solidFill>
          <a:ln/>
        </p:spPr>
        <p:txBody>
          <a:bodyPr/>
          <a:lstStyle/>
          <a:p>
            <a:endParaRPr lang="ar-OM"/>
          </a:p>
        </p:txBody>
      </p:sp>
      <p:sp>
        <p:nvSpPr>
          <p:cNvPr id="59" name="pic frame"/>
          <p:cNvSpPr/>
          <p:nvPr/>
        </p:nvSpPr>
        <p:spPr>
          <a:xfrm>
            <a:off x="1715872" y="2732684"/>
            <a:ext cx="1094537" cy="1049274"/>
          </a:xfrm>
          <a:prstGeom prst="rect">
            <a:avLst/>
          </a:prstGeom>
          <a:solidFill>
            <a:srgbClr val="FFFFFF"/>
          </a:solidFill>
          <a:ln w="12700">
            <a:solidFill>
              <a:srgbClr val="333333"/>
            </a:solidFill>
            <a:prstDash val="solid"/>
          </a:ln>
        </p:spPr>
        <p:txBody>
          <a:bodyPr/>
          <a:lstStyle/>
          <a:p>
            <a:endParaRPr lang="ar-OM"/>
          </a:p>
        </p:txBody>
      </p:sp>
      <p:pic>
        <p:nvPicPr>
          <p:cNvPr id="60" name="img robot.png" descr="a/robot.png"/>
          <p:cNvPicPr>
            <a:picLocks noChangeAspect="1"/>
          </p:cNvPicPr>
          <p:nvPr/>
        </p:nvPicPr>
        <p:blipFill>
          <a:blip r:embed="rId3"/>
          <a:stretch>
            <a:fillRect/>
          </a:stretch>
        </p:blipFill>
        <p:spPr>
          <a:xfrm>
            <a:off x="1784223" y="2778404"/>
            <a:ext cx="957834" cy="957834"/>
          </a:xfrm>
          <a:prstGeom prst="rect">
            <a:avLst/>
          </a:prstGeom>
        </p:spPr>
      </p:pic>
      <p:sp>
        <p:nvSpPr>
          <p:cNvPr id="61" name="Text 56"/>
          <p:cNvSpPr txBox="1"/>
          <p:nvPr/>
        </p:nvSpPr>
        <p:spPr>
          <a:xfrm>
            <a:off x="640080" y="4526280"/>
            <a:ext cx="3246120" cy="1188720"/>
          </a:xfrm>
          <a:prstGeom prst="rect">
            <a:avLst/>
          </a:prstGeom>
          <a:noFill/>
          <a:ln/>
        </p:spPr>
        <p:txBody>
          <a:bodyPr wrap="square" lIns="635" tIns="635" rIns="635" bIns="635" rtlCol="0" anchor="t"/>
          <a:lstStyle/>
          <a:p>
            <a:pPr marL="0" indent="0" algn="r" rtl="1">
              <a:buNone/>
            </a:pPr>
            <a:r>
              <a:rPr lang="ar-OM" altLang="en-US" sz="1600" dirty="0">
                <a:solidFill>
                  <a:srgbClr val="1F2D3D"/>
                </a:solidFill>
                <a:latin typeface="Arial" pitchFamily="34" charset="0"/>
                <a:ea typeface="Arial" pitchFamily="34" charset="-122"/>
                <a:cs typeface="Arial" pitchFamily="34" charset="-120"/>
              </a:rPr>
              <a:t>تظهرُ الصورةُ فوقَ النصِّ وتُغطّيه.</a:t>
            </a:r>
            <a:endParaRPr lang="ar-OM" sz="1600" dirty="0"/>
          </a:p>
        </p:txBody>
      </p:sp>
      <p:sp>
        <p:nvSpPr>
          <p:cNvPr id="62"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63" name="زر التالي" descr="preencoded.png">
            <a:hlinkClick r:id="" action="ppaction://hlinkshowjump?jump=nextslide"/>
          </p:cNvPr>
          <p:cNvPicPr>
            <a:picLocks noChangeAspect="1"/>
          </p:cNvPicPr>
          <p:nvPr/>
        </p:nvPicPr>
        <p:blipFill>
          <a:blip r:embed="rId4"/>
          <a:stretch>
            <a:fillRect/>
          </a:stretch>
        </p:blipFill>
        <p:spPr>
          <a:xfrm>
            <a:off x="612648" y="6208776"/>
            <a:ext cx="256032" cy="256032"/>
          </a:xfrm>
          <a:prstGeom prst="rect">
            <a:avLst/>
          </a:prstGeom>
        </p:spPr>
      </p:pic>
      <p:sp>
        <p:nvSpPr>
          <p:cNvPr id="64" name="زر انتقال">
            <a:hlinkClick r:id="rId5"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65" name="زر انتقال" descr="preencoded.png">
            <a:hlinkClick r:id="rId5" action="ppaction://hlinksldjump"/>
          </p:cNvPr>
          <p:cNvPicPr>
            <a:picLocks noChangeAspect="1"/>
          </p:cNvPicPr>
          <p:nvPr/>
        </p:nvPicPr>
        <p:blipFill>
          <a:blip r:embed="rId6"/>
          <a:stretch>
            <a:fillRect/>
          </a:stretch>
        </p:blipFill>
        <p:spPr>
          <a:xfrm>
            <a:off x="1316736" y="6208776"/>
            <a:ext cx="256032" cy="256032"/>
          </a:xfrm>
          <a:prstGeom prst="rect">
            <a:avLst/>
          </a:prstGeom>
        </p:spPr>
      </p:pic>
      <p:sp>
        <p:nvSpPr>
          <p:cNvPr id="66"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67" name="زر السابق" descr="preencoded.png">
            <a:hlinkClick r:id="" action="ppaction://hlinkshowjump?jump=previousslide"/>
          </p:cNvPr>
          <p:cNvPicPr>
            <a:picLocks noChangeAspect="1"/>
          </p:cNvPicPr>
          <p:nvPr/>
        </p:nvPicPr>
        <p:blipFill>
          <a:blip r:embed="rId7"/>
          <a:stretch>
            <a:fillRect/>
          </a:stretch>
        </p:blipFill>
        <p:spPr>
          <a:xfrm>
            <a:off x="2020824" y="6208776"/>
            <a:ext cx="256032" cy="25603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E2453B"/>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التفاف النص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فيديو الهدف الرابع: التفاف النص</a:t>
            </a:r>
            <a:endParaRPr lang="ar-OM" sz="3200" dirty="0"/>
          </a:p>
        </p:txBody>
      </p:sp>
      <p:pic>
        <p:nvPicPr>
          <p:cNvPr id="5" name="video 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429000" y="1234440"/>
            <a:ext cx="8138160" cy="4577486"/>
          </a:xfrm>
          <a:prstGeom prst="rect">
            <a:avLst/>
          </a:prstGeom>
        </p:spPr>
      </p:pic>
      <p:sp>
        <p:nvSpPr>
          <p:cNvPr id="6" name="speech"/>
          <p:cNvSpPr/>
          <p:nvPr/>
        </p:nvSpPr>
        <p:spPr>
          <a:xfrm>
            <a:off x="411480" y="1325880"/>
            <a:ext cx="2743200" cy="1234440"/>
          </a:xfrm>
          <a:prstGeom prst="roundRect">
            <a:avLst>
              <a:gd name="adj" fmla="val 18519"/>
            </a:avLst>
          </a:prstGeom>
          <a:solidFill>
            <a:srgbClr val="FFFFFF"/>
          </a:solidFill>
          <a:ln w="25400">
            <a:solidFill>
              <a:srgbClr val="E2453B"/>
            </a:solidFill>
            <a:prstDash val="solid"/>
          </a:ln>
          <a:effectLst>
            <a:outerShdw blurRad="101600" dist="25400" dir="5400000" algn="bl" rotWithShape="0">
              <a:srgbClr val="8FA6BF">
                <a:alpha val="30000"/>
              </a:srgbClr>
            </a:outerShdw>
          </a:effectLst>
        </p:spPr>
        <p:txBody>
          <a:bodyPr/>
          <a:lstStyle/>
          <a:p>
            <a:endParaRPr lang="ar-OM"/>
          </a:p>
        </p:txBody>
      </p:sp>
      <p:sp>
        <p:nvSpPr>
          <p:cNvPr id="7" name="Text 4"/>
          <p:cNvSpPr txBox="1"/>
          <p:nvPr/>
        </p:nvSpPr>
        <p:spPr>
          <a:xfrm>
            <a:off x="548640" y="1325880"/>
            <a:ext cx="2468880" cy="1234440"/>
          </a:xfrm>
          <a:prstGeom prst="rect">
            <a:avLst/>
          </a:prstGeom>
          <a:noFill/>
          <a:ln/>
        </p:spPr>
        <p:txBody>
          <a:bodyPr wrap="square" lIns="635" tIns="635" rIns="635" bIns="635" rtlCol="0" anchor="ctr"/>
          <a:lstStyle/>
          <a:p>
            <a:pPr marL="0" indent="0" algn="ctr" rtl="1">
              <a:buNone/>
            </a:pPr>
            <a:r>
              <a:rPr lang="ar-OM" altLang="en-US" sz="1600" b="1" dirty="0">
                <a:solidFill>
                  <a:srgbClr val="E2453B"/>
                </a:solidFill>
                <a:latin typeface="Arial" pitchFamily="34" charset="0"/>
                <a:ea typeface="Arial" pitchFamily="34" charset="-122"/>
                <a:cs typeface="Arial" pitchFamily="34" charset="-120"/>
              </a:rPr>
              <a:t>نجرّب أنواع التفاف النص معًا</a:t>
            </a:r>
            <a:endParaRPr lang="ar-OM" sz="1600" dirty="0"/>
          </a:p>
        </p:txBody>
      </p:sp>
      <p:pic>
        <p:nvPicPr>
          <p:cNvPr id="8" name="img girl_wave.png" descr="a/girl_wave.png"/>
          <p:cNvPicPr>
            <a:picLocks noChangeAspect="1"/>
          </p:cNvPicPr>
          <p:nvPr/>
        </p:nvPicPr>
        <p:blipFill>
          <a:blip r:embed="rId6"/>
          <a:stretch>
            <a:fillRect/>
          </a:stretch>
        </p:blipFill>
        <p:spPr>
          <a:xfrm>
            <a:off x="457200" y="2772774"/>
            <a:ext cx="2651760" cy="3004092"/>
          </a:xfrm>
          <a:prstGeom prst="rect">
            <a:avLst/>
          </a:prstGeom>
        </p:spPr>
      </p:pic>
      <p:sp>
        <p:nvSpPr>
          <p:cNvPr id="10"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1" name="زر التالي" descr="preencoded.png">
            <a:hlinkClick r:id="" action="ppaction://hlinkshowjump?jump=nextslide"/>
          </p:cNvPr>
          <p:cNvPicPr>
            <a:picLocks noChangeAspect="1"/>
          </p:cNvPicPr>
          <p:nvPr/>
        </p:nvPicPr>
        <p:blipFill>
          <a:blip r:embed="rId7"/>
          <a:stretch>
            <a:fillRect/>
          </a:stretch>
        </p:blipFill>
        <p:spPr>
          <a:xfrm>
            <a:off x="612648" y="6208776"/>
            <a:ext cx="256032" cy="256032"/>
          </a:xfrm>
          <a:prstGeom prst="rect">
            <a:avLst/>
          </a:prstGeom>
        </p:spPr>
      </p:pic>
      <p:sp>
        <p:nvSpPr>
          <p:cNvPr id="12" name="زر انتقال">
            <a:hlinkClick r:id="rId8"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3" name="زر انتقال" descr="preencoded.png">
            <a:hlinkClick r:id="rId8" action="ppaction://hlinksldjump"/>
          </p:cNvPr>
          <p:cNvPicPr>
            <a:picLocks noChangeAspect="1"/>
          </p:cNvPicPr>
          <p:nvPr/>
        </p:nvPicPr>
        <p:blipFill>
          <a:blip r:embed="rId9"/>
          <a:stretch>
            <a:fillRect/>
          </a:stretch>
        </p:blipFill>
        <p:spPr>
          <a:xfrm>
            <a:off x="1316736" y="6208776"/>
            <a:ext cx="256032" cy="256032"/>
          </a:xfrm>
          <a:prstGeom prst="rect">
            <a:avLst/>
          </a:prstGeom>
        </p:spPr>
      </p:pic>
      <p:sp>
        <p:nvSpPr>
          <p:cNvPr id="14"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5" name="زر السابق" descr="preencoded.png">
            <a:hlinkClick r:id="" action="ppaction://hlinkshowjump?jump=previousslide"/>
          </p:cNvPr>
          <p:cNvPicPr>
            <a:picLocks noChangeAspect="1"/>
          </p:cNvPicPr>
          <p:nvPr/>
        </p:nvPicPr>
        <p:blipFill>
          <a:blip r:embed="rId10"/>
          <a:stretch>
            <a:fillRect/>
          </a:stretch>
        </p:blipFill>
        <p:spPr>
          <a:xfrm>
            <a:off x="2020824" y="6208776"/>
            <a:ext cx="256032" cy="25603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E2453B"/>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التفاف النص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سؤال سريع 5</a:t>
            </a:r>
            <a:endParaRPr lang="ar-OM" sz="3200" dirty="0"/>
          </a:p>
        </p:txBody>
      </p:sp>
      <p:sp>
        <p:nvSpPr>
          <p:cNvPr id="5" name="q image card"/>
          <p:cNvSpPr/>
          <p:nvPr/>
        </p:nvSpPr>
        <p:spPr>
          <a:xfrm>
            <a:off x="6903720" y="1280160"/>
            <a:ext cx="4828032" cy="4526280"/>
          </a:xfrm>
          <a:prstGeom prst="roundRect">
            <a:avLst>
              <a:gd name="adj" fmla="val 3636"/>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6" name="doc"/>
          <p:cNvSpPr/>
          <p:nvPr/>
        </p:nvSpPr>
        <p:spPr>
          <a:xfrm>
            <a:off x="7269480" y="1463040"/>
            <a:ext cx="4096512" cy="4160520"/>
          </a:xfrm>
          <a:prstGeom prst="roundRect">
            <a:avLst>
              <a:gd name="adj" fmla="val 2679"/>
            </a:avLst>
          </a:prstGeom>
          <a:solidFill>
            <a:srgbClr val="FFFFFF"/>
          </a:solidFill>
          <a:ln w="19050">
            <a:solidFill>
              <a:srgbClr val="B8C7D9"/>
            </a:solidFill>
            <a:prstDash val="solid"/>
          </a:ln>
        </p:spPr>
        <p:txBody>
          <a:bodyPr/>
          <a:lstStyle/>
          <a:p>
            <a:endParaRPr lang="ar-OM"/>
          </a:p>
        </p:txBody>
      </p:sp>
      <p:sp>
        <p:nvSpPr>
          <p:cNvPr id="7" name="pic frame"/>
          <p:cNvSpPr/>
          <p:nvPr/>
        </p:nvSpPr>
        <p:spPr>
          <a:xfrm>
            <a:off x="8457468" y="2586380"/>
            <a:ext cx="1720535" cy="1872234"/>
          </a:xfrm>
          <a:prstGeom prst="rect">
            <a:avLst/>
          </a:prstGeom>
          <a:solidFill>
            <a:srgbClr val="FFFFFF"/>
          </a:solidFill>
          <a:ln w="12700">
            <a:solidFill>
              <a:srgbClr val="333333"/>
            </a:solidFill>
            <a:prstDash val="solid"/>
          </a:ln>
        </p:spPr>
        <p:txBody>
          <a:bodyPr/>
          <a:lstStyle/>
          <a:p>
            <a:endParaRPr lang="ar-OM"/>
          </a:p>
        </p:txBody>
      </p:sp>
      <p:pic>
        <p:nvPicPr>
          <p:cNvPr id="8" name="img robot.png" descr="a/robot.png"/>
          <p:cNvPicPr>
            <a:picLocks noChangeAspect="1"/>
          </p:cNvPicPr>
          <p:nvPr/>
        </p:nvPicPr>
        <p:blipFill>
          <a:blip r:embed="rId3"/>
          <a:stretch>
            <a:fillRect/>
          </a:stretch>
        </p:blipFill>
        <p:spPr>
          <a:xfrm>
            <a:off x="8503188" y="2707950"/>
            <a:ext cx="1629095" cy="1629095"/>
          </a:xfrm>
          <a:prstGeom prst="rect">
            <a:avLst/>
          </a:prstGeom>
        </p:spPr>
      </p:pic>
      <p:sp>
        <p:nvSpPr>
          <p:cNvPr id="9" name="text line"/>
          <p:cNvSpPr/>
          <p:nvPr/>
        </p:nvSpPr>
        <p:spPr>
          <a:xfrm>
            <a:off x="7589520" y="1917954"/>
            <a:ext cx="3456432" cy="64008"/>
          </a:xfrm>
          <a:prstGeom prst="rect">
            <a:avLst/>
          </a:prstGeom>
          <a:solidFill>
            <a:srgbClr val="7D8A99"/>
          </a:solidFill>
          <a:ln/>
        </p:spPr>
        <p:txBody>
          <a:bodyPr/>
          <a:lstStyle/>
          <a:p>
            <a:endParaRPr lang="ar-OM"/>
          </a:p>
        </p:txBody>
      </p:sp>
      <p:sp>
        <p:nvSpPr>
          <p:cNvPr id="10" name="text line"/>
          <p:cNvSpPr/>
          <p:nvPr/>
        </p:nvSpPr>
        <p:spPr>
          <a:xfrm>
            <a:off x="7589520" y="2279142"/>
            <a:ext cx="3456432" cy="64008"/>
          </a:xfrm>
          <a:prstGeom prst="rect">
            <a:avLst/>
          </a:prstGeom>
          <a:solidFill>
            <a:srgbClr val="7D8A99"/>
          </a:solidFill>
          <a:ln/>
        </p:spPr>
        <p:txBody>
          <a:bodyPr/>
          <a:lstStyle/>
          <a:p>
            <a:endParaRPr lang="ar-OM"/>
          </a:p>
        </p:txBody>
      </p:sp>
      <p:sp>
        <p:nvSpPr>
          <p:cNvPr id="11" name="text line"/>
          <p:cNvSpPr/>
          <p:nvPr/>
        </p:nvSpPr>
        <p:spPr>
          <a:xfrm>
            <a:off x="7589520" y="2640330"/>
            <a:ext cx="3456432" cy="64008"/>
          </a:xfrm>
          <a:prstGeom prst="rect">
            <a:avLst/>
          </a:prstGeom>
          <a:solidFill>
            <a:srgbClr val="7D8A99"/>
          </a:solidFill>
          <a:ln/>
        </p:spPr>
        <p:txBody>
          <a:bodyPr/>
          <a:lstStyle/>
          <a:p>
            <a:endParaRPr lang="ar-OM"/>
          </a:p>
        </p:txBody>
      </p:sp>
      <p:sp>
        <p:nvSpPr>
          <p:cNvPr id="12" name="text line"/>
          <p:cNvSpPr/>
          <p:nvPr/>
        </p:nvSpPr>
        <p:spPr>
          <a:xfrm>
            <a:off x="7589520" y="3001518"/>
            <a:ext cx="3456432" cy="64008"/>
          </a:xfrm>
          <a:prstGeom prst="rect">
            <a:avLst/>
          </a:prstGeom>
          <a:solidFill>
            <a:srgbClr val="7D8A99"/>
          </a:solidFill>
          <a:ln/>
        </p:spPr>
        <p:txBody>
          <a:bodyPr/>
          <a:lstStyle/>
          <a:p>
            <a:endParaRPr lang="ar-OM"/>
          </a:p>
        </p:txBody>
      </p:sp>
      <p:sp>
        <p:nvSpPr>
          <p:cNvPr id="13" name="text line"/>
          <p:cNvSpPr/>
          <p:nvPr/>
        </p:nvSpPr>
        <p:spPr>
          <a:xfrm>
            <a:off x="7589520" y="3362706"/>
            <a:ext cx="3456432" cy="64008"/>
          </a:xfrm>
          <a:prstGeom prst="rect">
            <a:avLst/>
          </a:prstGeom>
          <a:solidFill>
            <a:srgbClr val="7D8A99"/>
          </a:solidFill>
          <a:ln/>
        </p:spPr>
        <p:txBody>
          <a:bodyPr/>
          <a:lstStyle/>
          <a:p>
            <a:endParaRPr lang="ar-OM"/>
          </a:p>
        </p:txBody>
      </p:sp>
      <p:sp>
        <p:nvSpPr>
          <p:cNvPr id="14" name="text line"/>
          <p:cNvSpPr/>
          <p:nvPr/>
        </p:nvSpPr>
        <p:spPr>
          <a:xfrm>
            <a:off x="7589520" y="3723894"/>
            <a:ext cx="3456432" cy="64008"/>
          </a:xfrm>
          <a:prstGeom prst="rect">
            <a:avLst/>
          </a:prstGeom>
          <a:solidFill>
            <a:srgbClr val="7D8A99"/>
          </a:solidFill>
          <a:ln/>
        </p:spPr>
        <p:txBody>
          <a:bodyPr/>
          <a:lstStyle/>
          <a:p>
            <a:endParaRPr lang="ar-OM"/>
          </a:p>
        </p:txBody>
      </p:sp>
      <p:sp>
        <p:nvSpPr>
          <p:cNvPr id="15" name="text line"/>
          <p:cNvSpPr/>
          <p:nvPr/>
        </p:nvSpPr>
        <p:spPr>
          <a:xfrm>
            <a:off x="7589520" y="4085082"/>
            <a:ext cx="3456432" cy="64008"/>
          </a:xfrm>
          <a:prstGeom prst="rect">
            <a:avLst/>
          </a:prstGeom>
          <a:solidFill>
            <a:srgbClr val="7D8A99"/>
          </a:solidFill>
          <a:ln/>
        </p:spPr>
        <p:txBody>
          <a:bodyPr/>
          <a:lstStyle/>
          <a:p>
            <a:endParaRPr lang="ar-OM"/>
          </a:p>
        </p:txBody>
      </p:sp>
      <p:sp>
        <p:nvSpPr>
          <p:cNvPr id="16" name="text line"/>
          <p:cNvSpPr/>
          <p:nvPr/>
        </p:nvSpPr>
        <p:spPr>
          <a:xfrm>
            <a:off x="7589520" y="4446270"/>
            <a:ext cx="3456432" cy="64008"/>
          </a:xfrm>
          <a:prstGeom prst="rect">
            <a:avLst/>
          </a:prstGeom>
          <a:solidFill>
            <a:srgbClr val="7D8A99"/>
          </a:solidFill>
          <a:ln/>
        </p:spPr>
        <p:txBody>
          <a:bodyPr/>
          <a:lstStyle/>
          <a:p>
            <a:endParaRPr lang="ar-OM"/>
          </a:p>
        </p:txBody>
      </p:sp>
      <p:sp>
        <p:nvSpPr>
          <p:cNvPr id="17" name="text line"/>
          <p:cNvSpPr/>
          <p:nvPr/>
        </p:nvSpPr>
        <p:spPr>
          <a:xfrm>
            <a:off x="7589520" y="4807458"/>
            <a:ext cx="3456432" cy="64008"/>
          </a:xfrm>
          <a:prstGeom prst="rect">
            <a:avLst/>
          </a:prstGeom>
          <a:solidFill>
            <a:srgbClr val="7D8A99"/>
          </a:solidFill>
          <a:ln/>
        </p:spPr>
        <p:txBody>
          <a:bodyPr/>
          <a:lstStyle/>
          <a:p>
            <a:endParaRPr lang="ar-OM"/>
          </a:p>
        </p:txBody>
      </p:sp>
      <p:sp>
        <p:nvSpPr>
          <p:cNvPr id="18" name="text line"/>
          <p:cNvSpPr/>
          <p:nvPr/>
        </p:nvSpPr>
        <p:spPr>
          <a:xfrm>
            <a:off x="7589520" y="5168646"/>
            <a:ext cx="3456432" cy="64008"/>
          </a:xfrm>
          <a:prstGeom prst="rect">
            <a:avLst/>
          </a:prstGeom>
          <a:solidFill>
            <a:srgbClr val="7D8A99"/>
          </a:solidFill>
          <a:ln/>
        </p:spPr>
        <p:txBody>
          <a:bodyPr/>
          <a:lstStyle/>
          <a:p>
            <a:endParaRPr lang="ar-OM"/>
          </a:p>
        </p:txBody>
      </p:sp>
      <p:sp>
        <p:nvSpPr>
          <p:cNvPr id="19" name="question"/>
          <p:cNvSpPr/>
          <p:nvPr/>
        </p:nvSpPr>
        <p:spPr>
          <a:xfrm>
            <a:off x="457200" y="1280160"/>
            <a:ext cx="6217920" cy="1234440"/>
          </a:xfrm>
          <a:prstGeom prst="roundRect">
            <a:avLst>
              <a:gd name="adj" fmla="val 13333"/>
            </a:avLst>
          </a:prstGeom>
          <a:solidFill>
            <a:srgbClr val="FDE3E1"/>
          </a:solidFill>
          <a:ln/>
        </p:spPr>
        <p:txBody>
          <a:bodyPr/>
          <a:lstStyle/>
          <a:p>
            <a:endParaRPr lang="ar-OM"/>
          </a:p>
        </p:txBody>
      </p:sp>
      <p:sp>
        <p:nvSpPr>
          <p:cNvPr id="20" name="Text 17"/>
          <p:cNvSpPr txBox="1"/>
          <p:nvPr/>
        </p:nvSpPr>
        <p:spPr>
          <a:xfrm>
            <a:off x="640080" y="1280160"/>
            <a:ext cx="5852160" cy="1234440"/>
          </a:xfrm>
          <a:prstGeom prst="rect">
            <a:avLst/>
          </a:prstGeom>
          <a:noFill/>
          <a:ln/>
        </p:spPr>
        <p:txBody>
          <a:bodyPr wrap="square" lIns="635" tIns="635" rIns="635" bIns="635" rtlCol="0" anchor="ctr"/>
          <a:lstStyle/>
          <a:p>
            <a:pPr marL="0" indent="0" algn="r" rtl="1">
              <a:buNone/>
            </a:pPr>
            <a:r>
              <a:rPr lang="ar-OM" altLang="en-US" sz="2200" b="1" dirty="0">
                <a:solidFill>
                  <a:srgbClr val="0D3B66"/>
                </a:solidFill>
                <a:latin typeface="Arial" pitchFamily="34" charset="0"/>
                <a:ea typeface="Arial" pitchFamily="34" charset="-122"/>
                <a:cs typeface="Arial" pitchFamily="34" charset="-120"/>
              </a:rPr>
              <a:t>انظرْ إلى الشكل: ما نوعُ التفافِ النصِّ المستخدَم؟</a:t>
            </a:r>
            <a:endParaRPr lang="ar-OM" sz="2200" dirty="0"/>
          </a:p>
        </p:txBody>
      </p:sp>
      <p:sp>
        <p:nvSpPr>
          <p:cNvPr id="21" name="إجابة">
            <a:hlinkClick r:id="rId4" action="ppaction://hlinksldjump">
              <a:snd r:embed="rId5" name="correct.wav"/>
            </a:hlinkClick>
          </p:cNvPr>
          <p:cNvSpPr/>
          <p:nvPr/>
        </p:nvSpPr>
        <p:spPr>
          <a:xfrm>
            <a:off x="457200" y="2743200"/>
            <a:ext cx="6217920" cy="868680"/>
          </a:xfrm>
          <a:prstGeom prst="roundRect">
            <a:avLst>
              <a:gd name="adj" fmla="val 21053"/>
            </a:avLst>
          </a:prstGeom>
          <a:solidFill>
            <a:srgbClr val="FFFFFF"/>
          </a:solidFill>
          <a:ln w="28575">
            <a:solidFill>
              <a:srgbClr val="E2453B"/>
            </a:solidFill>
            <a:prstDash val="solid"/>
          </a:ln>
          <a:effectLst>
            <a:outerShdw blurRad="101600" dist="25400" dir="5400000" algn="bl" rotWithShape="0">
              <a:srgbClr val="8FA6BF">
                <a:alpha val="30000"/>
              </a:srgbClr>
            </a:outerShdw>
          </a:effectLst>
        </p:spPr>
        <p:txBody>
          <a:bodyPr/>
          <a:lstStyle/>
          <a:p>
            <a:endParaRPr lang="ar-OM"/>
          </a:p>
        </p:txBody>
      </p:sp>
      <p:sp>
        <p:nvSpPr>
          <p:cNvPr id="22" name="إجابة">
            <a:hlinkClick r:id="rId4" action="ppaction://hlinksldjump">
              <a:snd r:embed="rId5" name="correct.wav"/>
            </a:hlinkClick>
          </p:cNvPr>
          <p:cNvSpPr/>
          <p:nvPr/>
        </p:nvSpPr>
        <p:spPr>
          <a:xfrm>
            <a:off x="5943600" y="2894076"/>
            <a:ext cx="566928" cy="566928"/>
          </a:xfrm>
          <a:prstGeom prst="ellipse">
            <a:avLst/>
          </a:prstGeom>
          <a:solidFill>
            <a:srgbClr val="E2453B"/>
          </a:solidFill>
          <a:ln/>
        </p:spPr>
        <p:txBody>
          <a:bodyPr/>
          <a:lstStyle/>
          <a:p>
            <a:endParaRPr lang="ar-OM"/>
          </a:p>
        </p:txBody>
      </p:sp>
      <p:sp>
        <p:nvSpPr>
          <p:cNvPr id="23" name="إجابة">
            <a:hlinkClick r:id="rId4" action="ppaction://hlinksldjump">
              <a:snd r:embed="rId5" name="correct.wav"/>
            </a:hlinkClick>
          </p:cNvPr>
          <p:cNvSpPr txBox="1"/>
          <p:nvPr/>
        </p:nvSpPr>
        <p:spPr>
          <a:xfrm>
            <a:off x="5943600" y="289407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أ</a:t>
            </a:r>
            <a:endParaRPr lang="en-US" sz="2200" dirty="0"/>
          </a:p>
        </p:txBody>
      </p:sp>
      <p:sp>
        <p:nvSpPr>
          <p:cNvPr id="24" name="إجابة">
            <a:hlinkClick r:id="rId4" action="ppaction://hlinksldjump">
              <a:snd r:embed="rId5" name="correct.wav"/>
            </a:hlinkClick>
          </p:cNvPr>
          <p:cNvSpPr txBox="1"/>
          <p:nvPr/>
        </p:nvSpPr>
        <p:spPr>
          <a:xfrm>
            <a:off x="640080" y="2743200"/>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خلف النص (Behind Text)</a:t>
            </a:r>
            <a:endParaRPr lang="ar-OM" sz="2100" dirty="0"/>
          </a:p>
        </p:txBody>
      </p:sp>
      <p:sp>
        <p:nvSpPr>
          <p:cNvPr id="25" name="إجابة">
            <a:hlinkClick r:id="rId6" action="ppaction://hlinksldjump">
              <a:snd r:embed="rId7" name="wrong.wav"/>
            </a:hlinkClick>
          </p:cNvPr>
          <p:cNvSpPr/>
          <p:nvPr/>
        </p:nvSpPr>
        <p:spPr>
          <a:xfrm>
            <a:off x="457200" y="3767328"/>
            <a:ext cx="6217920" cy="868680"/>
          </a:xfrm>
          <a:prstGeom prst="roundRect">
            <a:avLst>
              <a:gd name="adj" fmla="val 21053"/>
            </a:avLst>
          </a:prstGeom>
          <a:solidFill>
            <a:srgbClr val="FFFFFF"/>
          </a:solidFill>
          <a:ln w="28575">
            <a:solidFill>
              <a:srgbClr val="E2453B"/>
            </a:solidFill>
            <a:prstDash val="solid"/>
          </a:ln>
          <a:effectLst>
            <a:outerShdw blurRad="101600" dist="25400" dir="5400000" algn="bl" rotWithShape="0">
              <a:srgbClr val="8FA6BF">
                <a:alpha val="30000"/>
              </a:srgbClr>
            </a:outerShdw>
          </a:effectLst>
        </p:spPr>
        <p:txBody>
          <a:bodyPr/>
          <a:lstStyle/>
          <a:p>
            <a:endParaRPr lang="ar-OM"/>
          </a:p>
        </p:txBody>
      </p:sp>
      <p:sp>
        <p:nvSpPr>
          <p:cNvPr id="26" name="إجابة">
            <a:hlinkClick r:id="rId6" action="ppaction://hlinksldjump">
              <a:snd r:embed="rId7" name="wrong.wav"/>
            </a:hlinkClick>
          </p:cNvPr>
          <p:cNvSpPr/>
          <p:nvPr/>
        </p:nvSpPr>
        <p:spPr>
          <a:xfrm>
            <a:off x="5943600" y="3918204"/>
            <a:ext cx="566928" cy="566928"/>
          </a:xfrm>
          <a:prstGeom prst="ellipse">
            <a:avLst/>
          </a:prstGeom>
          <a:solidFill>
            <a:srgbClr val="E2453B"/>
          </a:solidFill>
          <a:ln/>
        </p:spPr>
        <p:txBody>
          <a:bodyPr/>
          <a:lstStyle/>
          <a:p>
            <a:endParaRPr lang="ar-OM"/>
          </a:p>
        </p:txBody>
      </p:sp>
      <p:sp>
        <p:nvSpPr>
          <p:cNvPr id="27" name="إجابة">
            <a:hlinkClick r:id="rId6" action="ppaction://hlinksldjump">
              <a:snd r:embed="rId7" name="wrong.wav"/>
            </a:hlinkClick>
          </p:cNvPr>
          <p:cNvSpPr txBox="1"/>
          <p:nvPr/>
        </p:nvSpPr>
        <p:spPr>
          <a:xfrm>
            <a:off x="5943600" y="391820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ب</a:t>
            </a:r>
            <a:endParaRPr lang="en-US" sz="2200" dirty="0"/>
          </a:p>
        </p:txBody>
      </p:sp>
      <p:sp>
        <p:nvSpPr>
          <p:cNvPr id="28" name="إجابة">
            <a:hlinkClick r:id="rId6" action="ppaction://hlinksldjump">
              <a:snd r:embed="rId7" name="wrong.wav"/>
            </a:hlinkClick>
          </p:cNvPr>
          <p:cNvSpPr txBox="1"/>
          <p:nvPr/>
        </p:nvSpPr>
        <p:spPr>
          <a:xfrm>
            <a:off x="640080" y="3767328"/>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أعلى وأسفل (Top and Bottom)</a:t>
            </a:r>
            <a:endParaRPr lang="ar-OM" sz="2100" dirty="0"/>
          </a:p>
        </p:txBody>
      </p:sp>
      <p:sp>
        <p:nvSpPr>
          <p:cNvPr id="29" name="إجابة">
            <a:hlinkClick r:id="rId6" action="ppaction://hlinksldjump">
              <a:snd r:embed="rId7" name="wrong.wav"/>
            </a:hlinkClick>
          </p:cNvPr>
          <p:cNvSpPr/>
          <p:nvPr/>
        </p:nvSpPr>
        <p:spPr>
          <a:xfrm>
            <a:off x="457200" y="4791456"/>
            <a:ext cx="6217920" cy="868680"/>
          </a:xfrm>
          <a:prstGeom prst="roundRect">
            <a:avLst>
              <a:gd name="adj" fmla="val 21053"/>
            </a:avLst>
          </a:prstGeom>
          <a:solidFill>
            <a:srgbClr val="FFFFFF"/>
          </a:solidFill>
          <a:ln w="28575">
            <a:solidFill>
              <a:srgbClr val="E2453B"/>
            </a:solidFill>
            <a:prstDash val="solid"/>
          </a:ln>
          <a:effectLst>
            <a:outerShdw blurRad="101600" dist="25400" dir="5400000" algn="bl" rotWithShape="0">
              <a:srgbClr val="8FA6BF">
                <a:alpha val="30000"/>
              </a:srgbClr>
            </a:outerShdw>
          </a:effectLst>
        </p:spPr>
        <p:txBody>
          <a:bodyPr/>
          <a:lstStyle/>
          <a:p>
            <a:endParaRPr lang="ar-OM"/>
          </a:p>
        </p:txBody>
      </p:sp>
      <p:sp>
        <p:nvSpPr>
          <p:cNvPr id="30" name="إجابة">
            <a:hlinkClick r:id="rId6" action="ppaction://hlinksldjump">
              <a:snd r:embed="rId7" name="wrong.wav"/>
            </a:hlinkClick>
          </p:cNvPr>
          <p:cNvSpPr/>
          <p:nvPr/>
        </p:nvSpPr>
        <p:spPr>
          <a:xfrm>
            <a:off x="5943600" y="4942332"/>
            <a:ext cx="566928" cy="566928"/>
          </a:xfrm>
          <a:prstGeom prst="ellipse">
            <a:avLst/>
          </a:prstGeom>
          <a:solidFill>
            <a:srgbClr val="E2453B"/>
          </a:solidFill>
          <a:ln/>
        </p:spPr>
        <p:txBody>
          <a:bodyPr/>
          <a:lstStyle/>
          <a:p>
            <a:endParaRPr lang="ar-OM"/>
          </a:p>
        </p:txBody>
      </p:sp>
      <p:sp>
        <p:nvSpPr>
          <p:cNvPr id="31" name="إجابة">
            <a:hlinkClick r:id="rId6" action="ppaction://hlinksldjump">
              <a:snd r:embed="rId7" name="wrong.wav"/>
            </a:hlinkClick>
          </p:cNvPr>
          <p:cNvSpPr txBox="1"/>
          <p:nvPr/>
        </p:nvSpPr>
        <p:spPr>
          <a:xfrm>
            <a:off x="5943600" y="49423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ج</a:t>
            </a:r>
            <a:endParaRPr lang="en-US" sz="2200" dirty="0"/>
          </a:p>
        </p:txBody>
      </p:sp>
      <p:sp>
        <p:nvSpPr>
          <p:cNvPr id="32" name="إجابة">
            <a:hlinkClick r:id="rId6" action="ppaction://hlinksldjump">
              <a:snd r:embed="rId7" name="wrong.wav"/>
            </a:hlinkClick>
          </p:cNvPr>
          <p:cNvSpPr txBox="1"/>
          <p:nvPr/>
        </p:nvSpPr>
        <p:spPr>
          <a:xfrm>
            <a:off x="640080" y="4791456"/>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مربع (Square)</a:t>
            </a:r>
            <a:endParaRPr lang="ar-OM" sz="2100" dirty="0"/>
          </a:p>
        </p:txBody>
      </p:sp>
      <p:sp>
        <p:nvSpPr>
          <p:cNvPr id="33"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4" name="زر التالي" descr="preencoded.png">
            <a:hlinkClick r:id="" action="ppaction://hlinkshowjump?jump=nextslide"/>
          </p:cNvPr>
          <p:cNvPicPr>
            <a:picLocks noChangeAspect="1"/>
          </p:cNvPicPr>
          <p:nvPr/>
        </p:nvPicPr>
        <p:blipFill>
          <a:blip r:embed="rId8"/>
          <a:stretch>
            <a:fillRect/>
          </a:stretch>
        </p:blipFill>
        <p:spPr>
          <a:xfrm>
            <a:off x="612648" y="6208776"/>
            <a:ext cx="256032" cy="256032"/>
          </a:xfrm>
          <a:prstGeom prst="rect">
            <a:avLst/>
          </a:prstGeom>
        </p:spPr>
      </p:pic>
      <p:sp>
        <p:nvSpPr>
          <p:cNvPr id="35" name="زر انتقال">
            <a:hlinkClick r:id="rId9"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6" name="زر انتقال" descr="preencoded.png">
            <a:hlinkClick r:id="rId9" action="ppaction://hlinksldjump"/>
          </p:cNvPr>
          <p:cNvPicPr>
            <a:picLocks noChangeAspect="1"/>
          </p:cNvPicPr>
          <p:nvPr/>
        </p:nvPicPr>
        <p:blipFill>
          <a:blip r:embed="rId10"/>
          <a:stretch>
            <a:fillRect/>
          </a:stretch>
        </p:blipFill>
        <p:spPr>
          <a:xfrm>
            <a:off x="1316736" y="6208776"/>
            <a:ext cx="256032" cy="256032"/>
          </a:xfrm>
          <a:prstGeom prst="rect">
            <a:avLst/>
          </a:prstGeom>
        </p:spPr>
      </p:pic>
      <p:sp>
        <p:nvSpPr>
          <p:cNvPr id="37"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8" name="زر السابق" descr="preencoded.png">
            <a:hlinkClick r:id="" action="ppaction://hlinkshowjump?jump=previousslide"/>
          </p:cNvPr>
          <p:cNvPicPr>
            <a:picLocks noChangeAspect="1"/>
          </p:cNvPicPr>
          <p:nvPr/>
        </p:nvPicPr>
        <p:blipFill>
          <a:blip r:embed="rId11"/>
          <a:stretch>
            <a:fillRect/>
          </a:stretch>
        </p:blipFill>
        <p:spPr>
          <a:xfrm>
            <a:off x="2020824" y="6208776"/>
            <a:ext cx="256032" cy="25603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E2453B"/>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التفاف النص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سؤال سريع 6</a:t>
            </a:r>
            <a:endParaRPr lang="ar-OM" sz="3200" dirty="0"/>
          </a:p>
        </p:txBody>
      </p:sp>
      <p:sp>
        <p:nvSpPr>
          <p:cNvPr id="5" name="q image card"/>
          <p:cNvSpPr/>
          <p:nvPr/>
        </p:nvSpPr>
        <p:spPr>
          <a:xfrm>
            <a:off x="6903720" y="1280160"/>
            <a:ext cx="4828032" cy="4526280"/>
          </a:xfrm>
          <a:prstGeom prst="roundRect">
            <a:avLst>
              <a:gd name="adj" fmla="val 3636"/>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6" name="doc"/>
          <p:cNvSpPr/>
          <p:nvPr/>
        </p:nvSpPr>
        <p:spPr>
          <a:xfrm>
            <a:off x="7269480" y="1463040"/>
            <a:ext cx="4096512" cy="4160520"/>
          </a:xfrm>
          <a:prstGeom prst="roundRect">
            <a:avLst>
              <a:gd name="adj" fmla="val 2679"/>
            </a:avLst>
          </a:prstGeom>
          <a:solidFill>
            <a:srgbClr val="FFFFFF"/>
          </a:solidFill>
          <a:ln w="19050">
            <a:solidFill>
              <a:srgbClr val="B8C7D9"/>
            </a:solidFill>
            <a:prstDash val="solid"/>
          </a:ln>
        </p:spPr>
        <p:txBody>
          <a:bodyPr/>
          <a:lstStyle/>
          <a:p>
            <a:endParaRPr lang="ar-OM"/>
          </a:p>
        </p:txBody>
      </p:sp>
      <p:sp>
        <p:nvSpPr>
          <p:cNvPr id="7" name="pic frame"/>
          <p:cNvSpPr/>
          <p:nvPr/>
        </p:nvSpPr>
        <p:spPr>
          <a:xfrm>
            <a:off x="8457468" y="2586380"/>
            <a:ext cx="1720535" cy="1872234"/>
          </a:xfrm>
          <a:prstGeom prst="rect">
            <a:avLst/>
          </a:prstGeom>
          <a:solidFill>
            <a:srgbClr val="FFFFFF"/>
          </a:solidFill>
          <a:ln w="12700">
            <a:solidFill>
              <a:srgbClr val="333333"/>
            </a:solidFill>
            <a:prstDash val="solid"/>
          </a:ln>
        </p:spPr>
        <p:txBody>
          <a:bodyPr/>
          <a:lstStyle/>
          <a:p>
            <a:endParaRPr lang="ar-OM"/>
          </a:p>
        </p:txBody>
      </p:sp>
      <p:pic>
        <p:nvPicPr>
          <p:cNvPr id="8" name="img robot.png" descr="a/robot.png"/>
          <p:cNvPicPr>
            <a:picLocks noChangeAspect="1"/>
          </p:cNvPicPr>
          <p:nvPr/>
        </p:nvPicPr>
        <p:blipFill>
          <a:blip r:embed="rId3"/>
          <a:stretch>
            <a:fillRect/>
          </a:stretch>
        </p:blipFill>
        <p:spPr>
          <a:xfrm>
            <a:off x="8503188" y="2707950"/>
            <a:ext cx="1629095" cy="1629095"/>
          </a:xfrm>
          <a:prstGeom prst="rect">
            <a:avLst/>
          </a:prstGeom>
        </p:spPr>
      </p:pic>
      <p:sp>
        <p:nvSpPr>
          <p:cNvPr id="9" name="text line"/>
          <p:cNvSpPr/>
          <p:nvPr/>
        </p:nvSpPr>
        <p:spPr>
          <a:xfrm>
            <a:off x="7589520" y="1917954"/>
            <a:ext cx="3456432" cy="64008"/>
          </a:xfrm>
          <a:prstGeom prst="rect">
            <a:avLst/>
          </a:prstGeom>
          <a:solidFill>
            <a:srgbClr val="7D8A99"/>
          </a:solidFill>
          <a:ln/>
        </p:spPr>
        <p:txBody>
          <a:bodyPr/>
          <a:lstStyle/>
          <a:p>
            <a:endParaRPr lang="ar-OM"/>
          </a:p>
        </p:txBody>
      </p:sp>
      <p:sp>
        <p:nvSpPr>
          <p:cNvPr id="10" name="text line"/>
          <p:cNvSpPr/>
          <p:nvPr/>
        </p:nvSpPr>
        <p:spPr>
          <a:xfrm>
            <a:off x="7589520" y="2279142"/>
            <a:ext cx="3456432" cy="64008"/>
          </a:xfrm>
          <a:prstGeom prst="rect">
            <a:avLst/>
          </a:prstGeom>
          <a:solidFill>
            <a:srgbClr val="7D8A99"/>
          </a:solidFill>
          <a:ln/>
        </p:spPr>
        <p:txBody>
          <a:bodyPr/>
          <a:lstStyle/>
          <a:p>
            <a:endParaRPr lang="ar-OM"/>
          </a:p>
        </p:txBody>
      </p:sp>
      <p:sp>
        <p:nvSpPr>
          <p:cNvPr id="11" name="text line"/>
          <p:cNvSpPr/>
          <p:nvPr/>
        </p:nvSpPr>
        <p:spPr>
          <a:xfrm>
            <a:off x="7589520" y="4807458"/>
            <a:ext cx="3456432" cy="64008"/>
          </a:xfrm>
          <a:prstGeom prst="rect">
            <a:avLst/>
          </a:prstGeom>
          <a:solidFill>
            <a:srgbClr val="7D8A99"/>
          </a:solidFill>
          <a:ln/>
        </p:spPr>
        <p:txBody>
          <a:bodyPr/>
          <a:lstStyle/>
          <a:p>
            <a:endParaRPr lang="ar-OM"/>
          </a:p>
        </p:txBody>
      </p:sp>
      <p:sp>
        <p:nvSpPr>
          <p:cNvPr id="12" name="text line"/>
          <p:cNvSpPr/>
          <p:nvPr/>
        </p:nvSpPr>
        <p:spPr>
          <a:xfrm>
            <a:off x="7589520" y="5168646"/>
            <a:ext cx="3456432" cy="64008"/>
          </a:xfrm>
          <a:prstGeom prst="rect">
            <a:avLst/>
          </a:prstGeom>
          <a:solidFill>
            <a:srgbClr val="7D8A99"/>
          </a:solidFill>
          <a:ln/>
        </p:spPr>
        <p:txBody>
          <a:bodyPr/>
          <a:lstStyle/>
          <a:p>
            <a:endParaRPr lang="ar-OM"/>
          </a:p>
        </p:txBody>
      </p:sp>
      <p:sp>
        <p:nvSpPr>
          <p:cNvPr id="13" name="question"/>
          <p:cNvSpPr/>
          <p:nvPr/>
        </p:nvSpPr>
        <p:spPr>
          <a:xfrm>
            <a:off x="457200" y="1280160"/>
            <a:ext cx="6217920" cy="1234440"/>
          </a:xfrm>
          <a:prstGeom prst="roundRect">
            <a:avLst>
              <a:gd name="adj" fmla="val 13333"/>
            </a:avLst>
          </a:prstGeom>
          <a:solidFill>
            <a:srgbClr val="FDE3E1"/>
          </a:solidFill>
          <a:ln/>
        </p:spPr>
        <p:txBody>
          <a:bodyPr/>
          <a:lstStyle/>
          <a:p>
            <a:endParaRPr lang="ar-OM"/>
          </a:p>
        </p:txBody>
      </p:sp>
      <p:sp>
        <p:nvSpPr>
          <p:cNvPr id="14" name="Text 11"/>
          <p:cNvSpPr txBox="1"/>
          <p:nvPr/>
        </p:nvSpPr>
        <p:spPr>
          <a:xfrm>
            <a:off x="640080" y="1280160"/>
            <a:ext cx="5852160" cy="1234440"/>
          </a:xfrm>
          <a:prstGeom prst="rect">
            <a:avLst/>
          </a:prstGeom>
          <a:noFill/>
          <a:ln/>
        </p:spPr>
        <p:txBody>
          <a:bodyPr wrap="square" lIns="635" tIns="635" rIns="635" bIns="635" rtlCol="0" anchor="ctr"/>
          <a:lstStyle/>
          <a:p>
            <a:pPr marL="0" indent="0" algn="r" rtl="1">
              <a:buNone/>
            </a:pPr>
            <a:r>
              <a:rPr lang="ar-OM" altLang="en-US" sz="2200" b="1" dirty="0">
                <a:solidFill>
                  <a:srgbClr val="0D3B66"/>
                </a:solidFill>
                <a:latin typeface="Arial" pitchFamily="34" charset="0"/>
                <a:ea typeface="Arial" pitchFamily="34" charset="-122"/>
                <a:cs typeface="Arial" pitchFamily="34" charset="-120"/>
              </a:rPr>
              <a:t>انظرْ إلى الشكل: ما نوعُ التفافِ النصِّ المستخدَم؟</a:t>
            </a:r>
            <a:endParaRPr lang="ar-OM" sz="2200" dirty="0"/>
          </a:p>
        </p:txBody>
      </p:sp>
      <p:sp>
        <p:nvSpPr>
          <p:cNvPr id="15" name="إجابة">
            <a:hlinkClick r:id="rId4" action="ppaction://hlinksldjump">
              <a:snd r:embed="rId5" name="wrong.wav"/>
            </a:hlinkClick>
          </p:cNvPr>
          <p:cNvSpPr/>
          <p:nvPr/>
        </p:nvSpPr>
        <p:spPr>
          <a:xfrm>
            <a:off x="457200" y="2743200"/>
            <a:ext cx="6217920" cy="868680"/>
          </a:xfrm>
          <a:prstGeom prst="roundRect">
            <a:avLst>
              <a:gd name="adj" fmla="val 21053"/>
            </a:avLst>
          </a:prstGeom>
          <a:solidFill>
            <a:srgbClr val="FFFFFF"/>
          </a:solidFill>
          <a:ln w="28575">
            <a:solidFill>
              <a:srgbClr val="E2453B"/>
            </a:solidFill>
            <a:prstDash val="solid"/>
          </a:ln>
          <a:effectLst>
            <a:outerShdw blurRad="101600" dist="25400" dir="5400000" algn="bl" rotWithShape="0">
              <a:srgbClr val="8FA6BF">
                <a:alpha val="30000"/>
              </a:srgbClr>
            </a:outerShdw>
          </a:effectLst>
        </p:spPr>
        <p:txBody>
          <a:bodyPr/>
          <a:lstStyle/>
          <a:p>
            <a:endParaRPr lang="ar-OM"/>
          </a:p>
        </p:txBody>
      </p:sp>
      <p:sp>
        <p:nvSpPr>
          <p:cNvPr id="16" name="إجابة">
            <a:hlinkClick r:id="rId4" action="ppaction://hlinksldjump">
              <a:snd r:embed="rId5" name="wrong.wav"/>
            </a:hlinkClick>
          </p:cNvPr>
          <p:cNvSpPr/>
          <p:nvPr/>
        </p:nvSpPr>
        <p:spPr>
          <a:xfrm>
            <a:off x="5943600" y="2894076"/>
            <a:ext cx="566928" cy="566928"/>
          </a:xfrm>
          <a:prstGeom prst="ellipse">
            <a:avLst/>
          </a:prstGeom>
          <a:solidFill>
            <a:srgbClr val="E2453B"/>
          </a:solidFill>
          <a:ln/>
        </p:spPr>
        <p:txBody>
          <a:bodyPr/>
          <a:lstStyle/>
          <a:p>
            <a:endParaRPr lang="ar-OM"/>
          </a:p>
        </p:txBody>
      </p:sp>
      <p:sp>
        <p:nvSpPr>
          <p:cNvPr id="17" name="إجابة">
            <a:hlinkClick r:id="rId4" action="ppaction://hlinksldjump">
              <a:snd r:embed="rId5" name="wrong.wav"/>
            </a:hlinkClick>
          </p:cNvPr>
          <p:cNvSpPr txBox="1"/>
          <p:nvPr/>
        </p:nvSpPr>
        <p:spPr>
          <a:xfrm>
            <a:off x="5943600" y="289407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أ</a:t>
            </a:r>
            <a:endParaRPr lang="en-US" sz="2200" dirty="0"/>
          </a:p>
        </p:txBody>
      </p:sp>
      <p:sp>
        <p:nvSpPr>
          <p:cNvPr id="18" name="إجابة">
            <a:hlinkClick r:id="rId4" action="ppaction://hlinksldjump">
              <a:snd r:embed="rId5" name="wrong.wav"/>
            </a:hlinkClick>
          </p:cNvPr>
          <p:cNvSpPr txBox="1"/>
          <p:nvPr/>
        </p:nvSpPr>
        <p:spPr>
          <a:xfrm>
            <a:off x="640080" y="2743200"/>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مربع (Square)</a:t>
            </a:r>
            <a:endParaRPr lang="ar-OM" sz="2100" dirty="0"/>
          </a:p>
        </p:txBody>
      </p:sp>
      <p:sp>
        <p:nvSpPr>
          <p:cNvPr id="19" name="إجابة">
            <a:hlinkClick r:id="rId4" action="ppaction://hlinksldjump">
              <a:snd r:embed="rId5" name="wrong.wav"/>
            </a:hlinkClick>
          </p:cNvPr>
          <p:cNvSpPr/>
          <p:nvPr/>
        </p:nvSpPr>
        <p:spPr>
          <a:xfrm>
            <a:off x="457200" y="3767328"/>
            <a:ext cx="6217920" cy="868680"/>
          </a:xfrm>
          <a:prstGeom prst="roundRect">
            <a:avLst>
              <a:gd name="adj" fmla="val 21053"/>
            </a:avLst>
          </a:prstGeom>
          <a:solidFill>
            <a:srgbClr val="FFFFFF"/>
          </a:solidFill>
          <a:ln w="28575">
            <a:solidFill>
              <a:srgbClr val="E2453B"/>
            </a:solidFill>
            <a:prstDash val="solid"/>
          </a:ln>
          <a:effectLst>
            <a:outerShdw blurRad="101600" dist="25400" dir="5400000" algn="bl" rotWithShape="0">
              <a:srgbClr val="8FA6BF">
                <a:alpha val="30000"/>
              </a:srgbClr>
            </a:outerShdw>
          </a:effectLst>
        </p:spPr>
        <p:txBody>
          <a:bodyPr/>
          <a:lstStyle/>
          <a:p>
            <a:endParaRPr lang="ar-OM"/>
          </a:p>
        </p:txBody>
      </p:sp>
      <p:sp>
        <p:nvSpPr>
          <p:cNvPr id="20" name="إجابة">
            <a:hlinkClick r:id="rId4" action="ppaction://hlinksldjump">
              <a:snd r:embed="rId5" name="wrong.wav"/>
            </a:hlinkClick>
          </p:cNvPr>
          <p:cNvSpPr/>
          <p:nvPr/>
        </p:nvSpPr>
        <p:spPr>
          <a:xfrm>
            <a:off x="5943600" y="3918204"/>
            <a:ext cx="566928" cy="566928"/>
          </a:xfrm>
          <a:prstGeom prst="ellipse">
            <a:avLst/>
          </a:prstGeom>
          <a:solidFill>
            <a:srgbClr val="E2453B"/>
          </a:solidFill>
          <a:ln/>
        </p:spPr>
        <p:txBody>
          <a:bodyPr/>
          <a:lstStyle/>
          <a:p>
            <a:endParaRPr lang="ar-OM"/>
          </a:p>
        </p:txBody>
      </p:sp>
      <p:sp>
        <p:nvSpPr>
          <p:cNvPr id="21" name="إجابة">
            <a:hlinkClick r:id="rId4" action="ppaction://hlinksldjump">
              <a:snd r:embed="rId5" name="wrong.wav"/>
            </a:hlinkClick>
          </p:cNvPr>
          <p:cNvSpPr txBox="1"/>
          <p:nvPr/>
        </p:nvSpPr>
        <p:spPr>
          <a:xfrm>
            <a:off x="5943600" y="391820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ب</a:t>
            </a:r>
            <a:endParaRPr lang="en-US" sz="2200" dirty="0"/>
          </a:p>
        </p:txBody>
      </p:sp>
      <p:sp>
        <p:nvSpPr>
          <p:cNvPr id="22" name="إجابة">
            <a:hlinkClick r:id="rId4" action="ppaction://hlinksldjump">
              <a:snd r:embed="rId5" name="wrong.wav"/>
            </a:hlinkClick>
          </p:cNvPr>
          <p:cNvSpPr txBox="1"/>
          <p:nvPr/>
        </p:nvSpPr>
        <p:spPr>
          <a:xfrm>
            <a:off x="640080" y="3767328"/>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أمام النص (In Front of Text)</a:t>
            </a:r>
            <a:endParaRPr lang="ar-OM" sz="2100" dirty="0"/>
          </a:p>
        </p:txBody>
      </p:sp>
      <p:sp>
        <p:nvSpPr>
          <p:cNvPr id="23" name="إجابة">
            <a:hlinkClick r:id="rId6" action="ppaction://hlinksldjump">
              <a:snd r:embed="rId7" name="correct.wav"/>
            </a:hlinkClick>
          </p:cNvPr>
          <p:cNvSpPr/>
          <p:nvPr/>
        </p:nvSpPr>
        <p:spPr>
          <a:xfrm>
            <a:off x="457200" y="4791456"/>
            <a:ext cx="6217920" cy="868680"/>
          </a:xfrm>
          <a:prstGeom prst="roundRect">
            <a:avLst>
              <a:gd name="adj" fmla="val 21053"/>
            </a:avLst>
          </a:prstGeom>
          <a:solidFill>
            <a:srgbClr val="FFFFFF"/>
          </a:solidFill>
          <a:ln w="28575">
            <a:solidFill>
              <a:srgbClr val="E2453B"/>
            </a:solidFill>
            <a:prstDash val="solid"/>
          </a:ln>
          <a:effectLst>
            <a:outerShdw blurRad="101600" dist="25400" dir="5400000" algn="bl" rotWithShape="0">
              <a:srgbClr val="8FA6BF">
                <a:alpha val="30000"/>
              </a:srgbClr>
            </a:outerShdw>
          </a:effectLst>
        </p:spPr>
        <p:txBody>
          <a:bodyPr/>
          <a:lstStyle/>
          <a:p>
            <a:endParaRPr lang="ar-OM"/>
          </a:p>
        </p:txBody>
      </p:sp>
      <p:sp>
        <p:nvSpPr>
          <p:cNvPr id="24" name="إجابة">
            <a:hlinkClick r:id="rId6" action="ppaction://hlinksldjump">
              <a:snd r:embed="rId7" name="correct.wav"/>
            </a:hlinkClick>
          </p:cNvPr>
          <p:cNvSpPr/>
          <p:nvPr/>
        </p:nvSpPr>
        <p:spPr>
          <a:xfrm>
            <a:off x="5943600" y="4942332"/>
            <a:ext cx="566928" cy="566928"/>
          </a:xfrm>
          <a:prstGeom prst="ellipse">
            <a:avLst/>
          </a:prstGeom>
          <a:solidFill>
            <a:srgbClr val="E2453B"/>
          </a:solidFill>
          <a:ln/>
        </p:spPr>
        <p:txBody>
          <a:bodyPr/>
          <a:lstStyle/>
          <a:p>
            <a:endParaRPr lang="ar-OM"/>
          </a:p>
        </p:txBody>
      </p:sp>
      <p:sp>
        <p:nvSpPr>
          <p:cNvPr id="25" name="إجابة">
            <a:hlinkClick r:id="rId6" action="ppaction://hlinksldjump">
              <a:snd r:embed="rId7" name="correct.wav"/>
            </a:hlinkClick>
          </p:cNvPr>
          <p:cNvSpPr txBox="1"/>
          <p:nvPr/>
        </p:nvSpPr>
        <p:spPr>
          <a:xfrm>
            <a:off x="5943600" y="49423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ج</a:t>
            </a:r>
            <a:endParaRPr lang="en-US" sz="2200" dirty="0"/>
          </a:p>
        </p:txBody>
      </p:sp>
      <p:sp>
        <p:nvSpPr>
          <p:cNvPr id="26" name="إجابة">
            <a:hlinkClick r:id="rId6" action="ppaction://hlinksldjump">
              <a:snd r:embed="rId7" name="correct.wav"/>
            </a:hlinkClick>
          </p:cNvPr>
          <p:cNvSpPr txBox="1"/>
          <p:nvPr/>
        </p:nvSpPr>
        <p:spPr>
          <a:xfrm>
            <a:off x="640080" y="4791456"/>
            <a:ext cx="5193792" cy="86868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أعلى وأسفل (Top and Bottom)</a:t>
            </a:r>
            <a:endParaRPr lang="ar-OM" sz="2100" dirty="0"/>
          </a:p>
        </p:txBody>
      </p:sp>
      <p:sp>
        <p:nvSpPr>
          <p:cNvPr id="27"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8" name="زر التالي" descr="preencoded.png">
            <a:hlinkClick r:id="" action="ppaction://hlinkshowjump?jump=nextslide"/>
          </p:cNvPr>
          <p:cNvPicPr>
            <a:picLocks noChangeAspect="1"/>
          </p:cNvPicPr>
          <p:nvPr/>
        </p:nvPicPr>
        <p:blipFill>
          <a:blip r:embed="rId8"/>
          <a:stretch>
            <a:fillRect/>
          </a:stretch>
        </p:blipFill>
        <p:spPr>
          <a:xfrm>
            <a:off x="612648" y="6208776"/>
            <a:ext cx="256032" cy="256032"/>
          </a:xfrm>
          <a:prstGeom prst="rect">
            <a:avLst/>
          </a:prstGeom>
        </p:spPr>
      </p:pic>
      <p:sp>
        <p:nvSpPr>
          <p:cNvPr id="29" name="زر انتقال">
            <a:hlinkClick r:id="rId9"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0" name="زر انتقال" descr="preencoded.png">
            <a:hlinkClick r:id="rId9" action="ppaction://hlinksldjump"/>
          </p:cNvPr>
          <p:cNvPicPr>
            <a:picLocks noChangeAspect="1"/>
          </p:cNvPicPr>
          <p:nvPr/>
        </p:nvPicPr>
        <p:blipFill>
          <a:blip r:embed="rId10"/>
          <a:stretch>
            <a:fillRect/>
          </a:stretch>
        </p:blipFill>
        <p:spPr>
          <a:xfrm>
            <a:off x="1316736" y="6208776"/>
            <a:ext cx="256032" cy="256032"/>
          </a:xfrm>
          <a:prstGeom prst="rect">
            <a:avLst/>
          </a:prstGeom>
        </p:spPr>
      </p:pic>
      <p:sp>
        <p:nvSpPr>
          <p:cNvPr id="31"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2" name="زر السابق" descr="preencoded.png">
            <a:hlinkClick r:id="" action="ppaction://hlinkshowjump?jump=previousslide"/>
          </p:cNvPr>
          <p:cNvPicPr>
            <a:picLocks noChangeAspect="1"/>
          </p:cNvPicPr>
          <p:nvPr/>
        </p:nvPicPr>
        <p:blipFill>
          <a:blip r:embed="rId11"/>
          <a:stretch>
            <a:fillRect/>
          </a:stretch>
        </p:blipFill>
        <p:spPr>
          <a:xfrm>
            <a:off x="2020824" y="6208776"/>
            <a:ext cx="256032" cy="25603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E2453B"/>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التفاف النص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صح أم خطأ؟ (3)</a:t>
            </a:r>
            <a:endParaRPr lang="ar-OM" sz="3200" dirty="0"/>
          </a:p>
        </p:txBody>
      </p:sp>
      <p:sp>
        <p:nvSpPr>
          <p:cNvPr id="5" name="statement"/>
          <p:cNvSpPr/>
          <p:nvPr/>
        </p:nvSpPr>
        <p:spPr>
          <a:xfrm>
            <a:off x="2377440" y="1325880"/>
            <a:ext cx="9354312" cy="1920240"/>
          </a:xfrm>
          <a:prstGeom prst="roundRect">
            <a:avLst>
              <a:gd name="adj" fmla="val 8571"/>
            </a:avLst>
          </a:prstGeom>
          <a:solidFill>
            <a:srgbClr val="FDE3E1"/>
          </a:solidFill>
          <a:ln/>
        </p:spPr>
        <p:txBody>
          <a:bodyPr/>
          <a:lstStyle/>
          <a:p>
            <a:endParaRPr lang="ar-OM"/>
          </a:p>
        </p:txBody>
      </p:sp>
      <p:sp>
        <p:nvSpPr>
          <p:cNvPr id="6" name="Text 4"/>
          <p:cNvSpPr txBox="1"/>
          <p:nvPr/>
        </p:nvSpPr>
        <p:spPr>
          <a:xfrm>
            <a:off x="2651760" y="1325880"/>
            <a:ext cx="8778240" cy="1920240"/>
          </a:xfrm>
          <a:prstGeom prst="rect">
            <a:avLst/>
          </a:prstGeom>
          <a:noFill/>
          <a:ln/>
        </p:spPr>
        <p:txBody>
          <a:bodyPr wrap="square" lIns="635" tIns="635" rIns="635" bIns="635" rtlCol="0" anchor="ctr"/>
          <a:lstStyle/>
          <a:p>
            <a:pPr marL="0" indent="0" algn="ctr" rtl="1">
              <a:buNone/>
            </a:pPr>
            <a:r>
              <a:rPr lang="ar-OM" altLang="en-US" sz="2600" b="1" dirty="0">
                <a:solidFill>
                  <a:srgbClr val="0D3B66"/>
                </a:solidFill>
                <a:latin typeface="Arial" pitchFamily="34" charset="0"/>
                <a:ea typeface="Arial" pitchFamily="34" charset="-122"/>
                <a:cs typeface="Arial" pitchFamily="34" charset="-120"/>
              </a:rPr>
              <a:t>يمكنك استخدامُ أداةِ التفافِ النصِّ لجعلِ الصورةِ كخلفيّةٍ للمستند.</a:t>
            </a:r>
            <a:endParaRPr lang="ar-OM" sz="2600" dirty="0"/>
          </a:p>
        </p:txBody>
      </p:sp>
      <p:pic>
        <p:nvPicPr>
          <p:cNvPr id="7" name="img girl_wave.png" descr="a/girl_wave.png"/>
          <p:cNvPicPr>
            <a:picLocks noChangeAspect="1"/>
          </p:cNvPicPr>
          <p:nvPr/>
        </p:nvPicPr>
        <p:blipFill>
          <a:blip r:embed="rId3"/>
          <a:stretch>
            <a:fillRect/>
          </a:stretch>
        </p:blipFill>
        <p:spPr>
          <a:xfrm>
            <a:off x="365760" y="1387266"/>
            <a:ext cx="1828800" cy="2071787"/>
          </a:xfrm>
          <a:prstGeom prst="rect">
            <a:avLst/>
          </a:prstGeom>
        </p:spPr>
      </p:pic>
      <p:sp>
        <p:nvSpPr>
          <p:cNvPr id="8" name="إجابة">
            <a:hlinkClick r:id="rId4" action="ppaction://hlinksldjump">
              <a:snd r:embed="rId5" name="correct.wav"/>
            </a:hlinkClick>
          </p:cNvPr>
          <p:cNvSpPr/>
          <p:nvPr/>
        </p:nvSpPr>
        <p:spPr>
          <a:xfrm>
            <a:off x="6446520" y="3657600"/>
            <a:ext cx="4023360" cy="1600200"/>
          </a:xfrm>
          <a:prstGeom prst="roundRect">
            <a:avLst>
              <a:gd name="adj" fmla="val 17143"/>
            </a:avLst>
          </a:prstGeom>
          <a:solidFill>
            <a:srgbClr val="4FA62A"/>
          </a:solidFill>
          <a:ln w="38100">
            <a:solidFill>
              <a:srgbClr val="FFFFFF"/>
            </a:solidFill>
            <a:prstDash val="solid"/>
          </a:ln>
          <a:effectLst>
            <a:outerShdw blurRad="76200" dist="38100" dir="5400000" algn="bl" rotWithShape="0">
              <a:srgbClr val="000000">
                <a:alpha val="25000"/>
              </a:srgbClr>
            </a:outerShdw>
          </a:effectLst>
        </p:spPr>
        <p:txBody>
          <a:bodyPr/>
          <a:lstStyle/>
          <a:p>
            <a:endParaRPr lang="ar-OM"/>
          </a:p>
        </p:txBody>
      </p:sp>
      <p:sp>
        <p:nvSpPr>
          <p:cNvPr id="9" name="إجابة">
            <a:hlinkClick r:id="rId4" action="ppaction://hlinksldjump">
              <a:snd r:embed="rId5" name="correct.wav"/>
            </a:hlinkClick>
          </p:cNvPr>
          <p:cNvSpPr/>
          <p:nvPr/>
        </p:nvSpPr>
        <p:spPr>
          <a:xfrm>
            <a:off x="9144000" y="4023360"/>
            <a:ext cx="868680" cy="868680"/>
          </a:xfrm>
          <a:prstGeom prst="ellipse">
            <a:avLst/>
          </a:prstGeom>
          <a:solidFill>
            <a:srgbClr val="FFFFFF"/>
          </a:solidFill>
          <a:ln/>
        </p:spPr>
        <p:txBody>
          <a:bodyPr/>
          <a:lstStyle/>
          <a:p>
            <a:endParaRPr lang="ar-OM"/>
          </a:p>
        </p:txBody>
      </p:sp>
      <p:pic>
        <p:nvPicPr>
          <p:cNvPr id="10" name="إجابة" descr="preencoded.png">
            <a:hlinkClick r:id="rId4" action="ppaction://hlinksldjump">
              <a:snd r:embed="rId5" name="correct.wav"/>
            </a:hlinkClick>
          </p:cNvPr>
          <p:cNvPicPr>
            <a:picLocks noChangeAspect="1"/>
          </p:cNvPicPr>
          <p:nvPr/>
        </p:nvPicPr>
        <p:blipFill>
          <a:blip r:embed="rId6"/>
          <a:stretch>
            <a:fillRect/>
          </a:stretch>
        </p:blipFill>
        <p:spPr>
          <a:xfrm>
            <a:off x="9352483" y="4231843"/>
            <a:ext cx="451714" cy="451714"/>
          </a:xfrm>
          <a:prstGeom prst="rect">
            <a:avLst/>
          </a:prstGeom>
        </p:spPr>
      </p:pic>
      <p:sp>
        <p:nvSpPr>
          <p:cNvPr id="11" name="إجابة">
            <a:hlinkClick r:id="rId4" action="ppaction://hlinksldjump">
              <a:snd r:embed="rId5" name="correct.wav"/>
            </a:hlinkClick>
          </p:cNvPr>
          <p:cNvSpPr txBox="1"/>
          <p:nvPr/>
        </p:nvSpPr>
        <p:spPr>
          <a:xfrm>
            <a:off x="6720840" y="3657600"/>
            <a:ext cx="2286000" cy="1600200"/>
          </a:xfrm>
          <a:prstGeom prst="rect">
            <a:avLst/>
          </a:prstGeom>
          <a:noFill/>
          <a:ln/>
        </p:spPr>
        <p:txBody>
          <a:bodyPr wrap="square" lIns="635" tIns="635" rIns="635" bIns="635" rtlCol="0" anchor="ctr"/>
          <a:lstStyle/>
          <a:p>
            <a:pPr marL="0" indent="0" algn="ctr" rtl="1">
              <a:buNone/>
            </a:pPr>
            <a:r>
              <a:rPr lang="ar-OM" altLang="en-US" sz="4400" b="1" dirty="0">
                <a:solidFill>
                  <a:srgbClr val="FFFFFF"/>
                </a:solidFill>
                <a:latin typeface="Arial" pitchFamily="34" charset="0"/>
                <a:ea typeface="Arial" pitchFamily="34" charset="-122"/>
                <a:cs typeface="Arial" pitchFamily="34" charset="-120"/>
              </a:rPr>
              <a:t>صح</a:t>
            </a:r>
            <a:endParaRPr lang="ar-OM" sz="4400" dirty="0"/>
          </a:p>
        </p:txBody>
      </p:sp>
      <p:sp>
        <p:nvSpPr>
          <p:cNvPr id="12" name="إجابة">
            <a:hlinkClick r:id="rId7" action="ppaction://hlinksldjump">
              <a:snd r:embed="rId8" name="wrong.wav"/>
            </a:hlinkClick>
          </p:cNvPr>
          <p:cNvSpPr/>
          <p:nvPr/>
        </p:nvSpPr>
        <p:spPr>
          <a:xfrm>
            <a:off x="1691640" y="3657600"/>
            <a:ext cx="4023360" cy="1600200"/>
          </a:xfrm>
          <a:prstGeom prst="roundRect">
            <a:avLst>
              <a:gd name="adj" fmla="val 17143"/>
            </a:avLst>
          </a:prstGeom>
          <a:solidFill>
            <a:srgbClr val="E2453B"/>
          </a:solidFill>
          <a:ln w="38100">
            <a:solidFill>
              <a:srgbClr val="FFFFFF"/>
            </a:solidFill>
            <a:prstDash val="solid"/>
          </a:ln>
          <a:effectLst>
            <a:outerShdw blurRad="76200" dist="38100" dir="5400000" algn="bl" rotWithShape="0">
              <a:srgbClr val="000000">
                <a:alpha val="25000"/>
              </a:srgbClr>
            </a:outerShdw>
          </a:effectLst>
        </p:spPr>
        <p:txBody>
          <a:bodyPr/>
          <a:lstStyle/>
          <a:p>
            <a:endParaRPr lang="ar-OM"/>
          </a:p>
        </p:txBody>
      </p:sp>
      <p:sp>
        <p:nvSpPr>
          <p:cNvPr id="13" name="إجابة">
            <a:hlinkClick r:id="rId7" action="ppaction://hlinksldjump">
              <a:snd r:embed="rId8" name="wrong.wav"/>
            </a:hlinkClick>
          </p:cNvPr>
          <p:cNvSpPr/>
          <p:nvPr/>
        </p:nvSpPr>
        <p:spPr>
          <a:xfrm>
            <a:off x="4389120" y="4023360"/>
            <a:ext cx="868680" cy="868680"/>
          </a:xfrm>
          <a:prstGeom prst="ellipse">
            <a:avLst/>
          </a:prstGeom>
          <a:solidFill>
            <a:srgbClr val="FFFFFF"/>
          </a:solidFill>
          <a:ln/>
        </p:spPr>
        <p:txBody>
          <a:bodyPr/>
          <a:lstStyle/>
          <a:p>
            <a:endParaRPr lang="ar-OM"/>
          </a:p>
        </p:txBody>
      </p:sp>
      <p:pic>
        <p:nvPicPr>
          <p:cNvPr id="14" name="إجابة" descr="preencoded.png">
            <a:hlinkClick r:id="rId7" action="ppaction://hlinksldjump">
              <a:snd r:embed="rId8" name="wrong.wav"/>
            </a:hlinkClick>
          </p:cNvPr>
          <p:cNvPicPr>
            <a:picLocks noChangeAspect="1"/>
          </p:cNvPicPr>
          <p:nvPr/>
        </p:nvPicPr>
        <p:blipFill>
          <a:blip r:embed="rId9"/>
          <a:stretch>
            <a:fillRect/>
          </a:stretch>
        </p:blipFill>
        <p:spPr>
          <a:xfrm>
            <a:off x="4597603" y="4231843"/>
            <a:ext cx="451714" cy="451714"/>
          </a:xfrm>
          <a:prstGeom prst="rect">
            <a:avLst/>
          </a:prstGeom>
        </p:spPr>
      </p:pic>
      <p:sp>
        <p:nvSpPr>
          <p:cNvPr id="15" name="إجابة">
            <a:hlinkClick r:id="rId7" action="ppaction://hlinksldjump">
              <a:snd r:embed="rId8" name="wrong.wav"/>
            </a:hlinkClick>
          </p:cNvPr>
          <p:cNvSpPr txBox="1"/>
          <p:nvPr/>
        </p:nvSpPr>
        <p:spPr>
          <a:xfrm>
            <a:off x="1965960" y="3657600"/>
            <a:ext cx="2286000" cy="1600200"/>
          </a:xfrm>
          <a:prstGeom prst="rect">
            <a:avLst/>
          </a:prstGeom>
          <a:noFill/>
          <a:ln/>
        </p:spPr>
        <p:txBody>
          <a:bodyPr wrap="square" lIns="635" tIns="635" rIns="635" bIns="635" rtlCol="0" anchor="ctr"/>
          <a:lstStyle/>
          <a:p>
            <a:pPr marL="0" indent="0" algn="ctr" rtl="1">
              <a:buNone/>
            </a:pPr>
            <a:r>
              <a:rPr lang="ar-OM" altLang="en-US" sz="4400" b="1" dirty="0">
                <a:solidFill>
                  <a:srgbClr val="FFFFFF"/>
                </a:solidFill>
                <a:latin typeface="Arial" pitchFamily="34" charset="0"/>
                <a:ea typeface="Arial" pitchFamily="34" charset="-122"/>
                <a:cs typeface="Arial" pitchFamily="34" charset="-120"/>
              </a:rPr>
              <a:t>خطأ</a:t>
            </a:r>
            <a:endParaRPr lang="ar-OM" sz="4400" dirty="0"/>
          </a:p>
        </p:txBody>
      </p:sp>
      <p:sp>
        <p:nvSpPr>
          <p:cNvPr id="16"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7" name="زر التالي" descr="preencoded.png">
            <a:hlinkClick r:id="" action="ppaction://hlinkshowjump?jump=nextslide"/>
          </p:cNvPr>
          <p:cNvPicPr>
            <a:picLocks noChangeAspect="1"/>
          </p:cNvPicPr>
          <p:nvPr/>
        </p:nvPicPr>
        <p:blipFill>
          <a:blip r:embed="rId10"/>
          <a:stretch>
            <a:fillRect/>
          </a:stretch>
        </p:blipFill>
        <p:spPr>
          <a:xfrm>
            <a:off x="612648" y="6208776"/>
            <a:ext cx="256032" cy="256032"/>
          </a:xfrm>
          <a:prstGeom prst="rect">
            <a:avLst/>
          </a:prstGeom>
        </p:spPr>
      </p:pic>
      <p:sp>
        <p:nvSpPr>
          <p:cNvPr id="18" name="زر انتقال">
            <a:hlinkClick r:id="rId11"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9" name="زر انتقال" descr="preencoded.png">
            <a:hlinkClick r:id="rId11" action="ppaction://hlinksldjump"/>
          </p:cNvPr>
          <p:cNvPicPr>
            <a:picLocks noChangeAspect="1"/>
          </p:cNvPicPr>
          <p:nvPr/>
        </p:nvPicPr>
        <p:blipFill>
          <a:blip r:embed="rId12"/>
          <a:stretch>
            <a:fillRect/>
          </a:stretch>
        </p:blipFill>
        <p:spPr>
          <a:xfrm>
            <a:off x="1316736" y="6208776"/>
            <a:ext cx="256032" cy="256032"/>
          </a:xfrm>
          <a:prstGeom prst="rect">
            <a:avLst/>
          </a:prstGeom>
        </p:spPr>
      </p:pic>
      <p:sp>
        <p:nvSpPr>
          <p:cNvPr id="20"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1" name="زر السابق" descr="preencoded.png">
            <a:hlinkClick r:id="" action="ppaction://hlinkshowjump?jump=previousslide"/>
          </p:cNvPr>
          <p:cNvPicPr>
            <a:picLocks noChangeAspect="1"/>
          </p:cNvPicPr>
          <p:nvPr/>
        </p:nvPicPr>
        <p:blipFill>
          <a:blip r:embed="rId13"/>
          <a:stretch>
            <a:fillRect/>
          </a:stretch>
        </p:blipFill>
        <p:spPr>
          <a:xfrm>
            <a:off x="2020824" y="6208776"/>
            <a:ext cx="256032" cy="25603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270248" y="502920"/>
            <a:ext cx="3657600" cy="3657600"/>
          </a:xfrm>
          <a:prstGeom prst="ellipse">
            <a:avLst/>
          </a:prstGeom>
          <a:solidFill>
            <a:srgbClr val="2B2F8F"/>
          </a:solidFill>
          <a:ln/>
        </p:spPr>
        <p:txBody>
          <a:bodyPr/>
          <a:lstStyle/>
          <a:p>
            <a:endParaRPr lang="ar-OM"/>
          </a:p>
        </p:txBody>
      </p:sp>
      <p:pic>
        <p:nvPicPr>
          <p:cNvPr id="3" name="trophy" descr="preencoded.png"/>
          <p:cNvPicPr>
            <a:picLocks noChangeAspect="1"/>
          </p:cNvPicPr>
          <p:nvPr/>
        </p:nvPicPr>
        <p:blipFill>
          <a:blip r:embed="rId3"/>
          <a:stretch>
            <a:fillRect/>
          </a:stretch>
        </p:blipFill>
        <p:spPr>
          <a:xfrm>
            <a:off x="4956048" y="1005840"/>
            <a:ext cx="2286000" cy="2286000"/>
          </a:xfrm>
          <a:prstGeom prst="rect">
            <a:avLst/>
          </a:prstGeom>
        </p:spPr>
      </p:pic>
      <p:sp>
        <p:nvSpPr>
          <p:cNvPr id="4" name="Text 1"/>
          <p:cNvSpPr txBox="1"/>
          <p:nvPr/>
        </p:nvSpPr>
        <p:spPr>
          <a:xfrm>
            <a:off x="2286000" y="3429000"/>
            <a:ext cx="7616952" cy="914400"/>
          </a:xfrm>
          <a:prstGeom prst="rect">
            <a:avLst/>
          </a:prstGeom>
          <a:noFill/>
          <a:ln/>
        </p:spPr>
        <p:txBody>
          <a:bodyPr wrap="square" lIns="635" tIns="635" rIns="635" bIns="635" rtlCol="0" anchor="ctr"/>
          <a:lstStyle/>
          <a:p>
            <a:pPr marL="0" indent="0" algn="ctr" rtl="1">
              <a:buNone/>
            </a:pPr>
            <a:r>
              <a:rPr lang="ar-OM" altLang="en-US" sz="4800" b="1" dirty="0">
                <a:solidFill>
                  <a:srgbClr val="FFFFFF"/>
                </a:solidFill>
                <a:latin typeface="Arial" pitchFamily="34" charset="0"/>
                <a:ea typeface="Arial" pitchFamily="34" charset="-122"/>
                <a:cs typeface="Arial" pitchFamily="34" charset="-120"/>
              </a:rPr>
              <a:t>المسابقة الكبرى</a:t>
            </a:r>
            <a:endParaRPr lang="ar-OM" sz="4800" dirty="0"/>
          </a:p>
        </p:txBody>
      </p:sp>
      <p:sp>
        <p:nvSpPr>
          <p:cNvPr id="5" name="Text 2"/>
          <p:cNvSpPr txBox="1"/>
          <p:nvPr/>
        </p:nvSpPr>
        <p:spPr>
          <a:xfrm>
            <a:off x="2286000" y="4297680"/>
            <a:ext cx="7616952" cy="548640"/>
          </a:xfrm>
          <a:prstGeom prst="rect">
            <a:avLst/>
          </a:prstGeom>
          <a:noFill/>
          <a:ln/>
        </p:spPr>
        <p:txBody>
          <a:bodyPr wrap="square" lIns="635" tIns="635" rIns="635" bIns="635" rtlCol="0" anchor="ctr"/>
          <a:lstStyle/>
          <a:p>
            <a:pPr marL="0" indent="0" algn="ctr" rtl="1">
              <a:buNone/>
            </a:pPr>
            <a:r>
              <a:rPr lang="ar-OM" altLang="en-US" sz="2400" dirty="0">
                <a:solidFill>
                  <a:srgbClr val="B9D3EE"/>
                </a:solidFill>
                <a:latin typeface="Arial" pitchFamily="34" charset="0"/>
                <a:ea typeface="Arial" pitchFamily="34" charset="-122"/>
                <a:cs typeface="Arial" pitchFamily="34" charset="-120"/>
              </a:rPr>
              <a:t>5 أسئلة سريعة… هل أنتم مستعدّون يا أبطال؟</a:t>
            </a:r>
            <a:endParaRPr lang="ar-OM" sz="2400" dirty="0"/>
          </a:p>
        </p:txBody>
      </p:sp>
      <p:pic>
        <p:nvPicPr>
          <p:cNvPr id="6" name="img boy_full.png" descr="a/boy_full.png"/>
          <p:cNvPicPr>
            <a:picLocks noChangeAspect="1"/>
          </p:cNvPicPr>
          <p:nvPr/>
        </p:nvPicPr>
        <p:blipFill>
          <a:blip r:embed="rId4"/>
          <a:stretch>
            <a:fillRect/>
          </a:stretch>
        </p:blipFill>
        <p:spPr>
          <a:xfrm>
            <a:off x="10058400" y="1220917"/>
            <a:ext cx="1737360" cy="4722683"/>
          </a:xfrm>
          <a:prstGeom prst="rect">
            <a:avLst/>
          </a:prstGeom>
        </p:spPr>
      </p:pic>
      <p:pic>
        <p:nvPicPr>
          <p:cNvPr id="7" name="img girl_full2.png" descr="a/girl_full2.png"/>
          <p:cNvPicPr>
            <a:picLocks noChangeAspect="1"/>
          </p:cNvPicPr>
          <p:nvPr/>
        </p:nvPicPr>
        <p:blipFill>
          <a:blip r:embed="rId5"/>
          <a:stretch>
            <a:fillRect/>
          </a:stretch>
        </p:blipFill>
        <p:spPr>
          <a:xfrm>
            <a:off x="424730" y="914400"/>
            <a:ext cx="2533820" cy="5029200"/>
          </a:xfrm>
          <a:prstGeom prst="rect">
            <a:avLst/>
          </a:prstGeom>
        </p:spPr>
      </p:pic>
      <p:sp>
        <p:nvSpPr>
          <p:cNvPr id="8" name="زر التالي">
            <a:hlinkClick r:id="" action="ppaction://hlinkshowjump?jump=nextslide"/>
          </p:cNvPr>
          <p:cNvSpPr/>
          <p:nvPr/>
        </p:nvSpPr>
        <p:spPr>
          <a:xfrm>
            <a:off x="4636008" y="5074920"/>
            <a:ext cx="2926080" cy="777240"/>
          </a:xfrm>
          <a:prstGeom prst="roundRect">
            <a:avLst>
              <a:gd name="adj" fmla="val 49412"/>
            </a:avLst>
          </a:prstGeom>
          <a:solidFill>
            <a:srgbClr val="7B4FD6"/>
          </a:solidFill>
          <a:ln w="31750">
            <a:solidFill>
              <a:srgbClr val="FFFFFF"/>
            </a:solidFill>
            <a:prstDash val="solid"/>
          </a:ln>
        </p:spPr>
        <p:txBody>
          <a:bodyPr/>
          <a:lstStyle/>
          <a:p>
            <a:endParaRPr lang="ar-OM"/>
          </a:p>
        </p:txBody>
      </p:sp>
      <p:sp>
        <p:nvSpPr>
          <p:cNvPr id="9" name="زر التالي">
            <a:hlinkClick r:id="" action="ppaction://hlinkshowjump?jump=nextslide"/>
          </p:cNvPr>
          <p:cNvSpPr txBox="1"/>
          <p:nvPr/>
        </p:nvSpPr>
        <p:spPr>
          <a:xfrm>
            <a:off x="4636008" y="5074920"/>
            <a:ext cx="2926080" cy="777240"/>
          </a:xfrm>
          <a:prstGeom prst="rect">
            <a:avLst/>
          </a:prstGeom>
          <a:noFill/>
          <a:ln/>
        </p:spPr>
        <p:txBody>
          <a:bodyPr wrap="square" lIns="635" tIns="635" rIns="635" bIns="635" rtlCol="0" anchor="ctr"/>
          <a:lstStyle/>
          <a:p>
            <a:pPr marL="0" indent="0" algn="ctr" rtl="1">
              <a:buNone/>
            </a:pPr>
            <a:r>
              <a:rPr lang="ar-OM" altLang="en-US" sz="2600" b="1" dirty="0">
                <a:solidFill>
                  <a:srgbClr val="FFFFFF"/>
                </a:solidFill>
                <a:latin typeface="Arial" pitchFamily="34" charset="0"/>
                <a:ea typeface="Arial" pitchFamily="34" charset="-122"/>
                <a:cs typeface="Arial" pitchFamily="34" charset="-120"/>
              </a:rPr>
              <a:t>لنبدأ!</a:t>
            </a:r>
            <a:endParaRPr lang="ar-OM" sz="2600" dirty="0"/>
          </a:p>
        </p:txBody>
      </p:sp>
      <p:sp>
        <p:nvSpPr>
          <p:cNvPr id="10"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1" name="زر التالي" descr="preencoded.png">
            <a:hlinkClick r:id="" action="ppaction://hlinkshowjump?jump=nextslide"/>
          </p:cNvPr>
          <p:cNvPicPr>
            <a:picLocks noChangeAspect="1"/>
          </p:cNvPicPr>
          <p:nvPr/>
        </p:nvPicPr>
        <p:blipFill>
          <a:blip r:embed="rId6"/>
          <a:stretch>
            <a:fillRect/>
          </a:stretch>
        </p:blipFill>
        <p:spPr>
          <a:xfrm>
            <a:off x="612648" y="6208776"/>
            <a:ext cx="256032" cy="256032"/>
          </a:xfrm>
          <a:prstGeom prst="rect">
            <a:avLst/>
          </a:prstGeom>
        </p:spPr>
      </p:pic>
      <p:sp>
        <p:nvSpPr>
          <p:cNvPr id="12" name="زر انتقال">
            <a:hlinkClick r:id="rId7" action="ppaction://hlinksldjump"/>
          </p:cNvPr>
          <p:cNvSpPr/>
          <p:nvPr/>
        </p:nvSpPr>
        <p:spPr>
          <a:xfrm>
            <a:off x="1161288" y="6053328"/>
            <a:ext cx="566928" cy="566928"/>
          </a:xfrm>
          <a:prstGeom prst="ellipse">
            <a:avLst/>
          </a:prstGeom>
          <a:solidFill>
            <a:srgbClr val="2E6DA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3" name="زر انتقال" descr="preencoded.png">
            <a:hlinkClick r:id="rId7" action="ppaction://hlinksldjump"/>
          </p:cNvPr>
          <p:cNvPicPr>
            <a:picLocks noChangeAspect="1"/>
          </p:cNvPicPr>
          <p:nvPr/>
        </p:nvPicPr>
        <p:blipFill>
          <a:blip r:embed="rId8"/>
          <a:stretch>
            <a:fillRect/>
          </a:stretch>
        </p:blipFill>
        <p:spPr>
          <a:xfrm>
            <a:off x="1316736" y="6208776"/>
            <a:ext cx="256032" cy="256032"/>
          </a:xfrm>
          <a:prstGeom prst="rect">
            <a:avLst/>
          </a:prstGeom>
        </p:spPr>
      </p:pic>
      <p:sp>
        <p:nvSpPr>
          <p:cNvPr id="14"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5" name="زر السابق" descr="preencoded.png">
            <a:hlinkClick r:id="" action="ppaction://hlinkshowjump?jump=previousslide"/>
          </p:cNvPr>
          <p:cNvPicPr>
            <a:picLocks noChangeAspect="1"/>
          </p:cNvPicPr>
          <p:nvPr/>
        </p:nvPicPr>
        <p:blipFill>
          <a:blip r:embed="rId9"/>
          <a:stretch>
            <a:fillRect/>
          </a:stretch>
        </p:blipFill>
        <p:spPr>
          <a:xfrm>
            <a:off x="2020824" y="6208776"/>
            <a:ext cx="256032" cy="25603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7B4FD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المسابقة الكبرى</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المسابقة: السؤال 1 من 5</a:t>
            </a:r>
            <a:endParaRPr lang="ar-OM" sz="3200" dirty="0"/>
          </a:p>
        </p:txBody>
      </p:sp>
      <p:sp>
        <p:nvSpPr>
          <p:cNvPr id="5" name="question"/>
          <p:cNvSpPr/>
          <p:nvPr/>
        </p:nvSpPr>
        <p:spPr>
          <a:xfrm>
            <a:off x="457200" y="1280160"/>
            <a:ext cx="11274552" cy="1371600"/>
          </a:xfrm>
          <a:prstGeom prst="roundRect">
            <a:avLst>
              <a:gd name="adj" fmla="val 12000"/>
            </a:avLst>
          </a:prstGeom>
          <a:solidFill>
            <a:srgbClr val="EEE6FC"/>
          </a:solidFill>
          <a:ln/>
        </p:spPr>
        <p:txBody>
          <a:bodyPr/>
          <a:lstStyle/>
          <a:p>
            <a:endParaRPr lang="ar-OM"/>
          </a:p>
        </p:txBody>
      </p:sp>
      <p:sp>
        <p:nvSpPr>
          <p:cNvPr id="6" name="icon bg"/>
          <p:cNvSpPr/>
          <p:nvPr/>
        </p:nvSpPr>
        <p:spPr>
          <a:xfrm>
            <a:off x="10927080" y="1645920"/>
            <a:ext cx="640080" cy="640080"/>
          </a:xfrm>
          <a:prstGeom prst="ellipse">
            <a:avLst/>
          </a:prstGeom>
          <a:solidFill>
            <a:srgbClr val="7B4FD6"/>
          </a:solidFill>
          <a:ln/>
        </p:spPr>
        <p:txBody>
          <a:bodyPr/>
          <a:lstStyle/>
          <a:p>
            <a:endParaRPr lang="ar-OM"/>
          </a:p>
        </p:txBody>
      </p:sp>
      <p:pic>
        <p:nvPicPr>
          <p:cNvPr id="7" name="icon" descr="preencoded.png"/>
          <p:cNvPicPr>
            <a:picLocks noChangeAspect="1"/>
          </p:cNvPicPr>
          <p:nvPr/>
        </p:nvPicPr>
        <p:blipFill>
          <a:blip r:embed="rId3"/>
          <a:stretch>
            <a:fillRect/>
          </a:stretch>
        </p:blipFill>
        <p:spPr>
          <a:xfrm>
            <a:off x="11080699" y="1799539"/>
            <a:ext cx="332842" cy="332842"/>
          </a:xfrm>
          <a:prstGeom prst="rect">
            <a:avLst/>
          </a:prstGeom>
        </p:spPr>
      </p:pic>
      <p:sp>
        <p:nvSpPr>
          <p:cNvPr id="8" name="Text 5"/>
          <p:cNvSpPr txBox="1"/>
          <p:nvPr/>
        </p:nvSpPr>
        <p:spPr>
          <a:xfrm>
            <a:off x="685800" y="1280160"/>
            <a:ext cx="10104120" cy="1371600"/>
          </a:xfrm>
          <a:prstGeom prst="rect">
            <a:avLst/>
          </a:prstGeom>
          <a:noFill/>
          <a:ln/>
        </p:spPr>
        <p:txBody>
          <a:bodyPr wrap="square" lIns="635" tIns="635" rIns="635" bIns="635" rtlCol="0" anchor="ctr"/>
          <a:lstStyle/>
          <a:p>
            <a:pPr marL="0" indent="0" algn="r" rtl="1">
              <a:buNone/>
            </a:pPr>
            <a:r>
              <a:rPr lang="ar-OM" altLang="en-US" sz="2600" b="1" dirty="0">
                <a:solidFill>
                  <a:srgbClr val="0D3B66"/>
                </a:solidFill>
                <a:latin typeface="Arial" pitchFamily="34" charset="0"/>
                <a:ea typeface="Arial" pitchFamily="34" charset="-122"/>
                <a:cs typeface="Arial" pitchFamily="34" charset="-120"/>
              </a:rPr>
              <a:t>لإبرازِ جزءٍ من النصّ، نستخدمُ خيار:</a:t>
            </a:r>
            <a:endParaRPr lang="ar-OM" sz="2600" dirty="0"/>
          </a:p>
        </p:txBody>
      </p:sp>
      <p:sp>
        <p:nvSpPr>
          <p:cNvPr id="9" name="إجابة">
            <a:hlinkClick r:id="rId4" action="ppaction://hlinksldjump">
              <a:snd r:embed="rId5" name="wrong.wav"/>
            </a:hlinkClick>
          </p:cNvPr>
          <p:cNvSpPr/>
          <p:nvPr/>
        </p:nvSpPr>
        <p:spPr>
          <a:xfrm>
            <a:off x="8211312"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0" name="إجابة">
            <a:hlinkClick r:id="rId4" action="ppaction://hlinksldjump">
              <a:snd r:embed="rId5" name="wrong.wav"/>
            </a:hlinkClick>
          </p:cNvPr>
          <p:cNvSpPr/>
          <p:nvPr/>
        </p:nvSpPr>
        <p:spPr>
          <a:xfrm>
            <a:off x="11000232" y="3396996"/>
            <a:ext cx="566928" cy="566928"/>
          </a:xfrm>
          <a:prstGeom prst="ellipse">
            <a:avLst/>
          </a:prstGeom>
          <a:solidFill>
            <a:srgbClr val="7B4FD6"/>
          </a:solidFill>
          <a:ln/>
        </p:spPr>
        <p:txBody>
          <a:bodyPr/>
          <a:lstStyle/>
          <a:p>
            <a:endParaRPr lang="ar-OM"/>
          </a:p>
        </p:txBody>
      </p:sp>
      <p:sp>
        <p:nvSpPr>
          <p:cNvPr id="11" name="إجابة">
            <a:hlinkClick r:id="rId4" action="ppaction://hlinksldjump">
              <a:snd r:embed="rId5" name="wrong.wav"/>
            </a:hlinkClick>
          </p:cNvPr>
          <p:cNvSpPr txBox="1"/>
          <p:nvPr/>
        </p:nvSpPr>
        <p:spPr>
          <a:xfrm>
            <a:off x="11000232"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أ</a:t>
            </a:r>
            <a:endParaRPr lang="en-US" sz="2200" dirty="0"/>
          </a:p>
        </p:txBody>
      </p:sp>
      <p:sp>
        <p:nvSpPr>
          <p:cNvPr id="12" name="إجابة">
            <a:hlinkClick r:id="rId4" action="ppaction://hlinksldjump">
              <a:snd r:embed="rId5" name="wrong.wav"/>
            </a:hlinkClick>
          </p:cNvPr>
          <p:cNvSpPr txBox="1"/>
          <p:nvPr/>
        </p:nvSpPr>
        <p:spPr>
          <a:xfrm>
            <a:off x="8394192"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التفاف النص</a:t>
            </a:r>
            <a:endParaRPr lang="ar-OM" sz="2000" dirty="0"/>
          </a:p>
        </p:txBody>
      </p:sp>
      <p:sp>
        <p:nvSpPr>
          <p:cNvPr id="13" name="إجابة">
            <a:hlinkClick r:id="rId6" action="ppaction://hlinksldjump">
              <a:snd r:embed="rId7" name="correct.wav"/>
            </a:hlinkClick>
          </p:cNvPr>
          <p:cNvSpPr/>
          <p:nvPr/>
        </p:nvSpPr>
        <p:spPr>
          <a:xfrm>
            <a:off x="4334256"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4" name="إجابة">
            <a:hlinkClick r:id="rId6" action="ppaction://hlinksldjump">
              <a:snd r:embed="rId7" name="correct.wav"/>
            </a:hlinkClick>
          </p:cNvPr>
          <p:cNvSpPr/>
          <p:nvPr/>
        </p:nvSpPr>
        <p:spPr>
          <a:xfrm>
            <a:off x="7123176" y="3396996"/>
            <a:ext cx="566928" cy="566928"/>
          </a:xfrm>
          <a:prstGeom prst="ellipse">
            <a:avLst/>
          </a:prstGeom>
          <a:solidFill>
            <a:srgbClr val="7B4FD6"/>
          </a:solidFill>
          <a:ln/>
        </p:spPr>
        <p:txBody>
          <a:bodyPr/>
          <a:lstStyle/>
          <a:p>
            <a:endParaRPr lang="ar-OM"/>
          </a:p>
        </p:txBody>
      </p:sp>
      <p:sp>
        <p:nvSpPr>
          <p:cNvPr id="15" name="إجابة">
            <a:hlinkClick r:id="rId6" action="ppaction://hlinksldjump">
              <a:snd r:embed="rId7" name="correct.wav"/>
            </a:hlinkClick>
          </p:cNvPr>
          <p:cNvSpPr txBox="1"/>
          <p:nvPr/>
        </p:nvSpPr>
        <p:spPr>
          <a:xfrm>
            <a:off x="7123176"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ب</a:t>
            </a:r>
            <a:endParaRPr lang="en-US" sz="2200" dirty="0"/>
          </a:p>
        </p:txBody>
      </p:sp>
      <p:pic>
        <p:nvPicPr>
          <p:cNvPr id="16" name="إجابة" descr="preencoded.png">
            <a:hlinkClick r:id="rId6" action="ppaction://hlinksldjump">
              <a:snd r:embed="rId7" name="correct.wav"/>
            </a:hlinkClick>
          </p:cNvPr>
          <p:cNvPicPr>
            <a:picLocks noChangeAspect="1"/>
          </p:cNvPicPr>
          <p:nvPr/>
        </p:nvPicPr>
        <p:blipFill>
          <a:blip r:embed="rId8"/>
          <a:stretch>
            <a:fillRect/>
          </a:stretch>
        </p:blipFill>
        <p:spPr>
          <a:xfrm>
            <a:off x="4562856" y="3406140"/>
            <a:ext cx="548640" cy="548640"/>
          </a:xfrm>
          <a:prstGeom prst="rect">
            <a:avLst/>
          </a:prstGeom>
        </p:spPr>
      </p:pic>
      <p:sp>
        <p:nvSpPr>
          <p:cNvPr id="17" name="إجابة">
            <a:hlinkClick r:id="rId6" action="ppaction://hlinksldjump">
              <a:snd r:embed="rId7" name="correct.wav"/>
            </a:hlinkClick>
          </p:cNvPr>
          <p:cNvSpPr txBox="1"/>
          <p:nvPr/>
        </p:nvSpPr>
        <p:spPr>
          <a:xfrm>
            <a:off x="5248656" y="2971800"/>
            <a:ext cx="176479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تمييز لون النص</a:t>
            </a:r>
            <a:endParaRPr lang="ar-OM" sz="2000" dirty="0"/>
          </a:p>
        </p:txBody>
      </p:sp>
      <p:sp>
        <p:nvSpPr>
          <p:cNvPr id="18" name="إجابة">
            <a:hlinkClick r:id="rId4" action="ppaction://hlinksldjump">
              <a:snd r:embed="rId5" name="wrong.wav"/>
            </a:hlinkClick>
          </p:cNvPr>
          <p:cNvSpPr/>
          <p:nvPr/>
        </p:nvSpPr>
        <p:spPr>
          <a:xfrm>
            <a:off x="457200"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9" name="إجابة">
            <a:hlinkClick r:id="rId4" action="ppaction://hlinksldjump">
              <a:snd r:embed="rId5" name="wrong.wav"/>
            </a:hlinkClick>
          </p:cNvPr>
          <p:cNvSpPr/>
          <p:nvPr/>
        </p:nvSpPr>
        <p:spPr>
          <a:xfrm>
            <a:off x="3246120" y="3396996"/>
            <a:ext cx="566928" cy="566928"/>
          </a:xfrm>
          <a:prstGeom prst="ellipse">
            <a:avLst/>
          </a:prstGeom>
          <a:solidFill>
            <a:srgbClr val="7B4FD6"/>
          </a:solidFill>
          <a:ln/>
        </p:spPr>
        <p:txBody>
          <a:bodyPr/>
          <a:lstStyle/>
          <a:p>
            <a:endParaRPr lang="ar-OM"/>
          </a:p>
        </p:txBody>
      </p:sp>
      <p:sp>
        <p:nvSpPr>
          <p:cNvPr id="20" name="إجابة">
            <a:hlinkClick r:id="rId4" action="ppaction://hlinksldjump">
              <a:snd r:embed="rId5" name="wrong.wav"/>
            </a:hlinkClick>
          </p:cNvPr>
          <p:cNvSpPr txBox="1"/>
          <p:nvPr/>
        </p:nvSpPr>
        <p:spPr>
          <a:xfrm>
            <a:off x="3246120"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ج</a:t>
            </a:r>
            <a:endParaRPr lang="en-US" sz="2200" dirty="0"/>
          </a:p>
        </p:txBody>
      </p:sp>
      <p:sp>
        <p:nvSpPr>
          <p:cNvPr id="21" name="إجابة">
            <a:hlinkClick r:id="rId4" action="ppaction://hlinksldjump">
              <a:snd r:embed="rId5" name="wrong.wav"/>
            </a:hlinkClick>
          </p:cNvPr>
          <p:cNvSpPr txBox="1"/>
          <p:nvPr/>
        </p:nvSpPr>
        <p:spPr>
          <a:xfrm>
            <a:off x="640080"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تنسيق الصورة</a:t>
            </a:r>
            <a:endParaRPr lang="ar-OM" sz="2000" dirty="0"/>
          </a:p>
        </p:txBody>
      </p:sp>
      <p:pic>
        <p:nvPicPr>
          <p:cNvPr id="22" name="img girl_head.png" descr="a/girl_head.png"/>
          <p:cNvPicPr>
            <a:picLocks noChangeAspect="1"/>
          </p:cNvPicPr>
          <p:nvPr/>
        </p:nvPicPr>
        <p:blipFill>
          <a:blip r:embed="rId9"/>
          <a:stretch>
            <a:fillRect/>
          </a:stretch>
        </p:blipFill>
        <p:spPr>
          <a:xfrm>
            <a:off x="5501286" y="4572000"/>
            <a:ext cx="1158949" cy="1371600"/>
          </a:xfrm>
          <a:prstGeom prst="rect">
            <a:avLst/>
          </a:prstGeom>
        </p:spPr>
      </p:pic>
      <p:sp>
        <p:nvSpPr>
          <p:cNvPr id="23" name="Text 18"/>
          <p:cNvSpPr txBox="1"/>
          <p:nvPr/>
        </p:nvSpPr>
        <p:spPr>
          <a:xfrm>
            <a:off x="7132320" y="4754880"/>
            <a:ext cx="3840480" cy="548640"/>
          </a:xfrm>
          <a:prstGeom prst="rect">
            <a:avLst/>
          </a:prstGeom>
          <a:noFill/>
          <a:ln/>
        </p:spPr>
        <p:txBody>
          <a:bodyPr wrap="square" lIns="635" tIns="635" rIns="635" bIns="635" rtlCol="0" anchor="ctr"/>
          <a:lstStyle/>
          <a:p>
            <a:pPr marL="0" indent="0" algn="r" rtl="1">
              <a:buNone/>
            </a:pPr>
            <a:r>
              <a:rPr lang="ar-OM" altLang="en-US" sz="1800" b="1" dirty="0">
                <a:solidFill>
                  <a:srgbClr val="4A5B6D"/>
                </a:solidFill>
                <a:latin typeface="Arial" pitchFamily="34" charset="0"/>
                <a:ea typeface="Arial" pitchFamily="34" charset="-122"/>
                <a:cs typeface="Arial" pitchFamily="34" charset="-120"/>
              </a:rPr>
              <a:t>انقر الإجابة الصحيحة</a:t>
            </a:r>
            <a:endParaRPr lang="ar-OM" sz="1800" dirty="0"/>
          </a:p>
        </p:txBody>
      </p:sp>
      <p:sp>
        <p:nvSpPr>
          <p:cNvPr id="24"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5" name="زر التالي" descr="preencoded.png">
            <a:hlinkClick r:id="" action="ppaction://hlinkshowjump?jump=nextslide"/>
          </p:cNvPr>
          <p:cNvPicPr>
            <a:picLocks noChangeAspect="1"/>
          </p:cNvPicPr>
          <p:nvPr/>
        </p:nvPicPr>
        <p:blipFill>
          <a:blip r:embed="rId10"/>
          <a:stretch>
            <a:fillRect/>
          </a:stretch>
        </p:blipFill>
        <p:spPr>
          <a:xfrm>
            <a:off x="612648" y="6208776"/>
            <a:ext cx="256032" cy="256032"/>
          </a:xfrm>
          <a:prstGeom prst="rect">
            <a:avLst/>
          </a:prstGeom>
        </p:spPr>
      </p:pic>
      <p:sp>
        <p:nvSpPr>
          <p:cNvPr id="26" name="زر انتقال">
            <a:hlinkClick r:id="rId11"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7" name="زر انتقال" descr="preencoded.png">
            <a:hlinkClick r:id="rId11" action="ppaction://hlinksldjump"/>
          </p:cNvPr>
          <p:cNvPicPr>
            <a:picLocks noChangeAspect="1"/>
          </p:cNvPicPr>
          <p:nvPr/>
        </p:nvPicPr>
        <p:blipFill>
          <a:blip r:embed="rId12"/>
          <a:stretch>
            <a:fillRect/>
          </a:stretch>
        </p:blipFill>
        <p:spPr>
          <a:xfrm>
            <a:off x="1316736" y="6208776"/>
            <a:ext cx="256032" cy="256032"/>
          </a:xfrm>
          <a:prstGeom prst="rect">
            <a:avLst/>
          </a:prstGeom>
        </p:spPr>
      </p:pic>
      <p:sp>
        <p:nvSpPr>
          <p:cNvPr id="28"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9" name="زر السابق" descr="preencoded.png">
            <a:hlinkClick r:id="" action="ppaction://hlinkshowjump?jump=previousslide"/>
          </p:cNvPr>
          <p:cNvPicPr>
            <a:picLocks noChangeAspect="1"/>
          </p:cNvPicPr>
          <p:nvPr/>
        </p:nvPicPr>
        <p:blipFill>
          <a:blip r:embed="rId13"/>
          <a:stretch>
            <a:fillRect/>
          </a:stretch>
        </p:blipFill>
        <p:spPr>
          <a:xfrm>
            <a:off x="2020824" y="6208776"/>
            <a:ext cx="256032" cy="25603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7B4FD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المسابقة الكبرى</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المسابقة: السؤال 2 من 5</a:t>
            </a:r>
            <a:endParaRPr lang="ar-OM" sz="3200" dirty="0"/>
          </a:p>
        </p:txBody>
      </p:sp>
      <p:sp>
        <p:nvSpPr>
          <p:cNvPr id="5" name="question"/>
          <p:cNvSpPr/>
          <p:nvPr/>
        </p:nvSpPr>
        <p:spPr>
          <a:xfrm>
            <a:off x="457200" y="1280160"/>
            <a:ext cx="11274552" cy="1371600"/>
          </a:xfrm>
          <a:prstGeom prst="roundRect">
            <a:avLst>
              <a:gd name="adj" fmla="val 12000"/>
            </a:avLst>
          </a:prstGeom>
          <a:solidFill>
            <a:srgbClr val="EEE6FC"/>
          </a:solidFill>
          <a:ln/>
        </p:spPr>
        <p:txBody>
          <a:bodyPr/>
          <a:lstStyle/>
          <a:p>
            <a:endParaRPr lang="ar-OM"/>
          </a:p>
        </p:txBody>
      </p:sp>
      <p:sp>
        <p:nvSpPr>
          <p:cNvPr id="6" name="icon bg"/>
          <p:cNvSpPr/>
          <p:nvPr/>
        </p:nvSpPr>
        <p:spPr>
          <a:xfrm>
            <a:off x="10927080" y="1645920"/>
            <a:ext cx="640080" cy="640080"/>
          </a:xfrm>
          <a:prstGeom prst="ellipse">
            <a:avLst/>
          </a:prstGeom>
          <a:solidFill>
            <a:srgbClr val="7B4FD6"/>
          </a:solidFill>
          <a:ln/>
        </p:spPr>
        <p:txBody>
          <a:bodyPr/>
          <a:lstStyle/>
          <a:p>
            <a:endParaRPr lang="ar-OM"/>
          </a:p>
        </p:txBody>
      </p:sp>
      <p:pic>
        <p:nvPicPr>
          <p:cNvPr id="7" name="icon" descr="preencoded.png"/>
          <p:cNvPicPr>
            <a:picLocks noChangeAspect="1"/>
          </p:cNvPicPr>
          <p:nvPr/>
        </p:nvPicPr>
        <p:blipFill>
          <a:blip r:embed="rId3"/>
          <a:stretch>
            <a:fillRect/>
          </a:stretch>
        </p:blipFill>
        <p:spPr>
          <a:xfrm>
            <a:off x="11080699" y="1799539"/>
            <a:ext cx="332842" cy="332842"/>
          </a:xfrm>
          <a:prstGeom prst="rect">
            <a:avLst/>
          </a:prstGeom>
        </p:spPr>
      </p:pic>
      <p:sp>
        <p:nvSpPr>
          <p:cNvPr id="8" name="Text 5"/>
          <p:cNvSpPr txBox="1"/>
          <p:nvPr/>
        </p:nvSpPr>
        <p:spPr>
          <a:xfrm>
            <a:off x="685800" y="1280160"/>
            <a:ext cx="10104120" cy="1371600"/>
          </a:xfrm>
          <a:prstGeom prst="rect">
            <a:avLst/>
          </a:prstGeom>
          <a:noFill/>
          <a:ln/>
        </p:spPr>
        <p:txBody>
          <a:bodyPr wrap="square" lIns="635" tIns="635" rIns="635" bIns="635" rtlCol="0" anchor="ctr"/>
          <a:lstStyle/>
          <a:p>
            <a:pPr marL="0" indent="0" algn="r" rtl="1">
              <a:buNone/>
            </a:pPr>
            <a:r>
              <a:rPr lang="ar-OM" altLang="en-US" sz="2600" b="1" dirty="0">
                <a:solidFill>
                  <a:srgbClr val="0D3B66"/>
                </a:solidFill>
                <a:latin typeface="Arial" pitchFamily="34" charset="0"/>
                <a:ea typeface="Arial" pitchFamily="34" charset="-122"/>
                <a:cs typeface="Arial" pitchFamily="34" charset="-120"/>
              </a:rPr>
              <a:t>لتطبيقِ أيِّ تنسيقٍ على النصّ، عليك أوّلًا أن:</a:t>
            </a:r>
            <a:endParaRPr lang="ar-OM" sz="2600" dirty="0"/>
          </a:p>
        </p:txBody>
      </p:sp>
      <p:sp>
        <p:nvSpPr>
          <p:cNvPr id="9" name="إجابة">
            <a:hlinkClick r:id="rId4" action="ppaction://hlinksldjump">
              <a:snd r:embed="rId5" name="correct.wav"/>
            </a:hlinkClick>
          </p:cNvPr>
          <p:cNvSpPr/>
          <p:nvPr/>
        </p:nvSpPr>
        <p:spPr>
          <a:xfrm>
            <a:off x="8211312"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0" name="إجابة">
            <a:hlinkClick r:id="rId4" action="ppaction://hlinksldjump">
              <a:snd r:embed="rId5" name="correct.wav"/>
            </a:hlinkClick>
          </p:cNvPr>
          <p:cNvSpPr/>
          <p:nvPr/>
        </p:nvSpPr>
        <p:spPr>
          <a:xfrm>
            <a:off x="11000232" y="3396996"/>
            <a:ext cx="566928" cy="566928"/>
          </a:xfrm>
          <a:prstGeom prst="ellipse">
            <a:avLst/>
          </a:prstGeom>
          <a:solidFill>
            <a:srgbClr val="7B4FD6"/>
          </a:solidFill>
          <a:ln/>
        </p:spPr>
        <p:txBody>
          <a:bodyPr/>
          <a:lstStyle/>
          <a:p>
            <a:endParaRPr lang="ar-OM"/>
          </a:p>
        </p:txBody>
      </p:sp>
      <p:sp>
        <p:nvSpPr>
          <p:cNvPr id="11" name="إجابة">
            <a:hlinkClick r:id="rId4" action="ppaction://hlinksldjump">
              <a:snd r:embed="rId5" name="correct.wav"/>
            </a:hlinkClick>
          </p:cNvPr>
          <p:cNvSpPr txBox="1"/>
          <p:nvPr/>
        </p:nvSpPr>
        <p:spPr>
          <a:xfrm>
            <a:off x="11000232"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أ</a:t>
            </a:r>
            <a:endParaRPr lang="en-US" sz="2200" dirty="0"/>
          </a:p>
        </p:txBody>
      </p:sp>
      <p:pic>
        <p:nvPicPr>
          <p:cNvPr id="12" name="إجابة" descr="preencoded.png">
            <a:hlinkClick r:id="rId4" action="ppaction://hlinksldjump">
              <a:snd r:embed="rId5" name="correct.wav"/>
            </a:hlinkClick>
          </p:cNvPr>
          <p:cNvPicPr>
            <a:picLocks noChangeAspect="1"/>
          </p:cNvPicPr>
          <p:nvPr/>
        </p:nvPicPr>
        <p:blipFill>
          <a:blip r:embed="rId6"/>
          <a:stretch>
            <a:fillRect/>
          </a:stretch>
        </p:blipFill>
        <p:spPr>
          <a:xfrm>
            <a:off x="8439912" y="3406140"/>
            <a:ext cx="548640" cy="548640"/>
          </a:xfrm>
          <a:prstGeom prst="rect">
            <a:avLst/>
          </a:prstGeom>
        </p:spPr>
      </p:pic>
      <p:sp>
        <p:nvSpPr>
          <p:cNvPr id="13" name="إجابة">
            <a:hlinkClick r:id="rId4" action="ppaction://hlinksldjump">
              <a:snd r:embed="rId5" name="correct.wav"/>
            </a:hlinkClick>
          </p:cNvPr>
          <p:cNvSpPr txBox="1"/>
          <p:nvPr/>
        </p:nvSpPr>
        <p:spPr>
          <a:xfrm>
            <a:off x="9125712" y="2971800"/>
            <a:ext cx="176479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تحدِّده</a:t>
            </a:r>
            <a:endParaRPr lang="ar-OM" sz="2000" dirty="0"/>
          </a:p>
        </p:txBody>
      </p:sp>
      <p:sp>
        <p:nvSpPr>
          <p:cNvPr id="14" name="إجابة">
            <a:hlinkClick r:id="rId7" action="ppaction://hlinksldjump">
              <a:snd r:embed="rId8" name="wrong.wav"/>
            </a:hlinkClick>
          </p:cNvPr>
          <p:cNvSpPr/>
          <p:nvPr/>
        </p:nvSpPr>
        <p:spPr>
          <a:xfrm>
            <a:off x="4334256"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5" name="إجابة">
            <a:hlinkClick r:id="rId7" action="ppaction://hlinksldjump">
              <a:snd r:embed="rId8" name="wrong.wav"/>
            </a:hlinkClick>
          </p:cNvPr>
          <p:cNvSpPr/>
          <p:nvPr/>
        </p:nvSpPr>
        <p:spPr>
          <a:xfrm>
            <a:off x="7123176" y="3396996"/>
            <a:ext cx="566928" cy="566928"/>
          </a:xfrm>
          <a:prstGeom prst="ellipse">
            <a:avLst/>
          </a:prstGeom>
          <a:solidFill>
            <a:srgbClr val="7B4FD6"/>
          </a:solidFill>
          <a:ln/>
        </p:spPr>
        <p:txBody>
          <a:bodyPr/>
          <a:lstStyle/>
          <a:p>
            <a:endParaRPr lang="ar-OM"/>
          </a:p>
        </p:txBody>
      </p:sp>
      <p:sp>
        <p:nvSpPr>
          <p:cNvPr id="16" name="إجابة">
            <a:hlinkClick r:id="rId7" action="ppaction://hlinksldjump">
              <a:snd r:embed="rId8" name="wrong.wav"/>
            </a:hlinkClick>
          </p:cNvPr>
          <p:cNvSpPr txBox="1"/>
          <p:nvPr/>
        </p:nvSpPr>
        <p:spPr>
          <a:xfrm>
            <a:off x="7123176"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ب</a:t>
            </a:r>
            <a:endParaRPr lang="en-US" sz="2200" dirty="0"/>
          </a:p>
        </p:txBody>
      </p:sp>
      <p:sp>
        <p:nvSpPr>
          <p:cNvPr id="17" name="إجابة">
            <a:hlinkClick r:id="rId7" action="ppaction://hlinksldjump">
              <a:snd r:embed="rId8" name="wrong.wav"/>
            </a:hlinkClick>
          </p:cNvPr>
          <p:cNvSpPr txBox="1"/>
          <p:nvPr/>
        </p:nvSpPr>
        <p:spPr>
          <a:xfrm>
            <a:off x="4517136"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تحذفه</a:t>
            </a:r>
            <a:endParaRPr lang="ar-OM" sz="2000" dirty="0"/>
          </a:p>
        </p:txBody>
      </p:sp>
      <p:sp>
        <p:nvSpPr>
          <p:cNvPr id="18" name="إجابة">
            <a:hlinkClick r:id="rId7" action="ppaction://hlinksldjump">
              <a:snd r:embed="rId8" name="wrong.wav"/>
            </a:hlinkClick>
          </p:cNvPr>
          <p:cNvSpPr/>
          <p:nvPr/>
        </p:nvSpPr>
        <p:spPr>
          <a:xfrm>
            <a:off x="457200"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9" name="إجابة">
            <a:hlinkClick r:id="rId7" action="ppaction://hlinksldjump">
              <a:snd r:embed="rId8" name="wrong.wav"/>
            </a:hlinkClick>
          </p:cNvPr>
          <p:cNvSpPr/>
          <p:nvPr/>
        </p:nvSpPr>
        <p:spPr>
          <a:xfrm>
            <a:off x="3246120" y="3396996"/>
            <a:ext cx="566928" cy="566928"/>
          </a:xfrm>
          <a:prstGeom prst="ellipse">
            <a:avLst/>
          </a:prstGeom>
          <a:solidFill>
            <a:srgbClr val="7B4FD6"/>
          </a:solidFill>
          <a:ln/>
        </p:spPr>
        <p:txBody>
          <a:bodyPr/>
          <a:lstStyle/>
          <a:p>
            <a:endParaRPr lang="ar-OM"/>
          </a:p>
        </p:txBody>
      </p:sp>
      <p:sp>
        <p:nvSpPr>
          <p:cNvPr id="20" name="إجابة">
            <a:hlinkClick r:id="rId7" action="ppaction://hlinksldjump">
              <a:snd r:embed="rId8" name="wrong.wav"/>
            </a:hlinkClick>
          </p:cNvPr>
          <p:cNvSpPr txBox="1"/>
          <p:nvPr/>
        </p:nvSpPr>
        <p:spPr>
          <a:xfrm>
            <a:off x="3246120"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ج</a:t>
            </a:r>
            <a:endParaRPr lang="en-US" sz="2200" dirty="0"/>
          </a:p>
        </p:txBody>
      </p:sp>
      <p:sp>
        <p:nvSpPr>
          <p:cNvPr id="21" name="إجابة">
            <a:hlinkClick r:id="rId7" action="ppaction://hlinksldjump">
              <a:snd r:embed="rId8" name="wrong.wav"/>
            </a:hlinkClick>
          </p:cNvPr>
          <p:cNvSpPr txBox="1"/>
          <p:nvPr/>
        </p:nvSpPr>
        <p:spPr>
          <a:xfrm>
            <a:off x="640080"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تطبعه</a:t>
            </a:r>
            <a:endParaRPr lang="ar-OM" sz="2000" dirty="0"/>
          </a:p>
        </p:txBody>
      </p:sp>
      <p:pic>
        <p:nvPicPr>
          <p:cNvPr id="22" name="img boy_head.png" descr="a/boy_head.png"/>
          <p:cNvPicPr>
            <a:picLocks noChangeAspect="1"/>
          </p:cNvPicPr>
          <p:nvPr/>
        </p:nvPicPr>
        <p:blipFill>
          <a:blip r:embed="rId9"/>
          <a:stretch>
            <a:fillRect/>
          </a:stretch>
        </p:blipFill>
        <p:spPr>
          <a:xfrm>
            <a:off x="5505178" y="4572000"/>
            <a:ext cx="1151164" cy="1371600"/>
          </a:xfrm>
          <a:prstGeom prst="rect">
            <a:avLst/>
          </a:prstGeom>
        </p:spPr>
      </p:pic>
      <p:sp>
        <p:nvSpPr>
          <p:cNvPr id="23" name="Text 18"/>
          <p:cNvSpPr txBox="1"/>
          <p:nvPr/>
        </p:nvSpPr>
        <p:spPr>
          <a:xfrm>
            <a:off x="7132320" y="4754880"/>
            <a:ext cx="3840480" cy="548640"/>
          </a:xfrm>
          <a:prstGeom prst="rect">
            <a:avLst/>
          </a:prstGeom>
          <a:noFill/>
          <a:ln/>
        </p:spPr>
        <p:txBody>
          <a:bodyPr wrap="square" lIns="635" tIns="635" rIns="635" bIns="635" rtlCol="0" anchor="ctr"/>
          <a:lstStyle/>
          <a:p>
            <a:pPr marL="0" indent="0" algn="r" rtl="1">
              <a:buNone/>
            </a:pPr>
            <a:r>
              <a:rPr lang="ar-OM" altLang="en-US" sz="1800" b="1" dirty="0">
                <a:solidFill>
                  <a:srgbClr val="4A5B6D"/>
                </a:solidFill>
                <a:latin typeface="Arial" pitchFamily="34" charset="0"/>
                <a:ea typeface="Arial" pitchFamily="34" charset="-122"/>
                <a:cs typeface="Arial" pitchFamily="34" charset="-120"/>
              </a:rPr>
              <a:t>انقر الإجابة الصحيحة</a:t>
            </a:r>
            <a:endParaRPr lang="ar-OM" sz="1800" dirty="0"/>
          </a:p>
        </p:txBody>
      </p:sp>
      <p:sp>
        <p:nvSpPr>
          <p:cNvPr id="24"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5" name="زر التالي" descr="preencoded.png">
            <a:hlinkClick r:id="" action="ppaction://hlinkshowjump?jump=nextslide"/>
          </p:cNvPr>
          <p:cNvPicPr>
            <a:picLocks noChangeAspect="1"/>
          </p:cNvPicPr>
          <p:nvPr/>
        </p:nvPicPr>
        <p:blipFill>
          <a:blip r:embed="rId10"/>
          <a:stretch>
            <a:fillRect/>
          </a:stretch>
        </p:blipFill>
        <p:spPr>
          <a:xfrm>
            <a:off x="612648" y="6208776"/>
            <a:ext cx="256032" cy="256032"/>
          </a:xfrm>
          <a:prstGeom prst="rect">
            <a:avLst/>
          </a:prstGeom>
        </p:spPr>
      </p:pic>
      <p:sp>
        <p:nvSpPr>
          <p:cNvPr id="26" name="زر انتقال">
            <a:hlinkClick r:id="rId11"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7" name="زر انتقال" descr="preencoded.png">
            <a:hlinkClick r:id="rId11" action="ppaction://hlinksldjump"/>
          </p:cNvPr>
          <p:cNvPicPr>
            <a:picLocks noChangeAspect="1"/>
          </p:cNvPicPr>
          <p:nvPr/>
        </p:nvPicPr>
        <p:blipFill>
          <a:blip r:embed="rId12"/>
          <a:stretch>
            <a:fillRect/>
          </a:stretch>
        </p:blipFill>
        <p:spPr>
          <a:xfrm>
            <a:off x="1316736" y="6208776"/>
            <a:ext cx="256032" cy="256032"/>
          </a:xfrm>
          <a:prstGeom prst="rect">
            <a:avLst/>
          </a:prstGeom>
        </p:spPr>
      </p:pic>
      <p:sp>
        <p:nvSpPr>
          <p:cNvPr id="28"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9" name="زر السابق" descr="preencoded.png">
            <a:hlinkClick r:id="" action="ppaction://hlinkshowjump?jump=previousslide"/>
          </p:cNvPr>
          <p:cNvPicPr>
            <a:picLocks noChangeAspect="1"/>
          </p:cNvPicPr>
          <p:nvPr/>
        </p:nvPicPr>
        <p:blipFill>
          <a:blip r:embed="rId13"/>
          <a:stretch>
            <a:fillRect/>
          </a:stretch>
        </p:blipFill>
        <p:spPr>
          <a:xfrm>
            <a:off x="2020824" y="6208776"/>
            <a:ext cx="256032" cy="25603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7B4FD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المسابقة الكبرى</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المسابقة: السؤال 3 من 5</a:t>
            </a:r>
            <a:endParaRPr lang="ar-OM" sz="3200" dirty="0"/>
          </a:p>
        </p:txBody>
      </p:sp>
      <p:sp>
        <p:nvSpPr>
          <p:cNvPr id="5" name="question"/>
          <p:cNvSpPr/>
          <p:nvPr/>
        </p:nvSpPr>
        <p:spPr>
          <a:xfrm>
            <a:off x="457200" y="1280160"/>
            <a:ext cx="11274552" cy="1371600"/>
          </a:xfrm>
          <a:prstGeom prst="roundRect">
            <a:avLst>
              <a:gd name="adj" fmla="val 12000"/>
            </a:avLst>
          </a:prstGeom>
          <a:solidFill>
            <a:srgbClr val="EEE6FC"/>
          </a:solidFill>
          <a:ln/>
        </p:spPr>
        <p:txBody>
          <a:bodyPr/>
          <a:lstStyle/>
          <a:p>
            <a:endParaRPr lang="ar-OM"/>
          </a:p>
        </p:txBody>
      </p:sp>
      <p:sp>
        <p:nvSpPr>
          <p:cNvPr id="6" name="icon bg"/>
          <p:cNvSpPr/>
          <p:nvPr/>
        </p:nvSpPr>
        <p:spPr>
          <a:xfrm>
            <a:off x="10927080" y="1645920"/>
            <a:ext cx="640080" cy="640080"/>
          </a:xfrm>
          <a:prstGeom prst="ellipse">
            <a:avLst/>
          </a:prstGeom>
          <a:solidFill>
            <a:srgbClr val="7B4FD6"/>
          </a:solidFill>
          <a:ln/>
        </p:spPr>
        <p:txBody>
          <a:bodyPr/>
          <a:lstStyle/>
          <a:p>
            <a:endParaRPr lang="ar-OM"/>
          </a:p>
        </p:txBody>
      </p:sp>
      <p:pic>
        <p:nvPicPr>
          <p:cNvPr id="7" name="icon" descr="preencoded.png"/>
          <p:cNvPicPr>
            <a:picLocks noChangeAspect="1"/>
          </p:cNvPicPr>
          <p:nvPr/>
        </p:nvPicPr>
        <p:blipFill>
          <a:blip r:embed="rId3"/>
          <a:stretch>
            <a:fillRect/>
          </a:stretch>
        </p:blipFill>
        <p:spPr>
          <a:xfrm>
            <a:off x="11080699" y="1799539"/>
            <a:ext cx="332842" cy="332842"/>
          </a:xfrm>
          <a:prstGeom prst="rect">
            <a:avLst/>
          </a:prstGeom>
        </p:spPr>
      </p:pic>
      <p:sp>
        <p:nvSpPr>
          <p:cNvPr id="8" name="Text 5"/>
          <p:cNvSpPr txBox="1"/>
          <p:nvPr/>
        </p:nvSpPr>
        <p:spPr>
          <a:xfrm>
            <a:off x="685800" y="1280160"/>
            <a:ext cx="10104120" cy="1371600"/>
          </a:xfrm>
          <a:prstGeom prst="rect">
            <a:avLst/>
          </a:prstGeom>
          <a:noFill/>
          <a:ln/>
        </p:spPr>
        <p:txBody>
          <a:bodyPr wrap="square" lIns="635" tIns="635" rIns="635" bIns="635" rtlCol="0" anchor="ctr"/>
          <a:lstStyle/>
          <a:p>
            <a:pPr marL="0" indent="0" algn="r" rtl="1">
              <a:buNone/>
            </a:pPr>
            <a:r>
              <a:rPr lang="ar-OM" altLang="en-US" sz="2600" b="1" dirty="0">
                <a:solidFill>
                  <a:srgbClr val="0D3B66"/>
                </a:solidFill>
                <a:latin typeface="Arial" pitchFamily="34" charset="0"/>
                <a:ea typeface="Arial" pitchFamily="34" charset="-122"/>
                <a:cs typeface="Arial" pitchFamily="34" charset="-120"/>
              </a:rPr>
              <a:t>لتعديلِ صورةٍ بطرقٍ مختلفة، نستخدمُ الخياراتِ الموجودةَ في تبويب:</a:t>
            </a:r>
            <a:endParaRPr lang="ar-OM" sz="2600" dirty="0"/>
          </a:p>
        </p:txBody>
      </p:sp>
      <p:sp>
        <p:nvSpPr>
          <p:cNvPr id="9" name="إجابة">
            <a:hlinkClick r:id="rId4" action="ppaction://hlinksldjump">
              <a:snd r:embed="rId5" name="wrong.wav"/>
            </a:hlinkClick>
          </p:cNvPr>
          <p:cNvSpPr/>
          <p:nvPr/>
        </p:nvSpPr>
        <p:spPr>
          <a:xfrm>
            <a:off x="8211312"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0" name="إجابة">
            <a:hlinkClick r:id="rId4" action="ppaction://hlinksldjump">
              <a:snd r:embed="rId5" name="wrong.wav"/>
            </a:hlinkClick>
          </p:cNvPr>
          <p:cNvSpPr/>
          <p:nvPr/>
        </p:nvSpPr>
        <p:spPr>
          <a:xfrm>
            <a:off x="11000232" y="3396996"/>
            <a:ext cx="566928" cy="566928"/>
          </a:xfrm>
          <a:prstGeom prst="ellipse">
            <a:avLst/>
          </a:prstGeom>
          <a:solidFill>
            <a:srgbClr val="7B4FD6"/>
          </a:solidFill>
          <a:ln/>
        </p:spPr>
        <p:txBody>
          <a:bodyPr/>
          <a:lstStyle/>
          <a:p>
            <a:endParaRPr lang="ar-OM"/>
          </a:p>
        </p:txBody>
      </p:sp>
      <p:sp>
        <p:nvSpPr>
          <p:cNvPr id="11" name="إجابة">
            <a:hlinkClick r:id="rId4" action="ppaction://hlinksldjump">
              <a:snd r:embed="rId5" name="wrong.wav"/>
            </a:hlinkClick>
          </p:cNvPr>
          <p:cNvSpPr txBox="1"/>
          <p:nvPr/>
        </p:nvSpPr>
        <p:spPr>
          <a:xfrm>
            <a:off x="11000232"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أ</a:t>
            </a:r>
            <a:endParaRPr lang="en-US" sz="2200" dirty="0"/>
          </a:p>
        </p:txBody>
      </p:sp>
      <p:sp>
        <p:nvSpPr>
          <p:cNvPr id="12" name="إجابة">
            <a:hlinkClick r:id="rId4" action="ppaction://hlinksldjump">
              <a:snd r:embed="rId5" name="wrong.wav"/>
            </a:hlinkClick>
          </p:cNvPr>
          <p:cNvSpPr txBox="1"/>
          <p:nvPr/>
        </p:nvSpPr>
        <p:spPr>
          <a:xfrm>
            <a:off x="8394192"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Insert</a:t>
            </a:r>
            <a:endParaRPr lang="ar-OM" sz="2000" dirty="0"/>
          </a:p>
        </p:txBody>
      </p:sp>
      <p:sp>
        <p:nvSpPr>
          <p:cNvPr id="13" name="إجابة">
            <a:hlinkClick r:id="rId4" action="ppaction://hlinksldjump">
              <a:snd r:embed="rId5" name="wrong.wav"/>
            </a:hlinkClick>
          </p:cNvPr>
          <p:cNvSpPr/>
          <p:nvPr/>
        </p:nvSpPr>
        <p:spPr>
          <a:xfrm>
            <a:off x="4334256"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4" name="إجابة">
            <a:hlinkClick r:id="rId4" action="ppaction://hlinksldjump">
              <a:snd r:embed="rId5" name="wrong.wav"/>
            </a:hlinkClick>
          </p:cNvPr>
          <p:cNvSpPr/>
          <p:nvPr/>
        </p:nvSpPr>
        <p:spPr>
          <a:xfrm>
            <a:off x="7123176" y="3396996"/>
            <a:ext cx="566928" cy="566928"/>
          </a:xfrm>
          <a:prstGeom prst="ellipse">
            <a:avLst/>
          </a:prstGeom>
          <a:solidFill>
            <a:srgbClr val="7B4FD6"/>
          </a:solidFill>
          <a:ln/>
        </p:spPr>
        <p:txBody>
          <a:bodyPr/>
          <a:lstStyle/>
          <a:p>
            <a:endParaRPr lang="ar-OM"/>
          </a:p>
        </p:txBody>
      </p:sp>
      <p:sp>
        <p:nvSpPr>
          <p:cNvPr id="15" name="إجابة">
            <a:hlinkClick r:id="rId4" action="ppaction://hlinksldjump">
              <a:snd r:embed="rId5" name="wrong.wav"/>
            </a:hlinkClick>
          </p:cNvPr>
          <p:cNvSpPr txBox="1"/>
          <p:nvPr/>
        </p:nvSpPr>
        <p:spPr>
          <a:xfrm>
            <a:off x="7123176"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ب</a:t>
            </a:r>
            <a:endParaRPr lang="en-US" sz="2200" dirty="0"/>
          </a:p>
        </p:txBody>
      </p:sp>
      <p:sp>
        <p:nvSpPr>
          <p:cNvPr id="16" name="إجابة">
            <a:hlinkClick r:id="rId4" action="ppaction://hlinksldjump">
              <a:snd r:embed="rId5" name="wrong.wav"/>
            </a:hlinkClick>
          </p:cNvPr>
          <p:cNvSpPr txBox="1"/>
          <p:nvPr/>
        </p:nvSpPr>
        <p:spPr>
          <a:xfrm>
            <a:off x="4517136"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View</a:t>
            </a:r>
            <a:endParaRPr lang="ar-OM" sz="2000" dirty="0"/>
          </a:p>
        </p:txBody>
      </p:sp>
      <p:sp>
        <p:nvSpPr>
          <p:cNvPr id="17" name="إجابة">
            <a:hlinkClick r:id="rId6" action="ppaction://hlinksldjump">
              <a:snd r:embed="rId7" name="correct.wav"/>
            </a:hlinkClick>
          </p:cNvPr>
          <p:cNvSpPr/>
          <p:nvPr/>
        </p:nvSpPr>
        <p:spPr>
          <a:xfrm>
            <a:off x="457200"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8" name="إجابة">
            <a:hlinkClick r:id="rId6" action="ppaction://hlinksldjump">
              <a:snd r:embed="rId7" name="correct.wav"/>
            </a:hlinkClick>
          </p:cNvPr>
          <p:cNvSpPr/>
          <p:nvPr/>
        </p:nvSpPr>
        <p:spPr>
          <a:xfrm>
            <a:off x="3246120" y="3396996"/>
            <a:ext cx="566928" cy="566928"/>
          </a:xfrm>
          <a:prstGeom prst="ellipse">
            <a:avLst/>
          </a:prstGeom>
          <a:solidFill>
            <a:srgbClr val="7B4FD6"/>
          </a:solidFill>
          <a:ln/>
        </p:spPr>
        <p:txBody>
          <a:bodyPr/>
          <a:lstStyle/>
          <a:p>
            <a:endParaRPr lang="ar-OM"/>
          </a:p>
        </p:txBody>
      </p:sp>
      <p:sp>
        <p:nvSpPr>
          <p:cNvPr id="19" name="إجابة">
            <a:hlinkClick r:id="rId6" action="ppaction://hlinksldjump">
              <a:snd r:embed="rId7" name="correct.wav"/>
            </a:hlinkClick>
          </p:cNvPr>
          <p:cNvSpPr txBox="1"/>
          <p:nvPr/>
        </p:nvSpPr>
        <p:spPr>
          <a:xfrm>
            <a:off x="3246120"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ج</a:t>
            </a:r>
            <a:endParaRPr lang="en-US" sz="2200" dirty="0"/>
          </a:p>
        </p:txBody>
      </p:sp>
      <p:sp>
        <p:nvSpPr>
          <p:cNvPr id="20" name="إجابة">
            <a:hlinkClick r:id="rId6" action="ppaction://hlinksldjump">
              <a:snd r:embed="rId7" name="correct.wav"/>
            </a:hlinkClick>
          </p:cNvPr>
          <p:cNvSpPr txBox="1"/>
          <p:nvPr/>
        </p:nvSpPr>
        <p:spPr>
          <a:xfrm>
            <a:off x="640080"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Picture Format</a:t>
            </a:r>
            <a:endParaRPr lang="ar-OM" sz="2000" dirty="0"/>
          </a:p>
        </p:txBody>
      </p:sp>
      <p:pic>
        <p:nvPicPr>
          <p:cNvPr id="21" name="img girl_head.png" descr="a/girl_head.png"/>
          <p:cNvPicPr>
            <a:picLocks noChangeAspect="1"/>
          </p:cNvPicPr>
          <p:nvPr/>
        </p:nvPicPr>
        <p:blipFill>
          <a:blip r:embed="rId8"/>
          <a:stretch>
            <a:fillRect/>
          </a:stretch>
        </p:blipFill>
        <p:spPr>
          <a:xfrm>
            <a:off x="5501286" y="4572000"/>
            <a:ext cx="1158949" cy="1371600"/>
          </a:xfrm>
          <a:prstGeom prst="rect">
            <a:avLst/>
          </a:prstGeom>
        </p:spPr>
      </p:pic>
      <p:sp>
        <p:nvSpPr>
          <p:cNvPr id="22" name="Text 18"/>
          <p:cNvSpPr txBox="1"/>
          <p:nvPr/>
        </p:nvSpPr>
        <p:spPr>
          <a:xfrm>
            <a:off x="7132320" y="4754880"/>
            <a:ext cx="3840480" cy="548640"/>
          </a:xfrm>
          <a:prstGeom prst="rect">
            <a:avLst/>
          </a:prstGeom>
          <a:noFill/>
          <a:ln/>
        </p:spPr>
        <p:txBody>
          <a:bodyPr wrap="square" lIns="635" tIns="635" rIns="635" bIns="635" rtlCol="0" anchor="ctr"/>
          <a:lstStyle/>
          <a:p>
            <a:pPr marL="0" indent="0" algn="r" rtl="1">
              <a:buNone/>
            </a:pPr>
            <a:r>
              <a:rPr lang="ar-OM" altLang="en-US" sz="1800" b="1" dirty="0">
                <a:solidFill>
                  <a:srgbClr val="4A5B6D"/>
                </a:solidFill>
                <a:latin typeface="Arial" pitchFamily="34" charset="0"/>
                <a:ea typeface="Arial" pitchFamily="34" charset="-122"/>
                <a:cs typeface="Arial" pitchFamily="34" charset="-120"/>
              </a:rPr>
              <a:t>انقر الإجابة الصحيحة</a:t>
            </a:r>
            <a:endParaRPr lang="ar-OM" sz="1800" dirty="0"/>
          </a:p>
        </p:txBody>
      </p:sp>
      <p:sp>
        <p:nvSpPr>
          <p:cNvPr id="23"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4" name="زر التالي" descr="preencoded.png">
            <a:hlinkClick r:id="" action="ppaction://hlinkshowjump?jump=nextslide"/>
          </p:cNvPr>
          <p:cNvPicPr>
            <a:picLocks noChangeAspect="1"/>
          </p:cNvPicPr>
          <p:nvPr/>
        </p:nvPicPr>
        <p:blipFill>
          <a:blip r:embed="rId9"/>
          <a:stretch>
            <a:fillRect/>
          </a:stretch>
        </p:blipFill>
        <p:spPr>
          <a:xfrm>
            <a:off x="612648" y="6208776"/>
            <a:ext cx="256032" cy="256032"/>
          </a:xfrm>
          <a:prstGeom prst="rect">
            <a:avLst/>
          </a:prstGeom>
        </p:spPr>
      </p:pic>
      <p:sp>
        <p:nvSpPr>
          <p:cNvPr id="25" name="زر انتقال">
            <a:hlinkClick r:id="rId10"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6" name="زر انتقال" descr="preencoded.png">
            <a:hlinkClick r:id="rId10" action="ppaction://hlinksldjump"/>
          </p:cNvPr>
          <p:cNvPicPr>
            <a:picLocks noChangeAspect="1"/>
          </p:cNvPicPr>
          <p:nvPr/>
        </p:nvPicPr>
        <p:blipFill>
          <a:blip r:embed="rId11"/>
          <a:stretch>
            <a:fillRect/>
          </a:stretch>
        </p:blipFill>
        <p:spPr>
          <a:xfrm>
            <a:off x="1316736" y="6208776"/>
            <a:ext cx="256032" cy="256032"/>
          </a:xfrm>
          <a:prstGeom prst="rect">
            <a:avLst/>
          </a:prstGeom>
        </p:spPr>
      </p:pic>
      <p:sp>
        <p:nvSpPr>
          <p:cNvPr id="27"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8" name="زر السابق" descr="preencoded.png">
            <a:hlinkClick r:id="" action="ppaction://hlinkshowjump?jump=previousslide"/>
          </p:cNvPr>
          <p:cNvPicPr>
            <a:picLocks noChangeAspect="1"/>
          </p:cNvPicPr>
          <p:nvPr/>
        </p:nvPicPr>
        <p:blipFill>
          <a:blip r:embed="rId12"/>
          <a:stretch>
            <a:fillRect/>
          </a:stretch>
        </p:blipFill>
        <p:spPr>
          <a:xfrm>
            <a:off x="2020824" y="6208776"/>
            <a:ext cx="256032" cy="25603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7B4FD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المسابقة الكبرى</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المسابقة: السؤال 4 من 5</a:t>
            </a:r>
            <a:endParaRPr lang="ar-OM" sz="3200" dirty="0"/>
          </a:p>
        </p:txBody>
      </p:sp>
      <p:sp>
        <p:nvSpPr>
          <p:cNvPr id="5" name="question"/>
          <p:cNvSpPr/>
          <p:nvPr/>
        </p:nvSpPr>
        <p:spPr>
          <a:xfrm>
            <a:off x="457200" y="1280160"/>
            <a:ext cx="11274552" cy="1371600"/>
          </a:xfrm>
          <a:prstGeom prst="roundRect">
            <a:avLst>
              <a:gd name="adj" fmla="val 12000"/>
            </a:avLst>
          </a:prstGeom>
          <a:solidFill>
            <a:srgbClr val="EEE6FC"/>
          </a:solidFill>
          <a:ln/>
        </p:spPr>
        <p:txBody>
          <a:bodyPr/>
          <a:lstStyle/>
          <a:p>
            <a:endParaRPr lang="ar-OM"/>
          </a:p>
        </p:txBody>
      </p:sp>
      <p:sp>
        <p:nvSpPr>
          <p:cNvPr id="6" name="icon bg"/>
          <p:cNvSpPr/>
          <p:nvPr/>
        </p:nvSpPr>
        <p:spPr>
          <a:xfrm>
            <a:off x="10927080" y="1645920"/>
            <a:ext cx="640080" cy="640080"/>
          </a:xfrm>
          <a:prstGeom prst="ellipse">
            <a:avLst/>
          </a:prstGeom>
          <a:solidFill>
            <a:srgbClr val="7B4FD6"/>
          </a:solidFill>
          <a:ln/>
        </p:spPr>
        <p:txBody>
          <a:bodyPr/>
          <a:lstStyle/>
          <a:p>
            <a:endParaRPr lang="ar-OM"/>
          </a:p>
        </p:txBody>
      </p:sp>
      <p:pic>
        <p:nvPicPr>
          <p:cNvPr id="7" name="icon" descr="preencoded.png"/>
          <p:cNvPicPr>
            <a:picLocks noChangeAspect="1"/>
          </p:cNvPicPr>
          <p:nvPr/>
        </p:nvPicPr>
        <p:blipFill>
          <a:blip r:embed="rId3"/>
          <a:stretch>
            <a:fillRect/>
          </a:stretch>
        </p:blipFill>
        <p:spPr>
          <a:xfrm>
            <a:off x="11080699" y="1799539"/>
            <a:ext cx="332842" cy="332842"/>
          </a:xfrm>
          <a:prstGeom prst="rect">
            <a:avLst/>
          </a:prstGeom>
        </p:spPr>
      </p:pic>
      <p:sp>
        <p:nvSpPr>
          <p:cNvPr id="8" name="Text 5"/>
          <p:cNvSpPr txBox="1"/>
          <p:nvPr/>
        </p:nvSpPr>
        <p:spPr>
          <a:xfrm>
            <a:off x="685800" y="1280160"/>
            <a:ext cx="10104120" cy="1371600"/>
          </a:xfrm>
          <a:prstGeom prst="rect">
            <a:avLst/>
          </a:prstGeom>
          <a:noFill/>
          <a:ln/>
        </p:spPr>
        <p:txBody>
          <a:bodyPr wrap="square" lIns="635" tIns="635" rIns="635" bIns="635" rtlCol="0" anchor="ctr"/>
          <a:lstStyle/>
          <a:p>
            <a:pPr marL="0" indent="0" algn="r" rtl="1">
              <a:buNone/>
            </a:pPr>
            <a:r>
              <a:rPr lang="ar-OM" altLang="en-US" sz="2600" b="1" dirty="0">
                <a:solidFill>
                  <a:srgbClr val="0D3B66"/>
                </a:solidFill>
                <a:latin typeface="Arial" pitchFamily="34" charset="0"/>
                <a:ea typeface="Arial" pitchFamily="34" charset="-122"/>
                <a:cs typeface="Arial" pitchFamily="34" charset="-120"/>
              </a:rPr>
              <a:t>لتغييرِ موضعِ النصِّ بالنسبةِ إلى الصورة، نستخدمُ خيار:</a:t>
            </a:r>
            <a:endParaRPr lang="ar-OM" sz="2600" dirty="0"/>
          </a:p>
        </p:txBody>
      </p:sp>
      <p:sp>
        <p:nvSpPr>
          <p:cNvPr id="9" name="إجابة">
            <a:hlinkClick r:id="rId4" action="ppaction://hlinksldjump">
              <a:snd r:embed="rId5" name="wrong.wav"/>
            </a:hlinkClick>
          </p:cNvPr>
          <p:cNvSpPr/>
          <p:nvPr/>
        </p:nvSpPr>
        <p:spPr>
          <a:xfrm>
            <a:off x="8211312"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0" name="إجابة">
            <a:hlinkClick r:id="rId4" action="ppaction://hlinksldjump">
              <a:snd r:embed="rId5" name="wrong.wav"/>
            </a:hlinkClick>
          </p:cNvPr>
          <p:cNvSpPr/>
          <p:nvPr/>
        </p:nvSpPr>
        <p:spPr>
          <a:xfrm>
            <a:off x="11000232" y="3396996"/>
            <a:ext cx="566928" cy="566928"/>
          </a:xfrm>
          <a:prstGeom prst="ellipse">
            <a:avLst/>
          </a:prstGeom>
          <a:solidFill>
            <a:srgbClr val="7B4FD6"/>
          </a:solidFill>
          <a:ln/>
        </p:spPr>
        <p:txBody>
          <a:bodyPr/>
          <a:lstStyle/>
          <a:p>
            <a:endParaRPr lang="ar-OM"/>
          </a:p>
        </p:txBody>
      </p:sp>
      <p:sp>
        <p:nvSpPr>
          <p:cNvPr id="11" name="إجابة">
            <a:hlinkClick r:id="rId4" action="ppaction://hlinksldjump">
              <a:snd r:embed="rId5" name="wrong.wav"/>
            </a:hlinkClick>
          </p:cNvPr>
          <p:cNvSpPr txBox="1"/>
          <p:nvPr/>
        </p:nvSpPr>
        <p:spPr>
          <a:xfrm>
            <a:off x="11000232"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أ</a:t>
            </a:r>
            <a:endParaRPr lang="en-US" sz="2200" dirty="0"/>
          </a:p>
        </p:txBody>
      </p:sp>
      <p:sp>
        <p:nvSpPr>
          <p:cNvPr id="12" name="إجابة">
            <a:hlinkClick r:id="rId4" action="ppaction://hlinksldjump">
              <a:snd r:embed="rId5" name="wrong.wav"/>
            </a:hlinkClick>
          </p:cNvPr>
          <p:cNvSpPr txBox="1"/>
          <p:nvPr/>
        </p:nvSpPr>
        <p:spPr>
          <a:xfrm>
            <a:off x="8394192"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Picture Border</a:t>
            </a:r>
            <a:endParaRPr lang="ar-OM" sz="2000" dirty="0"/>
          </a:p>
        </p:txBody>
      </p:sp>
      <p:sp>
        <p:nvSpPr>
          <p:cNvPr id="13" name="إجابة">
            <a:hlinkClick r:id="rId6" action="ppaction://hlinksldjump">
              <a:snd r:embed="rId7" name="correct.wav"/>
            </a:hlinkClick>
          </p:cNvPr>
          <p:cNvSpPr/>
          <p:nvPr/>
        </p:nvSpPr>
        <p:spPr>
          <a:xfrm>
            <a:off x="4334256"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4" name="إجابة">
            <a:hlinkClick r:id="rId6" action="ppaction://hlinksldjump">
              <a:snd r:embed="rId7" name="correct.wav"/>
            </a:hlinkClick>
          </p:cNvPr>
          <p:cNvSpPr/>
          <p:nvPr/>
        </p:nvSpPr>
        <p:spPr>
          <a:xfrm>
            <a:off x="7123176" y="3396996"/>
            <a:ext cx="566928" cy="566928"/>
          </a:xfrm>
          <a:prstGeom prst="ellipse">
            <a:avLst/>
          </a:prstGeom>
          <a:solidFill>
            <a:srgbClr val="7B4FD6"/>
          </a:solidFill>
          <a:ln/>
        </p:spPr>
        <p:txBody>
          <a:bodyPr/>
          <a:lstStyle/>
          <a:p>
            <a:endParaRPr lang="ar-OM"/>
          </a:p>
        </p:txBody>
      </p:sp>
      <p:sp>
        <p:nvSpPr>
          <p:cNvPr id="15" name="إجابة">
            <a:hlinkClick r:id="rId6" action="ppaction://hlinksldjump">
              <a:snd r:embed="rId7" name="correct.wav"/>
            </a:hlinkClick>
          </p:cNvPr>
          <p:cNvSpPr txBox="1"/>
          <p:nvPr/>
        </p:nvSpPr>
        <p:spPr>
          <a:xfrm>
            <a:off x="7123176"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ب</a:t>
            </a:r>
            <a:endParaRPr lang="en-US" sz="2200" dirty="0"/>
          </a:p>
        </p:txBody>
      </p:sp>
      <p:pic>
        <p:nvPicPr>
          <p:cNvPr id="16" name="إجابة" descr="preencoded.png">
            <a:hlinkClick r:id="rId6" action="ppaction://hlinksldjump">
              <a:snd r:embed="rId7" name="correct.wav"/>
            </a:hlinkClick>
          </p:cNvPr>
          <p:cNvPicPr>
            <a:picLocks noChangeAspect="1"/>
          </p:cNvPicPr>
          <p:nvPr/>
        </p:nvPicPr>
        <p:blipFill>
          <a:blip r:embed="rId8"/>
          <a:stretch>
            <a:fillRect/>
          </a:stretch>
        </p:blipFill>
        <p:spPr>
          <a:xfrm>
            <a:off x="4562856" y="3406140"/>
            <a:ext cx="548640" cy="548640"/>
          </a:xfrm>
          <a:prstGeom prst="rect">
            <a:avLst/>
          </a:prstGeom>
        </p:spPr>
      </p:pic>
      <p:sp>
        <p:nvSpPr>
          <p:cNvPr id="17" name="إجابة">
            <a:hlinkClick r:id="rId6" action="ppaction://hlinksldjump">
              <a:snd r:embed="rId7" name="correct.wav"/>
            </a:hlinkClick>
          </p:cNvPr>
          <p:cNvSpPr txBox="1"/>
          <p:nvPr/>
        </p:nvSpPr>
        <p:spPr>
          <a:xfrm>
            <a:off x="5248656" y="2971800"/>
            <a:ext cx="176479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Wrap Text</a:t>
            </a:r>
            <a:endParaRPr lang="ar-OM" sz="2000" dirty="0"/>
          </a:p>
        </p:txBody>
      </p:sp>
      <p:sp>
        <p:nvSpPr>
          <p:cNvPr id="18" name="إجابة">
            <a:hlinkClick r:id="rId4" action="ppaction://hlinksldjump">
              <a:snd r:embed="rId5" name="wrong.wav"/>
            </a:hlinkClick>
          </p:cNvPr>
          <p:cNvSpPr/>
          <p:nvPr/>
        </p:nvSpPr>
        <p:spPr>
          <a:xfrm>
            <a:off x="457200" y="2971800"/>
            <a:ext cx="3520440" cy="1417320"/>
          </a:xfrm>
          <a:prstGeom prst="roundRect">
            <a:avLst>
              <a:gd name="adj" fmla="val 12903"/>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9" name="إجابة">
            <a:hlinkClick r:id="rId4" action="ppaction://hlinksldjump">
              <a:snd r:embed="rId5" name="wrong.wav"/>
            </a:hlinkClick>
          </p:cNvPr>
          <p:cNvSpPr/>
          <p:nvPr/>
        </p:nvSpPr>
        <p:spPr>
          <a:xfrm>
            <a:off x="3246120" y="3396996"/>
            <a:ext cx="566928" cy="566928"/>
          </a:xfrm>
          <a:prstGeom prst="ellipse">
            <a:avLst/>
          </a:prstGeom>
          <a:solidFill>
            <a:srgbClr val="7B4FD6"/>
          </a:solidFill>
          <a:ln/>
        </p:spPr>
        <p:txBody>
          <a:bodyPr/>
          <a:lstStyle/>
          <a:p>
            <a:endParaRPr lang="ar-OM"/>
          </a:p>
        </p:txBody>
      </p:sp>
      <p:sp>
        <p:nvSpPr>
          <p:cNvPr id="20" name="إجابة">
            <a:hlinkClick r:id="rId4" action="ppaction://hlinksldjump">
              <a:snd r:embed="rId5" name="wrong.wav"/>
            </a:hlinkClick>
          </p:cNvPr>
          <p:cNvSpPr txBox="1"/>
          <p:nvPr/>
        </p:nvSpPr>
        <p:spPr>
          <a:xfrm>
            <a:off x="3246120" y="339699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ج</a:t>
            </a:r>
            <a:endParaRPr lang="en-US" sz="2200" dirty="0"/>
          </a:p>
        </p:txBody>
      </p:sp>
      <p:sp>
        <p:nvSpPr>
          <p:cNvPr id="21" name="إجابة">
            <a:hlinkClick r:id="rId4" action="ppaction://hlinksldjump">
              <a:snd r:embed="rId5" name="wrong.wav"/>
            </a:hlinkClick>
          </p:cNvPr>
          <p:cNvSpPr txBox="1"/>
          <p:nvPr/>
        </p:nvSpPr>
        <p:spPr>
          <a:xfrm>
            <a:off x="640080" y="2971800"/>
            <a:ext cx="2496312" cy="1417320"/>
          </a:xfrm>
          <a:prstGeom prst="rect">
            <a:avLst/>
          </a:prstGeom>
          <a:noFill/>
          <a:ln/>
        </p:spPr>
        <p:txBody>
          <a:bodyPr wrap="square" lIns="635" tIns="635" rIns="635" bIns="635" rtlCol="0" anchor="ctr"/>
          <a:lstStyle/>
          <a:p>
            <a:pPr marL="0" indent="0" algn="r" rtl="1">
              <a:buNone/>
            </a:pPr>
            <a:r>
              <a:rPr lang="ar-OM" altLang="en-US" sz="2000" b="1" dirty="0">
                <a:solidFill>
                  <a:srgbClr val="0D3B66"/>
                </a:solidFill>
                <a:latin typeface="Arial" pitchFamily="34" charset="0"/>
                <a:ea typeface="Arial" pitchFamily="34" charset="-122"/>
                <a:cs typeface="Arial" pitchFamily="34" charset="-120"/>
              </a:rPr>
              <a:t>Crop</a:t>
            </a:r>
            <a:endParaRPr lang="ar-OM" sz="2000" dirty="0"/>
          </a:p>
        </p:txBody>
      </p:sp>
      <p:pic>
        <p:nvPicPr>
          <p:cNvPr id="22" name="img boy_head.png" descr="a/boy_head.png"/>
          <p:cNvPicPr>
            <a:picLocks noChangeAspect="1"/>
          </p:cNvPicPr>
          <p:nvPr/>
        </p:nvPicPr>
        <p:blipFill>
          <a:blip r:embed="rId9"/>
          <a:stretch>
            <a:fillRect/>
          </a:stretch>
        </p:blipFill>
        <p:spPr>
          <a:xfrm>
            <a:off x="5505178" y="4572000"/>
            <a:ext cx="1151164" cy="1371600"/>
          </a:xfrm>
          <a:prstGeom prst="rect">
            <a:avLst/>
          </a:prstGeom>
        </p:spPr>
      </p:pic>
      <p:sp>
        <p:nvSpPr>
          <p:cNvPr id="23" name="Text 18"/>
          <p:cNvSpPr txBox="1"/>
          <p:nvPr/>
        </p:nvSpPr>
        <p:spPr>
          <a:xfrm>
            <a:off x="7132320" y="4754880"/>
            <a:ext cx="3840480" cy="548640"/>
          </a:xfrm>
          <a:prstGeom prst="rect">
            <a:avLst/>
          </a:prstGeom>
          <a:noFill/>
          <a:ln/>
        </p:spPr>
        <p:txBody>
          <a:bodyPr wrap="square" lIns="635" tIns="635" rIns="635" bIns="635" rtlCol="0" anchor="ctr"/>
          <a:lstStyle/>
          <a:p>
            <a:pPr marL="0" indent="0" algn="r" rtl="1">
              <a:buNone/>
            </a:pPr>
            <a:r>
              <a:rPr lang="ar-OM" altLang="en-US" sz="1800" b="1" dirty="0">
                <a:solidFill>
                  <a:srgbClr val="4A5B6D"/>
                </a:solidFill>
                <a:latin typeface="Arial" pitchFamily="34" charset="0"/>
                <a:ea typeface="Arial" pitchFamily="34" charset="-122"/>
                <a:cs typeface="Arial" pitchFamily="34" charset="-120"/>
              </a:rPr>
              <a:t>انقر الإجابة الصحيحة</a:t>
            </a:r>
            <a:endParaRPr lang="ar-OM" sz="1800" dirty="0"/>
          </a:p>
        </p:txBody>
      </p:sp>
      <p:sp>
        <p:nvSpPr>
          <p:cNvPr id="24"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5" name="زر التالي" descr="preencoded.png">
            <a:hlinkClick r:id="" action="ppaction://hlinkshowjump?jump=nextslide"/>
          </p:cNvPr>
          <p:cNvPicPr>
            <a:picLocks noChangeAspect="1"/>
          </p:cNvPicPr>
          <p:nvPr/>
        </p:nvPicPr>
        <p:blipFill>
          <a:blip r:embed="rId10"/>
          <a:stretch>
            <a:fillRect/>
          </a:stretch>
        </p:blipFill>
        <p:spPr>
          <a:xfrm>
            <a:off x="612648" y="6208776"/>
            <a:ext cx="256032" cy="256032"/>
          </a:xfrm>
          <a:prstGeom prst="rect">
            <a:avLst/>
          </a:prstGeom>
        </p:spPr>
      </p:pic>
      <p:sp>
        <p:nvSpPr>
          <p:cNvPr id="26" name="زر انتقال">
            <a:hlinkClick r:id="rId11"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7" name="زر انتقال" descr="preencoded.png">
            <a:hlinkClick r:id="rId11" action="ppaction://hlinksldjump"/>
          </p:cNvPr>
          <p:cNvPicPr>
            <a:picLocks noChangeAspect="1"/>
          </p:cNvPicPr>
          <p:nvPr/>
        </p:nvPicPr>
        <p:blipFill>
          <a:blip r:embed="rId12"/>
          <a:stretch>
            <a:fillRect/>
          </a:stretch>
        </p:blipFill>
        <p:spPr>
          <a:xfrm>
            <a:off x="1316736" y="6208776"/>
            <a:ext cx="256032" cy="256032"/>
          </a:xfrm>
          <a:prstGeom prst="rect">
            <a:avLst/>
          </a:prstGeom>
        </p:spPr>
      </p:pic>
      <p:sp>
        <p:nvSpPr>
          <p:cNvPr id="28"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9" name="زر السابق" descr="preencoded.png">
            <a:hlinkClick r:id="" action="ppaction://hlinkshowjump?jump=previousslide"/>
          </p:cNvPr>
          <p:cNvPicPr>
            <a:picLocks noChangeAspect="1"/>
          </p:cNvPicPr>
          <p:nvPr/>
        </p:nvPicPr>
        <p:blipFill>
          <a:blip r:embed="rId13"/>
          <a:stretch>
            <a:fillRect/>
          </a:stretch>
        </p:blipFill>
        <p:spPr>
          <a:xfrm>
            <a:off x="2020824" y="6208776"/>
            <a:ext cx="256032" cy="25603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7B4FD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المسابقة الكبرى</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المسابقة: السؤال 5 من 5</a:t>
            </a:r>
            <a:endParaRPr lang="ar-OM" sz="3200" dirty="0"/>
          </a:p>
        </p:txBody>
      </p:sp>
      <p:sp>
        <p:nvSpPr>
          <p:cNvPr id="5" name="question"/>
          <p:cNvSpPr/>
          <p:nvPr/>
        </p:nvSpPr>
        <p:spPr>
          <a:xfrm>
            <a:off x="457200" y="1280160"/>
            <a:ext cx="11274552" cy="1051560"/>
          </a:xfrm>
          <a:prstGeom prst="roundRect">
            <a:avLst>
              <a:gd name="adj" fmla="val 15652"/>
            </a:avLst>
          </a:prstGeom>
          <a:solidFill>
            <a:srgbClr val="EEE6FC"/>
          </a:solidFill>
          <a:ln/>
        </p:spPr>
        <p:txBody>
          <a:bodyPr/>
          <a:lstStyle/>
          <a:p>
            <a:endParaRPr lang="ar-OM"/>
          </a:p>
        </p:txBody>
      </p:sp>
      <p:sp>
        <p:nvSpPr>
          <p:cNvPr id="6" name="icon bg"/>
          <p:cNvSpPr/>
          <p:nvPr/>
        </p:nvSpPr>
        <p:spPr>
          <a:xfrm>
            <a:off x="10972800" y="1481328"/>
            <a:ext cx="640080" cy="640080"/>
          </a:xfrm>
          <a:prstGeom prst="ellipse">
            <a:avLst/>
          </a:prstGeom>
          <a:solidFill>
            <a:srgbClr val="7B4FD6"/>
          </a:solidFill>
          <a:ln/>
        </p:spPr>
        <p:txBody>
          <a:bodyPr/>
          <a:lstStyle/>
          <a:p>
            <a:endParaRPr lang="ar-OM"/>
          </a:p>
        </p:txBody>
      </p:sp>
      <p:pic>
        <p:nvPicPr>
          <p:cNvPr id="7" name="icon" descr="preencoded.png"/>
          <p:cNvPicPr>
            <a:picLocks noChangeAspect="1"/>
          </p:cNvPicPr>
          <p:nvPr/>
        </p:nvPicPr>
        <p:blipFill>
          <a:blip r:embed="rId3"/>
          <a:stretch>
            <a:fillRect/>
          </a:stretch>
        </p:blipFill>
        <p:spPr>
          <a:xfrm>
            <a:off x="11126419" y="1634947"/>
            <a:ext cx="332842" cy="332842"/>
          </a:xfrm>
          <a:prstGeom prst="rect">
            <a:avLst/>
          </a:prstGeom>
        </p:spPr>
      </p:pic>
      <p:sp>
        <p:nvSpPr>
          <p:cNvPr id="8" name="Text 5"/>
          <p:cNvSpPr txBox="1"/>
          <p:nvPr/>
        </p:nvSpPr>
        <p:spPr>
          <a:xfrm>
            <a:off x="685800" y="1280160"/>
            <a:ext cx="10149840" cy="1051560"/>
          </a:xfrm>
          <a:prstGeom prst="rect">
            <a:avLst/>
          </a:prstGeom>
          <a:noFill/>
          <a:ln/>
        </p:spPr>
        <p:txBody>
          <a:bodyPr wrap="square" lIns="635" tIns="635" rIns="635" bIns="635" rtlCol="0" anchor="ctr"/>
          <a:lstStyle/>
          <a:p>
            <a:pPr marL="0" indent="0" algn="r" rtl="1">
              <a:buNone/>
            </a:pPr>
            <a:r>
              <a:rPr lang="ar-OM" altLang="en-US" sz="2400" b="1" dirty="0">
                <a:solidFill>
                  <a:srgbClr val="0D3B66"/>
                </a:solidFill>
                <a:latin typeface="Arial" pitchFamily="34" charset="0"/>
                <a:ea typeface="Arial" pitchFamily="34" charset="-122"/>
                <a:cs typeface="Arial" pitchFamily="34" charset="-120"/>
              </a:rPr>
              <a:t>ما الترتيبُ الصحيحُ لخطواتِ إدراجِ صورةٍ من الحاسوب؟</a:t>
            </a:r>
            <a:endParaRPr lang="ar-OM" sz="2400" dirty="0"/>
          </a:p>
        </p:txBody>
      </p:sp>
      <p:sp>
        <p:nvSpPr>
          <p:cNvPr id="9" name="إجابة">
            <a:hlinkClick r:id="rId4" action="ppaction://hlinksldjump">
              <a:snd r:embed="rId5" name="wrong.wav"/>
            </a:hlinkClick>
          </p:cNvPr>
          <p:cNvSpPr/>
          <p:nvPr/>
        </p:nvSpPr>
        <p:spPr>
          <a:xfrm>
            <a:off x="2377440" y="2560320"/>
            <a:ext cx="9354312" cy="914400"/>
          </a:xfrm>
          <a:prstGeom prst="roundRect">
            <a:avLst>
              <a:gd name="adj" fmla="val 20000"/>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0" name="إجابة">
            <a:hlinkClick r:id="rId4" action="ppaction://hlinksldjump">
              <a:snd r:embed="rId5" name="wrong.wav"/>
            </a:hlinkClick>
          </p:cNvPr>
          <p:cNvSpPr/>
          <p:nvPr/>
        </p:nvSpPr>
        <p:spPr>
          <a:xfrm>
            <a:off x="11000232" y="2734056"/>
            <a:ext cx="566928" cy="566928"/>
          </a:xfrm>
          <a:prstGeom prst="ellipse">
            <a:avLst/>
          </a:prstGeom>
          <a:solidFill>
            <a:srgbClr val="7B4FD6"/>
          </a:solidFill>
          <a:ln/>
        </p:spPr>
        <p:txBody>
          <a:bodyPr/>
          <a:lstStyle/>
          <a:p>
            <a:endParaRPr lang="ar-OM"/>
          </a:p>
        </p:txBody>
      </p:sp>
      <p:sp>
        <p:nvSpPr>
          <p:cNvPr id="11" name="إجابة">
            <a:hlinkClick r:id="rId4" action="ppaction://hlinksldjump">
              <a:snd r:embed="rId5" name="wrong.wav"/>
            </a:hlinkClick>
          </p:cNvPr>
          <p:cNvSpPr txBox="1"/>
          <p:nvPr/>
        </p:nvSpPr>
        <p:spPr>
          <a:xfrm>
            <a:off x="11000232" y="2734056"/>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أ</a:t>
            </a:r>
            <a:endParaRPr lang="en-US" sz="2200" dirty="0"/>
          </a:p>
        </p:txBody>
      </p:sp>
      <p:sp>
        <p:nvSpPr>
          <p:cNvPr id="12" name="إجابة">
            <a:hlinkClick r:id="rId4" action="ppaction://hlinksldjump">
              <a:snd r:embed="rId5" name="wrong.wav"/>
            </a:hlinkClick>
          </p:cNvPr>
          <p:cNvSpPr txBox="1"/>
          <p:nvPr/>
        </p:nvSpPr>
        <p:spPr>
          <a:xfrm>
            <a:off x="2560320" y="2560320"/>
            <a:ext cx="8330184" cy="91440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صور ← إدراج ← هذا الجهاز ← اختيار الصورة ← إدراج</a:t>
            </a:r>
            <a:endParaRPr lang="ar-OM" sz="2100" dirty="0"/>
          </a:p>
        </p:txBody>
      </p:sp>
      <p:sp>
        <p:nvSpPr>
          <p:cNvPr id="13" name="إجابة">
            <a:hlinkClick r:id="rId6" action="ppaction://hlinksldjump">
              <a:snd r:embed="rId7" name="correct.wav"/>
            </a:hlinkClick>
          </p:cNvPr>
          <p:cNvSpPr/>
          <p:nvPr/>
        </p:nvSpPr>
        <p:spPr>
          <a:xfrm>
            <a:off x="2377440" y="3639312"/>
            <a:ext cx="9354312" cy="914400"/>
          </a:xfrm>
          <a:prstGeom prst="roundRect">
            <a:avLst>
              <a:gd name="adj" fmla="val 20000"/>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4" name="إجابة">
            <a:hlinkClick r:id="rId6" action="ppaction://hlinksldjump">
              <a:snd r:embed="rId7" name="correct.wav"/>
            </a:hlinkClick>
          </p:cNvPr>
          <p:cNvSpPr/>
          <p:nvPr/>
        </p:nvSpPr>
        <p:spPr>
          <a:xfrm>
            <a:off x="11000232" y="3813048"/>
            <a:ext cx="566928" cy="566928"/>
          </a:xfrm>
          <a:prstGeom prst="ellipse">
            <a:avLst/>
          </a:prstGeom>
          <a:solidFill>
            <a:srgbClr val="7B4FD6"/>
          </a:solidFill>
          <a:ln/>
        </p:spPr>
        <p:txBody>
          <a:bodyPr/>
          <a:lstStyle/>
          <a:p>
            <a:endParaRPr lang="ar-OM"/>
          </a:p>
        </p:txBody>
      </p:sp>
      <p:sp>
        <p:nvSpPr>
          <p:cNvPr id="15" name="إجابة">
            <a:hlinkClick r:id="rId6" action="ppaction://hlinksldjump">
              <a:snd r:embed="rId7" name="correct.wav"/>
            </a:hlinkClick>
          </p:cNvPr>
          <p:cNvSpPr txBox="1"/>
          <p:nvPr/>
        </p:nvSpPr>
        <p:spPr>
          <a:xfrm>
            <a:off x="11000232" y="381304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ب</a:t>
            </a:r>
            <a:endParaRPr lang="en-US" sz="2200" dirty="0"/>
          </a:p>
        </p:txBody>
      </p:sp>
      <p:sp>
        <p:nvSpPr>
          <p:cNvPr id="16" name="إجابة">
            <a:hlinkClick r:id="rId6" action="ppaction://hlinksldjump">
              <a:snd r:embed="rId7" name="correct.wav"/>
            </a:hlinkClick>
          </p:cNvPr>
          <p:cNvSpPr txBox="1"/>
          <p:nvPr/>
        </p:nvSpPr>
        <p:spPr>
          <a:xfrm>
            <a:off x="2560320" y="3639312"/>
            <a:ext cx="8330184" cy="91440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إدراج ← صور ← هذا الجهاز ← اختيار الصورة ← إدراج</a:t>
            </a:r>
            <a:endParaRPr lang="ar-OM" sz="2100" dirty="0"/>
          </a:p>
        </p:txBody>
      </p:sp>
      <p:sp>
        <p:nvSpPr>
          <p:cNvPr id="17" name="إجابة">
            <a:hlinkClick r:id="rId4" action="ppaction://hlinksldjump">
              <a:snd r:embed="rId5" name="wrong.wav"/>
            </a:hlinkClick>
          </p:cNvPr>
          <p:cNvSpPr/>
          <p:nvPr/>
        </p:nvSpPr>
        <p:spPr>
          <a:xfrm>
            <a:off x="2377440" y="4718304"/>
            <a:ext cx="9354312" cy="914400"/>
          </a:xfrm>
          <a:prstGeom prst="roundRect">
            <a:avLst>
              <a:gd name="adj" fmla="val 20000"/>
            </a:avLst>
          </a:prstGeom>
          <a:solidFill>
            <a:srgbClr val="FFFFFF"/>
          </a:solidFill>
          <a:ln w="28575">
            <a:solidFill>
              <a:srgbClr val="7B4FD6"/>
            </a:solidFill>
            <a:prstDash val="solid"/>
          </a:ln>
          <a:effectLst>
            <a:outerShdw blurRad="101600" dist="25400" dir="5400000" algn="bl" rotWithShape="0">
              <a:srgbClr val="8FA6BF">
                <a:alpha val="30000"/>
              </a:srgbClr>
            </a:outerShdw>
          </a:effectLst>
        </p:spPr>
        <p:txBody>
          <a:bodyPr/>
          <a:lstStyle/>
          <a:p>
            <a:endParaRPr lang="ar-OM"/>
          </a:p>
        </p:txBody>
      </p:sp>
      <p:sp>
        <p:nvSpPr>
          <p:cNvPr id="18" name="إجابة">
            <a:hlinkClick r:id="rId4" action="ppaction://hlinksldjump">
              <a:snd r:embed="rId5" name="wrong.wav"/>
            </a:hlinkClick>
          </p:cNvPr>
          <p:cNvSpPr/>
          <p:nvPr/>
        </p:nvSpPr>
        <p:spPr>
          <a:xfrm>
            <a:off x="11000232" y="4892040"/>
            <a:ext cx="566928" cy="566928"/>
          </a:xfrm>
          <a:prstGeom prst="ellipse">
            <a:avLst/>
          </a:prstGeom>
          <a:solidFill>
            <a:srgbClr val="7B4FD6"/>
          </a:solidFill>
          <a:ln/>
        </p:spPr>
        <p:txBody>
          <a:bodyPr/>
          <a:lstStyle/>
          <a:p>
            <a:endParaRPr lang="ar-OM"/>
          </a:p>
        </p:txBody>
      </p:sp>
      <p:sp>
        <p:nvSpPr>
          <p:cNvPr id="19" name="إجابة">
            <a:hlinkClick r:id="rId4" action="ppaction://hlinksldjump">
              <a:snd r:embed="rId5" name="wrong.wav"/>
            </a:hlinkClick>
          </p:cNvPr>
          <p:cNvSpPr txBox="1"/>
          <p:nvPr/>
        </p:nvSpPr>
        <p:spPr>
          <a:xfrm>
            <a:off x="11000232" y="489204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ج</a:t>
            </a:r>
            <a:endParaRPr lang="en-US" sz="2200" dirty="0"/>
          </a:p>
        </p:txBody>
      </p:sp>
      <p:sp>
        <p:nvSpPr>
          <p:cNvPr id="20" name="إجابة">
            <a:hlinkClick r:id="rId4" action="ppaction://hlinksldjump">
              <a:snd r:embed="rId5" name="wrong.wav"/>
            </a:hlinkClick>
          </p:cNvPr>
          <p:cNvSpPr txBox="1"/>
          <p:nvPr/>
        </p:nvSpPr>
        <p:spPr>
          <a:xfrm>
            <a:off x="2560320" y="4718304"/>
            <a:ext cx="8330184" cy="914400"/>
          </a:xfrm>
          <a:prstGeom prst="rect">
            <a:avLst/>
          </a:prstGeom>
          <a:noFill/>
          <a:ln/>
        </p:spPr>
        <p:txBody>
          <a:bodyPr wrap="square" lIns="635" tIns="635" rIns="635" bIns="635" rtlCol="0" anchor="ctr"/>
          <a:lstStyle/>
          <a:p>
            <a:pPr marL="0" indent="0" algn="r" rtl="1">
              <a:buNone/>
            </a:pPr>
            <a:r>
              <a:rPr lang="ar-OM" altLang="en-US" sz="2100" b="1" dirty="0">
                <a:solidFill>
                  <a:srgbClr val="0D3B66"/>
                </a:solidFill>
                <a:latin typeface="Arial" pitchFamily="34" charset="0"/>
                <a:ea typeface="Arial" pitchFamily="34" charset="-122"/>
                <a:cs typeface="Arial" pitchFamily="34" charset="-120"/>
              </a:rPr>
              <a:t>هذا الجهاز ← صور ← إدراج ← اختيار الصورة ← إدراج</a:t>
            </a:r>
            <a:endParaRPr lang="ar-OM" sz="2100" dirty="0"/>
          </a:p>
        </p:txBody>
      </p:sp>
      <p:pic>
        <p:nvPicPr>
          <p:cNvPr id="21" name="img girl_head.png" descr="a/girl_head.png"/>
          <p:cNvPicPr>
            <a:picLocks noChangeAspect="1"/>
          </p:cNvPicPr>
          <p:nvPr/>
        </p:nvPicPr>
        <p:blipFill>
          <a:blip r:embed="rId8"/>
          <a:stretch>
            <a:fillRect/>
          </a:stretch>
        </p:blipFill>
        <p:spPr>
          <a:xfrm>
            <a:off x="411480" y="3650469"/>
            <a:ext cx="1783080" cy="2110251"/>
          </a:xfrm>
          <a:prstGeom prst="rect">
            <a:avLst/>
          </a:prstGeom>
        </p:spPr>
      </p:pic>
      <p:sp>
        <p:nvSpPr>
          <p:cNvPr id="22"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3" name="زر التالي" descr="preencoded.png">
            <a:hlinkClick r:id="" action="ppaction://hlinkshowjump?jump=nextslide"/>
          </p:cNvPr>
          <p:cNvPicPr>
            <a:picLocks noChangeAspect="1"/>
          </p:cNvPicPr>
          <p:nvPr/>
        </p:nvPicPr>
        <p:blipFill>
          <a:blip r:embed="rId9"/>
          <a:stretch>
            <a:fillRect/>
          </a:stretch>
        </p:blipFill>
        <p:spPr>
          <a:xfrm>
            <a:off x="612648" y="6208776"/>
            <a:ext cx="256032" cy="256032"/>
          </a:xfrm>
          <a:prstGeom prst="rect">
            <a:avLst/>
          </a:prstGeom>
        </p:spPr>
      </p:pic>
      <p:sp>
        <p:nvSpPr>
          <p:cNvPr id="24" name="زر انتقال">
            <a:hlinkClick r:id="rId10"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5" name="زر انتقال" descr="preencoded.png">
            <a:hlinkClick r:id="rId10" action="ppaction://hlinksldjump"/>
          </p:cNvPr>
          <p:cNvPicPr>
            <a:picLocks noChangeAspect="1"/>
          </p:cNvPicPr>
          <p:nvPr/>
        </p:nvPicPr>
        <p:blipFill>
          <a:blip r:embed="rId11"/>
          <a:stretch>
            <a:fillRect/>
          </a:stretch>
        </p:blipFill>
        <p:spPr>
          <a:xfrm>
            <a:off x="1316736" y="6208776"/>
            <a:ext cx="256032" cy="256032"/>
          </a:xfrm>
          <a:prstGeom prst="rect">
            <a:avLst/>
          </a:prstGeom>
        </p:spPr>
      </p:pic>
      <p:sp>
        <p:nvSpPr>
          <p:cNvPr id="26"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7" name="زر السابق" descr="preencoded.png">
            <a:hlinkClick r:id="" action="ppaction://hlinkshowjump?jump=previousslide"/>
          </p:cNvPr>
          <p:cNvPicPr>
            <a:picLocks noChangeAspect="1"/>
          </p:cNvPicPr>
          <p:nvPr/>
        </p:nvPicPr>
        <p:blipFill>
          <a:blip r:embed="rId12"/>
          <a:stretch>
            <a:fillRect/>
          </a:stretch>
        </p:blipFill>
        <p:spPr>
          <a:xfrm>
            <a:off x="2020824" y="6208776"/>
            <a:ext cx="256032" cy="25603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1828800" y="457200"/>
            <a:ext cx="8531352" cy="914400"/>
          </a:xfrm>
          <a:prstGeom prst="rect">
            <a:avLst/>
          </a:prstGeom>
          <a:noFill/>
          <a:ln/>
        </p:spPr>
        <p:txBody>
          <a:bodyPr wrap="square" lIns="635" tIns="635" rIns="635" bIns="635" rtlCol="0" anchor="ctr"/>
          <a:lstStyle/>
          <a:p>
            <a:pPr marL="0" indent="0" algn="ctr" rtl="1">
              <a:buNone/>
            </a:pPr>
            <a:r>
              <a:rPr lang="ar-OM" altLang="en-US" sz="4400" b="1" dirty="0">
                <a:solidFill>
                  <a:srgbClr val="FFC83D"/>
                </a:solidFill>
                <a:latin typeface="Arial" pitchFamily="34" charset="0"/>
                <a:ea typeface="Arial" pitchFamily="34" charset="-122"/>
                <a:cs typeface="Arial" pitchFamily="34" charset="-120"/>
              </a:rPr>
              <a:t>أنتم أبطالُ المسابقة!</a:t>
            </a:r>
            <a:endParaRPr lang="ar-OM" sz="4400" dirty="0"/>
          </a:p>
        </p:txBody>
      </p:sp>
      <p:pic>
        <p:nvPicPr>
          <p:cNvPr id="3" name="star" descr="preencoded.png"/>
          <p:cNvPicPr>
            <a:picLocks noChangeAspect="1"/>
          </p:cNvPicPr>
          <p:nvPr/>
        </p:nvPicPr>
        <p:blipFill>
          <a:blip r:embed="rId3"/>
          <a:stretch>
            <a:fillRect/>
          </a:stretch>
        </p:blipFill>
        <p:spPr>
          <a:xfrm>
            <a:off x="4069080" y="1463040"/>
            <a:ext cx="548640" cy="548640"/>
          </a:xfrm>
          <a:prstGeom prst="rect">
            <a:avLst/>
          </a:prstGeom>
        </p:spPr>
      </p:pic>
      <p:pic>
        <p:nvPicPr>
          <p:cNvPr id="4" name="star" descr="preencoded.png"/>
          <p:cNvPicPr>
            <a:picLocks noChangeAspect="1"/>
          </p:cNvPicPr>
          <p:nvPr/>
        </p:nvPicPr>
        <p:blipFill>
          <a:blip r:embed="rId3"/>
          <a:stretch>
            <a:fillRect/>
          </a:stretch>
        </p:blipFill>
        <p:spPr>
          <a:xfrm>
            <a:off x="4892040" y="1463040"/>
            <a:ext cx="548640" cy="548640"/>
          </a:xfrm>
          <a:prstGeom prst="rect">
            <a:avLst/>
          </a:prstGeom>
        </p:spPr>
      </p:pic>
      <p:pic>
        <p:nvPicPr>
          <p:cNvPr id="5" name="star" descr="preencoded.png"/>
          <p:cNvPicPr>
            <a:picLocks noChangeAspect="1"/>
          </p:cNvPicPr>
          <p:nvPr/>
        </p:nvPicPr>
        <p:blipFill>
          <a:blip r:embed="rId3"/>
          <a:stretch>
            <a:fillRect/>
          </a:stretch>
        </p:blipFill>
        <p:spPr>
          <a:xfrm>
            <a:off x="5715000" y="1463040"/>
            <a:ext cx="548640" cy="548640"/>
          </a:xfrm>
          <a:prstGeom prst="rect">
            <a:avLst/>
          </a:prstGeom>
        </p:spPr>
      </p:pic>
      <p:pic>
        <p:nvPicPr>
          <p:cNvPr id="6" name="star" descr="preencoded.png"/>
          <p:cNvPicPr>
            <a:picLocks noChangeAspect="1"/>
          </p:cNvPicPr>
          <p:nvPr/>
        </p:nvPicPr>
        <p:blipFill>
          <a:blip r:embed="rId3"/>
          <a:stretch>
            <a:fillRect/>
          </a:stretch>
        </p:blipFill>
        <p:spPr>
          <a:xfrm>
            <a:off x="6537960" y="1463040"/>
            <a:ext cx="548640" cy="548640"/>
          </a:xfrm>
          <a:prstGeom prst="rect">
            <a:avLst/>
          </a:prstGeom>
        </p:spPr>
      </p:pic>
      <p:pic>
        <p:nvPicPr>
          <p:cNvPr id="7" name="star" descr="preencoded.png"/>
          <p:cNvPicPr>
            <a:picLocks noChangeAspect="1"/>
          </p:cNvPicPr>
          <p:nvPr/>
        </p:nvPicPr>
        <p:blipFill>
          <a:blip r:embed="rId3"/>
          <a:stretch>
            <a:fillRect/>
          </a:stretch>
        </p:blipFill>
        <p:spPr>
          <a:xfrm>
            <a:off x="7360920" y="1463040"/>
            <a:ext cx="548640" cy="548640"/>
          </a:xfrm>
          <a:prstGeom prst="rect">
            <a:avLst/>
          </a:prstGeom>
        </p:spPr>
      </p:pic>
      <p:sp>
        <p:nvSpPr>
          <p:cNvPr id="8" name="زر احتفال">
            <a:hlinkClick r:id="" action="ppaction://noaction" highlightClick="1">
              <a:snd r:embed="rId4" name="win.wav"/>
            </a:hlinkClick>
          </p:cNvPr>
          <p:cNvSpPr/>
          <p:nvPr/>
        </p:nvSpPr>
        <p:spPr>
          <a:xfrm>
            <a:off x="4727448" y="2286000"/>
            <a:ext cx="2743200" cy="2743200"/>
          </a:xfrm>
          <a:prstGeom prst="ellipse">
            <a:avLst/>
          </a:prstGeom>
          <a:solidFill>
            <a:srgbClr val="7B4FD6"/>
          </a:solidFill>
          <a:ln w="50800">
            <a:solidFill>
              <a:srgbClr val="FFC83D"/>
            </a:solidFill>
            <a:prstDash val="solid"/>
          </a:ln>
          <a:effectLst>
            <a:outerShdw blurRad="127000" dist="50800" dir="5400000" algn="bl" rotWithShape="0">
              <a:srgbClr val="000000">
                <a:alpha val="40000"/>
              </a:srgbClr>
            </a:outerShdw>
          </a:effectLst>
        </p:spPr>
        <p:txBody>
          <a:bodyPr/>
          <a:lstStyle/>
          <a:p>
            <a:endParaRPr lang="ar-OM"/>
          </a:p>
        </p:txBody>
      </p:sp>
      <p:pic>
        <p:nvPicPr>
          <p:cNvPr id="9" name="زر احتفال" descr="preencoded.png">
            <a:hlinkClick r:id="" action="ppaction://noaction" highlightClick="1">
              <a:snd r:embed="rId4" name="win.wav"/>
            </a:hlinkClick>
          </p:cNvPr>
          <p:cNvPicPr>
            <a:picLocks noChangeAspect="1"/>
          </p:cNvPicPr>
          <p:nvPr/>
        </p:nvPicPr>
        <p:blipFill>
          <a:blip r:embed="rId5"/>
          <a:stretch>
            <a:fillRect/>
          </a:stretch>
        </p:blipFill>
        <p:spPr>
          <a:xfrm>
            <a:off x="5321808" y="2834640"/>
            <a:ext cx="1554480" cy="1554480"/>
          </a:xfrm>
          <a:prstGeom prst="rect">
            <a:avLst/>
          </a:prstGeom>
        </p:spPr>
      </p:pic>
      <p:sp>
        <p:nvSpPr>
          <p:cNvPr id="10" name="Text 2"/>
          <p:cNvSpPr txBox="1"/>
          <p:nvPr/>
        </p:nvSpPr>
        <p:spPr>
          <a:xfrm>
            <a:off x="3355848" y="5166360"/>
            <a:ext cx="5486400" cy="54864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انقر الكأس للاحتفال!</a:t>
            </a:r>
            <a:endParaRPr lang="ar-OM" sz="2200" dirty="0"/>
          </a:p>
        </p:txBody>
      </p:sp>
      <p:pic>
        <p:nvPicPr>
          <p:cNvPr id="11" name="img girl_wave.png" descr="a/girl_wave.png"/>
          <p:cNvPicPr>
            <a:picLocks noChangeAspect="1"/>
          </p:cNvPicPr>
          <p:nvPr/>
        </p:nvPicPr>
        <p:blipFill>
          <a:blip r:embed="rId6"/>
          <a:stretch>
            <a:fillRect/>
          </a:stretch>
        </p:blipFill>
        <p:spPr>
          <a:xfrm>
            <a:off x="457200" y="2170901"/>
            <a:ext cx="3108960" cy="3522039"/>
          </a:xfrm>
          <a:prstGeom prst="rect">
            <a:avLst/>
          </a:prstGeom>
        </p:spPr>
      </p:pic>
      <p:pic>
        <p:nvPicPr>
          <p:cNvPr id="12" name="img boy_wave.png" descr="a/boy_wave.png"/>
          <p:cNvPicPr>
            <a:picLocks noChangeAspect="1"/>
          </p:cNvPicPr>
          <p:nvPr/>
        </p:nvPicPr>
        <p:blipFill>
          <a:blip r:embed="rId7"/>
          <a:stretch>
            <a:fillRect/>
          </a:stretch>
        </p:blipFill>
        <p:spPr>
          <a:xfrm>
            <a:off x="8778240" y="2132549"/>
            <a:ext cx="2926080" cy="3598742"/>
          </a:xfrm>
          <a:prstGeom prst="rect">
            <a:avLst/>
          </a:prstGeom>
        </p:spPr>
      </p:pic>
      <p:sp>
        <p:nvSpPr>
          <p:cNvPr id="13"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4" name="زر التالي" descr="preencoded.png">
            <a:hlinkClick r:id="" action="ppaction://hlinkshowjump?jump=nextslide"/>
          </p:cNvPr>
          <p:cNvPicPr>
            <a:picLocks noChangeAspect="1"/>
          </p:cNvPicPr>
          <p:nvPr/>
        </p:nvPicPr>
        <p:blipFill>
          <a:blip r:embed="rId8"/>
          <a:stretch>
            <a:fillRect/>
          </a:stretch>
        </p:blipFill>
        <p:spPr>
          <a:xfrm>
            <a:off x="612648" y="6208776"/>
            <a:ext cx="256032" cy="256032"/>
          </a:xfrm>
          <a:prstGeom prst="rect">
            <a:avLst/>
          </a:prstGeom>
        </p:spPr>
      </p:pic>
      <p:sp>
        <p:nvSpPr>
          <p:cNvPr id="15" name="زر انتقال">
            <a:hlinkClick r:id="rId9" action="ppaction://hlinksldjump"/>
          </p:cNvPr>
          <p:cNvSpPr/>
          <p:nvPr/>
        </p:nvSpPr>
        <p:spPr>
          <a:xfrm>
            <a:off x="1161288" y="6053328"/>
            <a:ext cx="566928" cy="566928"/>
          </a:xfrm>
          <a:prstGeom prst="ellipse">
            <a:avLst/>
          </a:prstGeom>
          <a:solidFill>
            <a:srgbClr val="2E6DA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6" name="زر انتقال" descr="preencoded.png">
            <a:hlinkClick r:id="rId9" action="ppaction://hlinksldjump"/>
          </p:cNvPr>
          <p:cNvPicPr>
            <a:picLocks noChangeAspect="1"/>
          </p:cNvPicPr>
          <p:nvPr/>
        </p:nvPicPr>
        <p:blipFill>
          <a:blip r:embed="rId10"/>
          <a:stretch>
            <a:fillRect/>
          </a:stretch>
        </p:blipFill>
        <p:spPr>
          <a:xfrm>
            <a:off x="1316736" y="6208776"/>
            <a:ext cx="256032" cy="256032"/>
          </a:xfrm>
          <a:prstGeom prst="rect">
            <a:avLst/>
          </a:prstGeom>
        </p:spPr>
      </p:pic>
      <p:sp>
        <p:nvSpPr>
          <p:cNvPr id="17"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8" name="زر السابق" descr="preencoded.png">
            <a:hlinkClick r:id="" action="ppaction://hlinkshowjump?jump=previousslide"/>
          </p:cNvPr>
          <p:cNvPicPr>
            <a:picLocks noChangeAspect="1"/>
          </p:cNvPicPr>
          <p:nvPr/>
        </p:nvPicPr>
        <p:blipFill>
          <a:blip r:embed="rId11"/>
          <a:stretch>
            <a:fillRect/>
          </a:stretch>
        </p:blipFill>
        <p:spPr>
          <a:xfrm>
            <a:off x="2020824" y="6208776"/>
            <a:ext cx="256032" cy="25603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F27C1E"/>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التطبيق العملي</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التطبيق العملي: الاحتباس الحراري</a:t>
            </a:r>
            <a:endParaRPr lang="ar-OM" sz="3200" dirty="0"/>
          </a:p>
        </p:txBody>
      </p:sp>
      <p:sp>
        <p:nvSpPr>
          <p:cNvPr id="5" name="card"/>
          <p:cNvSpPr/>
          <p:nvPr/>
        </p:nvSpPr>
        <p:spPr>
          <a:xfrm>
            <a:off x="457200" y="1280160"/>
            <a:ext cx="5852160" cy="4526280"/>
          </a:xfrm>
          <a:prstGeom prst="roundRect">
            <a:avLst>
              <a:gd name="adj" fmla="val 3636"/>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6" name="Text 4"/>
          <p:cNvSpPr txBox="1"/>
          <p:nvPr/>
        </p:nvSpPr>
        <p:spPr>
          <a:xfrm>
            <a:off x="640080" y="1353312"/>
            <a:ext cx="5486400" cy="457200"/>
          </a:xfrm>
          <a:prstGeom prst="rect">
            <a:avLst/>
          </a:prstGeom>
          <a:noFill/>
          <a:ln/>
        </p:spPr>
        <p:txBody>
          <a:bodyPr wrap="square" lIns="635" tIns="635" rIns="635" bIns="635" rtlCol="0" anchor="ctr"/>
          <a:lstStyle/>
          <a:p>
            <a:pPr marL="0" indent="0" algn="ctr" rtl="1">
              <a:buNone/>
            </a:pPr>
            <a:r>
              <a:rPr lang="ar-OM" altLang="en-US" sz="1800" b="1" dirty="0">
                <a:solidFill>
                  <a:srgbClr val="F27C1E"/>
                </a:solidFill>
                <a:latin typeface="Arial" pitchFamily="34" charset="0"/>
                <a:ea typeface="Arial" pitchFamily="34" charset="-122"/>
                <a:cs typeface="Arial" pitchFamily="34" charset="-120"/>
              </a:rPr>
              <a:t>النموذج المطلوب</a:t>
            </a:r>
            <a:endParaRPr lang="ar-OM" sz="1800" dirty="0"/>
          </a:p>
        </p:txBody>
      </p:sp>
      <p:pic>
        <p:nvPicPr>
          <p:cNvPr id="7" name="img gw_card.png" descr="a/gw_card.png"/>
          <p:cNvPicPr>
            <a:picLocks noChangeAspect="1"/>
          </p:cNvPicPr>
          <p:nvPr/>
        </p:nvPicPr>
        <p:blipFill>
          <a:blip r:embed="rId3"/>
          <a:stretch>
            <a:fillRect/>
          </a:stretch>
        </p:blipFill>
        <p:spPr>
          <a:xfrm>
            <a:off x="707201" y="1828800"/>
            <a:ext cx="5352158" cy="3840480"/>
          </a:xfrm>
          <a:prstGeom prst="rect">
            <a:avLst/>
          </a:prstGeom>
        </p:spPr>
      </p:pic>
      <p:sp>
        <p:nvSpPr>
          <p:cNvPr id="8" name="card"/>
          <p:cNvSpPr/>
          <p:nvPr/>
        </p:nvSpPr>
        <p:spPr>
          <a:xfrm>
            <a:off x="6583680" y="1280160"/>
            <a:ext cx="5148072" cy="1097280"/>
          </a:xfrm>
          <a:prstGeom prst="roundRect">
            <a:avLst>
              <a:gd name="adj" fmla="val 15000"/>
            </a:avLst>
          </a:prstGeom>
          <a:solidFill>
            <a:srgbClr val="FFE9D6"/>
          </a:solidFill>
          <a:ln/>
        </p:spPr>
        <p:txBody>
          <a:bodyPr/>
          <a:lstStyle/>
          <a:p>
            <a:endParaRPr lang="ar-OM"/>
          </a:p>
        </p:txBody>
      </p:sp>
      <p:sp>
        <p:nvSpPr>
          <p:cNvPr id="9" name="icon bg"/>
          <p:cNvSpPr/>
          <p:nvPr/>
        </p:nvSpPr>
        <p:spPr>
          <a:xfrm>
            <a:off x="10972800" y="1554480"/>
            <a:ext cx="548640" cy="548640"/>
          </a:xfrm>
          <a:prstGeom prst="ellipse">
            <a:avLst/>
          </a:prstGeom>
          <a:solidFill>
            <a:srgbClr val="F27C1E"/>
          </a:solidFill>
          <a:ln/>
        </p:spPr>
        <p:txBody>
          <a:bodyPr/>
          <a:lstStyle/>
          <a:p>
            <a:endParaRPr lang="ar-OM"/>
          </a:p>
        </p:txBody>
      </p:sp>
      <p:pic>
        <p:nvPicPr>
          <p:cNvPr id="10" name="icon" descr="preencoded.png"/>
          <p:cNvPicPr>
            <a:picLocks noChangeAspect="1"/>
          </p:cNvPicPr>
          <p:nvPr/>
        </p:nvPicPr>
        <p:blipFill>
          <a:blip r:embed="rId4"/>
          <a:stretch>
            <a:fillRect/>
          </a:stretch>
        </p:blipFill>
        <p:spPr>
          <a:xfrm>
            <a:off x="11104474" y="1686154"/>
            <a:ext cx="285293" cy="285293"/>
          </a:xfrm>
          <a:prstGeom prst="rect">
            <a:avLst/>
          </a:prstGeom>
        </p:spPr>
      </p:pic>
      <p:sp>
        <p:nvSpPr>
          <p:cNvPr id="11" name="Text 7"/>
          <p:cNvSpPr txBox="1"/>
          <p:nvPr/>
        </p:nvSpPr>
        <p:spPr>
          <a:xfrm>
            <a:off x="6766560" y="1280160"/>
            <a:ext cx="4114800" cy="1097280"/>
          </a:xfrm>
          <a:prstGeom prst="rect">
            <a:avLst/>
          </a:prstGeom>
          <a:noFill/>
          <a:ln/>
        </p:spPr>
        <p:txBody>
          <a:bodyPr wrap="square" lIns="635" tIns="635" rIns="635" bIns="635" rtlCol="0" anchor="ctr"/>
          <a:lstStyle/>
          <a:p>
            <a:pPr marL="0" indent="0" algn="r">
              <a:buNone/>
            </a:pPr>
            <a:r>
              <a:rPr lang="ar-OM" altLang="en-US" sz="1900" dirty="0">
                <a:solidFill>
                  <a:srgbClr val="1F2D3D"/>
                </a:solidFill>
                <a:latin typeface="Arial" pitchFamily="34" charset="0"/>
                <a:ea typeface="Arial" pitchFamily="34" charset="-122"/>
                <a:cs typeface="Arial" pitchFamily="34" charset="-120"/>
              </a:rPr>
              <a:t>أنشئْ مستندًا جديدًا، واحفظْه باسم </a:t>
            </a:r>
            <a:r>
              <a:rPr lang="ar-OM" altLang="en-US" sz="1900" b="1" dirty="0">
                <a:solidFill>
                  <a:srgbClr val="B85500"/>
                </a:solidFill>
                <a:latin typeface="Arial" pitchFamily="34" charset="0"/>
                <a:ea typeface="Arial" pitchFamily="34" charset="-122"/>
                <a:cs typeface="Arial" pitchFamily="34" charset="-120"/>
              </a:rPr>
              <a:t>(الاحتباس الحراري)</a:t>
            </a:r>
            <a:endParaRPr lang="ar-OM" sz="1900" dirty="0"/>
          </a:p>
        </p:txBody>
      </p:sp>
      <p:sp>
        <p:nvSpPr>
          <p:cNvPr id="12" name="card"/>
          <p:cNvSpPr/>
          <p:nvPr/>
        </p:nvSpPr>
        <p:spPr>
          <a:xfrm>
            <a:off x="6583680" y="2606040"/>
            <a:ext cx="5148072" cy="3200400"/>
          </a:xfrm>
          <a:prstGeom prst="roundRect">
            <a:avLst>
              <a:gd name="adj" fmla="val 5143"/>
            </a:avLst>
          </a:prstGeom>
          <a:solidFill>
            <a:srgbClr val="FFFFFF"/>
          </a:solidFill>
          <a:ln w="19050">
            <a:solidFill>
              <a:srgbClr val="F27C1E"/>
            </a:solidFill>
            <a:prstDash val="solid"/>
          </a:ln>
          <a:effectLst>
            <a:outerShdw blurRad="101600" dist="25400" dir="5400000" algn="bl" rotWithShape="0">
              <a:srgbClr val="8FA6BF">
                <a:alpha val="30000"/>
              </a:srgbClr>
            </a:outerShdw>
          </a:effectLst>
        </p:spPr>
        <p:txBody>
          <a:bodyPr/>
          <a:lstStyle/>
          <a:p>
            <a:endParaRPr lang="ar-OM"/>
          </a:p>
        </p:txBody>
      </p:sp>
      <p:sp>
        <p:nvSpPr>
          <p:cNvPr id="13" name="Text 9"/>
          <p:cNvSpPr txBox="1"/>
          <p:nvPr/>
        </p:nvSpPr>
        <p:spPr>
          <a:xfrm>
            <a:off x="6766560" y="2697480"/>
            <a:ext cx="4782312" cy="457200"/>
          </a:xfrm>
          <a:prstGeom prst="rect">
            <a:avLst/>
          </a:prstGeom>
          <a:noFill/>
          <a:ln/>
        </p:spPr>
        <p:txBody>
          <a:bodyPr wrap="square" lIns="635" tIns="635" rIns="635" bIns="635" rtlCol="0" anchor="ctr"/>
          <a:lstStyle/>
          <a:p>
            <a:pPr marL="0" indent="0" algn="r" rtl="1">
              <a:buNone/>
            </a:pPr>
            <a:r>
              <a:rPr lang="ar-OM" altLang="en-US" sz="1700" b="1" dirty="0">
                <a:solidFill>
                  <a:srgbClr val="F27C1E"/>
                </a:solidFill>
                <a:latin typeface="Arial" pitchFamily="34" charset="0"/>
                <a:ea typeface="Arial" pitchFamily="34" charset="-122"/>
                <a:cs typeface="Arial" pitchFamily="34" charset="-120"/>
              </a:rPr>
              <a:t>اكتب النص الآتي:</a:t>
            </a:r>
            <a:endParaRPr lang="ar-OM" sz="1700" dirty="0"/>
          </a:p>
        </p:txBody>
      </p:sp>
      <p:sp>
        <p:nvSpPr>
          <p:cNvPr id="14" name="Text 10"/>
          <p:cNvSpPr txBox="1"/>
          <p:nvPr/>
        </p:nvSpPr>
        <p:spPr>
          <a:xfrm>
            <a:off x="6766560" y="3154680"/>
            <a:ext cx="4782312" cy="2560320"/>
          </a:xfrm>
          <a:prstGeom prst="rect">
            <a:avLst/>
          </a:prstGeom>
          <a:noFill/>
          <a:ln/>
        </p:spPr>
        <p:txBody>
          <a:bodyPr wrap="square" lIns="635" tIns="635" rIns="635" bIns="635" rtlCol="0" anchor="t"/>
          <a:lstStyle/>
          <a:p>
            <a:pPr marL="0" indent="0" algn="ctr">
              <a:spcAft>
                <a:spcPts val="600"/>
              </a:spcAft>
              <a:buNone/>
            </a:pPr>
            <a:r>
              <a:rPr lang="ar-OM" altLang="en-US" sz="2200" b="1" dirty="0">
                <a:solidFill>
                  <a:srgbClr val="0D3B66"/>
                </a:solidFill>
                <a:latin typeface="Arial" pitchFamily="34" charset="0"/>
                <a:ea typeface="Arial" pitchFamily="34" charset="-122"/>
                <a:cs typeface="Arial" pitchFamily="34" charset="-120"/>
              </a:rPr>
              <a:t>الاحتباسُ الحراريُّ</a:t>
            </a:r>
            <a:endParaRPr lang="ar-OM" sz="2200" dirty="0"/>
          </a:p>
          <a:p>
            <a:pPr marL="0" indent="0" algn="r">
              <a:spcAft>
                <a:spcPts val="600"/>
              </a:spcAft>
              <a:buNone/>
            </a:pPr>
            <a:r>
              <a:rPr lang="ar-OM" altLang="en-US" sz="1900" dirty="0">
                <a:solidFill>
                  <a:srgbClr val="1F2D3D"/>
                </a:solidFill>
                <a:latin typeface="Arial" pitchFamily="34" charset="0"/>
                <a:ea typeface="Arial" pitchFamily="34" charset="-122"/>
                <a:cs typeface="Arial" pitchFamily="34" charset="-120"/>
              </a:rPr>
              <a:t>ترتفعُ حرارةُ كوكبِنا في كلِّ عامٍ بسببِ الأنشطةِ التي يقومُ بها البشرُ، مثل: قطعِ الأشجارِ، وحرقِ الوقود. وتُسمّى هذه الظاهرةُ بالاحتباسِ الحراريّ.</a:t>
            </a:r>
            <a:endParaRPr lang="ar-OM" sz="2200" dirty="0"/>
          </a:p>
        </p:txBody>
      </p:sp>
      <p:sp>
        <p:nvSpPr>
          <p:cNvPr id="15"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6" name="زر التالي" descr="preencoded.png">
            <a:hlinkClick r:id="" action="ppaction://hlinkshowjump?jump=nextslide"/>
          </p:cNvPr>
          <p:cNvPicPr>
            <a:picLocks noChangeAspect="1"/>
          </p:cNvPicPr>
          <p:nvPr/>
        </p:nvPicPr>
        <p:blipFill>
          <a:blip r:embed="rId5"/>
          <a:stretch>
            <a:fillRect/>
          </a:stretch>
        </p:blipFill>
        <p:spPr>
          <a:xfrm>
            <a:off x="612648" y="6208776"/>
            <a:ext cx="256032" cy="256032"/>
          </a:xfrm>
          <a:prstGeom prst="rect">
            <a:avLst/>
          </a:prstGeom>
        </p:spPr>
      </p:pic>
      <p:sp>
        <p:nvSpPr>
          <p:cNvPr id="17" name="زر انتقال">
            <a:hlinkClick r:id="rId6"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8" name="زر انتقال" descr="preencoded.png">
            <a:hlinkClick r:id="rId6" action="ppaction://hlinksldjump"/>
          </p:cNvPr>
          <p:cNvPicPr>
            <a:picLocks noChangeAspect="1"/>
          </p:cNvPicPr>
          <p:nvPr/>
        </p:nvPicPr>
        <p:blipFill>
          <a:blip r:embed="rId7"/>
          <a:stretch>
            <a:fillRect/>
          </a:stretch>
        </p:blipFill>
        <p:spPr>
          <a:xfrm>
            <a:off x="1316736" y="6208776"/>
            <a:ext cx="256032" cy="256032"/>
          </a:xfrm>
          <a:prstGeom prst="rect">
            <a:avLst/>
          </a:prstGeom>
        </p:spPr>
      </p:pic>
      <p:sp>
        <p:nvSpPr>
          <p:cNvPr id="19"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20" name="زر السابق" descr="preencoded.png">
            <a:hlinkClick r:id="" action="ppaction://hlinkshowjump?jump=previousslide"/>
          </p:cNvPr>
          <p:cNvPicPr>
            <a:picLocks noChangeAspect="1"/>
          </p:cNvPicPr>
          <p:nvPr/>
        </p:nvPicPr>
        <p:blipFill>
          <a:blip r:embed="rId8"/>
          <a:stretch>
            <a:fillRect/>
          </a:stretch>
        </p:blipFill>
        <p:spPr>
          <a:xfrm>
            <a:off x="2020824" y="6208776"/>
            <a:ext cx="256032" cy="25603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F27C1E"/>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التطبيق العملي</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خطوات التطبيق العملي</a:t>
            </a:r>
            <a:endParaRPr lang="ar-OM" sz="3200" dirty="0"/>
          </a:p>
        </p:txBody>
      </p:sp>
      <p:pic>
        <p:nvPicPr>
          <p:cNvPr id="5" name="img gw.png" descr="a/gw.png"/>
          <p:cNvPicPr>
            <a:picLocks noChangeAspect="1"/>
          </p:cNvPicPr>
          <p:nvPr/>
        </p:nvPicPr>
        <p:blipFill>
          <a:blip r:embed="rId3"/>
          <a:stretch>
            <a:fillRect/>
          </a:stretch>
        </p:blipFill>
        <p:spPr>
          <a:xfrm>
            <a:off x="548640" y="1430260"/>
            <a:ext cx="3108960" cy="2991641"/>
          </a:xfrm>
          <a:prstGeom prst="rect">
            <a:avLst/>
          </a:prstGeom>
        </p:spPr>
      </p:pic>
      <p:pic>
        <p:nvPicPr>
          <p:cNvPr id="6" name="img boy_bust.png" descr="a/boy_bust.png"/>
          <p:cNvPicPr>
            <a:picLocks noChangeAspect="1"/>
          </p:cNvPicPr>
          <p:nvPr/>
        </p:nvPicPr>
        <p:blipFill>
          <a:blip r:embed="rId4"/>
          <a:stretch>
            <a:fillRect/>
          </a:stretch>
        </p:blipFill>
        <p:spPr>
          <a:xfrm>
            <a:off x="1417320" y="4343400"/>
            <a:ext cx="1371600" cy="1600200"/>
          </a:xfrm>
          <a:prstGeom prst="rect">
            <a:avLst/>
          </a:prstGeom>
        </p:spPr>
      </p:pic>
      <p:sp>
        <p:nvSpPr>
          <p:cNvPr id="7" name="step card"/>
          <p:cNvSpPr/>
          <p:nvPr/>
        </p:nvSpPr>
        <p:spPr>
          <a:xfrm>
            <a:off x="4023360" y="1261872"/>
            <a:ext cx="7708392" cy="566928"/>
          </a:xfrm>
          <a:prstGeom prst="roundRect">
            <a:avLst>
              <a:gd name="adj" fmla="val 24194"/>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8" name="step num"/>
          <p:cNvSpPr/>
          <p:nvPr/>
        </p:nvSpPr>
        <p:spPr>
          <a:xfrm>
            <a:off x="11183112" y="1353312"/>
            <a:ext cx="384048" cy="384048"/>
          </a:xfrm>
          <a:prstGeom prst="ellipse">
            <a:avLst/>
          </a:prstGeom>
          <a:solidFill>
            <a:srgbClr val="F27C1E"/>
          </a:solidFill>
          <a:ln/>
        </p:spPr>
        <p:txBody>
          <a:bodyPr/>
          <a:lstStyle/>
          <a:p>
            <a:endParaRPr lang="ar-OM"/>
          </a:p>
        </p:txBody>
      </p:sp>
      <p:sp>
        <p:nvSpPr>
          <p:cNvPr id="9" name="Text 5"/>
          <p:cNvSpPr txBox="1"/>
          <p:nvPr/>
        </p:nvSpPr>
        <p:spPr>
          <a:xfrm>
            <a:off x="11183112" y="1353312"/>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6"/>
          <p:cNvSpPr txBox="1"/>
          <p:nvPr/>
        </p:nvSpPr>
        <p:spPr>
          <a:xfrm>
            <a:off x="4206240" y="1298448"/>
            <a:ext cx="6867144" cy="493776"/>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أنشئْ مستندًا جديدًا واحفظْه باسم (الاحتباس الحراري).</a:t>
            </a:r>
            <a:endParaRPr lang="ar-OM" sz="1700" dirty="0"/>
          </a:p>
        </p:txBody>
      </p:sp>
      <p:sp>
        <p:nvSpPr>
          <p:cNvPr id="11" name="step card"/>
          <p:cNvSpPr/>
          <p:nvPr/>
        </p:nvSpPr>
        <p:spPr>
          <a:xfrm>
            <a:off x="4023360" y="1911096"/>
            <a:ext cx="7708392" cy="566928"/>
          </a:xfrm>
          <a:prstGeom prst="roundRect">
            <a:avLst>
              <a:gd name="adj" fmla="val 24194"/>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2" name="step num"/>
          <p:cNvSpPr/>
          <p:nvPr/>
        </p:nvSpPr>
        <p:spPr>
          <a:xfrm>
            <a:off x="11183112" y="2002536"/>
            <a:ext cx="384048" cy="384048"/>
          </a:xfrm>
          <a:prstGeom prst="ellipse">
            <a:avLst/>
          </a:prstGeom>
          <a:solidFill>
            <a:srgbClr val="F27C1E"/>
          </a:solidFill>
          <a:ln/>
        </p:spPr>
        <p:txBody>
          <a:bodyPr/>
          <a:lstStyle/>
          <a:p>
            <a:endParaRPr lang="ar-OM"/>
          </a:p>
        </p:txBody>
      </p:sp>
      <p:sp>
        <p:nvSpPr>
          <p:cNvPr id="13" name="Text 9"/>
          <p:cNvSpPr txBox="1"/>
          <p:nvPr/>
        </p:nvSpPr>
        <p:spPr>
          <a:xfrm>
            <a:off x="11183112" y="2002536"/>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0"/>
          <p:cNvSpPr txBox="1"/>
          <p:nvPr/>
        </p:nvSpPr>
        <p:spPr>
          <a:xfrm>
            <a:off x="4206240" y="1947672"/>
            <a:ext cx="6867144" cy="493776"/>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اكتبِ العنوانَ والنصَّ كما في النموذج.</a:t>
            </a:r>
            <a:endParaRPr lang="ar-OM" sz="1700" dirty="0"/>
          </a:p>
        </p:txBody>
      </p:sp>
      <p:sp>
        <p:nvSpPr>
          <p:cNvPr id="15" name="step card"/>
          <p:cNvSpPr/>
          <p:nvPr/>
        </p:nvSpPr>
        <p:spPr>
          <a:xfrm>
            <a:off x="4023360" y="2560320"/>
            <a:ext cx="7708392" cy="566928"/>
          </a:xfrm>
          <a:prstGeom prst="roundRect">
            <a:avLst>
              <a:gd name="adj" fmla="val 24194"/>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6" name="step num"/>
          <p:cNvSpPr/>
          <p:nvPr/>
        </p:nvSpPr>
        <p:spPr>
          <a:xfrm>
            <a:off x="11183112" y="2651760"/>
            <a:ext cx="384048" cy="384048"/>
          </a:xfrm>
          <a:prstGeom prst="ellipse">
            <a:avLst/>
          </a:prstGeom>
          <a:solidFill>
            <a:srgbClr val="F27C1E"/>
          </a:solidFill>
          <a:ln/>
        </p:spPr>
        <p:txBody>
          <a:bodyPr/>
          <a:lstStyle/>
          <a:p>
            <a:endParaRPr lang="ar-OM"/>
          </a:p>
        </p:txBody>
      </p:sp>
      <p:sp>
        <p:nvSpPr>
          <p:cNvPr id="17" name="Text 13"/>
          <p:cNvSpPr txBox="1"/>
          <p:nvPr/>
        </p:nvSpPr>
        <p:spPr>
          <a:xfrm>
            <a:off x="11183112" y="2651760"/>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4"/>
          <p:cNvSpPr txBox="1"/>
          <p:nvPr/>
        </p:nvSpPr>
        <p:spPr>
          <a:xfrm>
            <a:off x="4206240" y="2596896"/>
            <a:ext cx="6867144" cy="493776"/>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أدرِجْ صورةَ الكرةِ الأرضيةِ من حاسوبك.</a:t>
            </a:r>
            <a:endParaRPr lang="ar-OM" sz="1700" dirty="0"/>
          </a:p>
        </p:txBody>
      </p:sp>
      <p:sp>
        <p:nvSpPr>
          <p:cNvPr id="19" name="step card"/>
          <p:cNvSpPr/>
          <p:nvPr/>
        </p:nvSpPr>
        <p:spPr>
          <a:xfrm>
            <a:off x="4023360" y="3209544"/>
            <a:ext cx="7708392" cy="566928"/>
          </a:xfrm>
          <a:prstGeom prst="roundRect">
            <a:avLst>
              <a:gd name="adj" fmla="val 24194"/>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0" name="step num"/>
          <p:cNvSpPr/>
          <p:nvPr/>
        </p:nvSpPr>
        <p:spPr>
          <a:xfrm>
            <a:off x="11183112" y="3300984"/>
            <a:ext cx="384048" cy="384048"/>
          </a:xfrm>
          <a:prstGeom prst="ellipse">
            <a:avLst/>
          </a:prstGeom>
          <a:solidFill>
            <a:srgbClr val="F27C1E"/>
          </a:solidFill>
          <a:ln/>
        </p:spPr>
        <p:txBody>
          <a:bodyPr/>
          <a:lstStyle/>
          <a:p>
            <a:endParaRPr lang="ar-OM"/>
          </a:p>
        </p:txBody>
      </p:sp>
      <p:sp>
        <p:nvSpPr>
          <p:cNvPr id="21" name="Text 17"/>
          <p:cNvSpPr txBox="1"/>
          <p:nvPr/>
        </p:nvSpPr>
        <p:spPr>
          <a:xfrm>
            <a:off x="11183112" y="3300984"/>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18"/>
          <p:cNvSpPr txBox="1"/>
          <p:nvPr/>
        </p:nvSpPr>
        <p:spPr>
          <a:xfrm>
            <a:off x="4206240" y="3246120"/>
            <a:ext cx="6867144" cy="493776"/>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غيِّرْ حجمَ الصورةِ لتتناسبَ مع النص.</a:t>
            </a:r>
            <a:endParaRPr lang="ar-OM" sz="1700" dirty="0"/>
          </a:p>
        </p:txBody>
      </p:sp>
      <p:sp>
        <p:nvSpPr>
          <p:cNvPr id="23" name="step card"/>
          <p:cNvSpPr/>
          <p:nvPr/>
        </p:nvSpPr>
        <p:spPr>
          <a:xfrm>
            <a:off x="4023360" y="3858768"/>
            <a:ext cx="7708392" cy="566928"/>
          </a:xfrm>
          <a:prstGeom prst="roundRect">
            <a:avLst>
              <a:gd name="adj" fmla="val 24194"/>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4" name="step num"/>
          <p:cNvSpPr/>
          <p:nvPr/>
        </p:nvSpPr>
        <p:spPr>
          <a:xfrm>
            <a:off x="11183112" y="3950208"/>
            <a:ext cx="384048" cy="384048"/>
          </a:xfrm>
          <a:prstGeom prst="ellipse">
            <a:avLst/>
          </a:prstGeom>
          <a:solidFill>
            <a:srgbClr val="F27C1E"/>
          </a:solidFill>
          <a:ln/>
        </p:spPr>
        <p:txBody>
          <a:bodyPr/>
          <a:lstStyle/>
          <a:p>
            <a:endParaRPr lang="ar-OM"/>
          </a:p>
        </p:txBody>
      </p:sp>
      <p:sp>
        <p:nvSpPr>
          <p:cNvPr id="25" name="Text 21"/>
          <p:cNvSpPr txBox="1"/>
          <p:nvPr/>
        </p:nvSpPr>
        <p:spPr>
          <a:xfrm>
            <a:off x="11183112" y="3950208"/>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6" name="Text 22"/>
          <p:cNvSpPr txBox="1"/>
          <p:nvPr/>
        </p:nvSpPr>
        <p:spPr>
          <a:xfrm>
            <a:off x="4206240" y="3895344"/>
            <a:ext cx="6867144" cy="493776"/>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أضِفْ للصورةِ حدودًا أو نمطًا مناسبًا </a:t>
            </a:r>
            <a:r>
              <a:rPr lang="ar-OM" altLang="en-US" sz="1700" b="1" dirty="0">
                <a:solidFill>
                  <a:srgbClr val="B85500"/>
                </a:solidFill>
                <a:latin typeface="Arial" pitchFamily="34" charset="0"/>
                <a:ea typeface="Arial" pitchFamily="34" charset="-122"/>
                <a:cs typeface="Arial" pitchFamily="34" charset="-120"/>
              </a:rPr>
              <a:t>(Picture Styles)</a:t>
            </a:r>
            <a:endParaRPr lang="ar-OM" sz="1700" dirty="0"/>
          </a:p>
        </p:txBody>
      </p:sp>
      <p:sp>
        <p:nvSpPr>
          <p:cNvPr id="27" name="step card"/>
          <p:cNvSpPr/>
          <p:nvPr/>
        </p:nvSpPr>
        <p:spPr>
          <a:xfrm>
            <a:off x="4023360" y="4507992"/>
            <a:ext cx="7708392" cy="566928"/>
          </a:xfrm>
          <a:prstGeom prst="roundRect">
            <a:avLst>
              <a:gd name="adj" fmla="val 24194"/>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8" name="step num"/>
          <p:cNvSpPr/>
          <p:nvPr/>
        </p:nvSpPr>
        <p:spPr>
          <a:xfrm>
            <a:off x="11183112" y="4599432"/>
            <a:ext cx="384048" cy="384048"/>
          </a:xfrm>
          <a:prstGeom prst="ellipse">
            <a:avLst/>
          </a:prstGeom>
          <a:solidFill>
            <a:srgbClr val="F27C1E"/>
          </a:solidFill>
          <a:ln/>
        </p:spPr>
        <p:txBody>
          <a:bodyPr/>
          <a:lstStyle/>
          <a:p>
            <a:endParaRPr lang="ar-OM"/>
          </a:p>
        </p:txBody>
      </p:sp>
      <p:sp>
        <p:nvSpPr>
          <p:cNvPr id="29" name="Text 25"/>
          <p:cNvSpPr txBox="1"/>
          <p:nvPr/>
        </p:nvSpPr>
        <p:spPr>
          <a:xfrm>
            <a:off x="11183112" y="4599432"/>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0" name="Text 26"/>
          <p:cNvSpPr txBox="1"/>
          <p:nvPr/>
        </p:nvSpPr>
        <p:spPr>
          <a:xfrm>
            <a:off x="4206240" y="4544568"/>
            <a:ext cx="6867144" cy="493776"/>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اخترِ التفافَ النصِّ المناسبَ، مثل: مربع </a:t>
            </a:r>
            <a:r>
              <a:rPr lang="ar-OM" altLang="en-US" sz="1700" b="1" dirty="0">
                <a:solidFill>
                  <a:srgbClr val="B85500"/>
                </a:solidFill>
                <a:latin typeface="Arial" pitchFamily="34" charset="0"/>
                <a:ea typeface="Arial" pitchFamily="34" charset="-122"/>
                <a:cs typeface="Arial" pitchFamily="34" charset="-120"/>
              </a:rPr>
              <a:t>(Square)</a:t>
            </a:r>
            <a:endParaRPr lang="ar-OM" sz="1700" dirty="0"/>
          </a:p>
        </p:txBody>
      </p:sp>
      <p:sp>
        <p:nvSpPr>
          <p:cNvPr id="31" name="step card"/>
          <p:cNvSpPr/>
          <p:nvPr/>
        </p:nvSpPr>
        <p:spPr>
          <a:xfrm>
            <a:off x="4023360" y="5157216"/>
            <a:ext cx="7708392" cy="566928"/>
          </a:xfrm>
          <a:prstGeom prst="roundRect">
            <a:avLst>
              <a:gd name="adj" fmla="val 24194"/>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32" name="step num"/>
          <p:cNvSpPr/>
          <p:nvPr/>
        </p:nvSpPr>
        <p:spPr>
          <a:xfrm>
            <a:off x="11183112" y="5248656"/>
            <a:ext cx="384048" cy="384048"/>
          </a:xfrm>
          <a:prstGeom prst="ellipse">
            <a:avLst/>
          </a:prstGeom>
          <a:solidFill>
            <a:srgbClr val="F27C1E"/>
          </a:solidFill>
          <a:ln/>
        </p:spPr>
        <p:txBody>
          <a:bodyPr/>
          <a:lstStyle/>
          <a:p>
            <a:endParaRPr lang="ar-OM"/>
          </a:p>
        </p:txBody>
      </p:sp>
      <p:sp>
        <p:nvSpPr>
          <p:cNvPr id="33" name="Text 29"/>
          <p:cNvSpPr txBox="1"/>
          <p:nvPr/>
        </p:nvSpPr>
        <p:spPr>
          <a:xfrm>
            <a:off x="11183112" y="5248656"/>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34" name="Text 30"/>
          <p:cNvSpPr txBox="1"/>
          <p:nvPr/>
        </p:nvSpPr>
        <p:spPr>
          <a:xfrm>
            <a:off x="4206240" y="5193792"/>
            <a:ext cx="6867144" cy="493776"/>
          </a:xfrm>
          <a:prstGeom prst="rect">
            <a:avLst/>
          </a:prstGeom>
          <a:noFill/>
          <a:ln/>
        </p:spPr>
        <p:txBody>
          <a:bodyPr wrap="square" lIns="635" tIns="635" rIns="635" bIns="635" rtlCol="0" anchor="ctr"/>
          <a:lstStyle/>
          <a:p>
            <a:pPr marL="0" indent="0" algn="r">
              <a:buNone/>
            </a:pPr>
            <a:r>
              <a:rPr lang="ar-OM" altLang="en-US" sz="1700" dirty="0">
                <a:solidFill>
                  <a:srgbClr val="1F2D3D"/>
                </a:solidFill>
                <a:latin typeface="Arial" pitchFamily="34" charset="0"/>
                <a:ea typeface="Arial" pitchFamily="34" charset="-122"/>
                <a:cs typeface="Arial" pitchFamily="34" charset="-120"/>
              </a:rPr>
              <a:t>تذكَّرْ دائمًا أن تحفظَ عملك!</a:t>
            </a:r>
            <a:endParaRPr lang="ar-OM" sz="1700" dirty="0"/>
          </a:p>
        </p:txBody>
      </p:sp>
      <p:sp>
        <p:nvSpPr>
          <p:cNvPr id="35"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6" name="زر التالي" descr="preencoded.png">
            <a:hlinkClick r:id="" action="ppaction://hlinkshowjump?jump=nextslide"/>
          </p:cNvPr>
          <p:cNvPicPr>
            <a:picLocks noChangeAspect="1"/>
          </p:cNvPicPr>
          <p:nvPr/>
        </p:nvPicPr>
        <p:blipFill>
          <a:blip r:embed="rId5"/>
          <a:stretch>
            <a:fillRect/>
          </a:stretch>
        </p:blipFill>
        <p:spPr>
          <a:xfrm>
            <a:off x="612648" y="6208776"/>
            <a:ext cx="256032" cy="256032"/>
          </a:xfrm>
          <a:prstGeom prst="rect">
            <a:avLst/>
          </a:prstGeom>
        </p:spPr>
      </p:pic>
      <p:sp>
        <p:nvSpPr>
          <p:cNvPr id="37" name="زر انتقال">
            <a:hlinkClick r:id="rId6"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8" name="زر انتقال" descr="preencoded.png">
            <a:hlinkClick r:id="rId6" action="ppaction://hlinksldjump"/>
          </p:cNvPr>
          <p:cNvPicPr>
            <a:picLocks noChangeAspect="1"/>
          </p:cNvPicPr>
          <p:nvPr/>
        </p:nvPicPr>
        <p:blipFill>
          <a:blip r:embed="rId7"/>
          <a:stretch>
            <a:fillRect/>
          </a:stretch>
        </p:blipFill>
        <p:spPr>
          <a:xfrm>
            <a:off x="1316736" y="6208776"/>
            <a:ext cx="256032" cy="256032"/>
          </a:xfrm>
          <a:prstGeom prst="rect">
            <a:avLst/>
          </a:prstGeom>
        </p:spPr>
      </p:pic>
      <p:sp>
        <p:nvSpPr>
          <p:cNvPr id="39"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40" name="زر السابق" descr="preencoded.png">
            <a:hlinkClick r:id="" action="ppaction://hlinkshowjump?jump=previousslide"/>
          </p:cNvPr>
          <p:cNvPicPr>
            <a:picLocks noChangeAspect="1"/>
          </p:cNvPicPr>
          <p:nvPr/>
        </p:nvPicPr>
        <p:blipFill>
          <a:blip r:embed="rId8"/>
          <a:stretch>
            <a:fillRect/>
          </a:stretch>
        </p:blipFill>
        <p:spPr>
          <a:xfrm>
            <a:off x="2020824" y="6208776"/>
            <a:ext cx="256032" cy="25603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0D3B6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مقدمة الدرس</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تذكَّر</a:t>
            </a:r>
            <a:endParaRPr lang="ar-OM" sz="3200" dirty="0"/>
          </a:p>
        </p:txBody>
      </p:sp>
      <p:sp>
        <p:nvSpPr>
          <p:cNvPr id="5" name="card"/>
          <p:cNvSpPr/>
          <p:nvPr/>
        </p:nvSpPr>
        <p:spPr>
          <a:xfrm>
            <a:off x="9582912" y="1371600"/>
            <a:ext cx="2148840" cy="3017520"/>
          </a:xfrm>
          <a:prstGeom prst="roundRect">
            <a:avLst>
              <a:gd name="adj" fmla="val 766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6" name="icon bg"/>
          <p:cNvSpPr/>
          <p:nvPr/>
        </p:nvSpPr>
        <p:spPr>
          <a:xfrm>
            <a:off x="10200132" y="1600200"/>
            <a:ext cx="914400" cy="914400"/>
          </a:xfrm>
          <a:prstGeom prst="ellipse">
            <a:avLst/>
          </a:prstGeom>
          <a:solidFill>
            <a:srgbClr val="4FA62A"/>
          </a:solidFill>
          <a:ln/>
        </p:spPr>
        <p:txBody>
          <a:bodyPr/>
          <a:lstStyle/>
          <a:p>
            <a:endParaRPr lang="ar-OM"/>
          </a:p>
        </p:txBody>
      </p:sp>
      <p:pic>
        <p:nvPicPr>
          <p:cNvPr id="7" name="icon" descr="preencoded.png"/>
          <p:cNvPicPr>
            <a:picLocks noChangeAspect="1"/>
          </p:cNvPicPr>
          <p:nvPr/>
        </p:nvPicPr>
        <p:blipFill>
          <a:blip r:embed="rId3"/>
          <a:stretch>
            <a:fillRect/>
          </a:stretch>
        </p:blipFill>
        <p:spPr>
          <a:xfrm>
            <a:off x="10419588" y="1819656"/>
            <a:ext cx="475488" cy="475488"/>
          </a:xfrm>
          <a:prstGeom prst="rect">
            <a:avLst/>
          </a:prstGeom>
        </p:spPr>
      </p:pic>
      <p:sp>
        <p:nvSpPr>
          <p:cNvPr id="8" name="Text 5"/>
          <p:cNvSpPr txBox="1"/>
          <p:nvPr/>
        </p:nvSpPr>
        <p:spPr>
          <a:xfrm>
            <a:off x="9674352" y="2651760"/>
            <a:ext cx="1965960" cy="548640"/>
          </a:xfrm>
          <a:prstGeom prst="rect">
            <a:avLst/>
          </a:prstGeom>
          <a:noFill/>
          <a:ln/>
        </p:spPr>
        <p:txBody>
          <a:bodyPr wrap="square" lIns="635" tIns="635" rIns="635" bIns="635" rtlCol="0" anchor="ctr"/>
          <a:lstStyle/>
          <a:p>
            <a:pPr marL="0" indent="0" algn="ctr" rtl="1">
              <a:buNone/>
            </a:pPr>
            <a:r>
              <a:rPr lang="ar-OM" altLang="en-US" sz="1900" b="1" dirty="0">
                <a:solidFill>
                  <a:srgbClr val="0D3B66"/>
                </a:solidFill>
                <a:latin typeface="Arial" pitchFamily="34" charset="0"/>
                <a:ea typeface="Arial" pitchFamily="34" charset="-122"/>
                <a:cs typeface="Arial" pitchFamily="34" charset="-120"/>
              </a:rPr>
              <a:t>إدراج صورة</a:t>
            </a:r>
            <a:endParaRPr lang="ar-OM" sz="1900" dirty="0"/>
          </a:p>
        </p:txBody>
      </p:sp>
      <p:sp>
        <p:nvSpPr>
          <p:cNvPr id="9" name="Text 6"/>
          <p:cNvSpPr txBox="1"/>
          <p:nvPr/>
        </p:nvSpPr>
        <p:spPr>
          <a:xfrm>
            <a:off x="9674352" y="3200400"/>
            <a:ext cx="1965960" cy="1051560"/>
          </a:xfrm>
          <a:prstGeom prst="rect">
            <a:avLst/>
          </a:prstGeom>
          <a:noFill/>
          <a:ln/>
        </p:spPr>
        <p:txBody>
          <a:bodyPr wrap="square" lIns="635" tIns="635" rIns="635" bIns="635" rtlCol="0" anchor="ctr"/>
          <a:lstStyle/>
          <a:p>
            <a:pPr marL="0" indent="0" algn="ctr" rtl="1">
              <a:buNone/>
            </a:pPr>
            <a:r>
              <a:rPr lang="en-US" sz="1500" dirty="0">
                <a:solidFill>
                  <a:srgbClr val="1F2D3D"/>
                </a:solidFill>
                <a:latin typeface="Arial" pitchFamily="34" charset="0"/>
                <a:ea typeface="Arial" pitchFamily="34" charset="-122"/>
                <a:cs typeface="Arial" pitchFamily="34" charset="-120"/>
              </a:rPr>
              <a:t>Insert ثم Pictures ثم This Device</a:t>
            </a:r>
            <a:endParaRPr lang="en-US" sz="1500" dirty="0"/>
          </a:p>
        </p:txBody>
      </p:sp>
      <p:sp>
        <p:nvSpPr>
          <p:cNvPr id="10" name="card"/>
          <p:cNvSpPr/>
          <p:nvPr/>
        </p:nvSpPr>
        <p:spPr>
          <a:xfrm>
            <a:off x="7301484" y="1371600"/>
            <a:ext cx="2148840" cy="3017520"/>
          </a:xfrm>
          <a:prstGeom prst="roundRect">
            <a:avLst>
              <a:gd name="adj" fmla="val 766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1" name="icon bg"/>
          <p:cNvSpPr/>
          <p:nvPr/>
        </p:nvSpPr>
        <p:spPr>
          <a:xfrm>
            <a:off x="7918704" y="1600200"/>
            <a:ext cx="914400" cy="914400"/>
          </a:xfrm>
          <a:prstGeom prst="ellipse">
            <a:avLst/>
          </a:prstGeom>
          <a:solidFill>
            <a:srgbClr val="F2A900"/>
          </a:solidFill>
          <a:ln/>
        </p:spPr>
        <p:txBody>
          <a:bodyPr/>
          <a:lstStyle/>
          <a:p>
            <a:endParaRPr lang="ar-OM"/>
          </a:p>
        </p:txBody>
      </p:sp>
      <p:pic>
        <p:nvPicPr>
          <p:cNvPr id="12" name="icon" descr="preencoded.png"/>
          <p:cNvPicPr>
            <a:picLocks noChangeAspect="1"/>
          </p:cNvPicPr>
          <p:nvPr/>
        </p:nvPicPr>
        <p:blipFill>
          <a:blip r:embed="rId4"/>
          <a:stretch>
            <a:fillRect/>
          </a:stretch>
        </p:blipFill>
        <p:spPr>
          <a:xfrm>
            <a:off x="8138160" y="1819656"/>
            <a:ext cx="475488" cy="475488"/>
          </a:xfrm>
          <a:prstGeom prst="rect">
            <a:avLst/>
          </a:prstGeom>
        </p:spPr>
      </p:pic>
      <p:sp>
        <p:nvSpPr>
          <p:cNvPr id="13" name="Text 9"/>
          <p:cNvSpPr txBox="1"/>
          <p:nvPr/>
        </p:nvSpPr>
        <p:spPr>
          <a:xfrm>
            <a:off x="7392924" y="2651760"/>
            <a:ext cx="1965960" cy="548640"/>
          </a:xfrm>
          <a:prstGeom prst="rect">
            <a:avLst/>
          </a:prstGeom>
          <a:noFill/>
          <a:ln/>
        </p:spPr>
        <p:txBody>
          <a:bodyPr wrap="square" lIns="635" tIns="635" rIns="635" bIns="635" rtlCol="0" anchor="ctr"/>
          <a:lstStyle/>
          <a:p>
            <a:pPr marL="0" indent="0" algn="ctr" rtl="1">
              <a:buNone/>
            </a:pPr>
            <a:r>
              <a:rPr lang="ar-OM" altLang="en-US" sz="1900" b="1" dirty="0">
                <a:solidFill>
                  <a:srgbClr val="0D3B66"/>
                </a:solidFill>
                <a:latin typeface="Arial" pitchFamily="34" charset="0"/>
                <a:ea typeface="Arial" pitchFamily="34" charset="-122"/>
                <a:cs typeface="Arial" pitchFamily="34" charset="-120"/>
              </a:rPr>
              <a:t>تغيير الحجم</a:t>
            </a:r>
            <a:endParaRPr lang="ar-OM" sz="1900" dirty="0"/>
          </a:p>
        </p:txBody>
      </p:sp>
      <p:sp>
        <p:nvSpPr>
          <p:cNvPr id="14" name="Text 10"/>
          <p:cNvSpPr txBox="1"/>
          <p:nvPr/>
        </p:nvSpPr>
        <p:spPr>
          <a:xfrm>
            <a:off x="7392924" y="3200400"/>
            <a:ext cx="1965960" cy="1051560"/>
          </a:xfrm>
          <a:prstGeom prst="rect">
            <a:avLst/>
          </a:prstGeom>
          <a:noFill/>
          <a:ln/>
        </p:spPr>
        <p:txBody>
          <a:bodyPr wrap="square" lIns="635" tIns="635" rIns="635" bIns="635" rtlCol="0" anchor="ctr"/>
          <a:lstStyle/>
          <a:p>
            <a:pPr marL="0" indent="0" algn="ctr" rtl="1">
              <a:buNone/>
            </a:pPr>
            <a:r>
              <a:rPr lang="en-US" sz="1500" dirty="0">
                <a:solidFill>
                  <a:srgbClr val="1F2D3D"/>
                </a:solidFill>
                <a:latin typeface="Arial" pitchFamily="34" charset="0"/>
                <a:ea typeface="Arial" pitchFamily="34" charset="-122"/>
                <a:cs typeface="Arial" pitchFamily="34" charset="-120"/>
              </a:rPr>
              <a:t>اسحب أحد مقابض الصورة</a:t>
            </a:r>
            <a:endParaRPr lang="en-US" sz="1500" dirty="0"/>
          </a:p>
        </p:txBody>
      </p:sp>
      <p:sp>
        <p:nvSpPr>
          <p:cNvPr id="15" name="card"/>
          <p:cNvSpPr/>
          <p:nvPr/>
        </p:nvSpPr>
        <p:spPr>
          <a:xfrm>
            <a:off x="5020056" y="1371600"/>
            <a:ext cx="2148840" cy="3017520"/>
          </a:xfrm>
          <a:prstGeom prst="roundRect">
            <a:avLst>
              <a:gd name="adj" fmla="val 766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16" name="icon bg"/>
          <p:cNvSpPr/>
          <p:nvPr/>
        </p:nvSpPr>
        <p:spPr>
          <a:xfrm>
            <a:off x="5637276" y="1600200"/>
            <a:ext cx="914400" cy="914400"/>
          </a:xfrm>
          <a:prstGeom prst="ellipse">
            <a:avLst/>
          </a:prstGeom>
          <a:solidFill>
            <a:srgbClr val="F2A900"/>
          </a:solidFill>
          <a:ln/>
        </p:spPr>
        <p:txBody>
          <a:bodyPr/>
          <a:lstStyle/>
          <a:p>
            <a:endParaRPr lang="ar-OM"/>
          </a:p>
        </p:txBody>
      </p:sp>
      <p:pic>
        <p:nvPicPr>
          <p:cNvPr id="17" name="icon" descr="preencoded.png"/>
          <p:cNvPicPr>
            <a:picLocks noChangeAspect="1"/>
          </p:cNvPicPr>
          <p:nvPr/>
        </p:nvPicPr>
        <p:blipFill>
          <a:blip r:embed="rId5"/>
          <a:stretch>
            <a:fillRect/>
          </a:stretch>
        </p:blipFill>
        <p:spPr>
          <a:xfrm>
            <a:off x="5856732" y="1819656"/>
            <a:ext cx="475488" cy="475488"/>
          </a:xfrm>
          <a:prstGeom prst="rect">
            <a:avLst/>
          </a:prstGeom>
        </p:spPr>
      </p:pic>
      <p:sp>
        <p:nvSpPr>
          <p:cNvPr id="18" name="Text 13"/>
          <p:cNvSpPr txBox="1"/>
          <p:nvPr/>
        </p:nvSpPr>
        <p:spPr>
          <a:xfrm>
            <a:off x="5111496" y="2651760"/>
            <a:ext cx="1965960" cy="548640"/>
          </a:xfrm>
          <a:prstGeom prst="rect">
            <a:avLst/>
          </a:prstGeom>
          <a:noFill/>
          <a:ln/>
        </p:spPr>
        <p:txBody>
          <a:bodyPr wrap="square" lIns="635" tIns="635" rIns="635" bIns="635" rtlCol="0" anchor="ctr"/>
          <a:lstStyle/>
          <a:p>
            <a:pPr marL="0" indent="0" algn="ctr" rtl="1">
              <a:buNone/>
            </a:pPr>
            <a:r>
              <a:rPr lang="ar-OM" altLang="en-US" sz="1900" b="1" dirty="0">
                <a:solidFill>
                  <a:srgbClr val="0D3B66"/>
                </a:solidFill>
                <a:latin typeface="Arial" pitchFamily="34" charset="0"/>
                <a:ea typeface="Arial" pitchFamily="34" charset="-122"/>
                <a:cs typeface="Arial" pitchFamily="34" charset="-120"/>
              </a:rPr>
              <a:t>قص الصورة</a:t>
            </a:r>
            <a:endParaRPr lang="ar-OM" sz="1900" dirty="0"/>
          </a:p>
        </p:txBody>
      </p:sp>
      <p:sp>
        <p:nvSpPr>
          <p:cNvPr id="19" name="Text 14"/>
          <p:cNvSpPr txBox="1"/>
          <p:nvPr/>
        </p:nvSpPr>
        <p:spPr>
          <a:xfrm>
            <a:off x="5111496" y="3200400"/>
            <a:ext cx="1965960" cy="1051560"/>
          </a:xfrm>
          <a:prstGeom prst="rect">
            <a:avLst/>
          </a:prstGeom>
          <a:noFill/>
          <a:ln/>
        </p:spPr>
        <p:txBody>
          <a:bodyPr wrap="square" lIns="635" tIns="635" rIns="635" bIns="635" rtlCol="0" anchor="ctr"/>
          <a:lstStyle/>
          <a:p>
            <a:pPr marL="0" indent="0" algn="ctr" rtl="1">
              <a:buNone/>
            </a:pPr>
            <a:r>
              <a:rPr lang="en-US" sz="1500" dirty="0">
                <a:solidFill>
                  <a:srgbClr val="1F2D3D"/>
                </a:solidFill>
                <a:latin typeface="Arial" pitchFamily="34" charset="0"/>
                <a:ea typeface="Arial" pitchFamily="34" charset="-122"/>
                <a:cs typeface="Arial" pitchFamily="34" charset="-120"/>
              </a:rPr>
              <a:t>Picture Format ثم Crop</a:t>
            </a:r>
            <a:endParaRPr lang="en-US" sz="1500" dirty="0"/>
          </a:p>
        </p:txBody>
      </p:sp>
      <p:sp>
        <p:nvSpPr>
          <p:cNvPr id="20" name="card"/>
          <p:cNvSpPr/>
          <p:nvPr/>
        </p:nvSpPr>
        <p:spPr>
          <a:xfrm>
            <a:off x="2738628" y="1371600"/>
            <a:ext cx="2148840" cy="3017520"/>
          </a:xfrm>
          <a:prstGeom prst="roundRect">
            <a:avLst>
              <a:gd name="adj" fmla="val 766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1" name="icon bg"/>
          <p:cNvSpPr/>
          <p:nvPr/>
        </p:nvSpPr>
        <p:spPr>
          <a:xfrm>
            <a:off x="3355848" y="1600200"/>
            <a:ext cx="914400" cy="914400"/>
          </a:xfrm>
          <a:prstGeom prst="ellipse">
            <a:avLst/>
          </a:prstGeom>
          <a:solidFill>
            <a:srgbClr val="1A9BB0"/>
          </a:solidFill>
          <a:ln/>
        </p:spPr>
        <p:txBody>
          <a:bodyPr/>
          <a:lstStyle/>
          <a:p>
            <a:endParaRPr lang="ar-OM"/>
          </a:p>
        </p:txBody>
      </p:sp>
      <p:pic>
        <p:nvPicPr>
          <p:cNvPr id="22" name="icon" descr="preencoded.png"/>
          <p:cNvPicPr>
            <a:picLocks noChangeAspect="1"/>
          </p:cNvPicPr>
          <p:nvPr/>
        </p:nvPicPr>
        <p:blipFill>
          <a:blip r:embed="rId6"/>
          <a:stretch>
            <a:fillRect/>
          </a:stretch>
        </p:blipFill>
        <p:spPr>
          <a:xfrm>
            <a:off x="3575304" y="1819656"/>
            <a:ext cx="475488" cy="475488"/>
          </a:xfrm>
          <a:prstGeom prst="rect">
            <a:avLst/>
          </a:prstGeom>
        </p:spPr>
      </p:pic>
      <p:sp>
        <p:nvSpPr>
          <p:cNvPr id="23" name="Text 17"/>
          <p:cNvSpPr txBox="1"/>
          <p:nvPr/>
        </p:nvSpPr>
        <p:spPr>
          <a:xfrm>
            <a:off x="2830068" y="2651760"/>
            <a:ext cx="1965960" cy="548640"/>
          </a:xfrm>
          <a:prstGeom prst="rect">
            <a:avLst/>
          </a:prstGeom>
          <a:noFill/>
          <a:ln/>
        </p:spPr>
        <p:txBody>
          <a:bodyPr wrap="square" lIns="635" tIns="635" rIns="635" bIns="635" rtlCol="0" anchor="ctr"/>
          <a:lstStyle/>
          <a:p>
            <a:pPr marL="0" indent="0" algn="ctr" rtl="1">
              <a:buNone/>
            </a:pPr>
            <a:r>
              <a:rPr lang="ar-OM" altLang="en-US" sz="1900" b="1" dirty="0">
                <a:solidFill>
                  <a:srgbClr val="0D3B66"/>
                </a:solidFill>
                <a:latin typeface="Arial" pitchFamily="34" charset="0"/>
                <a:ea typeface="Arial" pitchFamily="34" charset="-122"/>
                <a:cs typeface="Arial" pitchFamily="34" charset="-120"/>
              </a:rPr>
              <a:t>الحدود والنمط</a:t>
            </a:r>
            <a:endParaRPr lang="ar-OM" sz="1900" dirty="0"/>
          </a:p>
        </p:txBody>
      </p:sp>
      <p:sp>
        <p:nvSpPr>
          <p:cNvPr id="24" name="Text 18"/>
          <p:cNvSpPr txBox="1"/>
          <p:nvPr/>
        </p:nvSpPr>
        <p:spPr>
          <a:xfrm>
            <a:off x="2830068" y="3200400"/>
            <a:ext cx="1965960" cy="1051560"/>
          </a:xfrm>
          <a:prstGeom prst="rect">
            <a:avLst/>
          </a:prstGeom>
          <a:noFill/>
          <a:ln/>
        </p:spPr>
        <p:txBody>
          <a:bodyPr wrap="square" lIns="635" tIns="635" rIns="635" bIns="635" rtlCol="0" anchor="ctr"/>
          <a:lstStyle/>
          <a:p>
            <a:pPr marL="0" indent="0" algn="ctr" rtl="1">
              <a:buNone/>
            </a:pPr>
            <a:r>
              <a:rPr lang="en-US" sz="1500" dirty="0">
                <a:solidFill>
                  <a:srgbClr val="1F2D3D"/>
                </a:solidFill>
                <a:latin typeface="Arial" pitchFamily="34" charset="0"/>
                <a:ea typeface="Arial" pitchFamily="34" charset="-122"/>
                <a:cs typeface="Arial" pitchFamily="34" charset="-120"/>
              </a:rPr>
              <a:t>Picture Border و Picture Styles</a:t>
            </a:r>
            <a:endParaRPr lang="en-US" sz="1500" dirty="0"/>
          </a:p>
        </p:txBody>
      </p:sp>
      <p:sp>
        <p:nvSpPr>
          <p:cNvPr id="25" name="card"/>
          <p:cNvSpPr/>
          <p:nvPr/>
        </p:nvSpPr>
        <p:spPr>
          <a:xfrm>
            <a:off x="457200" y="1371600"/>
            <a:ext cx="2148840" cy="3017520"/>
          </a:xfrm>
          <a:prstGeom prst="roundRect">
            <a:avLst>
              <a:gd name="adj" fmla="val 7660"/>
            </a:avLst>
          </a:prstGeom>
          <a:solidFill>
            <a:srgbClr val="FFFFFF"/>
          </a:solidFill>
          <a:ln/>
          <a:effectLst>
            <a:outerShdw blurRad="101600" dist="25400" dir="5400000" algn="bl" rotWithShape="0">
              <a:srgbClr val="8FA6BF">
                <a:alpha val="30000"/>
              </a:srgbClr>
            </a:outerShdw>
          </a:effectLst>
        </p:spPr>
        <p:txBody>
          <a:bodyPr/>
          <a:lstStyle/>
          <a:p>
            <a:endParaRPr lang="ar-OM"/>
          </a:p>
        </p:txBody>
      </p:sp>
      <p:sp>
        <p:nvSpPr>
          <p:cNvPr id="26" name="icon bg"/>
          <p:cNvSpPr/>
          <p:nvPr/>
        </p:nvSpPr>
        <p:spPr>
          <a:xfrm>
            <a:off x="1074420" y="1600200"/>
            <a:ext cx="914400" cy="914400"/>
          </a:xfrm>
          <a:prstGeom prst="ellipse">
            <a:avLst/>
          </a:prstGeom>
          <a:solidFill>
            <a:srgbClr val="E2453B"/>
          </a:solidFill>
          <a:ln/>
        </p:spPr>
        <p:txBody>
          <a:bodyPr/>
          <a:lstStyle/>
          <a:p>
            <a:endParaRPr lang="ar-OM"/>
          </a:p>
        </p:txBody>
      </p:sp>
      <p:pic>
        <p:nvPicPr>
          <p:cNvPr id="27" name="icon" descr="preencoded.png"/>
          <p:cNvPicPr>
            <a:picLocks noChangeAspect="1"/>
          </p:cNvPicPr>
          <p:nvPr/>
        </p:nvPicPr>
        <p:blipFill>
          <a:blip r:embed="rId7"/>
          <a:stretch>
            <a:fillRect/>
          </a:stretch>
        </p:blipFill>
        <p:spPr>
          <a:xfrm>
            <a:off x="1293876" y="1819656"/>
            <a:ext cx="475488" cy="475488"/>
          </a:xfrm>
          <a:prstGeom prst="rect">
            <a:avLst/>
          </a:prstGeom>
        </p:spPr>
      </p:pic>
      <p:sp>
        <p:nvSpPr>
          <p:cNvPr id="28" name="Text 21"/>
          <p:cNvSpPr txBox="1"/>
          <p:nvPr/>
        </p:nvSpPr>
        <p:spPr>
          <a:xfrm>
            <a:off x="548640" y="2651760"/>
            <a:ext cx="1965960" cy="548640"/>
          </a:xfrm>
          <a:prstGeom prst="rect">
            <a:avLst/>
          </a:prstGeom>
          <a:noFill/>
          <a:ln/>
        </p:spPr>
        <p:txBody>
          <a:bodyPr wrap="square" lIns="635" tIns="635" rIns="635" bIns="635" rtlCol="0" anchor="ctr"/>
          <a:lstStyle/>
          <a:p>
            <a:pPr marL="0" indent="0" algn="ctr" rtl="1">
              <a:buNone/>
            </a:pPr>
            <a:r>
              <a:rPr lang="ar-OM" altLang="en-US" sz="1900" b="1" dirty="0">
                <a:solidFill>
                  <a:srgbClr val="0D3B66"/>
                </a:solidFill>
                <a:latin typeface="Arial" pitchFamily="34" charset="0"/>
                <a:ea typeface="Arial" pitchFamily="34" charset="-122"/>
                <a:cs typeface="Arial" pitchFamily="34" charset="-120"/>
              </a:rPr>
              <a:t>التفاف النص</a:t>
            </a:r>
            <a:endParaRPr lang="ar-OM" sz="1900" dirty="0"/>
          </a:p>
        </p:txBody>
      </p:sp>
      <p:sp>
        <p:nvSpPr>
          <p:cNvPr id="29" name="Text 22"/>
          <p:cNvSpPr txBox="1"/>
          <p:nvPr/>
        </p:nvSpPr>
        <p:spPr>
          <a:xfrm>
            <a:off x="548640" y="3200400"/>
            <a:ext cx="1965960" cy="1051560"/>
          </a:xfrm>
          <a:prstGeom prst="rect">
            <a:avLst/>
          </a:prstGeom>
          <a:noFill/>
          <a:ln/>
        </p:spPr>
        <p:txBody>
          <a:bodyPr wrap="square" lIns="635" tIns="635" rIns="635" bIns="635" rtlCol="0" anchor="ctr"/>
          <a:lstStyle/>
          <a:p>
            <a:pPr marL="0" indent="0" algn="ctr" rtl="1">
              <a:buNone/>
            </a:pPr>
            <a:r>
              <a:rPr lang="en-US" sz="1500" dirty="0">
                <a:solidFill>
                  <a:srgbClr val="1F2D3D"/>
                </a:solidFill>
                <a:latin typeface="Arial" pitchFamily="34" charset="0"/>
                <a:ea typeface="Arial" pitchFamily="34" charset="-122"/>
                <a:cs typeface="Arial" pitchFamily="34" charset="-120"/>
              </a:rPr>
              <a:t>Wrap Text ثم اختر النوع</a:t>
            </a:r>
            <a:endParaRPr lang="en-US" sz="1500" dirty="0"/>
          </a:p>
        </p:txBody>
      </p:sp>
      <p:sp>
        <p:nvSpPr>
          <p:cNvPr id="30" name="Shape 23"/>
          <p:cNvSpPr/>
          <p:nvPr/>
        </p:nvSpPr>
        <p:spPr>
          <a:xfrm>
            <a:off x="2898648" y="4709160"/>
            <a:ext cx="6400800" cy="1051560"/>
          </a:xfrm>
          <a:prstGeom prst="roundRect">
            <a:avLst>
              <a:gd name="adj" fmla="val 47826"/>
            </a:avLst>
          </a:prstGeom>
          <a:solidFill>
            <a:srgbClr val="E8344E"/>
          </a:solidFill>
          <a:ln/>
          <a:effectLst>
            <a:outerShdw blurRad="76200" dist="38100" dir="5400000" algn="bl" rotWithShape="0">
              <a:srgbClr val="000000">
                <a:alpha val="25000"/>
              </a:srgbClr>
            </a:outerShdw>
          </a:effectLst>
        </p:spPr>
        <p:txBody>
          <a:bodyPr/>
          <a:lstStyle/>
          <a:p>
            <a:endParaRPr lang="ar-OM"/>
          </a:p>
        </p:txBody>
      </p:sp>
      <p:sp>
        <p:nvSpPr>
          <p:cNvPr id="31" name="icon bg"/>
          <p:cNvSpPr/>
          <p:nvPr/>
        </p:nvSpPr>
        <p:spPr>
          <a:xfrm>
            <a:off x="8183880" y="4818888"/>
            <a:ext cx="822960" cy="822960"/>
          </a:xfrm>
          <a:prstGeom prst="ellipse">
            <a:avLst/>
          </a:prstGeom>
          <a:solidFill>
            <a:srgbClr val="FFD54A"/>
          </a:solidFill>
          <a:ln/>
        </p:spPr>
        <p:txBody>
          <a:bodyPr/>
          <a:lstStyle/>
          <a:p>
            <a:endParaRPr lang="ar-OM"/>
          </a:p>
        </p:txBody>
      </p:sp>
      <p:pic>
        <p:nvPicPr>
          <p:cNvPr id="32" name="icon" descr="preencoded.png"/>
          <p:cNvPicPr>
            <a:picLocks noChangeAspect="1"/>
          </p:cNvPicPr>
          <p:nvPr/>
        </p:nvPicPr>
        <p:blipFill>
          <a:blip r:embed="rId8"/>
          <a:stretch>
            <a:fillRect/>
          </a:stretch>
        </p:blipFill>
        <p:spPr>
          <a:xfrm>
            <a:off x="8381390" y="5016398"/>
            <a:ext cx="427939" cy="427939"/>
          </a:xfrm>
          <a:prstGeom prst="rect">
            <a:avLst/>
          </a:prstGeom>
        </p:spPr>
      </p:pic>
      <p:sp>
        <p:nvSpPr>
          <p:cNvPr id="33" name="Text 25"/>
          <p:cNvSpPr txBox="1"/>
          <p:nvPr/>
        </p:nvSpPr>
        <p:spPr>
          <a:xfrm>
            <a:off x="3200400" y="4709160"/>
            <a:ext cx="4846320" cy="1051560"/>
          </a:xfrm>
          <a:prstGeom prst="rect">
            <a:avLst/>
          </a:prstGeom>
          <a:noFill/>
          <a:ln/>
        </p:spPr>
        <p:txBody>
          <a:bodyPr wrap="square" lIns="635" tIns="635" rIns="635" bIns="635" rtlCol="0" anchor="ctr"/>
          <a:lstStyle/>
          <a:p>
            <a:pPr marL="0" indent="0" algn="ctr" rtl="1">
              <a:buNone/>
            </a:pPr>
            <a:r>
              <a:rPr lang="ar-OM" altLang="en-US" sz="2600" b="1" dirty="0">
                <a:solidFill>
                  <a:srgbClr val="FFFFFF"/>
                </a:solidFill>
                <a:latin typeface="Arial" pitchFamily="34" charset="0"/>
                <a:ea typeface="Arial" pitchFamily="34" charset="-122"/>
                <a:cs typeface="Arial" pitchFamily="34" charset="-120"/>
              </a:rPr>
              <a:t>تذكَّرْ دائمًا أن تحفظَ عملك!</a:t>
            </a:r>
            <a:endParaRPr lang="ar-OM" sz="2600" dirty="0"/>
          </a:p>
        </p:txBody>
      </p:sp>
      <p:sp>
        <p:nvSpPr>
          <p:cNvPr id="34"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5" name="زر التالي" descr="preencoded.png">
            <a:hlinkClick r:id="" action="ppaction://hlinkshowjump?jump=nextslide"/>
          </p:cNvPr>
          <p:cNvPicPr>
            <a:picLocks noChangeAspect="1"/>
          </p:cNvPicPr>
          <p:nvPr/>
        </p:nvPicPr>
        <p:blipFill>
          <a:blip r:embed="rId9"/>
          <a:stretch>
            <a:fillRect/>
          </a:stretch>
        </p:blipFill>
        <p:spPr>
          <a:xfrm>
            <a:off x="612648" y="6208776"/>
            <a:ext cx="256032" cy="256032"/>
          </a:xfrm>
          <a:prstGeom prst="rect">
            <a:avLst/>
          </a:prstGeom>
        </p:spPr>
      </p:pic>
      <p:sp>
        <p:nvSpPr>
          <p:cNvPr id="36" name="زر انتقال">
            <a:hlinkClick r:id="rId10" action="ppaction://hlinksldjump"/>
          </p:cNvPr>
          <p:cNvSpPr/>
          <p:nvPr/>
        </p:nvSpPr>
        <p:spPr>
          <a:xfrm>
            <a:off x="1161288" y="6053328"/>
            <a:ext cx="566928" cy="566928"/>
          </a:xfrm>
          <a:prstGeom prst="ellipse">
            <a:avLst/>
          </a:prstGeom>
          <a:solidFill>
            <a:srgbClr val="0D3B66"/>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7" name="زر انتقال" descr="preencoded.png">
            <a:hlinkClick r:id="rId10" action="ppaction://hlinksldjump"/>
          </p:cNvPr>
          <p:cNvPicPr>
            <a:picLocks noChangeAspect="1"/>
          </p:cNvPicPr>
          <p:nvPr/>
        </p:nvPicPr>
        <p:blipFill>
          <a:blip r:embed="rId11"/>
          <a:stretch>
            <a:fillRect/>
          </a:stretch>
        </p:blipFill>
        <p:spPr>
          <a:xfrm>
            <a:off x="1316736" y="6208776"/>
            <a:ext cx="256032" cy="256032"/>
          </a:xfrm>
          <a:prstGeom prst="rect">
            <a:avLst/>
          </a:prstGeom>
        </p:spPr>
      </p:pic>
      <p:sp>
        <p:nvSpPr>
          <p:cNvPr id="38"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39" name="زر السابق" descr="preencoded.png">
            <a:hlinkClick r:id="" action="ppaction://hlinkshowjump?jump=previousslide"/>
          </p:cNvPr>
          <p:cNvPicPr>
            <a:picLocks noChangeAspect="1"/>
          </p:cNvPicPr>
          <p:nvPr/>
        </p:nvPicPr>
        <p:blipFill>
          <a:blip r:embed="rId12"/>
          <a:stretch>
            <a:fillRect/>
          </a:stretch>
        </p:blipFill>
        <p:spPr>
          <a:xfrm>
            <a:off x="2020824" y="6208776"/>
            <a:ext cx="256032" cy="25603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g girl_full.png" descr="a/girl_full.png"/>
          <p:cNvPicPr>
            <a:picLocks noChangeAspect="1"/>
          </p:cNvPicPr>
          <p:nvPr/>
        </p:nvPicPr>
        <p:blipFill>
          <a:blip r:embed="rId3"/>
          <a:stretch>
            <a:fillRect/>
          </a:stretch>
        </p:blipFill>
        <p:spPr>
          <a:xfrm>
            <a:off x="548640" y="1124973"/>
            <a:ext cx="2743200" cy="4818627"/>
          </a:xfrm>
          <a:prstGeom prst="rect">
            <a:avLst/>
          </a:prstGeom>
        </p:spPr>
      </p:pic>
      <p:pic>
        <p:nvPicPr>
          <p:cNvPr id="3" name="img boy_full.png" descr="a/boy_full.png"/>
          <p:cNvPicPr>
            <a:picLocks noChangeAspect="1"/>
          </p:cNvPicPr>
          <p:nvPr/>
        </p:nvPicPr>
        <p:blipFill>
          <a:blip r:embed="rId4"/>
          <a:stretch>
            <a:fillRect/>
          </a:stretch>
        </p:blipFill>
        <p:spPr>
          <a:xfrm>
            <a:off x="9966960" y="1220917"/>
            <a:ext cx="1737360" cy="4722683"/>
          </a:xfrm>
          <a:prstGeom prst="rect">
            <a:avLst/>
          </a:prstGeom>
        </p:spPr>
      </p:pic>
      <p:sp>
        <p:nvSpPr>
          <p:cNvPr id="4" name="Text 0"/>
          <p:cNvSpPr txBox="1"/>
          <p:nvPr/>
        </p:nvSpPr>
        <p:spPr>
          <a:xfrm>
            <a:off x="3200400" y="1097280"/>
            <a:ext cx="5788152" cy="1005840"/>
          </a:xfrm>
          <a:prstGeom prst="rect">
            <a:avLst/>
          </a:prstGeom>
          <a:noFill/>
          <a:ln/>
        </p:spPr>
        <p:txBody>
          <a:bodyPr wrap="square" lIns="635" tIns="635" rIns="635" bIns="635" rtlCol="0" anchor="ctr"/>
          <a:lstStyle/>
          <a:p>
            <a:pPr marL="0" indent="0" algn="ctr" rtl="1">
              <a:buNone/>
            </a:pPr>
            <a:r>
              <a:rPr lang="ar-OM" altLang="en-US" sz="5000" b="1" dirty="0">
                <a:solidFill>
                  <a:srgbClr val="FFC83D"/>
                </a:solidFill>
                <a:latin typeface="Arial" pitchFamily="34" charset="0"/>
                <a:ea typeface="Arial" pitchFamily="34" charset="-122"/>
                <a:cs typeface="Arial" pitchFamily="34" charset="-120"/>
              </a:rPr>
              <a:t>أحسنتم يا أبطال!</a:t>
            </a:r>
            <a:endParaRPr lang="ar-OM" sz="5000" dirty="0"/>
          </a:p>
        </p:txBody>
      </p:sp>
      <p:sp>
        <p:nvSpPr>
          <p:cNvPr id="5" name="Text 1"/>
          <p:cNvSpPr txBox="1"/>
          <p:nvPr/>
        </p:nvSpPr>
        <p:spPr>
          <a:xfrm>
            <a:off x="3200400" y="2103120"/>
            <a:ext cx="5788152" cy="640080"/>
          </a:xfrm>
          <a:prstGeom prst="rect">
            <a:avLst/>
          </a:prstGeom>
          <a:noFill/>
          <a:ln/>
        </p:spPr>
        <p:txBody>
          <a:bodyPr wrap="square" lIns="635" tIns="635" rIns="635" bIns="635" rtlCol="0" anchor="ctr"/>
          <a:lstStyle/>
          <a:p>
            <a:pPr marL="0" indent="0" algn="ctr" rtl="1">
              <a:buNone/>
            </a:pPr>
            <a:r>
              <a:rPr lang="ar-OM" altLang="en-US" sz="2400" dirty="0">
                <a:solidFill>
                  <a:srgbClr val="FFFFFF"/>
                </a:solidFill>
                <a:latin typeface="Arial" pitchFamily="34" charset="0"/>
                <a:ea typeface="Arial" pitchFamily="34" charset="-122"/>
                <a:cs typeface="Arial" pitchFamily="34" charset="-120"/>
              </a:rPr>
              <a:t>تعلّمنا اليوم كيف ندرج صورة وننسّقها</a:t>
            </a:r>
            <a:endParaRPr lang="ar-OM" sz="2400" dirty="0"/>
          </a:p>
        </p:txBody>
      </p:sp>
      <p:sp>
        <p:nvSpPr>
          <p:cNvPr id="6" name="Shape 2"/>
          <p:cNvSpPr/>
          <p:nvPr/>
        </p:nvSpPr>
        <p:spPr>
          <a:xfrm>
            <a:off x="3566160" y="3108960"/>
            <a:ext cx="5056632" cy="1463040"/>
          </a:xfrm>
          <a:prstGeom prst="roundRect">
            <a:avLst>
              <a:gd name="adj" fmla="val 12500"/>
            </a:avLst>
          </a:prstGeom>
          <a:solidFill>
            <a:srgbClr val="1B5288"/>
          </a:solidFill>
          <a:ln w="19050">
            <a:solidFill>
              <a:srgbClr val="3D7DBE"/>
            </a:solidFill>
            <a:prstDash val="solid"/>
          </a:ln>
        </p:spPr>
        <p:txBody>
          <a:bodyPr/>
          <a:lstStyle/>
          <a:p>
            <a:endParaRPr lang="ar-OM"/>
          </a:p>
        </p:txBody>
      </p:sp>
      <p:sp>
        <p:nvSpPr>
          <p:cNvPr id="7" name="Text 3"/>
          <p:cNvSpPr txBox="1"/>
          <p:nvPr/>
        </p:nvSpPr>
        <p:spPr>
          <a:xfrm>
            <a:off x="3657600" y="3108960"/>
            <a:ext cx="4873752" cy="1463040"/>
          </a:xfrm>
          <a:prstGeom prst="rect">
            <a:avLst/>
          </a:prstGeom>
          <a:noFill/>
          <a:ln/>
        </p:spPr>
        <p:txBody>
          <a:bodyPr wrap="square" lIns="635" tIns="635" rIns="635" bIns="635" rtlCol="0" anchor="ctr"/>
          <a:lstStyle/>
          <a:p>
            <a:pPr marL="0" indent="0" algn="ctr">
              <a:buNone/>
            </a:pPr>
            <a:r>
              <a:rPr lang="ar-OM" altLang="en-US" sz="2200" b="1" dirty="0">
                <a:solidFill>
                  <a:srgbClr val="FFFFFF"/>
                </a:solidFill>
                <a:latin typeface="Arial" pitchFamily="34" charset="0"/>
                <a:ea typeface="Arial" pitchFamily="34" charset="-122"/>
                <a:cs typeface="Arial" pitchFamily="34" charset="-120"/>
              </a:rPr>
              <a:t>إعداد الأستاذة: عبير صالح اليحمدية</a:t>
            </a:r>
            <a:endParaRPr lang="ar-OM" sz="2200" dirty="0"/>
          </a:p>
          <a:p>
            <a:pPr marL="0" indent="0" algn="ctr">
              <a:buNone/>
            </a:pPr>
            <a:r>
              <a:rPr lang="ar-OM" altLang="en-US" sz="1800" dirty="0">
                <a:solidFill>
                  <a:srgbClr val="B9D3EE"/>
                </a:solidFill>
                <a:latin typeface="Arial" pitchFamily="34" charset="0"/>
                <a:ea typeface="Arial" pitchFamily="34" charset="-122"/>
                <a:cs typeface="Arial" pitchFamily="34" charset="-120"/>
              </a:rPr>
              <a:t>مدرسة مزن المعرفة للتعليم الأساسي (1-4)</a:t>
            </a:r>
            <a:endParaRPr lang="ar-OM" sz="2200" dirty="0"/>
          </a:p>
        </p:txBody>
      </p:sp>
      <p:sp>
        <p:nvSpPr>
          <p:cNvPr id="8" name="Text 4"/>
          <p:cNvSpPr txBox="1"/>
          <p:nvPr/>
        </p:nvSpPr>
        <p:spPr>
          <a:xfrm>
            <a:off x="3200400" y="4846320"/>
            <a:ext cx="5788152" cy="548640"/>
          </a:xfrm>
          <a:prstGeom prst="rect">
            <a:avLst/>
          </a:prstGeom>
          <a:noFill/>
          <a:ln/>
        </p:spPr>
        <p:txBody>
          <a:bodyPr wrap="square" lIns="635" tIns="635" rIns="635" bIns="635" rtlCol="0" anchor="ctr"/>
          <a:lstStyle/>
          <a:p>
            <a:pPr marL="0" indent="0" algn="ctr" rtl="1">
              <a:buNone/>
            </a:pPr>
            <a:r>
              <a:rPr lang="ar-OM" altLang="en-US" sz="2000" i="1" dirty="0">
                <a:solidFill>
                  <a:srgbClr val="8EC5FF"/>
                </a:solidFill>
                <a:latin typeface="Arial" pitchFamily="34" charset="0"/>
                <a:ea typeface="Arial" pitchFamily="34" charset="-122"/>
                <a:cs typeface="Arial" pitchFamily="34" charset="-120"/>
              </a:rPr>
              <a:t>إلى اللقاء في الدرس القادم</a:t>
            </a:r>
            <a:endParaRPr lang="ar-OM" sz="2000" dirty="0"/>
          </a:p>
        </p:txBody>
      </p:sp>
      <p:sp>
        <p:nvSpPr>
          <p:cNvPr id="9" name="زر التالي">
            <a:hlinkClick r:id="" action="ppaction://hlinkshowjump?jump=nextslide"/>
          </p:cNvPr>
          <p:cNvSpPr/>
          <p:nvPr/>
        </p:nvSpPr>
        <p:spPr>
          <a:xfrm>
            <a:off x="457200" y="6053328"/>
            <a:ext cx="566928" cy="566928"/>
          </a:xfrm>
          <a:prstGeom prst="ellipse">
            <a:avLst/>
          </a:prstGeom>
          <a:solidFill>
            <a:srgbClr val="F27C1E"/>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0" name="زر التالي" descr="preencoded.png">
            <a:hlinkClick r:id="" action="ppaction://hlinkshowjump?jump=nextslide"/>
          </p:cNvPr>
          <p:cNvPicPr>
            <a:picLocks noChangeAspect="1"/>
          </p:cNvPicPr>
          <p:nvPr/>
        </p:nvPicPr>
        <p:blipFill>
          <a:blip r:embed="rId5"/>
          <a:stretch>
            <a:fillRect/>
          </a:stretch>
        </p:blipFill>
        <p:spPr>
          <a:xfrm>
            <a:off x="612648" y="6208776"/>
            <a:ext cx="256032" cy="256032"/>
          </a:xfrm>
          <a:prstGeom prst="rect">
            <a:avLst/>
          </a:prstGeom>
        </p:spPr>
      </p:pic>
      <p:sp>
        <p:nvSpPr>
          <p:cNvPr id="11" name="زر انتقال">
            <a:hlinkClick r:id="rId6" action="ppaction://hlinksldjump"/>
          </p:cNvPr>
          <p:cNvSpPr/>
          <p:nvPr/>
        </p:nvSpPr>
        <p:spPr>
          <a:xfrm>
            <a:off x="1161288" y="6053328"/>
            <a:ext cx="566928" cy="566928"/>
          </a:xfrm>
          <a:prstGeom prst="ellipse">
            <a:avLst/>
          </a:prstGeom>
          <a:solidFill>
            <a:srgbClr val="2E6DA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2" name="زر انتقال" descr="preencoded.png">
            <a:hlinkClick r:id="rId6" action="ppaction://hlinksldjump"/>
          </p:cNvPr>
          <p:cNvPicPr>
            <a:picLocks noChangeAspect="1"/>
          </p:cNvPicPr>
          <p:nvPr/>
        </p:nvPicPr>
        <p:blipFill>
          <a:blip r:embed="rId7"/>
          <a:stretch>
            <a:fillRect/>
          </a:stretch>
        </p:blipFill>
        <p:spPr>
          <a:xfrm>
            <a:off x="1316736" y="6208776"/>
            <a:ext cx="256032" cy="256032"/>
          </a:xfrm>
          <a:prstGeom prst="rect">
            <a:avLst/>
          </a:prstGeom>
        </p:spPr>
      </p:pic>
      <p:sp>
        <p:nvSpPr>
          <p:cNvPr id="13" name="زر السابق">
            <a:hlinkClick r:id="" action="ppaction://hlinkshowjump?jump=previousslide"/>
          </p:cNvPr>
          <p:cNvSpPr/>
          <p:nvPr/>
        </p:nvSpPr>
        <p:spPr>
          <a:xfrm>
            <a:off x="1865376" y="6053328"/>
            <a:ext cx="566928" cy="566928"/>
          </a:xfrm>
          <a:prstGeom prst="ellipse">
            <a:avLst/>
          </a:prstGeom>
          <a:solidFill>
            <a:srgbClr val="5B8DC4"/>
          </a:solidFill>
          <a:ln w="25400">
            <a:solidFill>
              <a:srgbClr val="FFFFFF"/>
            </a:solidFill>
            <a:prstDash val="solid"/>
          </a:ln>
          <a:effectLst>
            <a:outerShdw blurRad="38100" dist="19050" dir="5400000" algn="bl" rotWithShape="0">
              <a:srgbClr val="000000">
                <a:alpha val="25000"/>
              </a:srgbClr>
            </a:outerShdw>
          </a:effectLst>
        </p:spPr>
        <p:txBody>
          <a:bodyPr/>
          <a:lstStyle/>
          <a:p>
            <a:endParaRPr lang="ar-OM"/>
          </a:p>
        </p:txBody>
      </p:sp>
      <p:pic>
        <p:nvPicPr>
          <p:cNvPr id="14" name="زر السابق" descr="preencoded.png">
            <a:hlinkClick r:id="" action="ppaction://hlinkshowjump?jump=previousslide"/>
          </p:cNvPr>
          <p:cNvPicPr>
            <a:picLocks noChangeAspect="1"/>
          </p:cNvPicPr>
          <p:nvPr/>
        </p:nvPicPr>
        <p:blipFill>
          <a:blip r:embed="rId8"/>
          <a:stretch>
            <a:fillRect/>
          </a:stretch>
        </p:blipFill>
        <p:spPr>
          <a:xfrm>
            <a:off x="2020824" y="6208776"/>
            <a:ext cx="256032" cy="25603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39">
    <p:spTree>
      <p:nvGrpSpPr>
        <p:cNvPr id="1" name=""/>
        <p:cNvGrpSpPr/>
        <p:nvPr/>
      </p:nvGrpSpPr>
      <p:grpSpPr>
        <a:xfrm>
          <a:off x="0" y="0"/>
          <a:ext cx="0" cy="0"/>
          <a:chOff x="0" y="0"/>
          <a:chExt cx="0" cy="0"/>
        </a:xfrm>
      </p:grpSpPr>
      <p:sp>
        <p:nvSpPr>
          <p:cNvPr id="2"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حاوِلْ مرّةً أخرى!</a:t>
            </a:r>
            <a:endParaRPr lang="ar-OM" sz="3200" dirty="0"/>
          </a:p>
        </p:txBody>
      </p:sp>
      <p:pic>
        <p:nvPicPr>
          <p:cNvPr id="3" name="img girl_head.png" descr="a/girl_head.png"/>
          <p:cNvPicPr>
            <a:picLocks noChangeAspect="1"/>
          </p:cNvPicPr>
          <p:nvPr/>
        </p:nvPicPr>
        <p:blipFill>
          <a:blip r:embed="rId3"/>
          <a:stretch>
            <a:fillRect/>
          </a:stretch>
        </p:blipFill>
        <p:spPr>
          <a:xfrm>
            <a:off x="731520" y="1506243"/>
            <a:ext cx="3017520" cy="3571193"/>
          </a:xfrm>
          <a:prstGeom prst="rect">
            <a:avLst/>
          </a:prstGeom>
        </p:spPr>
      </p:pic>
      <p:sp>
        <p:nvSpPr>
          <p:cNvPr id="4" name="Shape 1"/>
          <p:cNvSpPr/>
          <p:nvPr/>
        </p:nvSpPr>
        <p:spPr>
          <a:xfrm>
            <a:off x="8412480" y="1371600"/>
            <a:ext cx="2194560" cy="2194560"/>
          </a:xfrm>
          <a:prstGeom prst="ellipse">
            <a:avLst/>
          </a:prstGeom>
          <a:solidFill>
            <a:srgbClr val="FDE3E1"/>
          </a:solidFill>
          <a:ln w="50800">
            <a:solidFill>
              <a:srgbClr val="E2453B"/>
            </a:solidFill>
            <a:prstDash val="solid"/>
          </a:ln>
        </p:spPr>
        <p:txBody>
          <a:bodyPr/>
          <a:lstStyle/>
          <a:p>
            <a:endParaRPr lang="ar-OM"/>
          </a:p>
        </p:txBody>
      </p:sp>
      <p:pic>
        <p:nvPicPr>
          <p:cNvPr id="5" name="x" descr="preencoded.png"/>
          <p:cNvPicPr>
            <a:picLocks noChangeAspect="1"/>
          </p:cNvPicPr>
          <p:nvPr/>
        </p:nvPicPr>
        <p:blipFill>
          <a:blip r:embed="rId4"/>
          <a:stretch>
            <a:fillRect/>
          </a:stretch>
        </p:blipFill>
        <p:spPr>
          <a:xfrm>
            <a:off x="8961120" y="1920240"/>
            <a:ext cx="1097280" cy="1097280"/>
          </a:xfrm>
          <a:prstGeom prst="rect">
            <a:avLst/>
          </a:prstGeom>
        </p:spPr>
      </p:pic>
      <p:sp>
        <p:nvSpPr>
          <p:cNvPr id="6" name="Text 2"/>
          <p:cNvSpPr txBox="1"/>
          <p:nvPr/>
        </p:nvSpPr>
        <p:spPr>
          <a:xfrm>
            <a:off x="4023360" y="3794760"/>
            <a:ext cx="7708392" cy="731520"/>
          </a:xfrm>
          <a:prstGeom prst="rect">
            <a:avLst/>
          </a:prstGeom>
          <a:noFill/>
          <a:ln/>
        </p:spPr>
        <p:txBody>
          <a:bodyPr wrap="square" lIns="635" tIns="635" rIns="635" bIns="635" rtlCol="0" anchor="ctr"/>
          <a:lstStyle/>
          <a:p>
            <a:pPr marL="0" indent="0" algn="ctr" rtl="1">
              <a:buNone/>
            </a:pPr>
            <a:r>
              <a:rPr lang="ar-OM" altLang="en-US" sz="2800" b="1" dirty="0">
                <a:solidFill>
                  <a:srgbClr val="0D3B66"/>
                </a:solidFill>
                <a:latin typeface="Arial" pitchFamily="34" charset="0"/>
                <a:ea typeface="Arial" pitchFamily="34" charset="-122"/>
                <a:cs typeface="Arial" pitchFamily="34" charset="-120"/>
              </a:rPr>
              <a:t>لا بأس… فكِّرْ جيّدًا وجرِّبْ من جديد</a:t>
            </a:r>
            <a:endParaRPr lang="ar-OM" sz="2800" dirty="0"/>
          </a:p>
        </p:txBody>
      </p:sp>
      <p:sp>
        <p:nvSpPr>
          <p:cNvPr id="7" name="زر العودة">
            <a:hlinkClick r:id="" action="ppaction://hlinkshowjump?jump=lastslideviewed"/>
          </p:cNvPr>
          <p:cNvSpPr/>
          <p:nvPr/>
        </p:nvSpPr>
        <p:spPr>
          <a:xfrm>
            <a:off x="5989320" y="4800600"/>
            <a:ext cx="3657600" cy="868680"/>
          </a:xfrm>
          <a:prstGeom prst="roundRect">
            <a:avLst>
              <a:gd name="adj" fmla="val 49474"/>
            </a:avLst>
          </a:prstGeom>
          <a:solidFill>
            <a:srgbClr val="E2453B"/>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8" name="زر العودة" descr="preencoded.png">
            <a:hlinkClick r:id="" action="ppaction://hlinkshowjump?jump=lastslideviewed"/>
          </p:cNvPr>
          <p:cNvPicPr>
            <a:picLocks noChangeAspect="1"/>
          </p:cNvPicPr>
          <p:nvPr/>
        </p:nvPicPr>
        <p:blipFill>
          <a:blip r:embed="rId5"/>
          <a:stretch>
            <a:fillRect/>
          </a:stretch>
        </p:blipFill>
        <p:spPr>
          <a:xfrm>
            <a:off x="6309360" y="5029200"/>
            <a:ext cx="411480" cy="411480"/>
          </a:xfrm>
          <a:prstGeom prst="rect">
            <a:avLst/>
          </a:prstGeom>
        </p:spPr>
      </p:pic>
      <p:sp>
        <p:nvSpPr>
          <p:cNvPr id="9" name="زر العودة">
            <a:hlinkClick r:id="" action="ppaction://hlinkshowjump?jump=lastslideviewed"/>
          </p:cNvPr>
          <p:cNvSpPr txBox="1"/>
          <p:nvPr/>
        </p:nvSpPr>
        <p:spPr>
          <a:xfrm>
            <a:off x="6766560" y="4800600"/>
            <a:ext cx="2743200" cy="86868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عُدْ إلى السؤال</a:t>
            </a:r>
            <a:endParaRPr lang="ar-OM"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name="Slide 40">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4FA62A"/>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إدراج صورة</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أحسنت! إجابة صحيحة</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boy_wave.png" descr="a/boy_wave.png"/>
          <p:cNvPicPr>
            <a:picLocks noChangeAspect="1"/>
          </p:cNvPicPr>
          <p:nvPr/>
        </p:nvPicPr>
        <p:blipFill>
          <a:blip r:embed="rId5"/>
          <a:stretch>
            <a:fillRect/>
          </a:stretch>
        </p:blipFill>
        <p:spPr>
          <a:xfrm>
            <a:off x="561886" y="1280160"/>
            <a:ext cx="2899588" cy="35661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نختار تبويب إدراج (Insert) ثم صور (Pictures) لإضافة صورة إلى المستند.</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name="Slide 41">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4FA62A"/>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إدراج صورة</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ممتاز! أنت رائع</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girl_wave.png" descr="a/girl_wave.png"/>
          <p:cNvPicPr>
            <a:picLocks noChangeAspect="1"/>
          </p:cNvPicPr>
          <p:nvPr/>
        </p:nvPicPr>
        <p:blipFill>
          <a:blip r:embed="rId5"/>
          <a:stretch>
            <a:fillRect/>
          </a:stretch>
        </p:blipFill>
        <p:spPr>
          <a:xfrm>
            <a:off x="548640" y="1405810"/>
            <a:ext cx="2926080" cy="33148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هذا الجهاز (This Device) يفتح نافذة لاختيار صورة محفوظة في حاسوبك.</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name="Slide 42">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F2A90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0D3B66"/>
                </a:solidFill>
                <a:latin typeface="Arial" pitchFamily="34" charset="0"/>
                <a:ea typeface="Arial" pitchFamily="34" charset="-122"/>
                <a:cs typeface="Arial" pitchFamily="34" charset="-120"/>
              </a:rPr>
              <a:t>الحجم والقص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رائع جدًا! إجابة صحيحة</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boy_wave.png" descr="a/boy_wave.png"/>
          <p:cNvPicPr>
            <a:picLocks noChangeAspect="1"/>
          </p:cNvPicPr>
          <p:nvPr/>
        </p:nvPicPr>
        <p:blipFill>
          <a:blip r:embed="rId5"/>
          <a:stretch>
            <a:fillRect/>
          </a:stretch>
        </p:blipFill>
        <p:spPr>
          <a:xfrm>
            <a:off x="561886" y="1280160"/>
            <a:ext cx="2899588" cy="35661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أداة قص (Crop) في مجموعة الحجم (Size) تزيل الأجزاء غير المطلوبة من الصورة.</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Slide 43">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F2A90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0D3B66"/>
                </a:solidFill>
                <a:latin typeface="Arial" pitchFamily="34" charset="0"/>
                <a:ea typeface="Arial" pitchFamily="34" charset="-122"/>
                <a:cs typeface="Arial" pitchFamily="34" charset="-120"/>
              </a:rPr>
              <a:t>الحجم والقص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أحسنت يا بطل!</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girl_wave.png" descr="a/girl_wave.png"/>
          <p:cNvPicPr>
            <a:picLocks noChangeAspect="1"/>
          </p:cNvPicPr>
          <p:nvPr/>
        </p:nvPicPr>
        <p:blipFill>
          <a:blip r:embed="rId5"/>
          <a:stretch>
            <a:fillRect/>
          </a:stretch>
        </p:blipFill>
        <p:spPr>
          <a:xfrm>
            <a:off x="548640" y="1405810"/>
            <a:ext cx="2926080" cy="33148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العبارة خطأ؛ يمكننا قصّ الصورة بعد إدراجها باستخدام أداة قص (Crop).</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name="Slide 44">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1A9BB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الحدود والنمط</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إجابة صحيحة! استمر</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boy_wave.png" descr="a/boy_wave.png"/>
          <p:cNvPicPr>
            <a:picLocks noChangeAspect="1"/>
          </p:cNvPicPr>
          <p:nvPr/>
        </p:nvPicPr>
        <p:blipFill>
          <a:blip r:embed="rId5"/>
          <a:stretch>
            <a:fillRect/>
          </a:stretch>
        </p:blipFill>
        <p:spPr>
          <a:xfrm>
            <a:off x="561886" y="1280160"/>
            <a:ext cx="2899588" cy="35661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خيار حدود الصورة (Picture Border) يضيف إطارًا بالألوان والسماكة التي نختارها.</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name="Slide 45">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1A9BB0"/>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الحدود والنمط</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أحسنت! إجابة صحيحة</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girl_wave.png" descr="a/girl_wave.png"/>
          <p:cNvPicPr>
            <a:picLocks noChangeAspect="1"/>
          </p:cNvPicPr>
          <p:nvPr/>
        </p:nvPicPr>
        <p:blipFill>
          <a:blip r:embed="rId5"/>
          <a:stretch>
            <a:fillRect/>
          </a:stretch>
        </p:blipFill>
        <p:spPr>
          <a:xfrm>
            <a:off x="548640" y="1405810"/>
            <a:ext cx="2926080" cy="33148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العبارة خطأ؛ يمكننا تغيير مظهر الصورة بالحدود والأنماط وغيرها من تبويب Picture Format.</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Slide 46">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E2453B"/>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التفاف النص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ممتاز! أنت رائع</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boy_wave.png" descr="a/boy_wave.png"/>
          <p:cNvPicPr>
            <a:picLocks noChangeAspect="1"/>
          </p:cNvPicPr>
          <p:nvPr/>
        </p:nvPicPr>
        <p:blipFill>
          <a:blip r:embed="rId5"/>
          <a:stretch>
            <a:fillRect/>
          </a:stretch>
        </p:blipFill>
        <p:spPr>
          <a:xfrm>
            <a:off x="561886" y="1280160"/>
            <a:ext cx="2899588" cy="35661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الأسطر تمرّ فوق الصورة، إذن الصورة خلف النص (Behind Text).</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name="Slide 47">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E2453B"/>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التفاف النص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رائع جدًا! إجابة صحيحة</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girl_wave.png" descr="a/girl_wave.png"/>
          <p:cNvPicPr>
            <a:picLocks noChangeAspect="1"/>
          </p:cNvPicPr>
          <p:nvPr/>
        </p:nvPicPr>
        <p:blipFill>
          <a:blip r:embed="rId5"/>
          <a:stretch>
            <a:fillRect/>
          </a:stretch>
        </p:blipFill>
        <p:spPr>
          <a:xfrm>
            <a:off x="548640" y="1405810"/>
            <a:ext cx="2926080" cy="33148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النص موجود أعلى الصورة وأسفلها فقط، وهذا هو التفاف أعلى وأسفل (Top and Bottom).</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name="Slide 48">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E2453B"/>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التفاف النص</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أحسنت يا بطل!</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boy_wave.png" descr="a/boy_wave.png"/>
          <p:cNvPicPr>
            <a:picLocks noChangeAspect="1"/>
          </p:cNvPicPr>
          <p:nvPr/>
        </p:nvPicPr>
        <p:blipFill>
          <a:blip r:embed="rId5"/>
          <a:stretch>
            <a:fillRect/>
          </a:stretch>
        </p:blipFill>
        <p:spPr>
          <a:xfrm>
            <a:off x="561886" y="1280160"/>
            <a:ext cx="2899588" cy="35661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العبارة صحيحة؛ نختار من Wrap Text خيار خلف النص (Behind Text) فتصبح الصورة كخلفية.</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name="Slide 49">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7B4FD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المسابقة الكبرى</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إجابة صحيحة! استمر</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girl_wave.png" descr="a/girl_wave.png"/>
          <p:cNvPicPr>
            <a:picLocks noChangeAspect="1"/>
          </p:cNvPicPr>
          <p:nvPr/>
        </p:nvPicPr>
        <p:blipFill>
          <a:blip r:embed="rId5"/>
          <a:stretch>
            <a:fillRect/>
          </a:stretch>
        </p:blipFill>
        <p:spPr>
          <a:xfrm>
            <a:off x="548640" y="1405810"/>
            <a:ext cx="2926080" cy="33148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تمييز لون النص يُبرز الكلمات بلون مثل قلم التظليل.</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name="Slide 50">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7B4FD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المسابقة الكبرى</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أحسنت! إجابة صحيحة</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boy_wave.png" descr="a/boy_wave.png"/>
          <p:cNvPicPr>
            <a:picLocks noChangeAspect="1"/>
          </p:cNvPicPr>
          <p:nvPr/>
        </p:nvPicPr>
        <p:blipFill>
          <a:blip r:embed="rId5"/>
          <a:stretch>
            <a:fillRect/>
          </a:stretch>
        </p:blipFill>
        <p:spPr>
          <a:xfrm>
            <a:off x="561886" y="1280160"/>
            <a:ext cx="2899588" cy="35661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يجب أن نحدّد النص أولًا ثم نطبّق عليه التنسيق الذي نريده.</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name="Slide 51">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7B4FD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المسابقة الكبرى</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ممتاز! أنت رائع</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girl_wave.png" descr="a/girl_wave.png"/>
          <p:cNvPicPr>
            <a:picLocks noChangeAspect="1"/>
          </p:cNvPicPr>
          <p:nvPr/>
        </p:nvPicPr>
        <p:blipFill>
          <a:blip r:embed="rId5"/>
          <a:stretch>
            <a:fillRect/>
          </a:stretch>
        </p:blipFill>
        <p:spPr>
          <a:xfrm>
            <a:off x="548640" y="1405810"/>
            <a:ext cx="2926080" cy="33148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تبويب تنسيق الصورة (Picture Format) يظهر عند تحديد الصورة، وفيه أدوات تنسيقها.</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name="Slide 52">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7B4FD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المسابقة الكبرى</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رائع جدًا! إجابة صحيحة</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boy_wave.png" descr="a/boy_wave.png"/>
          <p:cNvPicPr>
            <a:picLocks noChangeAspect="1"/>
          </p:cNvPicPr>
          <p:nvPr/>
        </p:nvPicPr>
        <p:blipFill>
          <a:blip r:embed="rId5"/>
          <a:stretch>
            <a:fillRect/>
          </a:stretch>
        </p:blipFill>
        <p:spPr>
          <a:xfrm>
            <a:off x="561886" y="1280160"/>
            <a:ext cx="2899588" cy="35661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خيار التفاف النص (Wrap Text) يحدّد مكان النص حول الصورة.</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name="Slide 53">
    <p:spTree>
      <p:nvGrpSpPr>
        <p:cNvPr id="1" name=""/>
        <p:cNvGrpSpPr/>
        <p:nvPr/>
      </p:nvGrpSpPr>
      <p:grpSpPr>
        <a:xfrm>
          <a:off x="0" y="0"/>
          <a:ext cx="0" cy="0"/>
          <a:chOff x="0" y="0"/>
          <a:chExt cx="0" cy="0"/>
        </a:xfrm>
      </p:grpSpPr>
      <p:sp>
        <p:nvSpPr>
          <p:cNvPr id="2" name="section pill"/>
          <p:cNvSpPr/>
          <p:nvPr/>
        </p:nvSpPr>
        <p:spPr>
          <a:xfrm>
            <a:off x="457200" y="411480"/>
            <a:ext cx="2377440" cy="548640"/>
          </a:xfrm>
          <a:prstGeom prst="roundRect">
            <a:avLst>
              <a:gd name="adj" fmla="val 50000"/>
            </a:avLst>
          </a:prstGeom>
          <a:solidFill>
            <a:srgbClr val="7B4FD6"/>
          </a:solidFill>
          <a:ln/>
        </p:spPr>
        <p:txBody>
          <a:bodyPr/>
          <a:lstStyle/>
          <a:p>
            <a:endParaRPr lang="ar-OM"/>
          </a:p>
        </p:txBody>
      </p:sp>
      <p:sp>
        <p:nvSpPr>
          <p:cNvPr id="3" name="Text 1"/>
          <p:cNvSpPr txBox="1"/>
          <p:nvPr/>
        </p:nvSpPr>
        <p:spPr>
          <a:xfrm>
            <a:off x="457200" y="411480"/>
            <a:ext cx="2377440" cy="548640"/>
          </a:xfrm>
          <a:prstGeom prst="rect">
            <a:avLst/>
          </a:prstGeom>
          <a:noFill/>
          <a:ln/>
        </p:spPr>
        <p:txBody>
          <a:bodyPr wrap="square" lIns="635" tIns="635" rIns="635" bIns="635" rtlCol="0" anchor="ctr"/>
          <a:lstStyle/>
          <a:p>
            <a:pPr marL="0" indent="0" algn="ctr" rtl="1">
              <a:buNone/>
            </a:pPr>
            <a:r>
              <a:rPr lang="ar-OM" altLang="en-US" sz="1700" b="1" dirty="0">
                <a:solidFill>
                  <a:srgbClr val="FFFFFF"/>
                </a:solidFill>
                <a:latin typeface="Arial" pitchFamily="34" charset="0"/>
                <a:ea typeface="Arial" pitchFamily="34" charset="-122"/>
                <a:cs typeface="Arial" pitchFamily="34" charset="-120"/>
              </a:rPr>
              <a:t>المسابقة الكبرى</a:t>
            </a:r>
            <a:endParaRPr lang="ar-OM" sz="1700" dirty="0"/>
          </a:p>
        </p:txBody>
      </p:sp>
      <p:sp>
        <p:nvSpPr>
          <p:cNvPr id="4" name="Text 1"/>
          <p:cNvSpPr txBox="1">
            <a:spLocks noGrp="1"/>
          </p:cNvSpPr>
          <p:nvPr>
            <p:ph type="title" idx="101" hasCustomPrompt="1"/>
          </p:nvPr>
        </p:nvSpPr>
        <p:spPr>
          <a:xfrm>
            <a:off x="3017520" y="292608"/>
            <a:ext cx="8714232" cy="777240"/>
          </a:xfrm>
          <a:prstGeom prst="rect">
            <a:avLst/>
          </a:prstGeom>
          <a:noFill/>
          <a:ln/>
        </p:spPr>
        <p:txBody>
          <a:bodyPr wrap="square" lIns="635" tIns="635" rIns="635" bIns="635" rtlCol="0" anchor="ctr"/>
          <a:lstStyle/>
          <a:p>
            <a:pPr marL="0" indent="0" algn="r" rtl="1">
              <a:buNone/>
            </a:pPr>
            <a:r>
              <a:rPr lang="ar-OM" altLang="en-US" sz="3200" b="1" dirty="0">
                <a:solidFill>
                  <a:srgbClr val="0D3B66"/>
                </a:solidFill>
                <a:latin typeface="Arial" pitchFamily="34" charset="0"/>
                <a:ea typeface="Arial" pitchFamily="34" charset="-122"/>
                <a:cs typeface="Arial" pitchFamily="34" charset="-120"/>
              </a:rPr>
              <a:t>أحسنت يا بطل!</a:t>
            </a:r>
            <a:endParaRPr lang="ar-OM" sz="3200" dirty="0"/>
          </a:p>
        </p:txBody>
      </p:sp>
      <p:sp>
        <p:nvSpPr>
          <p:cNvPr id="5" name="Shape 3"/>
          <p:cNvSpPr/>
          <p:nvPr/>
        </p:nvSpPr>
        <p:spPr>
          <a:xfrm>
            <a:off x="8778240" y="1325880"/>
            <a:ext cx="2103120" cy="2103120"/>
          </a:xfrm>
          <a:prstGeom prst="ellipse">
            <a:avLst/>
          </a:prstGeom>
          <a:solidFill>
            <a:srgbClr val="E6F6DD"/>
          </a:solidFill>
          <a:ln w="50800">
            <a:solidFill>
              <a:srgbClr val="4FA62A"/>
            </a:solidFill>
            <a:prstDash val="solid"/>
          </a:ln>
        </p:spPr>
        <p:txBody>
          <a:bodyPr/>
          <a:lstStyle/>
          <a:p>
            <a:endParaRPr lang="ar-OM"/>
          </a:p>
        </p:txBody>
      </p:sp>
      <p:pic>
        <p:nvPicPr>
          <p:cNvPr id="6" name="check" descr="preencoded.png"/>
          <p:cNvPicPr>
            <a:picLocks noChangeAspect="1"/>
          </p:cNvPicPr>
          <p:nvPr/>
        </p:nvPicPr>
        <p:blipFill>
          <a:blip r:embed="rId3"/>
          <a:stretch>
            <a:fillRect/>
          </a:stretch>
        </p:blipFill>
        <p:spPr>
          <a:xfrm>
            <a:off x="9281160" y="1828800"/>
            <a:ext cx="1097280" cy="1097280"/>
          </a:xfrm>
          <a:prstGeom prst="rect">
            <a:avLst/>
          </a:prstGeom>
        </p:spPr>
      </p:pic>
      <p:pic>
        <p:nvPicPr>
          <p:cNvPr id="7" name="star" descr="preencoded.png"/>
          <p:cNvPicPr>
            <a:picLocks noChangeAspect="1"/>
          </p:cNvPicPr>
          <p:nvPr/>
        </p:nvPicPr>
        <p:blipFill>
          <a:blip r:embed="rId4"/>
          <a:stretch>
            <a:fillRect/>
          </a:stretch>
        </p:blipFill>
        <p:spPr>
          <a:xfrm>
            <a:off x="4480560" y="1783080"/>
            <a:ext cx="594360" cy="594360"/>
          </a:xfrm>
          <a:prstGeom prst="rect">
            <a:avLst/>
          </a:prstGeom>
        </p:spPr>
      </p:pic>
      <p:pic>
        <p:nvPicPr>
          <p:cNvPr id="8" name="star" descr="preencoded.png"/>
          <p:cNvPicPr>
            <a:picLocks noChangeAspect="1"/>
          </p:cNvPicPr>
          <p:nvPr/>
        </p:nvPicPr>
        <p:blipFill>
          <a:blip r:embed="rId4"/>
          <a:stretch>
            <a:fillRect/>
          </a:stretch>
        </p:blipFill>
        <p:spPr>
          <a:xfrm>
            <a:off x="5257800" y="1783080"/>
            <a:ext cx="594360" cy="594360"/>
          </a:xfrm>
          <a:prstGeom prst="rect">
            <a:avLst/>
          </a:prstGeom>
        </p:spPr>
      </p:pic>
      <p:pic>
        <p:nvPicPr>
          <p:cNvPr id="9" name="star" descr="preencoded.png"/>
          <p:cNvPicPr>
            <a:picLocks noChangeAspect="1"/>
          </p:cNvPicPr>
          <p:nvPr/>
        </p:nvPicPr>
        <p:blipFill>
          <a:blip r:embed="rId4"/>
          <a:stretch>
            <a:fillRect/>
          </a:stretch>
        </p:blipFill>
        <p:spPr>
          <a:xfrm>
            <a:off x="6035040" y="1783080"/>
            <a:ext cx="594360" cy="594360"/>
          </a:xfrm>
          <a:prstGeom prst="rect">
            <a:avLst/>
          </a:prstGeom>
        </p:spPr>
      </p:pic>
      <p:pic>
        <p:nvPicPr>
          <p:cNvPr id="10" name="img girl_wave.png" descr="a/girl_wave.png"/>
          <p:cNvPicPr>
            <a:picLocks noChangeAspect="1"/>
          </p:cNvPicPr>
          <p:nvPr/>
        </p:nvPicPr>
        <p:blipFill>
          <a:blip r:embed="rId5"/>
          <a:stretch>
            <a:fillRect/>
          </a:stretch>
        </p:blipFill>
        <p:spPr>
          <a:xfrm>
            <a:off x="548640" y="1405810"/>
            <a:ext cx="2926080" cy="3314860"/>
          </a:xfrm>
          <a:prstGeom prst="rect">
            <a:avLst/>
          </a:prstGeom>
        </p:spPr>
      </p:pic>
      <p:sp>
        <p:nvSpPr>
          <p:cNvPr id="11" name="card"/>
          <p:cNvSpPr/>
          <p:nvPr/>
        </p:nvSpPr>
        <p:spPr>
          <a:xfrm>
            <a:off x="3931920" y="3657600"/>
            <a:ext cx="7799832" cy="1188720"/>
          </a:xfrm>
          <a:prstGeom prst="roundRect">
            <a:avLst>
              <a:gd name="adj" fmla="val 13846"/>
            </a:avLst>
          </a:prstGeom>
          <a:solidFill>
            <a:srgbClr val="E6F6DD"/>
          </a:solidFill>
          <a:ln/>
        </p:spPr>
        <p:txBody>
          <a:bodyPr/>
          <a:lstStyle/>
          <a:p>
            <a:endParaRPr lang="ar-OM"/>
          </a:p>
        </p:txBody>
      </p:sp>
      <p:sp>
        <p:nvSpPr>
          <p:cNvPr id="12" name="icon bg"/>
          <p:cNvSpPr/>
          <p:nvPr/>
        </p:nvSpPr>
        <p:spPr>
          <a:xfrm>
            <a:off x="10972800" y="3950208"/>
            <a:ext cx="594360" cy="594360"/>
          </a:xfrm>
          <a:prstGeom prst="ellipse">
            <a:avLst/>
          </a:prstGeom>
          <a:solidFill>
            <a:srgbClr val="4FA62A"/>
          </a:solidFill>
          <a:ln/>
        </p:spPr>
        <p:txBody>
          <a:bodyPr/>
          <a:lstStyle/>
          <a:p>
            <a:endParaRPr lang="ar-OM"/>
          </a:p>
        </p:txBody>
      </p:sp>
      <p:pic>
        <p:nvPicPr>
          <p:cNvPr id="13" name="icon" descr="preencoded.png"/>
          <p:cNvPicPr>
            <a:picLocks noChangeAspect="1"/>
          </p:cNvPicPr>
          <p:nvPr/>
        </p:nvPicPr>
        <p:blipFill>
          <a:blip r:embed="rId6"/>
          <a:stretch>
            <a:fillRect/>
          </a:stretch>
        </p:blipFill>
        <p:spPr>
          <a:xfrm>
            <a:off x="11115446" y="4092854"/>
            <a:ext cx="309067" cy="309067"/>
          </a:xfrm>
          <a:prstGeom prst="rect">
            <a:avLst/>
          </a:prstGeom>
        </p:spPr>
      </p:pic>
      <p:sp>
        <p:nvSpPr>
          <p:cNvPr id="14" name="Text 6"/>
          <p:cNvSpPr txBox="1"/>
          <p:nvPr/>
        </p:nvSpPr>
        <p:spPr>
          <a:xfrm>
            <a:off x="4114800" y="3657600"/>
            <a:ext cx="6720840" cy="1188720"/>
          </a:xfrm>
          <a:prstGeom prst="rect">
            <a:avLst/>
          </a:prstGeom>
          <a:noFill/>
          <a:ln/>
        </p:spPr>
        <p:txBody>
          <a:bodyPr wrap="square" lIns="635" tIns="635" rIns="635" bIns="635" rtlCol="0" anchor="ctr"/>
          <a:lstStyle/>
          <a:p>
            <a:pPr marL="0" indent="0" algn="r" rtl="1">
              <a:buNone/>
            </a:pPr>
            <a:r>
              <a:rPr lang="ar-OM" altLang="en-US" sz="1900" b="1" dirty="0">
                <a:solidFill>
                  <a:srgbClr val="2E5D17"/>
                </a:solidFill>
                <a:latin typeface="Arial" pitchFamily="34" charset="0"/>
                <a:ea typeface="Arial" pitchFamily="34" charset="-122"/>
                <a:cs typeface="Arial" pitchFamily="34" charset="-120"/>
              </a:rPr>
              <a:t>الترتيب الصحيح: تبويب إدراج، ثم صور، ثم هذا الجهاز، ثم نختار الصورة وننقر إدراج.</a:t>
            </a:r>
            <a:endParaRPr lang="ar-OM" sz="1900" dirty="0"/>
          </a:p>
        </p:txBody>
      </p:sp>
      <p:sp>
        <p:nvSpPr>
          <p:cNvPr id="15" name="زر انتقال">
            <a:hlinkClick r:id="rId7" action="ppaction://hlinksldjump"/>
          </p:cNvPr>
          <p:cNvSpPr/>
          <p:nvPr/>
        </p:nvSpPr>
        <p:spPr>
          <a:xfrm>
            <a:off x="3931920" y="5074920"/>
            <a:ext cx="3291840" cy="822960"/>
          </a:xfrm>
          <a:prstGeom prst="roundRect">
            <a:avLst>
              <a:gd name="adj" fmla="val 50000"/>
            </a:avLst>
          </a:prstGeom>
          <a:solidFill>
            <a:srgbClr val="F27C1E"/>
          </a:solidFill>
          <a:ln w="31750">
            <a:solidFill>
              <a:srgbClr val="FFFFFF"/>
            </a:solidFill>
            <a:prstDash val="solid"/>
          </a:ln>
          <a:effectLst>
            <a:outerShdw blurRad="76200" dist="38100" dir="5400000" algn="bl" rotWithShape="0">
              <a:srgbClr val="000000">
                <a:alpha val="30000"/>
              </a:srgbClr>
            </a:outerShdw>
          </a:effectLst>
        </p:spPr>
        <p:txBody>
          <a:bodyPr/>
          <a:lstStyle/>
          <a:p>
            <a:endParaRPr lang="ar-OM"/>
          </a:p>
        </p:txBody>
      </p:sp>
      <p:pic>
        <p:nvPicPr>
          <p:cNvPr id="16" name="زر انتقال" descr="preencoded.png">
            <a:hlinkClick r:id="rId7" action="ppaction://hlinksldjump"/>
          </p:cNvPr>
          <p:cNvPicPr>
            <a:picLocks noChangeAspect="1"/>
          </p:cNvPicPr>
          <p:nvPr/>
        </p:nvPicPr>
        <p:blipFill>
          <a:blip r:embed="rId8"/>
          <a:stretch>
            <a:fillRect/>
          </a:stretch>
        </p:blipFill>
        <p:spPr>
          <a:xfrm>
            <a:off x="4206240" y="5276088"/>
            <a:ext cx="411480" cy="411480"/>
          </a:xfrm>
          <a:prstGeom prst="rect">
            <a:avLst/>
          </a:prstGeom>
        </p:spPr>
      </p:pic>
      <p:sp>
        <p:nvSpPr>
          <p:cNvPr id="17" name="زر انتقال">
            <a:hlinkClick r:id="rId7" action="ppaction://hlinksldjump"/>
          </p:cNvPr>
          <p:cNvSpPr txBox="1"/>
          <p:nvPr/>
        </p:nvSpPr>
        <p:spPr>
          <a:xfrm>
            <a:off x="4663440" y="5074920"/>
            <a:ext cx="2377440" cy="822960"/>
          </a:xfrm>
          <a:prstGeom prst="rect">
            <a:avLst/>
          </a:prstGeom>
          <a:noFill/>
          <a:ln/>
        </p:spPr>
        <p:txBody>
          <a:bodyPr wrap="square" lIns="635" tIns="635" rIns="635" bIns="635" rtlCol="0" anchor="ctr"/>
          <a:lstStyle/>
          <a:p>
            <a:pPr marL="0" indent="0" algn="ctr" rtl="1">
              <a:buNone/>
            </a:pPr>
            <a:r>
              <a:rPr lang="ar-OM" altLang="en-US" sz="2400" b="1" dirty="0">
                <a:solidFill>
                  <a:srgbClr val="FFFFFF"/>
                </a:solidFill>
                <a:latin typeface="Arial" pitchFamily="34" charset="0"/>
                <a:ea typeface="Arial" pitchFamily="34" charset="-122"/>
                <a:cs typeface="Arial" pitchFamily="34" charset="-120"/>
              </a:rPr>
              <a:t>التالي</a:t>
            </a:r>
            <a:endParaRPr lang="ar-OM" sz="2400" dirty="0"/>
          </a:p>
        </p:txBody>
      </p:sp>
      <p:sp>
        <p:nvSpPr>
          <p:cNvPr id="18" name="زر انتقال">
            <a:hlinkClick r:id="rId9" action="ppaction://hlinksldjump"/>
          </p:cNvPr>
          <p:cNvSpPr/>
          <p:nvPr/>
        </p:nvSpPr>
        <p:spPr>
          <a:xfrm>
            <a:off x="7498080" y="5074920"/>
            <a:ext cx="2194560" cy="822960"/>
          </a:xfrm>
          <a:prstGeom prst="roundRect">
            <a:avLst>
              <a:gd name="adj" fmla="val 50000"/>
            </a:avLst>
          </a:prstGeom>
          <a:solidFill>
            <a:srgbClr val="0D3B66"/>
          </a:solidFill>
          <a:ln w="31750">
            <a:solidFill>
              <a:srgbClr val="FFFFFF"/>
            </a:solidFill>
            <a:prstDash val="solid"/>
          </a:ln>
        </p:spPr>
        <p:txBody>
          <a:bodyPr/>
          <a:lstStyle/>
          <a:p>
            <a:endParaRPr lang="ar-OM"/>
          </a:p>
        </p:txBody>
      </p:sp>
      <p:sp>
        <p:nvSpPr>
          <p:cNvPr id="19" name="زر انتقال">
            <a:hlinkClick r:id="rId9" action="ppaction://hlinksldjump"/>
          </p:cNvPr>
          <p:cNvSpPr txBox="1"/>
          <p:nvPr/>
        </p:nvSpPr>
        <p:spPr>
          <a:xfrm>
            <a:off x="7498080" y="5074920"/>
            <a:ext cx="2194560" cy="822960"/>
          </a:xfrm>
          <a:prstGeom prst="rect">
            <a:avLst/>
          </a:prstGeom>
          <a:noFill/>
          <a:ln/>
        </p:spPr>
        <p:txBody>
          <a:bodyPr wrap="square" lIns="635" tIns="635" rIns="635" bIns="635" rtlCol="0" anchor="ctr"/>
          <a:lstStyle/>
          <a:p>
            <a:pPr marL="0" indent="0" algn="ctr" rtl="1">
              <a:buNone/>
            </a:pPr>
            <a:r>
              <a:rPr lang="ar-OM" altLang="en-US" sz="2200" b="1" dirty="0">
                <a:solidFill>
                  <a:srgbClr val="FFFFFF"/>
                </a:solidFill>
                <a:latin typeface="Arial" pitchFamily="34" charset="0"/>
                <a:ea typeface="Arial" pitchFamily="34" charset="-122"/>
                <a:cs typeface="Arial" pitchFamily="34" charset="-120"/>
              </a:rPr>
              <a:t>الرئيسة</a:t>
            </a:r>
            <a:endParaRPr lang="ar-OM"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1991</Words>
  <Application>Microsoft Office PowerPoint</Application>
  <PresentationFormat>شاشة عريضة</PresentationFormat>
  <Paragraphs>455</Paragraphs>
  <Slides>53</Slides>
  <Notes>53</Notes>
  <HiddenSlides>15</HiddenSlides>
  <MMClips>4</MMClips>
  <ScaleCrop>false</ScaleCrop>
  <HeadingPairs>
    <vt:vector size="6" baseType="variant">
      <vt:variant>
        <vt:lpstr>الخطوط المستخدمة</vt:lpstr>
      </vt:variant>
      <vt:variant>
        <vt:i4>1</vt:i4>
      </vt:variant>
      <vt:variant>
        <vt:lpstr>نسق</vt:lpstr>
      </vt:variant>
      <vt:variant>
        <vt:i4>1</vt:i4>
      </vt:variant>
      <vt:variant>
        <vt:lpstr>عناوين الشرائح</vt:lpstr>
      </vt:variant>
      <vt:variant>
        <vt:i4>53</vt:i4>
      </vt:variant>
    </vt:vector>
  </HeadingPairs>
  <TitlesOfParts>
    <vt:vector size="55" baseType="lpstr">
      <vt:lpstr>Arial</vt:lpstr>
      <vt:lpstr>Office Theme</vt:lpstr>
      <vt:lpstr>عرض تقديمي في PowerPoint</vt:lpstr>
      <vt:lpstr>خريطة الدرس</vt:lpstr>
      <vt:lpstr>أهداف الدرس</vt:lpstr>
      <vt:lpstr>فكِّر وأجب</vt:lpstr>
      <vt:lpstr>إدراج صورة من حاسوبك (1)</vt:lpstr>
      <vt:lpstr>إدراج صورة من حاسوبك (2)</vt:lpstr>
      <vt:lpstr>فيديو الهدف الأول: إدراج صورة</vt:lpstr>
      <vt:lpstr>سؤال سريع 1</vt:lpstr>
      <vt:lpstr>سؤال سريع 2</vt:lpstr>
      <vt:lpstr>تغيير حجم الصورة</vt:lpstr>
      <vt:lpstr>قصّ الصورة</vt:lpstr>
      <vt:lpstr>فيديو الهدف الثاني: الحجم والقص</vt:lpstr>
      <vt:lpstr>سؤال سريع 3</vt:lpstr>
      <vt:lpstr>صح أم خطأ؟ (1)</vt:lpstr>
      <vt:lpstr>تنسيق الصورة</vt:lpstr>
      <vt:lpstr>حدود الصورة</vt:lpstr>
      <vt:lpstr>نمط الصورة</vt:lpstr>
      <vt:lpstr>فيديو الهدف الثالث: الحدود والنمط</vt:lpstr>
      <vt:lpstr>سؤال سريع 4</vt:lpstr>
      <vt:lpstr>صح أم خطأ؟ (2)</vt:lpstr>
      <vt:lpstr>التفاف النص</vt:lpstr>
      <vt:lpstr>أنواع التفاف النص (1)</vt:lpstr>
      <vt:lpstr>أنواع التفاف النص (2)</vt:lpstr>
      <vt:lpstr>فيديو الهدف الرابع: التفاف النص</vt:lpstr>
      <vt:lpstr>سؤال سريع 5</vt:lpstr>
      <vt:lpstr>سؤال سريع 6</vt:lpstr>
      <vt:lpstr>صح أم خطأ؟ (3)</vt:lpstr>
      <vt:lpstr>عرض تقديمي في PowerPoint</vt:lpstr>
      <vt:lpstr>المسابقة: السؤال 1 من 5</vt:lpstr>
      <vt:lpstr>المسابقة: السؤال 2 من 5</vt:lpstr>
      <vt:lpstr>المسابقة: السؤال 3 من 5</vt:lpstr>
      <vt:lpstr>المسابقة: السؤال 4 من 5</vt:lpstr>
      <vt:lpstr>المسابقة: السؤال 5 من 5</vt:lpstr>
      <vt:lpstr>عرض تقديمي في PowerPoint</vt:lpstr>
      <vt:lpstr>التطبيق العملي: الاحتباس الحراري</vt:lpstr>
      <vt:lpstr>خطوات التطبيق العملي</vt:lpstr>
      <vt:lpstr>تذكَّر</vt:lpstr>
      <vt:lpstr>عرض تقديمي في PowerPoint</vt:lpstr>
      <vt:lpstr>حاوِلْ مرّةً أخرى!</vt:lpstr>
      <vt:lpstr>أحسنت! إجابة صحيحة</vt:lpstr>
      <vt:lpstr>ممتاز! أنت رائع</vt:lpstr>
      <vt:lpstr>رائع جدًا! إجابة صحيحة</vt:lpstr>
      <vt:lpstr>أحسنت يا بطل!</vt:lpstr>
      <vt:lpstr>إجابة صحيحة! استمر</vt:lpstr>
      <vt:lpstr>أحسنت! إجابة صحيحة</vt:lpstr>
      <vt:lpstr>ممتاز! أنت رائع</vt:lpstr>
      <vt:lpstr>رائع جدًا! إجابة صحيحة</vt:lpstr>
      <vt:lpstr>أحسنت يا بطل!</vt:lpstr>
      <vt:lpstr>إجابة صحيحة! استمر</vt:lpstr>
      <vt:lpstr>أحسنت! إجابة صحيحة</vt:lpstr>
      <vt:lpstr>ممتاز! أنت رائع</vt:lpstr>
      <vt:lpstr>رائع جدًا! إجابة صحيحة</vt:lpstr>
      <vt:lpstr>أحسنت يا بطل!</vt:lpstr>
    </vt:vector>
  </TitlesOfParts>
  <Company>مدرسة مزن المعرفة للتعليم الأساسي (1-4)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الدرس 2.2 إدراج وتنسيق صورة</dc:title>
  <dc:subject>PptxGenJS Presentation</dc:subject>
  <dc:creator>الأستاذة عبير صالح اليحمدية</dc:creator>
  <cp:lastModifiedBy>Abeer Alyahmadi</cp:lastModifiedBy>
  <cp:revision>2</cp:revision>
  <dcterms:created xsi:type="dcterms:W3CDTF">2026-10-11T06:18:29Z</dcterms:created>
  <dcterms:modified xsi:type="dcterms:W3CDTF">2026-10-11T09:47:56Z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15af2f3-15c0-42f7-aff1-8120ca254967_Enabled">
    <vt:lpwstr>true</vt:lpwstr>
  </property>
  <property fmtid="{D5CDD505-2E9C-101B-9397-08002B2CF9AE}" pid="3" name="MSIP_Label_c15af2f3-15c0-42f7-aff1-8120ca254967_SetDate">
    <vt:lpwstr>2026-10-11T09:47:55Z</vt:lpwstr>
  </property>
  <property fmtid="{D5CDD505-2E9C-101B-9397-08002B2CF9AE}" pid="4" name="MSIP_Label_c15af2f3-15c0-42f7-aff1-8120ca254967_Method">
    <vt:lpwstr>Standard</vt:lpwstr>
  </property>
  <property fmtid="{D5CDD505-2E9C-101B-9397-08002B2CF9AE}" pid="5" name="MSIP_Label_c15af2f3-15c0-42f7-aff1-8120ca254967_Name">
    <vt:lpwstr>defa4170-0d19-0005-0004-bc88714345d2</vt:lpwstr>
  </property>
  <property fmtid="{D5CDD505-2E9C-101B-9397-08002B2CF9AE}" pid="6" name="MSIP_Label_c15af2f3-15c0-42f7-aff1-8120ca254967_SiteId">
    <vt:lpwstr>04b4cb5d-cc41-401f-bd9d-4ca8a31a5c2f</vt:lpwstr>
  </property>
  <property fmtid="{D5CDD505-2E9C-101B-9397-08002B2CF9AE}" pid="7" name="MSIP_Label_c15af2f3-15c0-42f7-aff1-8120ca254967_ActionId">
    <vt:lpwstr>68b55f4b-b66b-4b83-8c75-00dfc01f4b5c</vt:lpwstr>
  </property>
  <property fmtid="{D5CDD505-2E9C-101B-9397-08002B2CF9AE}" pid="8" name="MSIP_Label_c15af2f3-15c0-42f7-aff1-8120ca254967_ContentBits">
    <vt:lpwstr>0</vt:lpwstr>
  </property>
  <property fmtid="{D5CDD505-2E9C-101B-9397-08002B2CF9AE}" pid="9" name="MSIP_Label_c15af2f3-15c0-42f7-aff1-8120ca254967_Tag">
    <vt:lpwstr>10, 3, 0, 1</vt:lpwstr>
  </property>
</Properties>
</file>