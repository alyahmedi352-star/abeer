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12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75372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ترحيب بالطلبة وعرض عنوان الدرس: رسم الأشكال.</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ربط بالدرس السابق: البكسل نقطة مربّعة في الشاشة.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حوار تمهيدي: نجمة صفراء، مستطيل أحمر، دائرة خضراء، مثلث وردي. نعم نرسمها في تطبيق الرسّام.</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خطوات فتح تطبيق الرسّام: زر ابدأ، ثم السحب إلى حرف W، ثم Windows Accessories، ثم Paint.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مقطع الهدف الأول (21 ثانية) — نص التعليق الصوتي المقترح: "ننقر زر ابدأ. نسحب الشريط إلى الأسفل حتى حرف W. ننقر على Windows Accessories، ثم ننقر على Paint. وهكذا فتحنا تطبيق الرسّام، وهذه مساحة الرسم."</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أدواتي في الرسّام: الألوان Colors، الأشكال Shapes، أداة التعبئة Fill، الممحاة Eraser.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مقطع الهدف الثاني (18 ثانية) — نص التعليق الصوتي المقترح: "هذه الألوان، نختار منها اللون. وهذه الأشكال: مستطيل ودائرة ونجمة. وهذه أداة التعبئة، تملأ الشكل باللون. وهذه الممحاة، تمسح ما رسمناه."</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لرسم شكل: ننقر على الشكل من مجموعة Shapes، ثم ننقر ونسحب على مساحة الرسم، ثم نُفلت زر الفأرة.</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تغيير لون الإطار: بعد رسم الشكل مباشرة ننقر على اللون. تعبئة الشكل: ننقر أداة التعبئة، نختار اللون، ثم ننقر داخل الشكل.</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مقطع الهدف الثالث (25 ثانية) — نص التعليق الصوتي المقترح: "ننقر على شكل المستطيل. ننقر ونسحب لنرسمه، ثم نُفلت زر الفأرة. لنغيّر لون الإطار ننقر على اللون الأصفر. ثم ننقر أداة التعبئة، ونختار اللون البرتقالي، وننقر داخل الشكل. رائع! رسمنا شكلًا ولوّنّاه."</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الممحاة تمسح جزءًا من الرسم. زر التراجع يُلغي آخر خطوة، وزر الإعادة يُرجعها.</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خطوات الحفظ: File، ثم Save as، ثم نكتب اسم الملف، ثم Save.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مقطع الهدف الرابع (28 ثانية) — نص التعليق الصوتي المقترح: "ننقر على الممحاة، ثم ننقر ونسحب لنمسح. زر التراجع يُلغي آخر خطوة، وزر الإعادة يُرجعها. لنحفظ عملنا: ننقر File ثم Save as، نكتب اسم الملف، ثم ننقر Save. احفظ عملك دائمًا!"</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الكتاب ص66: يرسم الطالب النجمة والمستطيل والدائرة والمثلث ويملؤها بالألوان، ثم يحفظ عمله.</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الكتاب ص66: يرسم الطالب أشكالًا من اختياره ويلوّن حدودها ويملؤها بالألوان.</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RREC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RO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slide" Target="slide27.xml"/><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audio" Target="../media/audio1.wav"/><Relationship Id="rId5" Type="http://schemas.openxmlformats.org/officeDocument/2006/relationships/slide" Target="slide26.xml"/><Relationship Id="rId4" Type="http://schemas.openxmlformats.org/officeDocument/2006/relationships/image" Target="../media/image7.png"/><Relationship Id="rId9" Type="http://schemas.openxmlformats.org/officeDocument/2006/relationships/audio" Target="../media/audio2.wav"/></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audio" Target="../media/audio1.wav"/><Relationship Id="rId11" Type="http://schemas.openxmlformats.org/officeDocument/2006/relationships/image" Target="../media/image24.png"/><Relationship Id="rId5" Type="http://schemas.openxmlformats.org/officeDocument/2006/relationships/slide" Target="slide28.xml"/><Relationship Id="rId10" Type="http://schemas.openxmlformats.org/officeDocument/2006/relationships/audio" Target="../media/audio2.wav"/><Relationship Id="rId4" Type="http://schemas.openxmlformats.org/officeDocument/2006/relationships/image" Target="../media/image22.png"/><Relationship Id="rId9" Type="http://schemas.openxmlformats.org/officeDocument/2006/relationships/slide" Target="slide29.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29.png"/><Relationship Id="rId5" Type="http://schemas.openxmlformats.org/officeDocument/2006/relationships/image" Target="../media/image2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audio" Target="../media/audio1.wav"/><Relationship Id="rId11" Type="http://schemas.openxmlformats.org/officeDocument/2006/relationships/image" Target="../media/image26.png"/><Relationship Id="rId5" Type="http://schemas.openxmlformats.org/officeDocument/2006/relationships/slide" Target="slide30.xml"/><Relationship Id="rId10" Type="http://schemas.openxmlformats.org/officeDocument/2006/relationships/audio" Target="../media/audio2.wav"/><Relationship Id="rId4" Type="http://schemas.openxmlformats.org/officeDocument/2006/relationships/image" Target="../media/image27.png"/><Relationship Id="rId9" Type="http://schemas.openxmlformats.org/officeDocument/2006/relationships/slide" Target="slide3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37.png"/><Relationship Id="rId5" Type="http://schemas.openxmlformats.org/officeDocument/2006/relationships/image" Target="../media/image2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openxmlformats.org/officeDocument/2006/relationships/audio" Target="../media/audio2.wav"/><Relationship Id="rId3" Type="http://schemas.openxmlformats.org/officeDocument/2006/relationships/image" Target="../media/image7.png"/><Relationship Id="rId7" Type="http://schemas.openxmlformats.org/officeDocument/2006/relationships/slide" Target="slide33.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audio" Target="../media/audio1.wav"/><Relationship Id="rId4" Type="http://schemas.openxmlformats.org/officeDocument/2006/relationships/slide" Target="slide32.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45.png"/><Relationship Id="rId5" Type="http://schemas.openxmlformats.org/officeDocument/2006/relationships/image" Target="../media/image2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audio" Target="../media/audio1.wav"/><Relationship Id="rId11" Type="http://schemas.openxmlformats.org/officeDocument/2006/relationships/image" Target="../media/image15.png"/><Relationship Id="rId5" Type="http://schemas.openxmlformats.org/officeDocument/2006/relationships/slide" Target="slide34.xml"/><Relationship Id="rId10" Type="http://schemas.openxmlformats.org/officeDocument/2006/relationships/audio" Target="../media/audio2.wav"/><Relationship Id="rId4" Type="http://schemas.openxmlformats.org/officeDocument/2006/relationships/image" Target="../media/image41.png"/><Relationship Id="rId9" Type="http://schemas.openxmlformats.org/officeDocument/2006/relationships/slide" Target="slide35.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4.png"/><Relationship Id="rId7"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14.pn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9.png"/><Relationship Id="rId7"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slide" Target="slide36.xml"/><Relationship Id="rId5" Type="http://schemas.openxmlformats.org/officeDocument/2006/relationships/image" Target="../media/image10.png"/><Relationship Id="rId10" Type="http://schemas.openxmlformats.org/officeDocument/2006/relationships/audio" Target="../media/audio2.wav"/><Relationship Id="rId4" Type="http://schemas.openxmlformats.org/officeDocument/2006/relationships/image" Target="../media/image7.png"/><Relationship Id="rId9" Type="http://schemas.openxmlformats.org/officeDocument/2006/relationships/slide" Target="slide37.xml"/></Relationships>
</file>

<file path=ppt/slides/_rels/slide2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image" Target="../media/image49.png"/><Relationship Id="rId7"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audio" Target="../media/audio1.wav"/><Relationship Id="rId5" Type="http://schemas.openxmlformats.org/officeDocument/2006/relationships/slide" Target="slide38.xml"/><Relationship Id="rId4" Type="http://schemas.openxmlformats.org/officeDocument/2006/relationships/image" Target="../media/image7.png"/><Relationship Id="rId9" Type="http://schemas.openxmlformats.org/officeDocument/2006/relationships/audio" Target="../media/audio2.wav"/></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52.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slide" Target="slide3.xml"/></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slide" Target="slide8.xml"/></Relationships>
</file>

<file path=ppt/slides/_rels/slide2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slide" Target="slide11.xml"/></Relationships>
</file>

<file path=ppt/slides/_rels/slide31.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slide" Target="slide15.xml"/></Relationships>
</file>

<file path=ppt/slides/_rels/slide3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slide" Target="slide19.xml"/></Relationships>
</file>

<file path=ppt/slides/_rels/slide35.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slide" Target="slide23.xml"/></Relationships>
</file>

<file path=ppt/slides/_rels/slide37.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slide" Target="slide24.xml"/></Relationships>
</file>

<file path=ppt/slides/_rels/slide39.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esson-no"/>
          <p:cNvSpPr txBox="1"/>
          <p:nvPr/>
        </p:nvSpPr>
        <p:spPr>
          <a:xfrm>
            <a:off x="7004304" y="859536"/>
            <a:ext cx="1618488" cy="438912"/>
          </a:xfrm>
          <a:prstGeom prst="rect">
            <a:avLst/>
          </a:prstGeom>
          <a:noFill/>
          <a:ln/>
        </p:spPr>
        <p:txBody>
          <a:bodyPr wrap="square" lIns="0" tIns="0" rIns="0"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الدرس 2.2</a:t>
            </a:r>
            <a:endParaRPr lang="ar-OM" sz="2200" dirty="0"/>
          </a:p>
        </p:txBody>
      </p:sp>
      <p:sp>
        <p:nvSpPr>
          <p:cNvPr id="3" name="lesson-title"/>
          <p:cNvSpPr txBox="1"/>
          <p:nvPr/>
        </p:nvSpPr>
        <p:spPr>
          <a:xfrm>
            <a:off x="4480560" y="1371600"/>
            <a:ext cx="4142232" cy="1417320"/>
          </a:xfrm>
          <a:prstGeom prst="rect">
            <a:avLst/>
          </a:prstGeom>
          <a:noFill/>
          <a:ln/>
        </p:spPr>
        <p:txBody>
          <a:bodyPr wrap="square" lIns="0" tIns="0" rIns="0" bIns="0" rtlCol="0" anchor="ctr"/>
          <a:lstStyle/>
          <a:p>
            <a:pPr marL="0" indent="0" algn="r">
              <a:lnSpc>
                <a:spcPct val="85000"/>
              </a:lnSpc>
              <a:buNone/>
            </a:pPr>
            <a:r>
              <a:rPr lang="ar-OM" altLang="en-US" sz="6400" b="1" dirty="0">
                <a:solidFill>
                  <a:srgbClr val="FFFFFF"/>
                </a:solidFill>
                <a:latin typeface="Sakkal Majalla" pitchFamily="34" charset="0"/>
                <a:ea typeface="Sakkal Majalla" pitchFamily="34" charset="-122"/>
                <a:cs typeface="Sakkal Majalla" pitchFamily="34" charset="-120"/>
              </a:rPr>
              <a:t>رَسْمُ</a:t>
            </a:r>
            <a:endParaRPr lang="ar-OM" sz="6400" dirty="0"/>
          </a:p>
          <a:p>
            <a:pPr marL="0" indent="0" algn="r">
              <a:lnSpc>
                <a:spcPct val="85000"/>
              </a:lnSpc>
              <a:buNone/>
            </a:pPr>
            <a:r>
              <a:rPr lang="ar-OM" altLang="en-US" sz="6400" b="1" dirty="0">
                <a:solidFill>
                  <a:srgbClr val="FFC928"/>
                </a:solidFill>
                <a:latin typeface="Sakkal Majalla" pitchFamily="34" charset="0"/>
                <a:ea typeface="Sakkal Majalla" pitchFamily="34" charset="-122"/>
                <a:cs typeface="Sakkal Majalla" pitchFamily="34" charset="-120"/>
              </a:rPr>
              <a:t>الأَشْكالِ</a:t>
            </a:r>
            <a:endParaRPr lang="ar-OM" sz="6400" dirty="0"/>
          </a:p>
        </p:txBody>
      </p:sp>
      <p:sp>
        <p:nvSpPr>
          <p:cNvPr id="4" name="grade"/>
          <p:cNvSpPr txBox="1"/>
          <p:nvPr/>
        </p:nvSpPr>
        <p:spPr>
          <a:xfrm>
            <a:off x="5760720" y="3200400"/>
            <a:ext cx="2862072" cy="402336"/>
          </a:xfrm>
          <a:prstGeom prst="rect">
            <a:avLst/>
          </a:prstGeom>
          <a:noFill/>
          <a:ln/>
        </p:spPr>
        <p:txBody>
          <a:bodyPr wrap="square" lIns="0" tIns="0" rIns="0" bIns="0" rtlCol="0" anchor="ctr"/>
          <a:lstStyle/>
          <a:p>
            <a:pPr marL="0" indent="0" algn="ctr" rtl="1">
              <a:buNone/>
            </a:pPr>
            <a:r>
              <a:rPr lang="ar-OM" altLang="en-US" sz="1400" b="1" dirty="0">
                <a:solidFill>
                  <a:srgbClr val="5B2C83"/>
                </a:solidFill>
                <a:latin typeface="Tahoma" pitchFamily="34" charset="0"/>
                <a:ea typeface="Tahoma" pitchFamily="34" charset="-122"/>
                <a:cs typeface="Tahoma" pitchFamily="34" charset="-120"/>
              </a:rPr>
              <a:t>تقنية المعلومات  |  الصف الأول</a:t>
            </a:r>
            <a:endParaRPr lang="ar-OM"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7AC143"/>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هيّا نتذكّر</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7AC143"/>
                </a:solidFill>
                <a:latin typeface="Tahoma" pitchFamily="34" charset="0"/>
                <a:ea typeface="Tahoma" pitchFamily="34" charset="-122"/>
                <a:cs typeface="Tahoma" pitchFamily="34" charset="-120"/>
              </a:rPr>
              <a:t>التعلّم القبلي</a:t>
            </a:r>
            <a:endParaRPr lang="ar-OM" sz="1600" dirty="0"/>
          </a:p>
        </p:txBody>
      </p:sp>
      <p:sp>
        <p:nvSpPr>
          <p:cNvPr id="6" name="question"/>
          <p:cNvSpPr/>
          <p:nvPr/>
        </p:nvSpPr>
        <p:spPr>
          <a:xfrm>
            <a:off x="640080" y="1325880"/>
            <a:ext cx="7315200" cy="914400"/>
          </a:xfrm>
          <a:prstGeom prst="roundRect">
            <a:avLst>
              <a:gd name="adj" fmla="val 20000"/>
            </a:avLst>
          </a:prstGeom>
          <a:solidFill>
            <a:srgbClr val="F1ECFA"/>
          </a:solidFill>
          <a:ln w="25400">
            <a:solidFill>
              <a:srgbClr val="5B2C83"/>
            </a:solidFill>
          </a:ln>
        </p:spPr>
        <p:txBody>
          <a:bodyPr wrap="square" lIns="1270" tIns="1270" rIns="1270" bIns="1270" rtlCol="0" anchor="ctr"/>
          <a:lstStyle/>
          <a:p>
            <a:pPr marL="0" indent="0" algn="ctr" rtl="1">
              <a:buNone/>
            </a:pPr>
            <a:r>
              <a:rPr lang="ar-OM" altLang="en-US" sz="3000" b="1" dirty="0">
                <a:solidFill>
                  <a:srgbClr val="5B2C83"/>
                </a:solidFill>
                <a:latin typeface="Sakkal Majalla" pitchFamily="34" charset="0"/>
                <a:ea typeface="Sakkal Majalla" pitchFamily="34" charset="-122"/>
                <a:cs typeface="Sakkal Majalla" pitchFamily="34" charset="-120"/>
              </a:rPr>
              <a:t>تتكوّن الصورة على الشاشة من مربعات صغيرة اسمها:</a:t>
            </a:r>
            <a:endParaRPr lang="ar-OM" sz="3000" dirty="0"/>
          </a:p>
        </p:txBody>
      </p:sp>
      <p:sp>
        <p:nvSpPr>
          <p:cNvPr id="7" name="q-badge"/>
          <p:cNvSpPr/>
          <p:nvPr/>
        </p:nvSpPr>
        <p:spPr>
          <a:xfrm>
            <a:off x="8092440" y="1417320"/>
            <a:ext cx="731520" cy="731520"/>
          </a:xfrm>
          <a:prstGeom prst="ellipse">
            <a:avLst/>
          </a:prstGeom>
          <a:solidFill>
            <a:srgbClr val="F7941D"/>
          </a:solidFill>
          <a:ln/>
        </p:spPr>
        <p:txBody>
          <a:bodyPr/>
          <a:lstStyle/>
          <a:p>
            <a:endParaRPr lang="ar-OM"/>
          </a:p>
        </p:txBody>
      </p:sp>
      <p:pic>
        <p:nvPicPr>
          <p:cNvPr id="8" name="q-icon" descr="preencoded.png"/>
          <p:cNvPicPr>
            <a:picLocks noChangeAspect="1"/>
          </p:cNvPicPr>
          <p:nvPr/>
        </p:nvPicPr>
        <p:blipFill>
          <a:blip r:embed="rId4"/>
          <a:stretch>
            <a:fillRect/>
          </a:stretch>
        </p:blipFill>
        <p:spPr>
          <a:xfrm>
            <a:off x="8293608" y="1618488"/>
            <a:ext cx="329184" cy="329184"/>
          </a:xfrm>
          <a:prstGeom prst="rect">
            <a:avLst/>
          </a:prstGeom>
        </p:spPr>
      </p:pic>
      <p:sp>
        <p:nvSpPr>
          <p:cNvPr id="9" name="pill"/>
          <p:cNvSpPr/>
          <p:nvPr/>
        </p:nvSpPr>
        <p:spPr>
          <a:xfrm>
            <a:off x="6035040" y="2926080"/>
            <a:ext cx="2286000" cy="914400"/>
          </a:xfrm>
          <a:prstGeom prst="roundRect">
            <a:avLst>
              <a:gd name="adj" fmla="val 50000"/>
            </a:avLst>
          </a:prstGeom>
          <a:solidFill>
            <a:srgbClr val="29B6D1"/>
          </a:solidFill>
          <a:ln/>
        </p:spPr>
        <p:txBody>
          <a:bodyPr wrap="square" lIns="0" tIns="0" rIns="0" bIns="0" rtlCol="0" anchor="ctr"/>
          <a:lstStyle/>
          <a:p>
            <a:pPr marL="0" indent="0" algn="ctr" rtl="1">
              <a:buNone/>
            </a:pPr>
            <a:r>
              <a:rPr lang="ar-OM" altLang="en-US" sz="2400" b="1" dirty="0">
                <a:solidFill>
                  <a:srgbClr val="FFFFFF"/>
                </a:solidFill>
                <a:latin typeface="Tahoma" pitchFamily="34" charset="0"/>
                <a:ea typeface="Tahoma" pitchFamily="34" charset="-122"/>
                <a:cs typeface="Tahoma" pitchFamily="34" charset="-120"/>
              </a:rPr>
              <a:t>البكسل</a:t>
            </a:r>
            <a:endParaRPr lang="ar-OM" sz="2400" dirty="0"/>
          </a:p>
        </p:txBody>
      </p:sp>
      <p:pic>
        <p:nvPicPr>
          <p:cNvPr id="10" name="ANS_OK_prior1" descr="إجابة صحيحة">
            <a:hlinkClick r:id="rId5" action="ppaction://hlinksldjump" tooltip=" ">
              <a:snd r:embed="rId6" name="correct.wav"/>
            </a:hlinkClick>
          </p:cNvPr>
          <p:cNvPicPr>
            <a:picLocks noChangeAspect="1"/>
          </p:cNvPicPr>
          <p:nvPr/>
        </p:nvPicPr>
        <p:blipFill>
          <a:blip r:embed="rId7"/>
          <a:stretch>
            <a:fillRect/>
          </a:stretch>
        </p:blipFill>
        <p:spPr>
          <a:xfrm>
            <a:off x="6035040" y="2926080"/>
            <a:ext cx="2286000" cy="914400"/>
          </a:xfrm>
          <a:prstGeom prst="rect">
            <a:avLst/>
          </a:prstGeom>
        </p:spPr>
      </p:pic>
      <p:sp>
        <p:nvSpPr>
          <p:cNvPr id="11" name="pill"/>
          <p:cNvSpPr/>
          <p:nvPr/>
        </p:nvSpPr>
        <p:spPr>
          <a:xfrm>
            <a:off x="3429000" y="2926080"/>
            <a:ext cx="2286000" cy="914400"/>
          </a:xfrm>
          <a:prstGeom prst="roundRect">
            <a:avLst>
              <a:gd name="adj" fmla="val 50000"/>
            </a:avLst>
          </a:prstGeom>
          <a:solidFill>
            <a:srgbClr val="EC4C8C"/>
          </a:solidFill>
          <a:ln/>
        </p:spPr>
        <p:txBody>
          <a:bodyPr wrap="square" lIns="0" tIns="0" rIns="0" bIns="0" rtlCol="0" anchor="ctr"/>
          <a:lstStyle/>
          <a:p>
            <a:pPr marL="0" indent="0" algn="ctr" rtl="1">
              <a:buNone/>
            </a:pPr>
            <a:r>
              <a:rPr lang="ar-OM" altLang="en-US" sz="2400" b="1" dirty="0">
                <a:solidFill>
                  <a:srgbClr val="FFFFFF"/>
                </a:solidFill>
                <a:latin typeface="Tahoma" pitchFamily="34" charset="0"/>
                <a:ea typeface="Tahoma" pitchFamily="34" charset="-122"/>
                <a:cs typeface="Tahoma" pitchFamily="34" charset="-120"/>
              </a:rPr>
              <a:t>الفأرة</a:t>
            </a:r>
            <a:endParaRPr lang="ar-OM" sz="2400" dirty="0"/>
          </a:p>
        </p:txBody>
      </p:sp>
      <p:pic>
        <p:nvPicPr>
          <p:cNvPr id="12" name="ANS_NO_prior1" descr="إجابة خاطئة">
            <a:hlinkClick r:id="rId8" action="ppaction://hlinksldjump" tooltip=" ">
              <a:snd r:embed="rId9" name="wrong.wav"/>
            </a:hlinkClick>
          </p:cNvPr>
          <p:cNvPicPr>
            <a:picLocks noChangeAspect="1"/>
          </p:cNvPicPr>
          <p:nvPr/>
        </p:nvPicPr>
        <p:blipFill>
          <a:blip r:embed="rId7"/>
          <a:stretch>
            <a:fillRect/>
          </a:stretch>
        </p:blipFill>
        <p:spPr>
          <a:xfrm>
            <a:off x="3429000" y="2926080"/>
            <a:ext cx="2286000" cy="914400"/>
          </a:xfrm>
          <a:prstGeom prst="rect">
            <a:avLst/>
          </a:prstGeom>
        </p:spPr>
      </p:pic>
      <p:sp>
        <p:nvSpPr>
          <p:cNvPr id="13" name="pill"/>
          <p:cNvSpPr/>
          <p:nvPr/>
        </p:nvSpPr>
        <p:spPr>
          <a:xfrm>
            <a:off x="822960" y="2926080"/>
            <a:ext cx="2286000" cy="914400"/>
          </a:xfrm>
          <a:prstGeom prst="roundRect">
            <a:avLst>
              <a:gd name="adj" fmla="val 50000"/>
            </a:avLst>
          </a:prstGeom>
          <a:solidFill>
            <a:srgbClr val="7AC143"/>
          </a:solidFill>
          <a:ln/>
        </p:spPr>
        <p:txBody>
          <a:bodyPr wrap="square" lIns="0" tIns="0" rIns="0" bIns="0" rtlCol="0" anchor="ctr"/>
          <a:lstStyle/>
          <a:p>
            <a:pPr marL="0" indent="0" algn="ctr" rtl="1">
              <a:buNone/>
            </a:pPr>
            <a:r>
              <a:rPr lang="ar-OM" altLang="en-US" sz="2400" b="1" dirty="0">
                <a:solidFill>
                  <a:srgbClr val="FFFFFF"/>
                </a:solidFill>
                <a:latin typeface="Tahoma" pitchFamily="34" charset="0"/>
                <a:ea typeface="Tahoma" pitchFamily="34" charset="-122"/>
                <a:cs typeface="Tahoma" pitchFamily="34" charset="-120"/>
              </a:rPr>
              <a:t>الشاشة</a:t>
            </a:r>
            <a:endParaRPr lang="ar-OM" sz="2400" dirty="0"/>
          </a:p>
        </p:txBody>
      </p:sp>
      <p:pic>
        <p:nvPicPr>
          <p:cNvPr id="14" name="ANS_NO_prior1" descr="إجابة خاطئة">
            <a:hlinkClick r:id="rId8" action="ppaction://hlinksldjump" tooltip=" ">
              <a:snd r:embed="rId9" name="wrong.wav"/>
            </a:hlinkClick>
          </p:cNvPr>
          <p:cNvPicPr>
            <a:picLocks noChangeAspect="1"/>
          </p:cNvPicPr>
          <p:nvPr/>
        </p:nvPicPr>
        <p:blipFill>
          <a:blip r:embed="rId7"/>
          <a:stretch>
            <a:fillRect/>
          </a:stretch>
        </p:blipFill>
        <p:spPr>
          <a:xfrm>
            <a:off x="822960" y="2926080"/>
            <a:ext cx="2286000" cy="914400"/>
          </a:xfrm>
          <a:prstGeom prst="rect">
            <a:avLst/>
          </a:prstGeom>
        </p:spPr>
      </p:pic>
    </p:spTree>
  </p:cSld>
  <p:clrMapOvr>
    <a:masterClrMapping/>
  </p:clrMapOvr>
  <p:transition spd="med" advClick="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F7941D"/>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هيّا نبدأ</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F7941D"/>
                </a:solidFill>
                <a:latin typeface="Tahoma" pitchFamily="34" charset="0"/>
                <a:ea typeface="Tahoma" pitchFamily="34" charset="-122"/>
                <a:cs typeface="Tahoma" pitchFamily="34" charset="-120"/>
              </a:rPr>
              <a:t>التمهيد</a:t>
            </a:r>
            <a:endParaRPr lang="ar-OM" sz="1600" dirty="0"/>
          </a:p>
        </p:txBody>
      </p:sp>
      <p:sp>
        <p:nvSpPr>
          <p:cNvPr id="6" name="card"/>
          <p:cNvSpPr/>
          <p:nvPr/>
        </p:nvSpPr>
        <p:spPr>
          <a:xfrm>
            <a:off x="502920" y="1188720"/>
            <a:ext cx="4206240" cy="3246120"/>
          </a:xfrm>
          <a:prstGeom prst="roundRect">
            <a:avLst>
              <a:gd name="adj" fmla="val 5070"/>
            </a:avLst>
          </a:prstGeom>
          <a:solidFill>
            <a:srgbClr val="FFFFFF"/>
          </a:solidFill>
          <a:ln w="31750">
            <a:solidFill>
              <a:srgbClr val="F7941D"/>
            </a:solidFill>
            <a:prstDash val="solid"/>
          </a:ln>
          <a:effectLst>
            <a:outerShdw blurRad="76200" dist="25400" dir="5400000" algn="bl" rotWithShape="0">
              <a:srgbClr val="5B2C83">
                <a:alpha val="18000"/>
              </a:srgbClr>
            </a:outerShdw>
          </a:effectLst>
        </p:spPr>
        <p:txBody>
          <a:bodyPr/>
          <a:lstStyle/>
          <a:p>
            <a:endParaRPr lang="ar-OM"/>
          </a:p>
        </p:txBody>
      </p:sp>
      <p:pic>
        <p:nvPicPr>
          <p:cNvPr id="7" name="shapes66" descr="img/shapes66.png"/>
          <p:cNvPicPr>
            <a:picLocks noChangeAspect="1"/>
          </p:cNvPicPr>
          <p:nvPr/>
        </p:nvPicPr>
        <p:blipFill>
          <a:blip r:embed="rId4"/>
          <a:srcRect/>
          <a:stretch/>
        </p:blipFill>
        <p:spPr>
          <a:xfrm>
            <a:off x="640080" y="1325880"/>
            <a:ext cx="3931920" cy="2971800"/>
          </a:xfrm>
          <a:prstGeom prst="rect">
            <a:avLst/>
          </a:prstGeom>
        </p:spPr>
      </p:pic>
      <p:sp>
        <p:nvSpPr>
          <p:cNvPr id="8" name="card"/>
          <p:cNvSpPr/>
          <p:nvPr/>
        </p:nvSpPr>
        <p:spPr>
          <a:xfrm>
            <a:off x="4983480" y="1234440"/>
            <a:ext cx="3657600" cy="914400"/>
          </a:xfrm>
          <a:prstGeom prst="roundRect">
            <a:avLst>
              <a:gd name="adj" fmla="val 18000"/>
            </a:avLst>
          </a:prstGeom>
          <a:solidFill>
            <a:srgbClr val="EAF8FB"/>
          </a:solidFill>
          <a:ln w="31750">
            <a:solidFill>
              <a:srgbClr val="29B6D1"/>
            </a:solidFill>
            <a:prstDash val="solid"/>
          </a:ln>
          <a:effectLst>
            <a:outerShdw blurRad="76200" dist="25400" dir="5400000" algn="bl" rotWithShape="0">
              <a:srgbClr val="5B2C83">
                <a:alpha val="18000"/>
              </a:srgbClr>
            </a:outerShdw>
          </a:effectLst>
        </p:spPr>
        <p:txBody>
          <a:bodyPr/>
          <a:lstStyle/>
          <a:p>
            <a:endParaRPr lang="ar-OM"/>
          </a:p>
        </p:txBody>
      </p:sp>
      <p:sp>
        <p:nvSpPr>
          <p:cNvPr id="9" name="label"/>
          <p:cNvSpPr txBox="1"/>
          <p:nvPr/>
        </p:nvSpPr>
        <p:spPr>
          <a:xfrm>
            <a:off x="5120640" y="1280160"/>
            <a:ext cx="3383280" cy="822960"/>
          </a:xfrm>
          <a:prstGeom prst="rect">
            <a:avLst/>
          </a:prstGeom>
          <a:noFill/>
          <a:ln/>
        </p:spPr>
        <p:txBody>
          <a:bodyPr wrap="square" lIns="0" tIns="0" rIns="0" bIns="0" rtlCol="0" anchor="ctr"/>
          <a:lstStyle/>
          <a:p>
            <a:pPr marL="0" indent="0" algn="r" rtl="1">
              <a:buNone/>
            </a:pPr>
            <a:r>
              <a:rPr lang="ar-OM" altLang="en-US" sz="2200" b="1" dirty="0">
                <a:solidFill>
                  <a:srgbClr val="2D1B4E"/>
                </a:solidFill>
                <a:latin typeface="Tahoma" pitchFamily="34" charset="0"/>
                <a:ea typeface="Tahoma" pitchFamily="34" charset="-122"/>
                <a:cs typeface="Tahoma" pitchFamily="34" charset="-120"/>
              </a:rPr>
              <a:t>ما أسماء هذه الأشكال؟</a:t>
            </a:r>
            <a:endParaRPr lang="ar-OM" sz="2200" dirty="0"/>
          </a:p>
        </p:txBody>
      </p:sp>
      <p:sp>
        <p:nvSpPr>
          <p:cNvPr id="10" name="card"/>
          <p:cNvSpPr/>
          <p:nvPr/>
        </p:nvSpPr>
        <p:spPr>
          <a:xfrm>
            <a:off x="4983480" y="2331720"/>
            <a:ext cx="3657600" cy="914400"/>
          </a:xfrm>
          <a:prstGeom prst="roundRect">
            <a:avLst>
              <a:gd name="adj" fmla="val 18000"/>
            </a:avLst>
          </a:prstGeom>
          <a:solidFill>
            <a:srgbClr val="FDEAF2"/>
          </a:solidFill>
          <a:ln w="31750">
            <a:solidFill>
              <a:srgbClr val="EC4C8C"/>
            </a:solidFill>
            <a:prstDash val="solid"/>
          </a:ln>
          <a:effectLst>
            <a:outerShdw blurRad="76200" dist="25400" dir="5400000" algn="bl" rotWithShape="0">
              <a:srgbClr val="5B2C83">
                <a:alpha val="18000"/>
              </a:srgbClr>
            </a:outerShdw>
          </a:effectLst>
        </p:spPr>
        <p:txBody>
          <a:bodyPr/>
          <a:lstStyle/>
          <a:p>
            <a:endParaRPr lang="ar-OM"/>
          </a:p>
        </p:txBody>
      </p:sp>
      <p:sp>
        <p:nvSpPr>
          <p:cNvPr id="11" name="label"/>
          <p:cNvSpPr txBox="1"/>
          <p:nvPr/>
        </p:nvSpPr>
        <p:spPr>
          <a:xfrm>
            <a:off x="5120640" y="2377440"/>
            <a:ext cx="3383280" cy="822960"/>
          </a:xfrm>
          <a:prstGeom prst="rect">
            <a:avLst/>
          </a:prstGeom>
          <a:noFill/>
          <a:ln/>
        </p:spPr>
        <p:txBody>
          <a:bodyPr wrap="square" lIns="0" tIns="0" rIns="0" bIns="0" rtlCol="0" anchor="ctr"/>
          <a:lstStyle/>
          <a:p>
            <a:pPr marL="0" indent="0" algn="r" rtl="1">
              <a:buNone/>
            </a:pPr>
            <a:r>
              <a:rPr lang="ar-OM" altLang="en-US" sz="2200" b="1" dirty="0">
                <a:solidFill>
                  <a:srgbClr val="2D1B4E"/>
                </a:solidFill>
                <a:latin typeface="Tahoma" pitchFamily="34" charset="0"/>
                <a:ea typeface="Tahoma" pitchFamily="34" charset="-122"/>
                <a:cs typeface="Tahoma" pitchFamily="34" charset="-120"/>
              </a:rPr>
              <a:t>ما لون كل شكل؟</a:t>
            </a:r>
            <a:endParaRPr lang="ar-OM" sz="2200" dirty="0"/>
          </a:p>
        </p:txBody>
      </p:sp>
      <p:sp>
        <p:nvSpPr>
          <p:cNvPr id="12" name="card"/>
          <p:cNvSpPr/>
          <p:nvPr/>
        </p:nvSpPr>
        <p:spPr>
          <a:xfrm>
            <a:off x="4983480" y="3429000"/>
            <a:ext cx="3657600" cy="914400"/>
          </a:xfrm>
          <a:prstGeom prst="roundRect">
            <a:avLst>
              <a:gd name="adj" fmla="val 18000"/>
            </a:avLst>
          </a:prstGeom>
          <a:solidFill>
            <a:srgbClr val="F1F9EA"/>
          </a:solidFill>
          <a:ln w="31750">
            <a:solidFill>
              <a:srgbClr val="7AC143"/>
            </a:solidFill>
            <a:prstDash val="solid"/>
          </a:ln>
          <a:effectLst>
            <a:outerShdw blurRad="76200" dist="25400" dir="5400000" algn="bl" rotWithShape="0">
              <a:srgbClr val="5B2C83">
                <a:alpha val="18000"/>
              </a:srgbClr>
            </a:outerShdw>
          </a:effectLst>
        </p:spPr>
        <p:txBody>
          <a:bodyPr/>
          <a:lstStyle/>
          <a:p>
            <a:endParaRPr lang="ar-OM"/>
          </a:p>
        </p:txBody>
      </p:sp>
      <p:sp>
        <p:nvSpPr>
          <p:cNvPr id="13" name="label"/>
          <p:cNvSpPr txBox="1"/>
          <p:nvPr/>
        </p:nvSpPr>
        <p:spPr>
          <a:xfrm>
            <a:off x="5120640" y="3474720"/>
            <a:ext cx="3383280" cy="822960"/>
          </a:xfrm>
          <a:prstGeom prst="rect">
            <a:avLst/>
          </a:prstGeom>
          <a:noFill/>
          <a:ln/>
        </p:spPr>
        <p:txBody>
          <a:bodyPr wrap="square" lIns="0" tIns="0" rIns="0" bIns="0" rtlCol="0" anchor="ctr"/>
          <a:lstStyle/>
          <a:p>
            <a:pPr marL="0" indent="0" algn="r" rtl="1">
              <a:buNone/>
            </a:pPr>
            <a:r>
              <a:rPr lang="ar-OM" altLang="en-US" sz="2000" b="1" dirty="0">
                <a:solidFill>
                  <a:srgbClr val="2D1B4E"/>
                </a:solidFill>
                <a:latin typeface="Tahoma" pitchFamily="34" charset="0"/>
                <a:ea typeface="Tahoma" pitchFamily="34" charset="-122"/>
                <a:cs typeface="Tahoma" pitchFamily="34" charset="-120"/>
              </a:rPr>
              <a:t>هل نستطيع أن نرسمها بالحاسوب؟</a:t>
            </a:r>
            <a:endParaRPr lang="ar-OM" sz="2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EC4C8C"/>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أهداف الدرس</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EC4C8C"/>
                </a:solidFill>
                <a:latin typeface="Tahoma" pitchFamily="34" charset="0"/>
                <a:ea typeface="Tahoma" pitchFamily="34" charset="-122"/>
                <a:cs typeface="Tahoma" pitchFamily="34" charset="-120"/>
              </a:rPr>
              <a:t>في نهاية الدرس سأكون قادرًا على أن:</a:t>
            </a:r>
            <a:endParaRPr lang="ar-OM" sz="1600" dirty="0"/>
          </a:p>
        </p:txBody>
      </p:sp>
      <p:sp>
        <p:nvSpPr>
          <p:cNvPr id="6" name="card"/>
          <p:cNvSpPr/>
          <p:nvPr/>
        </p:nvSpPr>
        <p:spPr>
          <a:xfrm>
            <a:off x="4709160" y="1463040"/>
            <a:ext cx="3749040" cy="1280160"/>
          </a:xfrm>
          <a:prstGeom prst="roundRect">
            <a:avLst>
              <a:gd name="adj" fmla="val 12857"/>
            </a:avLst>
          </a:prstGeom>
          <a:solidFill>
            <a:srgbClr val="FFFFFF"/>
          </a:solidFill>
          <a:ln w="31750">
            <a:solidFill>
              <a:srgbClr val="F7941D"/>
            </a:solidFill>
            <a:prstDash val="solid"/>
          </a:ln>
          <a:effectLst>
            <a:outerShdw blurRad="76200" dist="25400" dir="5400000" algn="bl" rotWithShape="0">
              <a:srgbClr val="5B2C83">
                <a:alpha val="18000"/>
              </a:srgbClr>
            </a:outerShdw>
          </a:effectLst>
        </p:spPr>
        <p:txBody>
          <a:bodyPr/>
          <a:lstStyle/>
          <a:p>
            <a:endParaRPr lang="ar-OM"/>
          </a:p>
        </p:txBody>
      </p:sp>
      <p:sp>
        <p:nvSpPr>
          <p:cNvPr id="7" name="goal-badge"/>
          <p:cNvSpPr/>
          <p:nvPr/>
        </p:nvSpPr>
        <p:spPr>
          <a:xfrm>
            <a:off x="7406640" y="1709928"/>
            <a:ext cx="786384" cy="786384"/>
          </a:xfrm>
          <a:prstGeom prst="ellipse">
            <a:avLst/>
          </a:prstGeom>
          <a:solidFill>
            <a:srgbClr val="F7941D"/>
          </a:solidFill>
          <a:ln/>
        </p:spPr>
        <p:txBody>
          <a:bodyPr/>
          <a:lstStyle/>
          <a:p>
            <a:endParaRPr lang="ar-OM"/>
          </a:p>
        </p:txBody>
      </p:sp>
      <p:pic>
        <p:nvPicPr>
          <p:cNvPr id="8" name="goal-icon" descr="preencoded.png"/>
          <p:cNvPicPr>
            <a:picLocks noChangeAspect="1"/>
          </p:cNvPicPr>
          <p:nvPr/>
        </p:nvPicPr>
        <p:blipFill>
          <a:blip r:embed="rId4"/>
          <a:stretch>
            <a:fillRect/>
          </a:stretch>
        </p:blipFill>
        <p:spPr>
          <a:xfrm>
            <a:off x="7607808" y="1911096"/>
            <a:ext cx="384048" cy="384048"/>
          </a:xfrm>
          <a:prstGeom prst="rect">
            <a:avLst/>
          </a:prstGeom>
        </p:spPr>
      </p:pic>
      <p:sp>
        <p:nvSpPr>
          <p:cNvPr id="9" name="label"/>
          <p:cNvSpPr txBox="1"/>
          <p:nvPr/>
        </p:nvSpPr>
        <p:spPr>
          <a:xfrm>
            <a:off x="4892040" y="1600200"/>
            <a:ext cx="2377440" cy="1005840"/>
          </a:xfrm>
          <a:prstGeom prst="rect">
            <a:avLst/>
          </a:prstGeom>
          <a:noFill/>
          <a:ln/>
        </p:spPr>
        <p:txBody>
          <a:bodyPr wrap="square" lIns="0" tIns="0" rIns="0" bIns="0" rtlCol="0" anchor="ctr"/>
          <a:lstStyle/>
          <a:p>
            <a:pPr marL="0" indent="0" algn="r" rtl="1">
              <a:buNone/>
            </a:pPr>
            <a:r>
              <a:rPr lang="ar-OM" altLang="en-US" sz="2000" b="1" dirty="0">
                <a:solidFill>
                  <a:srgbClr val="2D1B4E"/>
                </a:solidFill>
                <a:latin typeface="Tahoma" pitchFamily="34" charset="0"/>
                <a:ea typeface="Tahoma" pitchFamily="34" charset="-122"/>
                <a:cs typeface="Tahoma" pitchFamily="34" charset="-120"/>
              </a:rPr>
              <a:t>أفتح تطبيق الرسّام</a:t>
            </a:r>
            <a:endParaRPr lang="ar-OM" sz="2000" dirty="0"/>
          </a:p>
        </p:txBody>
      </p:sp>
      <p:sp>
        <p:nvSpPr>
          <p:cNvPr id="10" name="no"/>
          <p:cNvSpPr/>
          <p:nvPr/>
        </p:nvSpPr>
        <p:spPr>
          <a:xfrm>
            <a:off x="4599432" y="1353312"/>
            <a:ext cx="384048" cy="384048"/>
          </a:xfrm>
          <a:prstGeom prst="ellipse">
            <a:avLst/>
          </a:prstGeom>
          <a:solidFill>
            <a:srgbClr val="5B2C83"/>
          </a:solid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11" name="card"/>
          <p:cNvSpPr/>
          <p:nvPr/>
        </p:nvSpPr>
        <p:spPr>
          <a:xfrm>
            <a:off x="685800" y="1463040"/>
            <a:ext cx="3749040" cy="1280160"/>
          </a:xfrm>
          <a:prstGeom prst="roundRect">
            <a:avLst>
              <a:gd name="adj" fmla="val 12857"/>
            </a:avLst>
          </a:prstGeom>
          <a:solidFill>
            <a:srgbClr val="FFFFFF"/>
          </a:solidFill>
          <a:ln w="31750">
            <a:solidFill>
              <a:srgbClr val="7AC143"/>
            </a:solidFill>
            <a:prstDash val="solid"/>
          </a:ln>
          <a:effectLst>
            <a:outerShdw blurRad="76200" dist="25400" dir="5400000" algn="bl" rotWithShape="0">
              <a:srgbClr val="5B2C83">
                <a:alpha val="18000"/>
              </a:srgbClr>
            </a:outerShdw>
          </a:effectLst>
        </p:spPr>
        <p:txBody>
          <a:bodyPr/>
          <a:lstStyle/>
          <a:p>
            <a:endParaRPr lang="ar-OM"/>
          </a:p>
        </p:txBody>
      </p:sp>
      <p:sp>
        <p:nvSpPr>
          <p:cNvPr id="12" name="goal-badge"/>
          <p:cNvSpPr/>
          <p:nvPr/>
        </p:nvSpPr>
        <p:spPr>
          <a:xfrm>
            <a:off x="3383280" y="1709928"/>
            <a:ext cx="786384" cy="786384"/>
          </a:xfrm>
          <a:prstGeom prst="ellipse">
            <a:avLst/>
          </a:prstGeom>
          <a:solidFill>
            <a:srgbClr val="7AC143"/>
          </a:solidFill>
          <a:ln/>
        </p:spPr>
        <p:txBody>
          <a:bodyPr/>
          <a:lstStyle/>
          <a:p>
            <a:endParaRPr lang="ar-OM"/>
          </a:p>
        </p:txBody>
      </p:sp>
      <p:pic>
        <p:nvPicPr>
          <p:cNvPr id="13" name="goal-icon" descr="preencoded.png"/>
          <p:cNvPicPr>
            <a:picLocks noChangeAspect="1"/>
          </p:cNvPicPr>
          <p:nvPr/>
        </p:nvPicPr>
        <p:blipFill>
          <a:blip r:embed="rId5"/>
          <a:stretch>
            <a:fillRect/>
          </a:stretch>
        </p:blipFill>
        <p:spPr>
          <a:xfrm>
            <a:off x="3584448" y="1911096"/>
            <a:ext cx="384048" cy="384048"/>
          </a:xfrm>
          <a:prstGeom prst="rect">
            <a:avLst/>
          </a:prstGeom>
        </p:spPr>
      </p:pic>
      <p:sp>
        <p:nvSpPr>
          <p:cNvPr id="14" name="label"/>
          <p:cNvSpPr txBox="1"/>
          <p:nvPr/>
        </p:nvSpPr>
        <p:spPr>
          <a:xfrm>
            <a:off x="868680" y="1600200"/>
            <a:ext cx="2377440" cy="1005840"/>
          </a:xfrm>
          <a:prstGeom prst="rect">
            <a:avLst/>
          </a:prstGeom>
          <a:noFill/>
          <a:ln/>
        </p:spPr>
        <p:txBody>
          <a:bodyPr wrap="square" lIns="0" tIns="0" rIns="0" bIns="0" rtlCol="0" anchor="ctr"/>
          <a:lstStyle/>
          <a:p>
            <a:pPr marL="0" indent="0" algn="r" rtl="1">
              <a:buNone/>
            </a:pPr>
            <a:r>
              <a:rPr lang="ar-OM" altLang="en-US" sz="2000" b="1" dirty="0">
                <a:solidFill>
                  <a:srgbClr val="2D1B4E"/>
                </a:solidFill>
                <a:latin typeface="Tahoma" pitchFamily="34" charset="0"/>
                <a:ea typeface="Tahoma" pitchFamily="34" charset="-122"/>
                <a:cs typeface="Tahoma" pitchFamily="34" charset="-120"/>
              </a:rPr>
              <a:t>أتعرّف على أدواتي في الرسّام</a:t>
            </a:r>
            <a:endParaRPr lang="ar-OM" sz="2000" dirty="0"/>
          </a:p>
        </p:txBody>
      </p:sp>
      <p:sp>
        <p:nvSpPr>
          <p:cNvPr id="15" name="no"/>
          <p:cNvSpPr/>
          <p:nvPr/>
        </p:nvSpPr>
        <p:spPr>
          <a:xfrm>
            <a:off x="576072" y="1353312"/>
            <a:ext cx="384048" cy="384048"/>
          </a:xfrm>
          <a:prstGeom prst="ellipse">
            <a:avLst/>
          </a:prstGeom>
          <a:solidFill>
            <a:srgbClr val="5B2C83"/>
          </a:solid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6" name="card"/>
          <p:cNvSpPr/>
          <p:nvPr/>
        </p:nvSpPr>
        <p:spPr>
          <a:xfrm>
            <a:off x="4709160" y="3017520"/>
            <a:ext cx="3749040" cy="1280160"/>
          </a:xfrm>
          <a:prstGeom prst="roundRect">
            <a:avLst>
              <a:gd name="adj" fmla="val 12857"/>
            </a:avLst>
          </a:prstGeom>
          <a:solidFill>
            <a:srgbClr val="FFFFFF"/>
          </a:solidFill>
          <a:ln w="31750">
            <a:solidFill>
              <a:srgbClr val="29B6D1"/>
            </a:solidFill>
            <a:prstDash val="solid"/>
          </a:ln>
          <a:effectLst>
            <a:outerShdw blurRad="76200" dist="25400" dir="5400000" algn="bl" rotWithShape="0">
              <a:srgbClr val="5B2C83">
                <a:alpha val="18000"/>
              </a:srgbClr>
            </a:outerShdw>
          </a:effectLst>
        </p:spPr>
        <p:txBody>
          <a:bodyPr/>
          <a:lstStyle/>
          <a:p>
            <a:endParaRPr lang="ar-OM"/>
          </a:p>
        </p:txBody>
      </p:sp>
      <p:sp>
        <p:nvSpPr>
          <p:cNvPr id="17" name="goal-badge"/>
          <p:cNvSpPr/>
          <p:nvPr/>
        </p:nvSpPr>
        <p:spPr>
          <a:xfrm>
            <a:off x="7406640" y="3264408"/>
            <a:ext cx="786384" cy="786384"/>
          </a:xfrm>
          <a:prstGeom prst="ellipse">
            <a:avLst/>
          </a:prstGeom>
          <a:solidFill>
            <a:srgbClr val="29B6D1"/>
          </a:solidFill>
          <a:ln/>
        </p:spPr>
        <p:txBody>
          <a:bodyPr/>
          <a:lstStyle/>
          <a:p>
            <a:endParaRPr lang="ar-OM"/>
          </a:p>
        </p:txBody>
      </p:sp>
      <p:pic>
        <p:nvPicPr>
          <p:cNvPr id="18" name="goal-icon" descr="preencoded.png"/>
          <p:cNvPicPr>
            <a:picLocks noChangeAspect="1"/>
          </p:cNvPicPr>
          <p:nvPr/>
        </p:nvPicPr>
        <p:blipFill>
          <a:blip r:embed="rId6"/>
          <a:stretch>
            <a:fillRect/>
          </a:stretch>
        </p:blipFill>
        <p:spPr>
          <a:xfrm>
            <a:off x="7607808" y="3465576"/>
            <a:ext cx="384048" cy="384048"/>
          </a:xfrm>
          <a:prstGeom prst="rect">
            <a:avLst/>
          </a:prstGeom>
        </p:spPr>
      </p:pic>
      <p:sp>
        <p:nvSpPr>
          <p:cNvPr id="19" name="label"/>
          <p:cNvSpPr txBox="1"/>
          <p:nvPr/>
        </p:nvSpPr>
        <p:spPr>
          <a:xfrm>
            <a:off x="4892040" y="3154680"/>
            <a:ext cx="2377440" cy="1005840"/>
          </a:xfrm>
          <a:prstGeom prst="rect">
            <a:avLst/>
          </a:prstGeom>
          <a:noFill/>
          <a:ln/>
        </p:spPr>
        <p:txBody>
          <a:bodyPr wrap="square" lIns="0" tIns="0" rIns="0" bIns="0" rtlCol="0" anchor="ctr"/>
          <a:lstStyle/>
          <a:p>
            <a:pPr marL="0" indent="0" algn="r" rtl="1">
              <a:buNone/>
            </a:pPr>
            <a:r>
              <a:rPr lang="ar-OM" altLang="en-US" sz="2000" b="1" dirty="0">
                <a:solidFill>
                  <a:srgbClr val="2D1B4E"/>
                </a:solidFill>
                <a:latin typeface="Tahoma" pitchFamily="34" charset="0"/>
                <a:ea typeface="Tahoma" pitchFamily="34" charset="-122"/>
                <a:cs typeface="Tahoma" pitchFamily="34" charset="-120"/>
              </a:rPr>
              <a:t>أرسم شكلًا وألوّنه</a:t>
            </a:r>
            <a:endParaRPr lang="ar-OM" sz="2000" dirty="0"/>
          </a:p>
        </p:txBody>
      </p:sp>
      <p:sp>
        <p:nvSpPr>
          <p:cNvPr id="20" name="no"/>
          <p:cNvSpPr/>
          <p:nvPr/>
        </p:nvSpPr>
        <p:spPr>
          <a:xfrm>
            <a:off x="4599432" y="2907792"/>
            <a:ext cx="384048" cy="384048"/>
          </a:xfrm>
          <a:prstGeom prst="ellipse">
            <a:avLst/>
          </a:prstGeom>
          <a:solidFill>
            <a:srgbClr val="5B2C83"/>
          </a:solid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21" name="card"/>
          <p:cNvSpPr/>
          <p:nvPr/>
        </p:nvSpPr>
        <p:spPr>
          <a:xfrm>
            <a:off x="685800" y="3017520"/>
            <a:ext cx="3749040" cy="1280160"/>
          </a:xfrm>
          <a:prstGeom prst="roundRect">
            <a:avLst>
              <a:gd name="adj" fmla="val 12857"/>
            </a:avLst>
          </a:prstGeom>
          <a:solidFill>
            <a:srgbClr val="FFFFFF"/>
          </a:solidFill>
          <a:ln w="31750">
            <a:solidFill>
              <a:srgbClr val="EC4C8C"/>
            </a:solidFill>
            <a:prstDash val="solid"/>
          </a:ln>
          <a:effectLst>
            <a:outerShdw blurRad="76200" dist="25400" dir="5400000" algn="bl" rotWithShape="0">
              <a:srgbClr val="5B2C83">
                <a:alpha val="18000"/>
              </a:srgbClr>
            </a:outerShdw>
          </a:effectLst>
        </p:spPr>
        <p:txBody>
          <a:bodyPr/>
          <a:lstStyle/>
          <a:p>
            <a:endParaRPr lang="ar-OM"/>
          </a:p>
        </p:txBody>
      </p:sp>
      <p:sp>
        <p:nvSpPr>
          <p:cNvPr id="22" name="goal-badge"/>
          <p:cNvSpPr/>
          <p:nvPr/>
        </p:nvSpPr>
        <p:spPr>
          <a:xfrm>
            <a:off x="3383280" y="3264408"/>
            <a:ext cx="786384" cy="786384"/>
          </a:xfrm>
          <a:prstGeom prst="ellipse">
            <a:avLst/>
          </a:prstGeom>
          <a:solidFill>
            <a:srgbClr val="EC4C8C"/>
          </a:solidFill>
          <a:ln/>
        </p:spPr>
        <p:txBody>
          <a:bodyPr/>
          <a:lstStyle/>
          <a:p>
            <a:endParaRPr lang="ar-OM"/>
          </a:p>
        </p:txBody>
      </p:sp>
      <p:pic>
        <p:nvPicPr>
          <p:cNvPr id="23" name="goal-icon" descr="preencoded.png"/>
          <p:cNvPicPr>
            <a:picLocks noChangeAspect="1"/>
          </p:cNvPicPr>
          <p:nvPr/>
        </p:nvPicPr>
        <p:blipFill>
          <a:blip r:embed="rId7"/>
          <a:stretch>
            <a:fillRect/>
          </a:stretch>
        </p:blipFill>
        <p:spPr>
          <a:xfrm>
            <a:off x="3584448" y="3465576"/>
            <a:ext cx="384048" cy="384048"/>
          </a:xfrm>
          <a:prstGeom prst="rect">
            <a:avLst/>
          </a:prstGeom>
        </p:spPr>
      </p:pic>
      <p:sp>
        <p:nvSpPr>
          <p:cNvPr id="24" name="label"/>
          <p:cNvSpPr txBox="1"/>
          <p:nvPr/>
        </p:nvSpPr>
        <p:spPr>
          <a:xfrm>
            <a:off x="868680" y="3154680"/>
            <a:ext cx="2377440" cy="1005840"/>
          </a:xfrm>
          <a:prstGeom prst="rect">
            <a:avLst/>
          </a:prstGeom>
          <a:noFill/>
          <a:ln/>
        </p:spPr>
        <p:txBody>
          <a:bodyPr wrap="square" lIns="0" tIns="0" rIns="0" bIns="0" rtlCol="0" anchor="ctr"/>
          <a:lstStyle/>
          <a:p>
            <a:pPr marL="0" indent="0" algn="r" rtl="1">
              <a:buNone/>
            </a:pPr>
            <a:r>
              <a:rPr lang="ar-OM" altLang="en-US" sz="2000" b="1" dirty="0">
                <a:solidFill>
                  <a:srgbClr val="2D1B4E"/>
                </a:solidFill>
                <a:latin typeface="Tahoma" pitchFamily="34" charset="0"/>
                <a:ea typeface="Tahoma" pitchFamily="34" charset="-122"/>
                <a:cs typeface="Tahoma" pitchFamily="34" charset="-120"/>
              </a:rPr>
              <a:t>أمسح وأتراجع وأحفظ عملي</a:t>
            </a:r>
            <a:endParaRPr lang="ar-OM" sz="2000" dirty="0"/>
          </a:p>
        </p:txBody>
      </p:sp>
      <p:sp>
        <p:nvSpPr>
          <p:cNvPr id="25" name="no"/>
          <p:cNvSpPr/>
          <p:nvPr/>
        </p:nvSpPr>
        <p:spPr>
          <a:xfrm>
            <a:off x="576072" y="2907792"/>
            <a:ext cx="384048" cy="384048"/>
          </a:xfrm>
          <a:prstGeom prst="ellipse">
            <a:avLst/>
          </a:prstGeom>
          <a:solidFill>
            <a:srgbClr val="5B2C83"/>
          </a:solidFill>
          <a:ln/>
        </p:spPr>
        <p:txBody>
          <a:bodyPr wrap="square" lIns="0" tIns="0" rIns="0" bIns="0" rtlCol="0" anchor="ctr"/>
          <a:lstStyle/>
          <a:p>
            <a:pPr marL="0" indent="0" algn="ctr">
              <a:buNone/>
            </a:pPr>
            <a:r>
              <a:rPr lang="en-US" sz="1500" b="1" dirty="0">
                <a:solidFill>
                  <a:srgbClr val="FFFFFF"/>
                </a:solidFill>
              </a:rPr>
              <a:t>4</a:t>
            </a:r>
            <a:endParaRPr lang="en-US" sz="15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F7941D"/>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افْتَحْ تَطْبيقَ الرَّسّام (Paint)</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F7941D"/>
                </a:solidFill>
                <a:latin typeface="Tahoma" pitchFamily="34" charset="0"/>
                <a:ea typeface="Tahoma" pitchFamily="34" charset="-122"/>
                <a:cs typeface="Tahoma" pitchFamily="34" charset="-120"/>
              </a:rPr>
              <a:t>الهدف الأول</a:t>
            </a:r>
            <a:endParaRPr lang="ar-OM" sz="1600" dirty="0"/>
          </a:p>
        </p:txBody>
      </p:sp>
      <p:sp>
        <p:nvSpPr>
          <p:cNvPr id="6" name="card"/>
          <p:cNvSpPr/>
          <p:nvPr/>
        </p:nvSpPr>
        <p:spPr>
          <a:xfrm>
            <a:off x="6766560" y="1371600"/>
            <a:ext cx="1920240" cy="3108960"/>
          </a:xfrm>
          <a:prstGeom prst="roundRect">
            <a:avLst>
              <a:gd name="adj" fmla="val 8571"/>
            </a:avLst>
          </a:prstGeom>
          <a:solidFill>
            <a:srgbClr val="FFFFFF"/>
          </a:solidFill>
          <a:ln w="31750">
            <a:solidFill>
              <a:srgbClr val="F7941D"/>
            </a:solidFill>
            <a:prstDash val="solid"/>
          </a:ln>
          <a:effectLst>
            <a:outerShdw blurRad="76200" dist="25400" dir="5400000" algn="bl" rotWithShape="0">
              <a:srgbClr val="5B2C83">
                <a:alpha val="18000"/>
              </a:srgbClr>
            </a:outerShdw>
          </a:effectLst>
        </p:spPr>
        <p:txBody>
          <a:bodyPr/>
          <a:lstStyle/>
          <a:p>
            <a:endParaRPr lang="ar-OM"/>
          </a:p>
        </p:txBody>
      </p:sp>
      <p:pic>
        <p:nvPicPr>
          <p:cNvPr id="7" name="start1" descr="img/start1.png"/>
          <p:cNvPicPr>
            <a:picLocks noChangeAspect="1"/>
          </p:cNvPicPr>
          <p:nvPr/>
        </p:nvPicPr>
        <p:blipFill>
          <a:blip r:embed="rId4"/>
          <a:srcRect/>
          <a:stretch/>
        </p:blipFill>
        <p:spPr>
          <a:xfrm>
            <a:off x="6876288" y="1508760"/>
            <a:ext cx="1700784" cy="2148840"/>
          </a:xfrm>
          <a:prstGeom prst="rect">
            <a:avLst/>
          </a:prstGeom>
        </p:spPr>
      </p:pic>
      <p:sp>
        <p:nvSpPr>
          <p:cNvPr id="8" name="label"/>
          <p:cNvSpPr txBox="1"/>
          <p:nvPr/>
        </p:nvSpPr>
        <p:spPr>
          <a:xfrm>
            <a:off x="6858000" y="3703320"/>
            <a:ext cx="1737360" cy="685800"/>
          </a:xfrm>
          <a:prstGeom prst="rect">
            <a:avLst/>
          </a:prstGeom>
          <a:noFill/>
          <a:ln/>
        </p:spPr>
        <p:txBody>
          <a:bodyPr wrap="square" lIns="0" tIns="0" rIns="0" bIns="0" rtlCol="0" anchor="ctr"/>
          <a:lstStyle/>
          <a:p>
            <a:pPr marL="0" indent="0" algn="ctr" rtl="1">
              <a:buNone/>
            </a:pPr>
            <a:r>
              <a:rPr lang="ar-OM" altLang="en-US" sz="1400" b="1" dirty="0">
                <a:solidFill>
                  <a:srgbClr val="2D1B4E"/>
                </a:solidFill>
                <a:latin typeface="Tahoma" pitchFamily="34" charset="0"/>
                <a:ea typeface="Tahoma" pitchFamily="34" charset="-122"/>
                <a:cs typeface="Tahoma" pitchFamily="34" charset="-120"/>
              </a:rPr>
              <a:t>انقر زر ابدأ</a:t>
            </a:r>
            <a:endParaRPr lang="ar-OM" sz="1400" dirty="0"/>
          </a:p>
        </p:txBody>
      </p:sp>
      <p:sp>
        <p:nvSpPr>
          <p:cNvPr id="9" name="no"/>
          <p:cNvSpPr/>
          <p:nvPr/>
        </p:nvSpPr>
        <p:spPr>
          <a:xfrm>
            <a:off x="8394192" y="1234440"/>
            <a:ext cx="384048" cy="384048"/>
          </a:xfrm>
          <a:prstGeom prst="ellipse">
            <a:avLst/>
          </a:prstGeom>
          <a:solidFill>
            <a:srgbClr val="F7941D"/>
          </a:solid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10" name="card"/>
          <p:cNvSpPr/>
          <p:nvPr/>
        </p:nvSpPr>
        <p:spPr>
          <a:xfrm>
            <a:off x="4663440" y="1371600"/>
            <a:ext cx="1920240" cy="3108960"/>
          </a:xfrm>
          <a:prstGeom prst="roundRect">
            <a:avLst>
              <a:gd name="adj" fmla="val 8571"/>
            </a:avLst>
          </a:prstGeom>
          <a:solidFill>
            <a:srgbClr val="FFFFFF"/>
          </a:solidFill>
          <a:ln w="31750">
            <a:solidFill>
              <a:srgbClr val="7AC143"/>
            </a:solidFill>
            <a:prstDash val="solid"/>
          </a:ln>
          <a:effectLst>
            <a:outerShdw blurRad="76200" dist="25400" dir="5400000" algn="bl" rotWithShape="0">
              <a:srgbClr val="5B2C83">
                <a:alpha val="18000"/>
              </a:srgbClr>
            </a:outerShdw>
          </a:effectLst>
        </p:spPr>
        <p:txBody>
          <a:bodyPr/>
          <a:lstStyle/>
          <a:p>
            <a:endParaRPr lang="ar-OM"/>
          </a:p>
        </p:txBody>
      </p:sp>
      <p:pic>
        <p:nvPicPr>
          <p:cNvPr id="11" name="startmenu" descr="img/startmenu.png"/>
          <p:cNvPicPr>
            <a:picLocks noChangeAspect="1"/>
          </p:cNvPicPr>
          <p:nvPr/>
        </p:nvPicPr>
        <p:blipFill>
          <a:blip r:embed="rId5"/>
          <a:srcRect/>
          <a:stretch/>
        </p:blipFill>
        <p:spPr>
          <a:xfrm>
            <a:off x="4773168" y="1508760"/>
            <a:ext cx="1700784" cy="2148840"/>
          </a:xfrm>
          <a:prstGeom prst="rect">
            <a:avLst/>
          </a:prstGeom>
        </p:spPr>
      </p:pic>
      <p:sp>
        <p:nvSpPr>
          <p:cNvPr id="12" name="label"/>
          <p:cNvSpPr txBox="1"/>
          <p:nvPr/>
        </p:nvSpPr>
        <p:spPr>
          <a:xfrm>
            <a:off x="4754880" y="3703320"/>
            <a:ext cx="1737360" cy="685800"/>
          </a:xfrm>
          <a:prstGeom prst="rect">
            <a:avLst/>
          </a:prstGeom>
          <a:noFill/>
          <a:ln/>
        </p:spPr>
        <p:txBody>
          <a:bodyPr wrap="square" lIns="0" tIns="0" rIns="0" bIns="0" rtlCol="0" anchor="ctr"/>
          <a:lstStyle/>
          <a:p>
            <a:pPr marL="0" indent="0" algn="ctr" rtl="1">
              <a:buNone/>
            </a:pPr>
            <a:r>
              <a:rPr lang="ar-OM" altLang="en-US" sz="1400" b="1" dirty="0">
                <a:solidFill>
                  <a:srgbClr val="2D1B4E"/>
                </a:solidFill>
                <a:latin typeface="Tahoma" pitchFamily="34" charset="0"/>
                <a:ea typeface="Tahoma" pitchFamily="34" charset="-122"/>
                <a:cs typeface="Tahoma" pitchFamily="34" charset="-120"/>
              </a:rPr>
              <a:t>اسحب حتى حرف W</a:t>
            </a:r>
            <a:endParaRPr lang="ar-OM" sz="1400" dirty="0"/>
          </a:p>
        </p:txBody>
      </p:sp>
      <p:sp>
        <p:nvSpPr>
          <p:cNvPr id="13" name="no"/>
          <p:cNvSpPr/>
          <p:nvPr/>
        </p:nvSpPr>
        <p:spPr>
          <a:xfrm>
            <a:off x="6291072" y="1234440"/>
            <a:ext cx="384048" cy="384048"/>
          </a:xfrm>
          <a:prstGeom prst="ellipse">
            <a:avLst/>
          </a:prstGeom>
          <a:solidFill>
            <a:srgbClr val="7AC143"/>
          </a:solid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4" name="card"/>
          <p:cNvSpPr/>
          <p:nvPr/>
        </p:nvSpPr>
        <p:spPr>
          <a:xfrm>
            <a:off x="2560320" y="1371600"/>
            <a:ext cx="1920240" cy="3108960"/>
          </a:xfrm>
          <a:prstGeom prst="roundRect">
            <a:avLst>
              <a:gd name="adj" fmla="val 8571"/>
            </a:avLst>
          </a:prstGeom>
          <a:solidFill>
            <a:srgbClr val="FFFFFF"/>
          </a:solidFill>
          <a:ln w="31750">
            <a:solidFill>
              <a:srgbClr val="29B6D1"/>
            </a:solidFill>
            <a:prstDash val="solid"/>
          </a:ln>
          <a:effectLst>
            <a:outerShdw blurRad="76200" dist="25400" dir="5400000" algn="bl" rotWithShape="0">
              <a:srgbClr val="5B2C83">
                <a:alpha val="18000"/>
              </a:srgbClr>
            </a:outerShdw>
          </a:effectLst>
        </p:spPr>
        <p:txBody>
          <a:bodyPr/>
          <a:lstStyle/>
          <a:p>
            <a:endParaRPr lang="ar-OM"/>
          </a:p>
        </p:txBody>
      </p:sp>
      <p:pic>
        <p:nvPicPr>
          <p:cNvPr id="15" name="accessories" descr="img/accessories.png"/>
          <p:cNvPicPr>
            <a:picLocks noChangeAspect="1"/>
          </p:cNvPicPr>
          <p:nvPr/>
        </p:nvPicPr>
        <p:blipFill>
          <a:blip r:embed="rId6"/>
          <a:srcRect/>
          <a:stretch/>
        </p:blipFill>
        <p:spPr>
          <a:xfrm>
            <a:off x="2670048" y="1508760"/>
            <a:ext cx="1700784" cy="2148840"/>
          </a:xfrm>
          <a:prstGeom prst="rect">
            <a:avLst/>
          </a:prstGeom>
        </p:spPr>
      </p:pic>
      <p:sp>
        <p:nvSpPr>
          <p:cNvPr id="16" name="label"/>
          <p:cNvSpPr txBox="1"/>
          <p:nvPr/>
        </p:nvSpPr>
        <p:spPr>
          <a:xfrm>
            <a:off x="2651760" y="3703320"/>
            <a:ext cx="1737360" cy="685800"/>
          </a:xfrm>
          <a:prstGeom prst="rect">
            <a:avLst/>
          </a:prstGeom>
          <a:noFill/>
          <a:ln/>
        </p:spPr>
        <p:txBody>
          <a:bodyPr wrap="square" lIns="0" tIns="0" rIns="0" bIns="0" rtlCol="0" anchor="ctr"/>
          <a:lstStyle/>
          <a:p>
            <a:pPr marL="0" indent="0" algn="ctr" rtl="1">
              <a:buNone/>
            </a:pPr>
            <a:r>
              <a:rPr lang="ar-OM" altLang="en-US" sz="1400" b="1" dirty="0">
                <a:solidFill>
                  <a:srgbClr val="2D1B4E"/>
                </a:solidFill>
                <a:latin typeface="Tahoma" pitchFamily="34" charset="0"/>
                <a:ea typeface="Tahoma" pitchFamily="34" charset="-122"/>
                <a:cs typeface="Tahoma" pitchFamily="34" charset="-120"/>
              </a:rPr>
              <a:t>انقر Windows Accessories</a:t>
            </a:r>
            <a:endParaRPr lang="ar-OM" sz="1400" dirty="0"/>
          </a:p>
        </p:txBody>
      </p:sp>
      <p:sp>
        <p:nvSpPr>
          <p:cNvPr id="17" name="no"/>
          <p:cNvSpPr/>
          <p:nvPr/>
        </p:nvSpPr>
        <p:spPr>
          <a:xfrm>
            <a:off x="4187952" y="1234440"/>
            <a:ext cx="384048" cy="384048"/>
          </a:xfrm>
          <a:prstGeom prst="ellipse">
            <a:avLst/>
          </a:prstGeom>
          <a:solidFill>
            <a:srgbClr val="29B6D1"/>
          </a:solid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8" name="card"/>
          <p:cNvSpPr/>
          <p:nvPr/>
        </p:nvSpPr>
        <p:spPr>
          <a:xfrm>
            <a:off x="457200" y="1371600"/>
            <a:ext cx="1920240" cy="3108960"/>
          </a:xfrm>
          <a:prstGeom prst="roundRect">
            <a:avLst>
              <a:gd name="adj" fmla="val 8571"/>
            </a:avLst>
          </a:prstGeom>
          <a:solidFill>
            <a:srgbClr val="FFFFFF"/>
          </a:solidFill>
          <a:ln w="31750">
            <a:solidFill>
              <a:srgbClr val="EC4C8C"/>
            </a:solidFill>
            <a:prstDash val="solid"/>
          </a:ln>
          <a:effectLst>
            <a:outerShdw blurRad="76200" dist="25400" dir="5400000" algn="bl" rotWithShape="0">
              <a:srgbClr val="5B2C83">
                <a:alpha val="18000"/>
              </a:srgbClr>
            </a:outerShdw>
          </a:effectLst>
        </p:spPr>
        <p:txBody>
          <a:bodyPr/>
          <a:lstStyle/>
          <a:p>
            <a:endParaRPr lang="ar-OM"/>
          </a:p>
        </p:txBody>
      </p:sp>
      <p:pic>
        <p:nvPicPr>
          <p:cNvPr id="19" name="paintwin" descr="img/paintwin.png"/>
          <p:cNvPicPr>
            <a:picLocks noChangeAspect="1"/>
          </p:cNvPicPr>
          <p:nvPr/>
        </p:nvPicPr>
        <p:blipFill>
          <a:blip r:embed="rId7"/>
          <a:srcRect/>
          <a:stretch/>
        </p:blipFill>
        <p:spPr>
          <a:xfrm>
            <a:off x="566928" y="1508760"/>
            <a:ext cx="1700784" cy="2148840"/>
          </a:xfrm>
          <a:prstGeom prst="rect">
            <a:avLst/>
          </a:prstGeom>
        </p:spPr>
      </p:pic>
      <p:sp>
        <p:nvSpPr>
          <p:cNvPr id="20" name="label"/>
          <p:cNvSpPr txBox="1"/>
          <p:nvPr/>
        </p:nvSpPr>
        <p:spPr>
          <a:xfrm>
            <a:off x="548640" y="3703320"/>
            <a:ext cx="1737360" cy="685800"/>
          </a:xfrm>
          <a:prstGeom prst="rect">
            <a:avLst/>
          </a:prstGeom>
          <a:noFill/>
          <a:ln/>
        </p:spPr>
        <p:txBody>
          <a:bodyPr wrap="square" lIns="0" tIns="0" rIns="0" bIns="0" rtlCol="0" anchor="ctr"/>
          <a:lstStyle/>
          <a:p>
            <a:pPr marL="0" indent="0" algn="ctr" rtl="1">
              <a:buNone/>
            </a:pPr>
            <a:r>
              <a:rPr lang="ar-OM" altLang="en-US" sz="1400" b="1" dirty="0">
                <a:solidFill>
                  <a:srgbClr val="2D1B4E"/>
                </a:solidFill>
                <a:latin typeface="Tahoma" pitchFamily="34" charset="0"/>
                <a:ea typeface="Tahoma" pitchFamily="34" charset="-122"/>
                <a:cs typeface="Tahoma" pitchFamily="34" charset="-120"/>
              </a:rPr>
              <a:t>انقر Paint</a:t>
            </a:r>
            <a:endParaRPr lang="ar-OM" sz="1400" dirty="0"/>
          </a:p>
        </p:txBody>
      </p:sp>
      <p:sp>
        <p:nvSpPr>
          <p:cNvPr id="21" name="no"/>
          <p:cNvSpPr/>
          <p:nvPr/>
        </p:nvSpPr>
        <p:spPr>
          <a:xfrm>
            <a:off x="2084832" y="1234440"/>
            <a:ext cx="384048" cy="384048"/>
          </a:xfrm>
          <a:prstGeom prst="ellipse">
            <a:avLst/>
          </a:prstGeom>
          <a:solidFill>
            <a:srgbClr val="EC4C8C"/>
          </a:solidFill>
          <a:ln/>
        </p:spPr>
        <p:txBody>
          <a:bodyPr wrap="square" lIns="0" tIns="0" rIns="0" bIns="0" rtlCol="0" anchor="ctr"/>
          <a:lstStyle/>
          <a:p>
            <a:pPr marL="0" indent="0" algn="ctr">
              <a:buNone/>
            </a:pPr>
            <a:r>
              <a:rPr lang="en-US" sz="1500" b="1" dirty="0">
                <a:solidFill>
                  <a:srgbClr val="FFFFFF"/>
                </a:solidFill>
              </a:rPr>
              <a:t>4</a:t>
            </a:r>
            <a:endParaRPr lang="en-US" sz="15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F7941D"/>
          </a:solidFill>
          <a:ln/>
        </p:spPr>
        <p:txBody>
          <a:bodyPr/>
          <a:lstStyle/>
          <a:p>
            <a:endParaRPr lang="ar-OM"/>
          </a:p>
        </p:txBody>
      </p:sp>
      <p:pic>
        <p:nvPicPr>
          <p:cNvPr id="3" name="title-icon" descr="preencoded.png"/>
          <p:cNvPicPr>
            <a:picLocks noChangeAspect="1"/>
          </p:cNvPicPr>
          <p:nvPr/>
        </p:nvPicPr>
        <p:blipFill>
          <a:blip r:embed="rId5"/>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شاهد: كيف نفتح الرسّام؟</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F7941D"/>
                </a:solidFill>
                <a:latin typeface="Tahoma" pitchFamily="34" charset="0"/>
                <a:ea typeface="Tahoma" pitchFamily="34" charset="-122"/>
                <a:cs typeface="Tahoma" pitchFamily="34" charset="-120"/>
              </a:rPr>
              <a:t>شاهد المقطع بانتباه ثم أجب عن السؤال</a:t>
            </a:r>
            <a:endParaRPr lang="ar-OM" sz="1600" dirty="0"/>
          </a:p>
        </p:txBody>
      </p:sp>
      <p:sp>
        <p:nvSpPr>
          <p:cNvPr id="6" name="video-frame"/>
          <p:cNvSpPr/>
          <p:nvPr/>
        </p:nvSpPr>
        <p:spPr>
          <a:xfrm>
            <a:off x="1481328" y="1353312"/>
            <a:ext cx="6181344" cy="3310128"/>
          </a:xfrm>
          <a:prstGeom prst="roundRect">
            <a:avLst>
              <a:gd name="adj" fmla="val 3315"/>
            </a:avLst>
          </a:prstGeom>
          <a:solidFill>
            <a:srgbClr val="F7941D"/>
          </a:solidFill>
          <a:ln/>
        </p:spPr>
        <p:txBody>
          <a:bodyPr/>
          <a:lstStyle/>
          <a:p>
            <a:endParaRPr lang="ar-OM"/>
          </a:p>
        </p:txBody>
      </p:sp>
      <p:pic>
        <p:nvPicPr>
          <p:cNvPr id="7" name="video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00200" y="1463040"/>
            <a:ext cx="5943600" cy="3072384"/>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F7941D"/>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سؤال الهدف الأول</a:t>
            </a:r>
            <a:endParaRPr lang="ar-OM" sz="3800" dirty="0"/>
          </a:p>
        </p:txBody>
      </p:sp>
      <p:sp>
        <p:nvSpPr>
          <p:cNvPr id="5" name="question"/>
          <p:cNvSpPr/>
          <p:nvPr/>
        </p:nvSpPr>
        <p:spPr>
          <a:xfrm>
            <a:off x="640080" y="1234440"/>
            <a:ext cx="7315200" cy="868680"/>
          </a:xfrm>
          <a:prstGeom prst="roundRect">
            <a:avLst>
              <a:gd name="adj" fmla="val 21053"/>
            </a:avLst>
          </a:prstGeom>
          <a:solidFill>
            <a:srgbClr val="F1ECFA"/>
          </a:solidFill>
          <a:ln w="25400">
            <a:solidFill>
              <a:srgbClr val="5B2C83"/>
            </a:solidFill>
          </a:ln>
        </p:spPr>
        <p:txBody>
          <a:bodyPr wrap="square" lIns="1270" tIns="1270" rIns="1270" bIns="1270" rtlCol="0" anchor="ctr"/>
          <a:lstStyle/>
          <a:p>
            <a:pPr marL="0" indent="0" algn="ctr" rtl="1">
              <a:buNone/>
            </a:pPr>
            <a:r>
              <a:rPr lang="ar-OM" altLang="en-US" sz="3400" b="1" dirty="0">
                <a:solidFill>
                  <a:srgbClr val="5B2C83"/>
                </a:solidFill>
                <a:latin typeface="Sakkal Majalla" pitchFamily="34" charset="0"/>
                <a:ea typeface="Sakkal Majalla" pitchFamily="34" charset="-122"/>
                <a:cs typeface="Sakkal Majalla" pitchFamily="34" charset="-120"/>
              </a:rPr>
              <a:t>من أين نبدأ لنفتح تطبيق الرسّام؟</a:t>
            </a:r>
            <a:endParaRPr lang="ar-OM" sz="3400" dirty="0"/>
          </a:p>
        </p:txBody>
      </p:sp>
      <p:sp>
        <p:nvSpPr>
          <p:cNvPr id="6" name="q-badge"/>
          <p:cNvSpPr/>
          <p:nvPr/>
        </p:nvSpPr>
        <p:spPr>
          <a:xfrm>
            <a:off x="8092440" y="1303020"/>
            <a:ext cx="731520" cy="731520"/>
          </a:xfrm>
          <a:prstGeom prst="ellipse">
            <a:avLst/>
          </a:prstGeom>
          <a:solidFill>
            <a:srgbClr val="F7941D"/>
          </a:solidFill>
          <a:ln/>
        </p:spPr>
        <p:txBody>
          <a:bodyPr/>
          <a:lstStyle/>
          <a:p>
            <a:endParaRPr lang="ar-OM"/>
          </a:p>
        </p:txBody>
      </p:sp>
      <p:pic>
        <p:nvPicPr>
          <p:cNvPr id="7" name="q-icon" descr="preencoded.png"/>
          <p:cNvPicPr>
            <a:picLocks noChangeAspect="1"/>
          </p:cNvPicPr>
          <p:nvPr/>
        </p:nvPicPr>
        <p:blipFill>
          <a:blip r:embed="rId3"/>
          <a:stretch>
            <a:fillRect/>
          </a:stretch>
        </p:blipFill>
        <p:spPr>
          <a:xfrm>
            <a:off x="8293608" y="1504188"/>
            <a:ext cx="329184" cy="329184"/>
          </a:xfrm>
          <a:prstGeom prst="rect">
            <a:avLst/>
          </a:prstGeom>
        </p:spPr>
      </p:pic>
      <p:sp>
        <p:nvSpPr>
          <p:cNvPr id="8" name="card"/>
          <p:cNvSpPr/>
          <p:nvPr/>
        </p:nvSpPr>
        <p:spPr>
          <a:xfrm>
            <a:off x="6080760" y="2423160"/>
            <a:ext cx="2194560" cy="2057400"/>
          </a:xfrm>
          <a:prstGeom prst="roundRect">
            <a:avLst>
              <a:gd name="adj" fmla="val 8000"/>
            </a:avLst>
          </a:prstGeom>
          <a:solidFill>
            <a:srgbClr val="FFFFFF"/>
          </a:solidFill>
          <a:ln w="31750">
            <a:solidFill>
              <a:srgbClr val="29B6D1"/>
            </a:solidFill>
            <a:prstDash val="solid"/>
          </a:ln>
          <a:effectLst>
            <a:outerShdw blurRad="76200" dist="25400" dir="5400000" algn="bl" rotWithShape="0">
              <a:srgbClr val="5B2C83">
                <a:alpha val="18000"/>
              </a:srgbClr>
            </a:outerShdw>
          </a:effectLst>
        </p:spPr>
        <p:txBody>
          <a:bodyPr/>
          <a:lstStyle/>
          <a:p>
            <a:endParaRPr lang="ar-OM"/>
          </a:p>
        </p:txBody>
      </p:sp>
      <p:sp>
        <p:nvSpPr>
          <p:cNvPr id="9" name="opt-bg"/>
          <p:cNvSpPr/>
          <p:nvPr/>
        </p:nvSpPr>
        <p:spPr>
          <a:xfrm>
            <a:off x="6720840" y="2651760"/>
            <a:ext cx="914400" cy="914400"/>
          </a:xfrm>
          <a:prstGeom prst="ellipse">
            <a:avLst/>
          </a:prstGeom>
          <a:solidFill>
            <a:srgbClr val="29B6D1"/>
          </a:solidFill>
          <a:ln/>
        </p:spPr>
        <p:txBody>
          <a:bodyPr/>
          <a:lstStyle/>
          <a:p>
            <a:endParaRPr lang="ar-OM"/>
          </a:p>
        </p:txBody>
      </p:sp>
      <p:pic>
        <p:nvPicPr>
          <p:cNvPr id="10" name="opt-icon" descr="preencoded.png"/>
          <p:cNvPicPr>
            <a:picLocks noChangeAspect="1"/>
          </p:cNvPicPr>
          <p:nvPr/>
        </p:nvPicPr>
        <p:blipFill>
          <a:blip r:embed="rId4"/>
          <a:stretch>
            <a:fillRect/>
          </a:stretch>
        </p:blipFill>
        <p:spPr>
          <a:xfrm>
            <a:off x="6949440" y="2880360"/>
            <a:ext cx="457200" cy="457200"/>
          </a:xfrm>
          <a:prstGeom prst="rect">
            <a:avLst/>
          </a:prstGeom>
        </p:spPr>
      </p:pic>
      <p:sp>
        <p:nvSpPr>
          <p:cNvPr id="11" name="pill"/>
          <p:cNvSpPr/>
          <p:nvPr/>
        </p:nvSpPr>
        <p:spPr>
          <a:xfrm>
            <a:off x="6263640" y="3794760"/>
            <a:ext cx="1828800" cy="502920"/>
          </a:xfrm>
          <a:prstGeom prst="roundRect">
            <a:avLst>
              <a:gd name="adj" fmla="val 50000"/>
            </a:avLst>
          </a:prstGeom>
          <a:solidFill>
            <a:srgbClr val="29B6D1"/>
          </a:solidFill>
          <a:ln/>
        </p:spPr>
        <p:txBody>
          <a:bodyPr wrap="square" lIns="0" tIns="0" rIns="0" bIns="0" rtlCol="0" anchor="ctr"/>
          <a:lstStyle/>
          <a:p>
            <a:pPr marL="0" indent="0" algn="ctr" rtl="1">
              <a:buNone/>
            </a:pPr>
            <a:r>
              <a:rPr lang="ar-OM" altLang="en-US" sz="1500" b="1" dirty="0">
                <a:solidFill>
                  <a:srgbClr val="FFFFFF"/>
                </a:solidFill>
                <a:latin typeface="Tahoma" pitchFamily="34" charset="0"/>
                <a:ea typeface="Tahoma" pitchFamily="34" charset="-122"/>
                <a:cs typeface="Tahoma" pitchFamily="34" charset="-120"/>
              </a:rPr>
              <a:t>زر ابدأ</a:t>
            </a:r>
            <a:endParaRPr lang="ar-OM" sz="1500" dirty="0"/>
          </a:p>
        </p:txBody>
      </p:sp>
      <p:pic>
        <p:nvPicPr>
          <p:cNvPr id="12" name="ANS_OK_q1" descr="إجابة صحيحة">
            <a:hlinkClick r:id="rId5" action="ppaction://hlinksldjump" tooltip=" ">
              <a:snd r:embed="rId6" name="correct.wav"/>
            </a:hlinkClick>
          </p:cNvPr>
          <p:cNvPicPr>
            <a:picLocks noChangeAspect="1"/>
          </p:cNvPicPr>
          <p:nvPr/>
        </p:nvPicPr>
        <p:blipFill>
          <a:blip r:embed="rId7"/>
          <a:stretch>
            <a:fillRect/>
          </a:stretch>
        </p:blipFill>
        <p:spPr>
          <a:xfrm>
            <a:off x="6080760" y="2423160"/>
            <a:ext cx="2194560" cy="2057400"/>
          </a:xfrm>
          <a:prstGeom prst="rect">
            <a:avLst/>
          </a:prstGeom>
        </p:spPr>
      </p:pic>
      <p:sp>
        <p:nvSpPr>
          <p:cNvPr id="13" name="card"/>
          <p:cNvSpPr/>
          <p:nvPr/>
        </p:nvSpPr>
        <p:spPr>
          <a:xfrm>
            <a:off x="3474720" y="2423160"/>
            <a:ext cx="2194560" cy="2057400"/>
          </a:xfrm>
          <a:prstGeom prst="roundRect">
            <a:avLst>
              <a:gd name="adj" fmla="val 8000"/>
            </a:avLst>
          </a:prstGeom>
          <a:solidFill>
            <a:srgbClr val="FFFFFF"/>
          </a:solidFill>
          <a:ln w="31750">
            <a:solidFill>
              <a:srgbClr val="EC4C8C"/>
            </a:solidFill>
            <a:prstDash val="solid"/>
          </a:ln>
          <a:effectLst>
            <a:outerShdw blurRad="76200" dist="25400" dir="5400000" algn="bl" rotWithShape="0">
              <a:srgbClr val="5B2C83">
                <a:alpha val="18000"/>
              </a:srgbClr>
            </a:outerShdw>
          </a:effectLst>
        </p:spPr>
        <p:txBody>
          <a:bodyPr/>
          <a:lstStyle/>
          <a:p>
            <a:endParaRPr lang="ar-OM"/>
          </a:p>
        </p:txBody>
      </p:sp>
      <p:sp>
        <p:nvSpPr>
          <p:cNvPr id="14" name="opt-bg"/>
          <p:cNvSpPr/>
          <p:nvPr/>
        </p:nvSpPr>
        <p:spPr>
          <a:xfrm>
            <a:off x="4114800" y="2651760"/>
            <a:ext cx="914400" cy="914400"/>
          </a:xfrm>
          <a:prstGeom prst="ellipse">
            <a:avLst/>
          </a:prstGeom>
          <a:solidFill>
            <a:srgbClr val="EC4C8C"/>
          </a:solidFill>
          <a:ln/>
        </p:spPr>
        <p:txBody>
          <a:bodyPr/>
          <a:lstStyle/>
          <a:p>
            <a:endParaRPr lang="ar-OM"/>
          </a:p>
        </p:txBody>
      </p:sp>
      <p:pic>
        <p:nvPicPr>
          <p:cNvPr id="15" name="opt-icon" descr="preencoded.png"/>
          <p:cNvPicPr>
            <a:picLocks noChangeAspect="1"/>
          </p:cNvPicPr>
          <p:nvPr/>
        </p:nvPicPr>
        <p:blipFill>
          <a:blip r:embed="rId8"/>
          <a:stretch>
            <a:fillRect/>
          </a:stretch>
        </p:blipFill>
        <p:spPr>
          <a:xfrm>
            <a:off x="4343400" y="2880360"/>
            <a:ext cx="457200" cy="457200"/>
          </a:xfrm>
          <a:prstGeom prst="rect">
            <a:avLst/>
          </a:prstGeom>
        </p:spPr>
      </p:pic>
      <p:sp>
        <p:nvSpPr>
          <p:cNvPr id="16" name="pill"/>
          <p:cNvSpPr/>
          <p:nvPr/>
        </p:nvSpPr>
        <p:spPr>
          <a:xfrm>
            <a:off x="3657600" y="3794760"/>
            <a:ext cx="1828800" cy="502920"/>
          </a:xfrm>
          <a:prstGeom prst="roundRect">
            <a:avLst>
              <a:gd name="adj" fmla="val 50000"/>
            </a:avLst>
          </a:prstGeom>
          <a:solidFill>
            <a:srgbClr val="EC4C8C"/>
          </a:solidFill>
          <a:ln/>
        </p:spPr>
        <p:txBody>
          <a:bodyPr wrap="square" lIns="0" tIns="0" rIns="0" bIns="0" rtlCol="0" anchor="ctr"/>
          <a:lstStyle/>
          <a:p>
            <a:pPr marL="0" indent="0" algn="ctr" rtl="1">
              <a:buNone/>
            </a:pPr>
            <a:r>
              <a:rPr lang="ar-OM" altLang="en-US" sz="1500" b="1" dirty="0">
                <a:solidFill>
                  <a:srgbClr val="FFFFFF"/>
                </a:solidFill>
                <a:latin typeface="Tahoma" pitchFamily="34" charset="0"/>
                <a:ea typeface="Tahoma" pitchFamily="34" charset="-122"/>
                <a:cs typeface="Tahoma" pitchFamily="34" charset="-120"/>
              </a:rPr>
              <a:t>الساعة</a:t>
            </a:r>
            <a:endParaRPr lang="ar-OM" sz="1500" dirty="0"/>
          </a:p>
        </p:txBody>
      </p:sp>
      <p:pic>
        <p:nvPicPr>
          <p:cNvPr id="17" name="ANS_NO_q1" descr="إجابة خاطئة">
            <a:hlinkClick r:id="rId9" action="ppaction://hlinksldjump" tooltip=" ">
              <a:snd r:embed="rId10" name="wrong.wav"/>
            </a:hlinkClick>
          </p:cNvPr>
          <p:cNvPicPr>
            <a:picLocks noChangeAspect="1"/>
          </p:cNvPicPr>
          <p:nvPr/>
        </p:nvPicPr>
        <p:blipFill>
          <a:blip r:embed="rId7"/>
          <a:stretch>
            <a:fillRect/>
          </a:stretch>
        </p:blipFill>
        <p:spPr>
          <a:xfrm>
            <a:off x="3474720" y="2423160"/>
            <a:ext cx="2194560" cy="2057400"/>
          </a:xfrm>
          <a:prstGeom prst="rect">
            <a:avLst/>
          </a:prstGeom>
        </p:spPr>
      </p:pic>
      <p:sp>
        <p:nvSpPr>
          <p:cNvPr id="18" name="card"/>
          <p:cNvSpPr/>
          <p:nvPr/>
        </p:nvSpPr>
        <p:spPr>
          <a:xfrm>
            <a:off x="868680" y="2423160"/>
            <a:ext cx="2194560" cy="2057400"/>
          </a:xfrm>
          <a:prstGeom prst="roundRect">
            <a:avLst>
              <a:gd name="adj" fmla="val 8000"/>
            </a:avLst>
          </a:prstGeom>
          <a:solidFill>
            <a:srgbClr val="FFFFFF"/>
          </a:solidFill>
          <a:ln w="31750">
            <a:solidFill>
              <a:srgbClr val="7AC143"/>
            </a:solidFill>
            <a:prstDash val="solid"/>
          </a:ln>
          <a:effectLst>
            <a:outerShdw blurRad="76200" dist="25400" dir="5400000" algn="bl" rotWithShape="0">
              <a:srgbClr val="5B2C83">
                <a:alpha val="18000"/>
              </a:srgbClr>
            </a:outerShdw>
          </a:effectLst>
        </p:spPr>
        <p:txBody>
          <a:bodyPr/>
          <a:lstStyle/>
          <a:p>
            <a:endParaRPr lang="ar-OM"/>
          </a:p>
        </p:txBody>
      </p:sp>
      <p:sp>
        <p:nvSpPr>
          <p:cNvPr id="19" name="opt-bg"/>
          <p:cNvSpPr/>
          <p:nvPr/>
        </p:nvSpPr>
        <p:spPr>
          <a:xfrm>
            <a:off x="1508760" y="2651760"/>
            <a:ext cx="914400" cy="914400"/>
          </a:xfrm>
          <a:prstGeom prst="ellipse">
            <a:avLst/>
          </a:prstGeom>
          <a:solidFill>
            <a:srgbClr val="7AC143"/>
          </a:solidFill>
          <a:ln/>
        </p:spPr>
        <p:txBody>
          <a:bodyPr/>
          <a:lstStyle/>
          <a:p>
            <a:endParaRPr lang="ar-OM"/>
          </a:p>
        </p:txBody>
      </p:sp>
      <p:pic>
        <p:nvPicPr>
          <p:cNvPr id="20" name="opt-icon" descr="preencoded.png"/>
          <p:cNvPicPr>
            <a:picLocks noChangeAspect="1"/>
          </p:cNvPicPr>
          <p:nvPr/>
        </p:nvPicPr>
        <p:blipFill>
          <a:blip r:embed="rId11"/>
          <a:stretch>
            <a:fillRect/>
          </a:stretch>
        </p:blipFill>
        <p:spPr>
          <a:xfrm>
            <a:off x="1737360" y="2880360"/>
            <a:ext cx="457200" cy="457200"/>
          </a:xfrm>
          <a:prstGeom prst="rect">
            <a:avLst/>
          </a:prstGeom>
        </p:spPr>
      </p:pic>
      <p:sp>
        <p:nvSpPr>
          <p:cNvPr id="21" name="pill"/>
          <p:cNvSpPr/>
          <p:nvPr/>
        </p:nvSpPr>
        <p:spPr>
          <a:xfrm>
            <a:off x="1051560" y="3794760"/>
            <a:ext cx="1828800" cy="502920"/>
          </a:xfrm>
          <a:prstGeom prst="roundRect">
            <a:avLst>
              <a:gd name="adj" fmla="val 50000"/>
            </a:avLst>
          </a:prstGeom>
          <a:solidFill>
            <a:srgbClr val="7AC143"/>
          </a:solidFill>
          <a:ln/>
        </p:spPr>
        <p:txBody>
          <a:bodyPr wrap="square" lIns="0" tIns="0" rIns="0" bIns="0" rtlCol="0" anchor="ctr"/>
          <a:lstStyle/>
          <a:p>
            <a:pPr marL="0" indent="0" algn="ctr" rtl="1">
              <a:buNone/>
            </a:pPr>
            <a:r>
              <a:rPr lang="ar-OM" altLang="en-US" sz="1500" b="1" dirty="0">
                <a:solidFill>
                  <a:srgbClr val="FFFFFF"/>
                </a:solidFill>
                <a:latin typeface="Tahoma" pitchFamily="34" charset="0"/>
                <a:ea typeface="Tahoma" pitchFamily="34" charset="-122"/>
                <a:cs typeface="Tahoma" pitchFamily="34" charset="-120"/>
              </a:rPr>
              <a:t>سلة المحذوفات</a:t>
            </a:r>
            <a:endParaRPr lang="ar-OM" sz="1500" dirty="0"/>
          </a:p>
        </p:txBody>
      </p:sp>
      <p:pic>
        <p:nvPicPr>
          <p:cNvPr id="22" name="ANS_NO_q1" descr="إجابة خاطئة">
            <a:hlinkClick r:id="rId9" action="ppaction://hlinksldjump" tooltip=" ">
              <a:snd r:embed="rId10" name="wrong.wav"/>
            </a:hlinkClick>
          </p:cNvPr>
          <p:cNvPicPr>
            <a:picLocks noChangeAspect="1"/>
          </p:cNvPicPr>
          <p:nvPr/>
        </p:nvPicPr>
        <p:blipFill>
          <a:blip r:embed="rId7"/>
          <a:stretch>
            <a:fillRect/>
          </a:stretch>
        </p:blipFill>
        <p:spPr>
          <a:xfrm>
            <a:off x="868680" y="2423160"/>
            <a:ext cx="2194560" cy="2057400"/>
          </a:xfrm>
          <a:prstGeom prst="rect">
            <a:avLst/>
          </a:prstGeom>
        </p:spPr>
      </p:pic>
    </p:spTree>
  </p:cSld>
  <p:clrMapOvr>
    <a:masterClrMapping/>
  </p:clrMapOvr>
  <p:transition spd="med" advClick="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7AC143"/>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أَدَواتي في تَطْبيقِ الرَّسّام</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7AC143"/>
                </a:solidFill>
                <a:latin typeface="Tahoma" pitchFamily="34" charset="0"/>
                <a:ea typeface="Tahoma" pitchFamily="34" charset="-122"/>
                <a:cs typeface="Tahoma" pitchFamily="34" charset="-120"/>
              </a:rPr>
              <a:t>الهدف الثاني</a:t>
            </a:r>
            <a:endParaRPr lang="ar-OM" sz="1600" dirty="0"/>
          </a:p>
        </p:txBody>
      </p:sp>
      <p:sp>
        <p:nvSpPr>
          <p:cNvPr id="6" name="card"/>
          <p:cNvSpPr/>
          <p:nvPr/>
        </p:nvSpPr>
        <p:spPr>
          <a:xfrm>
            <a:off x="6766560" y="1371600"/>
            <a:ext cx="1920240" cy="3108960"/>
          </a:xfrm>
          <a:prstGeom prst="roundRect">
            <a:avLst>
              <a:gd name="adj" fmla="val 8571"/>
            </a:avLst>
          </a:prstGeom>
          <a:solidFill>
            <a:srgbClr val="FFFFFF"/>
          </a:solidFill>
          <a:ln w="31750">
            <a:solidFill>
              <a:srgbClr val="F7941D"/>
            </a:solidFill>
            <a:prstDash val="solid"/>
          </a:ln>
          <a:effectLst>
            <a:outerShdw blurRad="76200" dist="25400" dir="5400000" algn="bl" rotWithShape="0">
              <a:srgbClr val="5B2C83">
                <a:alpha val="18000"/>
              </a:srgbClr>
            </a:outerShdw>
          </a:effectLst>
        </p:spPr>
        <p:txBody>
          <a:bodyPr/>
          <a:lstStyle/>
          <a:p>
            <a:endParaRPr lang="ar-OM"/>
          </a:p>
        </p:txBody>
      </p:sp>
      <p:pic>
        <p:nvPicPr>
          <p:cNvPr id="7" name="palette" descr="img/palette.png"/>
          <p:cNvPicPr>
            <a:picLocks noChangeAspect="1"/>
          </p:cNvPicPr>
          <p:nvPr/>
        </p:nvPicPr>
        <p:blipFill>
          <a:blip r:embed="rId4"/>
          <a:srcRect/>
          <a:stretch/>
        </p:blipFill>
        <p:spPr>
          <a:xfrm>
            <a:off x="7040880" y="1554480"/>
            <a:ext cx="1371600" cy="1463040"/>
          </a:xfrm>
          <a:prstGeom prst="rect">
            <a:avLst/>
          </a:prstGeom>
        </p:spPr>
      </p:pic>
      <p:sp>
        <p:nvSpPr>
          <p:cNvPr id="8" name="pill"/>
          <p:cNvSpPr/>
          <p:nvPr/>
        </p:nvSpPr>
        <p:spPr>
          <a:xfrm>
            <a:off x="6949440" y="3154680"/>
            <a:ext cx="1554480" cy="502920"/>
          </a:xfrm>
          <a:prstGeom prst="roundRect">
            <a:avLst>
              <a:gd name="adj" fmla="val 50000"/>
            </a:avLst>
          </a:prstGeom>
          <a:solidFill>
            <a:srgbClr val="F7941D"/>
          </a:solidFill>
          <a:ln/>
        </p:spPr>
        <p:txBody>
          <a:bodyPr wrap="square" lIns="0" tIns="0" rIns="0" bIns="0" rtlCol="0" anchor="ctr"/>
          <a:lstStyle/>
          <a:p>
            <a:pPr marL="0" indent="0" algn="ctr" rtl="1">
              <a:buNone/>
            </a:pPr>
            <a:r>
              <a:rPr lang="ar-OM" altLang="en-US" sz="1800" b="1" dirty="0">
                <a:solidFill>
                  <a:srgbClr val="FFFFFF"/>
                </a:solidFill>
                <a:latin typeface="Tahoma" pitchFamily="34" charset="0"/>
                <a:ea typeface="Tahoma" pitchFamily="34" charset="-122"/>
                <a:cs typeface="Tahoma" pitchFamily="34" charset="-120"/>
              </a:rPr>
              <a:t>الألوان</a:t>
            </a:r>
            <a:endParaRPr lang="ar-OM" sz="1800" dirty="0"/>
          </a:p>
        </p:txBody>
      </p:sp>
      <p:sp>
        <p:nvSpPr>
          <p:cNvPr id="9" name="en"/>
          <p:cNvSpPr/>
          <p:nvPr/>
        </p:nvSpPr>
        <p:spPr>
          <a:xfrm>
            <a:off x="6949440" y="3749040"/>
            <a:ext cx="1554480" cy="457200"/>
          </a:xfrm>
          <a:prstGeom prst="rect">
            <a:avLst/>
          </a:prstGeom>
          <a:noFill/>
          <a:ln/>
        </p:spPr>
        <p:txBody>
          <a:bodyPr wrap="square" lIns="0" tIns="0" rIns="0" bIns="0" rtlCol="0" anchor="ctr"/>
          <a:lstStyle/>
          <a:p>
            <a:pPr marL="0" indent="0" algn="ctr">
              <a:buNone/>
            </a:pPr>
            <a:r>
              <a:rPr lang="en-US" sz="1800" b="1" dirty="0">
                <a:solidFill>
                  <a:srgbClr val="F7941D"/>
                </a:solidFill>
                <a:latin typeface="Tahoma" pitchFamily="34" charset="0"/>
                <a:ea typeface="Tahoma" pitchFamily="34" charset="-122"/>
                <a:cs typeface="Tahoma" pitchFamily="34" charset="-120"/>
              </a:rPr>
              <a:t>Colors</a:t>
            </a:r>
            <a:endParaRPr lang="en-US" sz="1800" dirty="0"/>
          </a:p>
        </p:txBody>
      </p:sp>
      <p:sp>
        <p:nvSpPr>
          <p:cNvPr id="10" name="card"/>
          <p:cNvSpPr/>
          <p:nvPr/>
        </p:nvSpPr>
        <p:spPr>
          <a:xfrm>
            <a:off x="4663440" y="1371600"/>
            <a:ext cx="1920240" cy="3108960"/>
          </a:xfrm>
          <a:prstGeom prst="roundRect">
            <a:avLst>
              <a:gd name="adj" fmla="val 8571"/>
            </a:avLst>
          </a:prstGeom>
          <a:solidFill>
            <a:srgbClr val="FFFFFF"/>
          </a:solidFill>
          <a:ln w="31750">
            <a:solidFill>
              <a:srgbClr val="29B6D1"/>
            </a:solidFill>
            <a:prstDash val="solid"/>
          </a:ln>
          <a:effectLst>
            <a:outerShdw blurRad="76200" dist="25400" dir="5400000" algn="bl" rotWithShape="0">
              <a:srgbClr val="5B2C83">
                <a:alpha val="18000"/>
              </a:srgbClr>
            </a:outerShdw>
          </a:effectLst>
        </p:spPr>
        <p:txBody>
          <a:bodyPr/>
          <a:lstStyle/>
          <a:p>
            <a:endParaRPr lang="ar-OM"/>
          </a:p>
        </p:txBody>
      </p:sp>
      <p:pic>
        <p:nvPicPr>
          <p:cNvPr id="11" name="shapesic" descr="img/shapesic.png"/>
          <p:cNvPicPr>
            <a:picLocks noChangeAspect="1"/>
          </p:cNvPicPr>
          <p:nvPr/>
        </p:nvPicPr>
        <p:blipFill>
          <a:blip r:embed="rId5"/>
          <a:srcRect/>
          <a:stretch/>
        </p:blipFill>
        <p:spPr>
          <a:xfrm>
            <a:off x="4937760" y="1554480"/>
            <a:ext cx="1371600" cy="1463040"/>
          </a:xfrm>
          <a:prstGeom prst="rect">
            <a:avLst/>
          </a:prstGeom>
        </p:spPr>
      </p:pic>
      <p:sp>
        <p:nvSpPr>
          <p:cNvPr id="12" name="pill"/>
          <p:cNvSpPr/>
          <p:nvPr/>
        </p:nvSpPr>
        <p:spPr>
          <a:xfrm>
            <a:off x="4846320" y="3154680"/>
            <a:ext cx="1554480" cy="502920"/>
          </a:xfrm>
          <a:prstGeom prst="roundRect">
            <a:avLst>
              <a:gd name="adj" fmla="val 50000"/>
            </a:avLst>
          </a:prstGeom>
          <a:solidFill>
            <a:srgbClr val="29B6D1"/>
          </a:solidFill>
          <a:ln/>
        </p:spPr>
        <p:txBody>
          <a:bodyPr wrap="square" lIns="0" tIns="0" rIns="0" bIns="0" rtlCol="0" anchor="ctr"/>
          <a:lstStyle/>
          <a:p>
            <a:pPr marL="0" indent="0" algn="ctr" rtl="1">
              <a:buNone/>
            </a:pPr>
            <a:r>
              <a:rPr lang="ar-OM" altLang="en-US" sz="1800" b="1" dirty="0">
                <a:solidFill>
                  <a:srgbClr val="FFFFFF"/>
                </a:solidFill>
                <a:latin typeface="Tahoma" pitchFamily="34" charset="0"/>
                <a:ea typeface="Tahoma" pitchFamily="34" charset="-122"/>
                <a:cs typeface="Tahoma" pitchFamily="34" charset="-120"/>
              </a:rPr>
              <a:t>الأشكال</a:t>
            </a:r>
            <a:endParaRPr lang="ar-OM" sz="1800" dirty="0"/>
          </a:p>
        </p:txBody>
      </p:sp>
      <p:sp>
        <p:nvSpPr>
          <p:cNvPr id="13" name="en"/>
          <p:cNvSpPr/>
          <p:nvPr/>
        </p:nvSpPr>
        <p:spPr>
          <a:xfrm>
            <a:off x="4846320" y="3749040"/>
            <a:ext cx="1554480" cy="457200"/>
          </a:xfrm>
          <a:prstGeom prst="rect">
            <a:avLst/>
          </a:prstGeom>
          <a:noFill/>
          <a:ln/>
        </p:spPr>
        <p:txBody>
          <a:bodyPr wrap="square" lIns="0" tIns="0" rIns="0" bIns="0" rtlCol="0" anchor="ctr"/>
          <a:lstStyle/>
          <a:p>
            <a:pPr marL="0" indent="0" algn="ctr">
              <a:buNone/>
            </a:pPr>
            <a:r>
              <a:rPr lang="en-US" sz="1800" b="1" dirty="0">
                <a:solidFill>
                  <a:srgbClr val="29B6D1"/>
                </a:solidFill>
                <a:latin typeface="Tahoma" pitchFamily="34" charset="0"/>
                <a:ea typeface="Tahoma" pitchFamily="34" charset="-122"/>
                <a:cs typeface="Tahoma" pitchFamily="34" charset="-120"/>
              </a:rPr>
              <a:t>Shapes</a:t>
            </a:r>
            <a:endParaRPr lang="en-US" sz="1800" dirty="0"/>
          </a:p>
        </p:txBody>
      </p:sp>
      <p:sp>
        <p:nvSpPr>
          <p:cNvPr id="14" name="card"/>
          <p:cNvSpPr/>
          <p:nvPr/>
        </p:nvSpPr>
        <p:spPr>
          <a:xfrm>
            <a:off x="2560320" y="1371600"/>
            <a:ext cx="1920240" cy="3108960"/>
          </a:xfrm>
          <a:prstGeom prst="roundRect">
            <a:avLst>
              <a:gd name="adj" fmla="val 8571"/>
            </a:avLst>
          </a:prstGeom>
          <a:solidFill>
            <a:srgbClr val="FFFFFF"/>
          </a:solidFill>
          <a:ln w="31750">
            <a:solidFill>
              <a:srgbClr val="7AC143"/>
            </a:solidFill>
            <a:prstDash val="solid"/>
          </a:ln>
          <a:effectLst>
            <a:outerShdw blurRad="76200" dist="25400" dir="5400000" algn="bl" rotWithShape="0">
              <a:srgbClr val="5B2C83">
                <a:alpha val="18000"/>
              </a:srgbClr>
            </a:outerShdw>
          </a:effectLst>
        </p:spPr>
        <p:txBody>
          <a:bodyPr/>
          <a:lstStyle/>
          <a:p>
            <a:endParaRPr lang="ar-OM"/>
          </a:p>
        </p:txBody>
      </p:sp>
      <p:pic>
        <p:nvPicPr>
          <p:cNvPr id="15" name="bucket" descr="img/bucket.png"/>
          <p:cNvPicPr>
            <a:picLocks noChangeAspect="1"/>
          </p:cNvPicPr>
          <p:nvPr/>
        </p:nvPicPr>
        <p:blipFill>
          <a:blip r:embed="rId6"/>
          <a:srcRect/>
          <a:stretch/>
        </p:blipFill>
        <p:spPr>
          <a:xfrm>
            <a:off x="2834640" y="1554480"/>
            <a:ext cx="1371600" cy="1463040"/>
          </a:xfrm>
          <a:prstGeom prst="rect">
            <a:avLst/>
          </a:prstGeom>
        </p:spPr>
      </p:pic>
      <p:sp>
        <p:nvSpPr>
          <p:cNvPr id="16" name="pill"/>
          <p:cNvSpPr/>
          <p:nvPr/>
        </p:nvSpPr>
        <p:spPr>
          <a:xfrm>
            <a:off x="2743200" y="3154680"/>
            <a:ext cx="1554480" cy="502920"/>
          </a:xfrm>
          <a:prstGeom prst="roundRect">
            <a:avLst>
              <a:gd name="adj" fmla="val 50000"/>
            </a:avLst>
          </a:prstGeom>
          <a:solidFill>
            <a:srgbClr val="7AC143"/>
          </a:solidFill>
          <a:ln/>
        </p:spPr>
        <p:txBody>
          <a:bodyPr wrap="square" lIns="0" tIns="0" rIns="0" bIns="0" rtlCol="0" anchor="ctr"/>
          <a:lstStyle/>
          <a:p>
            <a:pPr marL="0" indent="0" algn="ctr" rtl="1">
              <a:buNone/>
            </a:pPr>
            <a:r>
              <a:rPr lang="ar-OM" altLang="en-US" sz="1800" b="1" dirty="0">
                <a:solidFill>
                  <a:srgbClr val="FFFFFF"/>
                </a:solidFill>
                <a:latin typeface="Tahoma" pitchFamily="34" charset="0"/>
                <a:ea typeface="Tahoma" pitchFamily="34" charset="-122"/>
                <a:cs typeface="Tahoma" pitchFamily="34" charset="-120"/>
              </a:rPr>
              <a:t>أداة التعبئة</a:t>
            </a:r>
            <a:endParaRPr lang="ar-OM" sz="1800" dirty="0"/>
          </a:p>
        </p:txBody>
      </p:sp>
      <p:sp>
        <p:nvSpPr>
          <p:cNvPr id="17" name="en"/>
          <p:cNvSpPr/>
          <p:nvPr/>
        </p:nvSpPr>
        <p:spPr>
          <a:xfrm>
            <a:off x="2743200" y="3749040"/>
            <a:ext cx="1554480" cy="457200"/>
          </a:xfrm>
          <a:prstGeom prst="rect">
            <a:avLst/>
          </a:prstGeom>
          <a:noFill/>
          <a:ln/>
        </p:spPr>
        <p:txBody>
          <a:bodyPr wrap="square" lIns="0" tIns="0" rIns="0" bIns="0" rtlCol="0" anchor="ctr"/>
          <a:lstStyle/>
          <a:p>
            <a:pPr marL="0" indent="0" algn="ctr">
              <a:buNone/>
            </a:pPr>
            <a:r>
              <a:rPr lang="en-US" sz="1800" b="1" dirty="0">
                <a:solidFill>
                  <a:srgbClr val="7AC143"/>
                </a:solidFill>
                <a:latin typeface="Tahoma" pitchFamily="34" charset="0"/>
                <a:ea typeface="Tahoma" pitchFamily="34" charset="-122"/>
                <a:cs typeface="Tahoma" pitchFamily="34" charset="-120"/>
              </a:rPr>
              <a:t>Fill</a:t>
            </a:r>
            <a:endParaRPr lang="en-US" sz="1800" dirty="0"/>
          </a:p>
        </p:txBody>
      </p:sp>
      <p:sp>
        <p:nvSpPr>
          <p:cNvPr id="18" name="card"/>
          <p:cNvSpPr/>
          <p:nvPr/>
        </p:nvSpPr>
        <p:spPr>
          <a:xfrm>
            <a:off x="457200" y="1371600"/>
            <a:ext cx="1920240" cy="3108960"/>
          </a:xfrm>
          <a:prstGeom prst="roundRect">
            <a:avLst>
              <a:gd name="adj" fmla="val 8571"/>
            </a:avLst>
          </a:prstGeom>
          <a:solidFill>
            <a:srgbClr val="FFFFFF"/>
          </a:solidFill>
          <a:ln w="31750">
            <a:solidFill>
              <a:srgbClr val="EC4C8C"/>
            </a:solidFill>
            <a:prstDash val="solid"/>
          </a:ln>
          <a:effectLst>
            <a:outerShdw blurRad="76200" dist="25400" dir="5400000" algn="bl" rotWithShape="0">
              <a:srgbClr val="5B2C83">
                <a:alpha val="18000"/>
              </a:srgbClr>
            </a:outerShdw>
          </a:effectLst>
        </p:spPr>
        <p:txBody>
          <a:bodyPr/>
          <a:lstStyle/>
          <a:p>
            <a:endParaRPr lang="ar-OM"/>
          </a:p>
        </p:txBody>
      </p:sp>
      <p:pic>
        <p:nvPicPr>
          <p:cNvPr id="19" name="eraser" descr="img/eraser.png"/>
          <p:cNvPicPr>
            <a:picLocks noChangeAspect="1"/>
          </p:cNvPicPr>
          <p:nvPr/>
        </p:nvPicPr>
        <p:blipFill>
          <a:blip r:embed="rId7"/>
          <a:srcRect/>
          <a:stretch/>
        </p:blipFill>
        <p:spPr>
          <a:xfrm>
            <a:off x="731520" y="1554480"/>
            <a:ext cx="1371600" cy="1463040"/>
          </a:xfrm>
          <a:prstGeom prst="rect">
            <a:avLst/>
          </a:prstGeom>
        </p:spPr>
      </p:pic>
      <p:sp>
        <p:nvSpPr>
          <p:cNvPr id="20" name="pill"/>
          <p:cNvSpPr/>
          <p:nvPr/>
        </p:nvSpPr>
        <p:spPr>
          <a:xfrm>
            <a:off x="640080" y="3154680"/>
            <a:ext cx="1554480" cy="502920"/>
          </a:xfrm>
          <a:prstGeom prst="roundRect">
            <a:avLst>
              <a:gd name="adj" fmla="val 50000"/>
            </a:avLst>
          </a:prstGeom>
          <a:solidFill>
            <a:srgbClr val="EC4C8C"/>
          </a:solidFill>
          <a:ln/>
        </p:spPr>
        <p:txBody>
          <a:bodyPr wrap="square" lIns="0" tIns="0" rIns="0" bIns="0" rtlCol="0" anchor="ctr"/>
          <a:lstStyle/>
          <a:p>
            <a:pPr marL="0" indent="0" algn="ctr" rtl="1">
              <a:buNone/>
            </a:pPr>
            <a:r>
              <a:rPr lang="ar-OM" altLang="en-US" sz="1800" b="1" dirty="0">
                <a:solidFill>
                  <a:srgbClr val="FFFFFF"/>
                </a:solidFill>
                <a:latin typeface="Tahoma" pitchFamily="34" charset="0"/>
                <a:ea typeface="Tahoma" pitchFamily="34" charset="-122"/>
                <a:cs typeface="Tahoma" pitchFamily="34" charset="-120"/>
              </a:rPr>
              <a:t>الممحاة</a:t>
            </a:r>
            <a:endParaRPr lang="ar-OM" sz="1800" dirty="0"/>
          </a:p>
        </p:txBody>
      </p:sp>
      <p:sp>
        <p:nvSpPr>
          <p:cNvPr id="21" name="en"/>
          <p:cNvSpPr/>
          <p:nvPr/>
        </p:nvSpPr>
        <p:spPr>
          <a:xfrm>
            <a:off x="640080" y="3749040"/>
            <a:ext cx="1554480" cy="457200"/>
          </a:xfrm>
          <a:prstGeom prst="rect">
            <a:avLst/>
          </a:prstGeom>
          <a:noFill/>
          <a:ln/>
        </p:spPr>
        <p:txBody>
          <a:bodyPr wrap="square" lIns="0" tIns="0" rIns="0" bIns="0" rtlCol="0" anchor="ctr"/>
          <a:lstStyle/>
          <a:p>
            <a:pPr marL="0" indent="0" algn="ctr">
              <a:buNone/>
            </a:pPr>
            <a:r>
              <a:rPr lang="en-US" sz="1800" b="1" dirty="0">
                <a:solidFill>
                  <a:srgbClr val="EC4C8C"/>
                </a:solidFill>
                <a:latin typeface="Tahoma" pitchFamily="34" charset="0"/>
                <a:ea typeface="Tahoma" pitchFamily="34" charset="-122"/>
                <a:cs typeface="Tahoma" pitchFamily="34" charset="-120"/>
              </a:rPr>
              <a:t>Eraser</a:t>
            </a:r>
            <a:endParaRPr lang="en-US" sz="18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7AC143"/>
          </a:solidFill>
          <a:ln/>
        </p:spPr>
        <p:txBody>
          <a:bodyPr/>
          <a:lstStyle/>
          <a:p>
            <a:endParaRPr lang="ar-OM"/>
          </a:p>
        </p:txBody>
      </p:sp>
      <p:pic>
        <p:nvPicPr>
          <p:cNvPr id="3" name="title-icon" descr="preencoded.png"/>
          <p:cNvPicPr>
            <a:picLocks noChangeAspect="1"/>
          </p:cNvPicPr>
          <p:nvPr/>
        </p:nvPicPr>
        <p:blipFill>
          <a:blip r:embed="rId5"/>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شاهد: أين أجد أدواتي؟</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7AC143"/>
                </a:solidFill>
                <a:latin typeface="Tahoma" pitchFamily="34" charset="0"/>
                <a:ea typeface="Tahoma" pitchFamily="34" charset="-122"/>
                <a:cs typeface="Tahoma" pitchFamily="34" charset="-120"/>
              </a:rPr>
              <a:t>شاهد المقطع بانتباه ثم أجب عن السؤال</a:t>
            </a:r>
            <a:endParaRPr lang="ar-OM" sz="1600" dirty="0"/>
          </a:p>
        </p:txBody>
      </p:sp>
      <p:sp>
        <p:nvSpPr>
          <p:cNvPr id="6" name="video-frame"/>
          <p:cNvSpPr/>
          <p:nvPr/>
        </p:nvSpPr>
        <p:spPr>
          <a:xfrm>
            <a:off x="1481328" y="1353312"/>
            <a:ext cx="6181344" cy="3310128"/>
          </a:xfrm>
          <a:prstGeom prst="roundRect">
            <a:avLst>
              <a:gd name="adj" fmla="val 3315"/>
            </a:avLst>
          </a:prstGeom>
          <a:solidFill>
            <a:srgbClr val="7AC143"/>
          </a:solidFill>
          <a:ln/>
        </p:spPr>
        <p:txBody>
          <a:bodyPr/>
          <a:lstStyle/>
          <a:p>
            <a:endParaRPr lang="ar-OM"/>
          </a:p>
        </p:txBody>
      </p:sp>
      <p:pic>
        <p:nvPicPr>
          <p:cNvPr id="7" name="video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00200" y="1463040"/>
            <a:ext cx="5943600" cy="3072384"/>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7AC143"/>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سؤال الهدف الثاني</a:t>
            </a:r>
            <a:endParaRPr lang="ar-OM" sz="3800" dirty="0"/>
          </a:p>
        </p:txBody>
      </p:sp>
      <p:sp>
        <p:nvSpPr>
          <p:cNvPr id="5" name="question"/>
          <p:cNvSpPr/>
          <p:nvPr/>
        </p:nvSpPr>
        <p:spPr>
          <a:xfrm>
            <a:off x="640080" y="1234440"/>
            <a:ext cx="7315200" cy="868680"/>
          </a:xfrm>
          <a:prstGeom prst="roundRect">
            <a:avLst>
              <a:gd name="adj" fmla="val 21053"/>
            </a:avLst>
          </a:prstGeom>
          <a:solidFill>
            <a:srgbClr val="F1ECFA"/>
          </a:solidFill>
          <a:ln w="25400">
            <a:solidFill>
              <a:srgbClr val="5B2C83"/>
            </a:solidFill>
          </a:ln>
        </p:spPr>
        <p:txBody>
          <a:bodyPr wrap="square" lIns="1270" tIns="1270" rIns="1270" bIns="1270" rtlCol="0" anchor="ctr"/>
          <a:lstStyle/>
          <a:p>
            <a:pPr marL="0" indent="0" algn="ctr" rtl="1">
              <a:buNone/>
            </a:pPr>
            <a:r>
              <a:rPr lang="ar-OM" altLang="en-US" sz="3400" b="1" dirty="0">
                <a:solidFill>
                  <a:srgbClr val="5B2C83"/>
                </a:solidFill>
                <a:latin typeface="Sakkal Majalla" pitchFamily="34" charset="0"/>
                <a:ea typeface="Sakkal Majalla" pitchFamily="34" charset="-122"/>
                <a:cs typeface="Sakkal Majalla" pitchFamily="34" charset="-120"/>
              </a:rPr>
              <a:t>ما الأداة التي نملأ بها الشكل باللون؟</a:t>
            </a:r>
            <a:endParaRPr lang="ar-OM" sz="3400" dirty="0"/>
          </a:p>
        </p:txBody>
      </p:sp>
      <p:sp>
        <p:nvSpPr>
          <p:cNvPr id="6" name="q-badge"/>
          <p:cNvSpPr/>
          <p:nvPr/>
        </p:nvSpPr>
        <p:spPr>
          <a:xfrm>
            <a:off x="8092440" y="1303020"/>
            <a:ext cx="731520" cy="731520"/>
          </a:xfrm>
          <a:prstGeom prst="ellipse">
            <a:avLst/>
          </a:prstGeom>
          <a:solidFill>
            <a:srgbClr val="F7941D"/>
          </a:solidFill>
          <a:ln/>
        </p:spPr>
        <p:txBody>
          <a:bodyPr/>
          <a:lstStyle/>
          <a:p>
            <a:endParaRPr lang="ar-OM"/>
          </a:p>
        </p:txBody>
      </p:sp>
      <p:pic>
        <p:nvPicPr>
          <p:cNvPr id="7" name="q-icon" descr="preencoded.png"/>
          <p:cNvPicPr>
            <a:picLocks noChangeAspect="1"/>
          </p:cNvPicPr>
          <p:nvPr/>
        </p:nvPicPr>
        <p:blipFill>
          <a:blip r:embed="rId3"/>
          <a:stretch>
            <a:fillRect/>
          </a:stretch>
        </p:blipFill>
        <p:spPr>
          <a:xfrm>
            <a:off x="8293608" y="1504188"/>
            <a:ext cx="329184" cy="329184"/>
          </a:xfrm>
          <a:prstGeom prst="rect">
            <a:avLst/>
          </a:prstGeom>
        </p:spPr>
      </p:pic>
      <p:sp>
        <p:nvSpPr>
          <p:cNvPr id="8" name="card"/>
          <p:cNvSpPr/>
          <p:nvPr/>
        </p:nvSpPr>
        <p:spPr>
          <a:xfrm>
            <a:off x="6080760" y="2331720"/>
            <a:ext cx="2194560" cy="2194560"/>
          </a:xfrm>
          <a:prstGeom prst="roundRect">
            <a:avLst>
              <a:gd name="adj" fmla="val 7500"/>
            </a:avLst>
          </a:prstGeom>
          <a:solidFill>
            <a:srgbClr val="FFFFFF"/>
          </a:solidFill>
          <a:ln w="31750">
            <a:solidFill>
              <a:srgbClr val="29B6D1"/>
            </a:solidFill>
            <a:prstDash val="solid"/>
          </a:ln>
          <a:effectLst>
            <a:outerShdw blurRad="76200" dist="25400" dir="5400000" algn="bl" rotWithShape="0">
              <a:srgbClr val="5B2C83">
                <a:alpha val="18000"/>
              </a:srgbClr>
            </a:outerShdw>
          </a:effectLst>
        </p:spPr>
        <p:txBody>
          <a:bodyPr/>
          <a:lstStyle/>
          <a:p>
            <a:endParaRPr lang="ar-OM"/>
          </a:p>
        </p:txBody>
      </p:sp>
      <p:pic>
        <p:nvPicPr>
          <p:cNvPr id="9" name="opt-img" descr="img/bucket.png"/>
          <p:cNvPicPr>
            <a:picLocks noChangeAspect="1"/>
          </p:cNvPicPr>
          <p:nvPr/>
        </p:nvPicPr>
        <p:blipFill>
          <a:blip r:embed="rId4"/>
          <a:srcRect/>
          <a:stretch/>
        </p:blipFill>
        <p:spPr>
          <a:xfrm>
            <a:off x="6537960" y="2468880"/>
            <a:ext cx="1280160" cy="1280160"/>
          </a:xfrm>
          <a:prstGeom prst="rect">
            <a:avLst/>
          </a:prstGeom>
        </p:spPr>
      </p:pic>
      <p:sp>
        <p:nvSpPr>
          <p:cNvPr id="10" name="pill"/>
          <p:cNvSpPr/>
          <p:nvPr/>
        </p:nvSpPr>
        <p:spPr>
          <a:xfrm>
            <a:off x="6263640" y="3867912"/>
            <a:ext cx="1828800" cy="502920"/>
          </a:xfrm>
          <a:prstGeom prst="roundRect">
            <a:avLst>
              <a:gd name="adj" fmla="val 50000"/>
            </a:avLst>
          </a:prstGeom>
          <a:solidFill>
            <a:srgbClr val="29B6D1"/>
          </a:solidFill>
          <a:ln/>
        </p:spPr>
        <p:txBody>
          <a:bodyPr wrap="square" lIns="0" tIns="0" rIns="0" bIns="0" rtlCol="0" anchor="ctr"/>
          <a:lstStyle/>
          <a:p>
            <a:pPr marL="0" indent="0" algn="ctr" rtl="1">
              <a:buNone/>
            </a:pPr>
            <a:r>
              <a:rPr lang="ar-OM" altLang="en-US" sz="1800" b="1" dirty="0">
                <a:solidFill>
                  <a:srgbClr val="FFFFFF"/>
                </a:solidFill>
                <a:latin typeface="Tahoma" pitchFamily="34" charset="0"/>
                <a:ea typeface="Tahoma" pitchFamily="34" charset="-122"/>
                <a:cs typeface="Tahoma" pitchFamily="34" charset="-120"/>
              </a:rPr>
              <a:t>أداة التعبئة</a:t>
            </a:r>
            <a:endParaRPr lang="ar-OM" sz="1800" dirty="0"/>
          </a:p>
        </p:txBody>
      </p:sp>
      <p:pic>
        <p:nvPicPr>
          <p:cNvPr id="11" name="ANS_OK_q2" descr="إجابة صحيحة">
            <a:hlinkClick r:id="rId5" action="ppaction://hlinksldjump" tooltip=" ">
              <a:snd r:embed="rId6" name="correct.wav"/>
            </a:hlinkClick>
          </p:cNvPr>
          <p:cNvPicPr>
            <a:picLocks noChangeAspect="1"/>
          </p:cNvPicPr>
          <p:nvPr/>
        </p:nvPicPr>
        <p:blipFill>
          <a:blip r:embed="rId7"/>
          <a:stretch>
            <a:fillRect/>
          </a:stretch>
        </p:blipFill>
        <p:spPr>
          <a:xfrm>
            <a:off x="6080760" y="2331720"/>
            <a:ext cx="2194560" cy="2194560"/>
          </a:xfrm>
          <a:prstGeom prst="rect">
            <a:avLst/>
          </a:prstGeom>
        </p:spPr>
      </p:pic>
      <p:sp>
        <p:nvSpPr>
          <p:cNvPr id="12" name="card"/>
          <p:cNvSpPr/>
          <p:nvPr/>
        </p:nvSpPr>
        <p:spPr>
          <a:xfrm>
            <a:off x="3474720" y="2331720"/>
            <a:ext cx="2194560" cy="2194560"/>
          </a:xfrm>
          <a:prstGeom prst="roundRect">
            <a:avLst>
              <a:gd name="adj" fmla="val 7500"/>
            </a:avLst>
          </a:prstGeom>
          <a:solidFill>
            <a:srgbClr val="FFFFFF"/>
          </a:solidFill>
          <a:ln w="31750">
            <a:solidFill>
              <a:srgbClr val="EC4C8C"/>
            </a:solidFill>
            <a:prstDash val="solid"/>
          </a:ln>
          <a:effectLst>
            <a:outerShdw blurRad="76200" dist="25400" dir="5400000" algn="bl" rotWithShape="0">
              <a:srgbClr val="5B2C83">
                <a:alpha val="18000"/>
              </a:srgbClr>
            </a:outerShdw>
          </a:effectLst>
        </p:spPr>
        <p:txBody>
          <a:bodyPr/>
          <a:lstStyle/>
          <a:p>
            <a:endParaRPr lang="ar-OM"/>
          </a:p>
        </p:txBody>
      </p:sp>
      <p:pic>
        <p:nvPicPr>
          <p:cNvPr id="13" name="opt-img" descr="img/eraser.png"/>
          <p:cNvPicPr>
            <a:picLocks noChangeAspect="1"/>
          </p:cNvPicPr>
          <p:nvPr/>
        </p:nvPicPr>
        <p:blipFill>
          <a:blip r:embed="rId8"/>
          <a:srcRect/>
          <a:stretch/>
        </p:blipFill>
        <p:spPr>
          <a:xfrm>
            <a:off x="3931920" y="2468880"/>
            <a:ext cx="1280160" cy="1280160"/>
          </a:xfrm>
          <a:prstGeom prst="rect">
            <a:avLst/>
          </a:prstGeom>
        </p:spPr>
      </p:pic>
      <p:sp>
        <p:nvSpPr>
          <p:cNvPr id="14" name="pill"/>
          <p:cNvSpPr/>
          <p:nvPr/>
        </p:nvSpPr>
        <p:spPr>
          <a:xfrm>
            <a:off x="3657600" y="3867912"/>
            <a:ext cx="1828800" cy="502920"/>
          </a:xfrm>
          <a:prstGeom prst="roundRect">
            <a:avLst>
              <a:gd name="adj" fmla="val 50000"/>
            </a:avLst>
          </a:prstGeom>
          <a:solidFill>
            <a:srgbClr val="EC4C8C"/>
          </a:solidFill>
          <a:ln/>
        </p:spPr>
        <p:txBody>
          <a:bodyPr wrap="square" lIns="0" tIns="0" rIns="0" bIns="0" rtlCol="0" anchor="ctr"/>
          <a:lstStyle/>
          <a:p>
            <a:pPr marL="0" indent="0" algn="ctr" rtl="1">
              <a:buNone/>
            </a:pPr>
            <a:r>
              <a:rPr lang="ar-OM" altLang="en-US" sz="1800" b="1" dirty="0">
                <a:solidFill>
                  <a:srgbClr val="FFFFFF"/>
                </a:solidFill>
                <a:latin typeface="Tahoma" pitchFamily="34" charset="0"/>
                <a:ea typeface="Tahoma" pitchFamily="34" charset="-122"/>
                <a:cs typeface="Tahoma" pitchFamily="34" charset="-120"/>
              </a:rPr>
              <a:t>الممحاة</a:t>
            </a:r>
            <a:endParaRPr lang="ar-OM" sz="1800" dirty="0"/>
          </a:p>
        </p:txBody>
      </p:sp>
      <p:pic>
        <p:nvPicPr>
          <p:cNvPr id="15" name="ANS_NO_q2" descr="إجابة خاطئة">
            <a:hlinkClick r:id="rId9" action="ppaction://hlinksldjump" tooltip=" ">
              <a:snd r:embed="rId10" name="wrong.wav"/>
            </a:hlinkClick>
          </p:cNvPr>
          <p:cNvPicPr>
            <a:picLocks noChangeAspect="1"/>
          </p:cNvPicPr>
          <p:nvPr/>
        </p:nvPicPr>
        <p:blipFill>
          <a:blip r:embed="rId7"/>
          <a:stretch>
            <a:fillRect/>
          </a:stretch>
        </p:blipFill>
        <p:spPr>
          <a:xfrm>
            <a:off x="3474720" y="2331720"/>
            <a:ext cx="2194560" cy="2194560"/>
          </a:xfrm>
          <a:prstGeom prst="rect">
            <a:avLst/>
          </a:prstGeom>
        </p:spPr>
      </p:pic>
      <p:sp>
        <p:nvSpPr>
          <p:cNvPr id="16" name="card"/>
          <p:cNvSpPr/>
          <p:nvPr/>
        </p:nvSpPr>
        <p:spPr>
          <a:xfrm>
            <a:off x="868680" y="2331720"/>
            <a:ext cx="2194560" cy="2194560"/>
          </a:xfrm>
          <a:prstGeom prst="roundRect">
            <a:avLst>
              <a:gd name="adj" fmla="val 7500"/>
            </a:avLst>
          </a:prstGeom>
          <a:solidFill>
            <a:srgbClr val="FFFFFF"/>
          </a:solidFill>
          <a:ln w="31750">
            <a:solidFill>
              <a:srgbClr val="7AC143"/>
            </a:solidFill>
            <a:prstDash val="solid"/>
          </a:ln>
          <a:effectLst>
            <a:outerShdw blurRad="76200" dist="25400" dir="5400000" algn="bl" rotWithShape="0">
              <a:srgbClr val="5B2C83">
                <a:alpha val="18000"/>
              </a:srgbClr>
            </a:outerShdw>
          </a:effectLst>
        </p:spPr>
        <p:txBody>
          <a:bodyPr/>
          <a:lstStyle/>
          <a:p>
            <a:endParaRPr lang="ar-OM"/>
          </a:p>
        </p:txBody>
      </p:sp>
      <p:pic>
        <p:nvPicPr>
          <p:cNvPr id="17" name="opt-img" descr="img/shapesic.png"/>
          <p:cNvPicPr>
            <a:picLocks noChangeAspect="1"/>
          </p:cNvPicPr>
          <p:nvPr/>
        </p:nvPicPr>
        <p:blipFill>
          <a:blip r:embed="rId11"/>
          <a:srcRect/>
          <a:stretch/>
        </p:blipFill>
        <p:spPr>
          <a:xfrm>
            <a:off x="1325880" y="2468880"/>
            <a:ext cx="1280160" cy="1280160"/>
          </a:xfrm>
          <a:prstGeom prst="rect">
            <a:avLst/>
          </a:prstGeom>
        </p:spPr>
      </p:pic>
      <p:sp>
        <p:nvSpPr>
          <p:cNvPr id="18" name="pill"/>
          <p:cNvSpPr/>
          <p:nvPr/>
        </p:nvSpPr>
        <p:spPr>
          <a:xfrm>
            <a:off x="1051560" y="3867912"/>
            <a:ext cx="1828800" cy="502920"/>
          </a:xfrm>
          <a:prstGeom prst="roundRect">
            <a:avLst>
              <a:gd name="adj" fmla="val 50000"/>
            </a:avLst>
          </a:prstGeom>
          <a:solidFill>
            <a:srgbClr val="7AC143"/>
          </a:solidFill>
          <a:ln/>
        </p:spPr>
        <p:txBody>
          <a:bodyPr wrap="square" lIns="0" tIns="0" rIns="0" bIns="0" rtlCol="0" anchor="ctr"/>
          <a:lstStyle/>
          <a:p>
            <a:pPr marL="0" indent="0" algn="ctr" rtl="1">
              <a:buNone/>
            </a:pPr>
            <a:r>
              <a:rPr lang="ar-OM" altLang="en-US" sz="1800" b="1" dirty="0">
                <a:solidFill>
                  <a:srgbClr val="FFFFFF"/>
                </a:solidFill>
                <a:latin typeface="Tahoma" pitchFamily="34" charset="0"/>
                <a:ea typeface="Tahoma" pitchFamily="34" charset="-122"/>
                <a:cs typeface="Tahoma" pitchFamily="34" charset="-120"/>
              </a:rPr>
              <a:t>الأشكال</a:t>
            </a:r>
            <a:endParaRPr lang="ar-OM" sz="1800" dirty="0"/>
          </a:p>
        </p:txBody>
      </p:sp>
      <p:pic>
        <p:nvPicPr>
          <p:cNvPr id="19" name="ANS_NO_q2" descr="إجابة خاطئة">
            <a:hlinkClick r:id="rId9" action="ppaction://hlinksldjump" tooltip=" ">
              <a:snd r:embed="rId10" name="wrong.wav"/>
            </a:hlinkClick>
          </p:cNvPr>
          <p:cNvPicPr>
            <a:picLocks noChangeAspect="1"/>
          </p:cNvPicPr>
          <p:nvPr/>
        </p:nvPicPr>
        <p:blipFill>
          <a:blip r:embed="rId7"/>
          <a:stretch>
            <a:fillRect/>
          </a:stretch>
        </p:blipFill>
        <p:spPr>
          <a:xfrm>
            <a:off x="868680" y="2331720"/>
            <a:ext cx="2194560" cy="2194560"/>
          </a:xfrm>
          <a:prstGeom prst="rect">
            <a:avLst/>
          </a:prstGeom>
        </p:spPr>
      </p:pic>
    </p:spTree>
  </p:cSld>
  <p:clrMapOvr>
    <a:masterClrMapping/>
  </p:clrMapOvr>
  <p:transition spd="med" advClick="0">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29B6D1"/>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لِنَبْدَأِ الرَّسْمَ</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29B6D1"/>
                </a:solidFill>
                <a:latin typeface="Tahoma" pitchFamily="34" charset="0"/>
                <a:ea typeface="Tahoma" pitchFamily="34" charset="-122"/>
                <a:cs typeface="Tahoma" pitchFamily="34" charset="-120"/>
              </a:rPr>
              <a:t>الهدف الثالث — رسم شكل</a:t>
            </a:r>
            <a:endParaRPr lang="ar-OM" sz="1600" dirty="0"/>
          </a:p>
        </p:txBody>
      </p:sp>
      <p:sp>
        <p:nvSpPr>
          <p:cNvPr id="6" name="card"/>
          <p:cNvSpPr/>
          <p:nvPr/>
        </p:nvSpPr>
        <p:spPr>
          <a:xfrm>
            <a:off x="502920" y="1280160"/>
            <a:ext cx="4846320" cy="3200400"/>
          </a:xfrm>
          <a:prstGeom prst="roundRect">
            <a:avLst>
              <a:gd name="adj" fmla="val 5143"/>
            </a:avLst>
          </a:prstGeom>
          <a:solidFill>
            <a:srgbClr val="FFFFFF"/>
          </a:solidFill>
          <a:ln w="31750">
            <a:solidFill>
              <a:srgbClr val="29B6D1"/>
            </a:solidFill>
            <a:prstDash val="solid"/>
          </a:ln>
          <a:effectLst>
            <a:outerShdw blurRad="76200" dist="25400" dir="5400000" algn="bl" rotWithShape="0">
              <a:srgbClr val="5B2C83">
                <a:alpha val="18000"/>
              </a:srgbClr>
            </a:outerShdw>
          </a:effectLst>
        </p:spPr>
        <p:txBody>
          <a:bodyPr/>
          <a:lstStyle/>
          <a:p>
            <a:endParaRPr lang="ar-OM"/>
          </a:p>
        </p:txBody>
      </p:sp>
      <p:pic>
        <p:nvPicPr>
          <p:cNvPr id="7" name="drawrect" descr="img/drawrect.png"/>
          <p:cNvPicPr>
            <a:picLocks noChangeAspect="1"/>
          </p:cNvPicPr>
          <p:nvPr/>
        </p:nvPicPr>
        <p:blipFill>
          <a:blip r:embed="rId4"/>
          <a:srcRect/>
          <a:stretch/>
        </p:blipFill>
        <p:spPr>
          <a:xfrm>
            <a:off x="640080" y="1417320"/>
            <a:ext cx="4572000" cy="2926080"/>
          </a:xfrm>
          <a:prstGeom prst="rect">
            <a:avLst/>
          </a:prstGeom>
        </p:spPr>
      </p:pic>
      <p:sp>
        <p:nvSpPr>
          <p:cNvPr id="8" name="card"/>
          <p:cNvSpPr/>
          <p:nvPr/>
        </p:nvSpPr>
        <p:spPr>
          <a:xfrm>
            <a:off x="5577840" y="1325880"/>
            <a:ext cx="3063240" cy="896112"/>
          </a:xfrm>
          <a:prstGeom prst="roundRect">
            <a:avLst>
              <a:gd name="adj" fmla="val 18367"/>
            </a:avLst>
          </a:prstGeom>
          <a:solidFill>
            <a:srgbClr val="FFFFFF"/>
          </a:solidFill>
          <a:ln w="31750">
            <a:solidFill>
              <a:srgbClr val="F7941D"/>
            </a:solidFill>
            <a:prstDash val="solid"/>
          </a:ln>
          <a:effectLst>
            <a:outerShdw blurRad="76200" dist="25400" dir="5400000" algn="bl" rotWithShape="0">
              <a:srgbClr val="5B2C83">
                <a:alpha val="18000"/>
              </a:srgbClr>
            </a:outerShdw>
          </a:effectLst>
        </p:spPr>
        <p:txBody>
          <a:bodyPr/>
          <a:lstStyle/>
          <a:p>
            <a:endParaRPr lang="ar-OM"/>
          </a:p>
        </p:txBody>
      </p:sp>
      <p:sp>
        <p:nvSpPr>
          <p:cNvPr id="9" name="st-bg"/>
          <p:cNvSpPr/>
          <p:nvPr/>
        </p:nvSpPr>
        <p:spPr>
          <a:xfrm>
            <a:off x="7863840" y="1481328"/>
            <a:ext cx="585216" cy="585216"/>
          </a:xfrm>
          <a:prstGeom prst="ellipse">
            <a:avLst/>
          </a:prstGeom>
          <a:solidFill>
            <a:srgbClr val="F7941D"/>
          </a:solidFill>
          <a:ln/>
        </p:spPr>
        <p:txBody>
          <a:bodyPr/>
          <a:lstStyle/>
          <a:p>
            <a:endParaRPr lang="ar-OM"/>
          </a:p>
        </p:txBody>
      </p:sp>
      <p:pic>
        <p:nvPicPr>
          <p:cNvPr id="10" name="st-ic" descr="preencoded.png"/>
          <p:cNvPicPr>
            <a:picLocks noChangeAspect="1"/>
          </p:cNvPicPr>
          <p:nvPr/>
        </p:nvPicPr>
        <p:blipFill>
          <a:blip r:embed="rId5"/>
          <a:stretch>
            <a:fillRect/>
          </a:stretch>
        </p:blipFill>
        <p:spPr>
          <a:xfrm>
            <a:off x="8010144" y="1627632"/>
            <a:ext cx="292608" cy="292608"/>
          </a:xfrm>
          <a:prstGeom prst="rect">
            <a:avLst/>
          </a:prstGeom>
        </p:spPr>
      </p:pic>
      <p:sp>
        <p:nvSpPr>
          <p:cNvPr id="11" name="label"/>
          <p:cNvSpPr txBox="1"/>
          <p:nvPr/>
        </p:nvSpPr>
        <p:spPr>
          <a:xfrm>
            <a:off x="5715000" y="1371600"/>
            <a:ext cx="2057400" cy="804672"/>
          </a:xfrm>
          <a:prstGeom prst="rect">
            <a:avLst/>
          </a:prstGeom>
          <a:noFill/>
          <a:ln/>
        </p:spPr>
        <p:txBody>
          <a:bodyPr wrap="square" lIns="0" tIns="0" rIns="0" bIns="0" rtlCol="0" anchor="ctr"/>
          <a:lstStyle/>
          <a:p>
            <a:pPr marL="0" indent="0" algn="r" rtl="1">
              <a:buNone/>
            </a:pPr>
            <a:r>
              <a:rPr lang="ar-OM" altLang="en-US" sz="1500" b="1" dirty="0">
                <a:solidFill>
                  <a:srgbClr val="2D1B4E"/>
                </a:solidFill>
                <a:latin typeface="Tahoma" pitchFamily="34" charset="0"/>
                <a:ea typeface="Tahoma" pitchFamily="34" charset="-122"/>
                <a:cs typeface="Tahoma" pitchFamily="34" charset="-120"/>
              </a:rPr>
              <a:t>انقر على الشكل الذي تريده</a:t>
            </a:r>
            <a:endParaRPr lang="ar-OM" sz="1500" dirty="0"/>
          </a:p>
        </p:txBody>
      </p:sp>
      <p:sp>
        <p:nvSpPr>
          <p:cNvPr id="12" name="no"/>
          <p:cNvSpPr/>
          <p:nvPr/>
        </p:nvSpPr>
        <p:spPr>
          <a:xfrm>
            <a:off x="5440680" y="1216152"/>
            <a:ext cx="384048" cy="384048"/>
          </a:xfrm>
          <a:prstGeom prst="ellipse">
            <a:avLst/>
          </a:prstGeom>
          <a:solidFill>
            <a:srgbClr val="F7941D"/>
          </a:solid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13" name="card"/>
          <p:cNvSpPr/>
          <p:nvPr/>
        </p:nvSpPr>
        <p:spPr>
          <a:xfrm>
            <a:off x="5577840" y="2404872"/>
            <a:ext cx="3063240" cy="896112"/>
          </a:xfrm>
          <a:prstGeom prst="roundRect">
            <a:avLst>
              <a:gd name="adj" fmla="val 18367"/>
            </a:avLst>
          </a:prstGeom>
          <a:solidFill>
            <a:srgbClr val="FFFFFF"/>
          </a:solidFill>
          <a:ln w="31750">
            <a:solidFill>
              <a:srgbClr val="7AC143"/>
            </a:solidFill>
            <a:prstDash val="solid"/>
          </a:ln>
          <a:effectLst>
            <a:outerShdw blurRad="76200" dist="25400" dir="5400000" algn="bl" rotWithShape="0">
              <a:srgbClr val="5B2C83">
                <a:alpha val="18000"/>
              </a:srgbClr>
            </a:outerShdw>
          </a:effectLst>
        </p:spPr>
        <p:txBody>
          <a:bodyPr/>
          <a:lstStyle/>
          <a:p>
            <a:endParaRPr lang="ar-OM"/>
          </a:p>
        </p:txBody>
      </p:sp>
      <p:sp>
        <p:nvSpPr>
          <p:cNvPr id="14" name="st-bg"/>
          <p:cNvSpPr/>
          <p:nvPr/>
        </p:nvSpPr>
        <p:spPr>
          <a:xfrm>
            <a:off x="7863840" y="2560320"/>
            <a:ext cx="585216" cy="585216"/>
          </a:xfrm>
          <a:prstGeom prst="ellipse">
            <a:avLst/>
          </a:prstGeom>
          <a:solidFill>
            <a:srgbClr val="7AC143"/>
          </a:solidFill>
          <a:ln/>
        </p:spPr>
        <p:txBody>
          <a:bodyPr/>
          <a:lstStyle/>
          <a:p>
            <a:endParaRPr lang="ar-OM"/>
          </a:p>
        </p:txBody>
      </p:sp>
      <p:pic>
        <p:nvPicPr>
          <p:cNvPr id="15" name="st-ic" descr="preencoded.png"/>
          <p:cNvPicPr>
            <a:picLocks noChangeAspect="1"/>
          </p:cNvPicPr>
          <p:nvPr/>
        </p:nvPicPr>
        <p:blipFill>
          <a:blip r:embed="rId6"/>
          <a:stretch>
            <a:fillRect/>
          </a:stretch>
        </p:blipFill>
        <p:spPr>
          <a:xfrm>
            <a:off x="8010144" y="2706624"/>
            <a:ext cx="292608" cy="292608"/>
          </a:xfrm>
          <a:prstGeom prst="rect">
            <a:avLst/>
          </a:prstGeom>
        </p:spPr>
      </p:pic>
      <p:sp>
        <p:nvSpPr>
          <p:cNvPr id="16" name="label"/>
          <p:cNvSpPr txBox="1"/>
          <p:nvPr/>
        </p:nvSpPr>
        <p:spPr>
          <a:xfrm>
            <a:off x="5715000" y="2450592"/>
            <a:ext cx="2057400" cy="804672"/>
          </a:xfrm>
          <a:prstGeom prst="rect">
            <a:avLst/>
          </a:prstGeom>
          <a:noFill/>
          <a:ln/>
        </p:spPr>
        <p:txBody>
          <a:bodyPr wrap="square" lIns="0" tIns="0" rIns="0" bIns="0" rtlCol="0" anchor="ctr"/>
          <a:lstStyle/>
          <a:p>
            <a:pPr marL="0" indent="0" algn="r" rtl="1">
              <a:buNone/>
            </a:pPr>
            <a:r>
              <a:rPr lang="ar-OM" altLang="en-US" sz="1500" b="1" dirty="0">
                <a:solidFill>
                  <a:srgbClr val="2D1B4E"/>
                </a:solidFill>
                <a:latin typeface="Tahoma" pitchFamily="34" charset="0"/>
                <a:ea typeface="Tahoma" pitchFamily="34" charset="-122"/>
                <a:cs typeface="Tahoma" pitchFamily="34" charset="-120"/>
              </a:rPr>
              <a:t>انقر واسحب على مساحة الرسم</a:t>
            </a:r>
            <a:endParaRPr lang="ar-OM" sz="1500" dirty="0"/>
          </a:p>
        </p:txBody>
      </p:sp>
      <p:sp>
        <p:nvSpPr>
          <p:cNvPr id="17" name="no"/>
          <p:cNvSpPr/>
          <p:nvPr/>
        </p:nvSpPr>
        <p:spPr>
          <a:xfrm>
            <a:off x="5440680" y="2295144"/>
            <a:ext cx="384048" cy="384048"/>
          </a:xfrm>
          <a:prstGeom prst="ellipse">
            <a:avLst/>
          </a:prstGeom>
          <a:solidFill>
            <a:srgbClr val="7AC143"/>
          </a:solid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8" name="card"/>
          <p:cNvSpPr/>
          <p:nvPr/>
        </p:nvSpPr>
        <p:spPr>
          <a:xfrm>
            <a:off x="5577840" y="3483864"/>
            <a:ext cx="3063240" cy="896112"/>
          </a:xfrm>
          <a:prstGeom prst="roundRect">
            <a:avLst>
              <a:gd name="adj" fmla="val 18367"/>
            </a:avLst>
          </a:prstGeom>
          <a:solidFill>
            <a:srgbClr val="FFFFFF"/>
          </a:solidFill>
          <a:ln w="31750">
            <a:solidFill>
              <a:srgbClr val="EC4C8C"/>
            </a:solidFill>
            <a:prstDash val="solid"/>
          </a:ln>
          <a:effectLst>
            <a:outerShdw blurRad="76200" dist="25400" dir="5400000" algn="bl" rotWithShape="0">
              <a:srgbClr val="5B2C83">
                <a:alpha val="18000"/>
              </a:srgbClr>
            </a:outerShdw>
          </a:effectLst>
        </p:spPr>
        <p:txBody>
          <a:bodyPr/>
          <a:lstStyle/>
          <a:p>
            <a:endParaRPr lang="ar-OM"/>
          </a:p>
        </p:txBody>
      </p:sp>
      <p:sp>
        <p:nvSpPr>
          <p:cNvPr id="19" name="st-bg"/>
          <p:cNvSpPr/>
          <p:nvPr/>
        </p:nvSpPr>
        <p:spPr>
          <a:xfrm>
            <a:off x="7863840" y="3639312"/>
            <a:ext cx="585216" cy="585216"/>
          </a:xfrm>
          <a:prstGeom prst="ellipse">
            <a:avLst/>
          </a:prstGeom>
          <a:solidFill>
            <a:srgbClr val="EC4C8C"/>
          </a:solidFill>
          <a:ln/>
        </p:spPr>
        <p:txBody>
          <a:bodyPr/>
          <a:lstStyle/>
          <a:p>
            <a:endParaRPr lang="ar-OM"/>
          </a:p>
        </p:txBody>
      </p:sp>
      <p:pic>
        <p:nvPicPr>
          <p:cNvPr id="20" name="st-ic" descr="preencoded.png"/>
          <p:cNvPicPr>
            <a:picLocks noChangeAspect="1"/>
          </p:cNvPicPr>
          <p:nvPr/>
        </p:nvPicPr>
        <p:blipFill>
          <a:blip r:embed="rId7"/>
          <a:stretch>
            <a:fillRect/>
          </a:stretch>
        </p:blipFill>
        <p:spPr>
          <a:xfrm>
            <a:off x="8010144" y="3785616"/>
            <a:ext cx="292608" cy="292608"/>
          </a:xfrm>
          <a:prstGeom prst="rect">
            <a:avLst/>
          </a:prstGeom>
        </p:spPr>
      </p:pic>
      <p:sp>
        <p:nvSpPr>
          <p:cNvPr id="21" name="label"/>
          <p:cNvSpPr txBox="1"/>
          <p:nvPr/>
        </p:nvSpPr>
        <p:spPr>
          <a:xfrm>
            <a:off x="5715000" y="3529584"/>
            <a:ext cx="2057400" cy="804672"/>
          </a:xfrm>
          <a:prstGeom prst="rect">
            <a:avLst/>
          </a:prstGeom>
          <a:noFill/>
          <a:ln/>
        </p:spPr>
        <p:txBody>
          <a:bodyPr wrap="square" lIns="0" tIns="0" rIns="0" bIns="0" rtlCol="0" anchor="ctr"/>
          <a:lstStyle/>
          <a:p>
            <a:pPr marL="0" indent="0" algn="r" rtl="1">
              <a:buNone/>
            </a:pPr>
            <a:r>
              <a:rPr lang="ar-OM" altLang="en-US" sz="1500" b="1" dirty="0">
                <a:solidFill>
                  <a:srgbClr val="2D1B4E"/>
                </a:solidFill>
                <a:latin typeface="Tahoma" pitchFamily="34" charset="0"/>
                <a:ea typeface="Tahoma" pitchFamily="34" charset="-122"/>
                <a:cs typeface="Tahoma" pitchFamily="34" charset="-120"/>
              </a:rPr>
              <a:t>أفلت زر الفأرة</a:t>
            </a:r>
            <a:endParaRPr lang="ar-OM" sz="1500" dirty="0"/>
          </a:p>
        </p:txBody>
      </p:sp>
      <p:sp>
        <p:nvSpPr>
          <p:cNvPr id="22" name="no"/>
          <p:cNvSpPr/>
          <p:nvPr/>
        </p:nvSpPr>
        <p:spPr>
          <a:xfrm>
            <a:off x="5440680" y="3374136"/>
            <a:ext cx="384048" cy="384048"/>
          </a:xfrm>
          <a:prstGeom prst="ellipse">
            <a:avLst/>
          </a:prstGeom>
          <a:solidFill>
            <a:srgbClr val="EC4C8C"/>
          </a:solidFill>
          <a:ln/>
        </p:spPr>
        <p:txBody>
          <a:bodyPr wrap="square" lIns="0" tIns="0" rIns="0" bIns="0" rtlCol="0" anchor="ctr"/>
          <a:lstStyle/>
          <a:p>
            <a:pPr marL="0" indent="0" algn="ctr">
              <a:buNone/>
            </a:pPr>
            <a:r>
              <a:rPr lang="en-US" sz="1500" b="1" dirty="0">
                <a:solidFill>
                  <a:srgbClr val="FFFFFF"/>
                </a:solidFill>
              </a:rPr>
              <a:t>3</a:t>
            </a:r>
            <a:endParaRPr lang="en-US" sz="15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29B6D1"/>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تَغْييرُ لَوْنِ الإِطارِ وتَعْبِئَةُ الشَّكْلِ</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29B6D1"/>
                </a:solidFill>
                <a:latin typeface="Tahoma" pitchFamily="34" charset="0"/>
                <a:ea typeface="Tahoma" pitchFamily="34" charset="-122"/>
                <a:cs typeface="Tahoma" pitchFamily="34" charset="-120"/>
              </a:rPr>
              <a:t>الهدف الثالث — تلوين الشكل</a:t>
            </a:r>
            <a:endParaRPr lang="ar-OM" sz="1600" dirty="0"/>
          </a:p>
        </p:txBody>
      </p:sp>
      <p:sp>
        <p:nvSpPr>
          <p:cNvPr id="6" name="card"/>
          <p:cNvSpPr/>
          <p:nvPr/>
        </p:nvSpPr>
        <p:spPr>
          <a:xfrm>
            <a:off x="4617720" y="1325880"/>
            <a:ext cx="4023360" cy="3154680"/>
          </a:xfrm>
          <a:prstGeom prst="roundRect">
            <a:avLst>
              <a:gd name="adj" fmla="val 5217"/>
            </a:avLst>
          </a:prstGeom>
          <a:solidFill>
            <a:srgbClr val="FFFFFF"/>
          </a:solidFill>
          <a:ln w="31750">
            <a:solidFill>
              <a:srgbClr val="F7941D"/>
            </a:solidFill>
            <a:prstDash val="solid"/>
          </a:ln>
          <a:effectLst>
            <a:outerShdw blurRad="76200" dist="25400" dir="5400000" algn="bl" rotWithShape="0">
              <a:srgbClr val="5B2C83">
                <a:alpha val="18000"/>
              </a:srgbClr>
            </a:outerShdw>
          </a:effectLst>
        </p:spPr>
        <p:txBody>
          <a:bodyPr/>
          <a:lstStyle/>
          <a:p>
            <a:endParaRPr lang="ar-OM"/>
          </a:p>
        </p:txBody>
      </p:sp>
      <p:pic>
        <p:nvPicPr>
          <p:cNvPr id="7" name="outline" descr="img/outline.png"/>
          <p:cNvPicPr>
            <a:picLocks noChangeAspect="1"/>
          </p:cNvPicPr>
          <p:nvPr/>
        </p:nvPicPr>
        <p:blipFill>
          <a:blip r:embed="rId4"/>
          <a:srcRect/>
          <a:stretch/>
        </p:blipFill>
        <p:spPr>
          <a:xfrm>
            <a:off x="4754880" y="1463040"/>
            <a:ext cx="3749040" cy="2057400"/>
          </a:xfrm>
          <a:prstGeom prst="rect">
            <a:avLst/>
          </a:prstGeom>
        </p:spPr>
      </p:pic>
      <p:sp>
        <p:nvSpPr>
          <p:cNvPr id="8" name="label"/>
          <p:cNvSpPr txBox="1"/>
          <p:nvPr/>
        </p:nvSpPr>
        <p:spPr>
          <a:xfrm>
            <a:off x="4754880" y="3566160"/>
            <a:ext cx="3749040" cy="822960"/>
          </a:xfrm>
          <a:prstGeom prst="rect">
            <a:avLst/>
          </a:prstGeom>
          <a:noFill/>
          <a:ln/>
        </p:spPr>
        <p:txBody>
          <a:bodyPr wrap="square" lIns="0" tIns="0" rIns="0" bIns="0" rtlCol="0" anchor="ctr"/>
          <a:lstStyle/>
          <a:p>
            <a:pPr marL="0" indent="0" algn="ctr" rtl="1">
              <a:buNone/>
            </a:pPr>
            <a:r>
              <a:rPr lang="ar-OM" altLang="en-US" sz="1500" b="1" dirty="0">
                <a:solidFill>
                  <a:srgbClr val="2D1B4E"/>
                </a:solidFill>
                <a:latin typeface="Tahoma" pitchFamily="34" charset="0"/>
                <a:ea typeface="Tahoma" pitchFamily="34" charset="-122"/>
                <a:cs typeface="Tahoma" pitchFamily="34" charset="-120"/>
              </a:rPr>
              <a:t>لتغيير لون الإطار: انقر على اللون وما زال الشكل محدّدًا</a:t>
            </a:r>
            <a:endParaRPr lang="ar-OM" sz="1500" dirty="0"/>
          </a:p>
        </p:txBody>
      </p:sp>
      <p:sp>
        <p:nvSpPr>
          <p:cNvPr id="9" name="card"/>
          <p:cNvSpPr/>
          <p:nvPr/>
        </p:nvSpPr>
        <p:spPr>
          <a:xfrm>
            <a:off x="502920" y="1325880"/>
            <a:ext cx="3931920" cy="3154680"/>
          </a:xfrm>
          <a:prstGeom prst="roundRect">
            <a:avLst>
              <a:gd name="adj" fmla="val 5217"/>
            </a:avLst>
          </a:prstGeom>
          <a:solidFill>
            <a:srgbClr val="FFFFFF"/>
          </a:solidFill>
          <a:ln w="31750">
            <a:solidFill>
              <a:srgbClr val="7AC143"/>
            </a:solidFill>
            <a:prstDash val="solid"/>
          </a:ln>
          <a:effectLst>
            <a:outerShdw blurRad="76200" dist="25400" dir="5400000" algn="bl" rotWithShape="0">
              <a:srgbClr val="5B2C83">
                <a:alpha val="18000"/>
              </a:srgbClr>
            </a:outerShdw>
          </a:effectLst>
        </p:spPr>
        <p:txBody>
          <a:bodyPr/>
          <a:lstStyle/>
          <a:p>
            <a:endParaRPr lang="ar-OM"/>
          </a:p>
        </p:txBody>
      </p:sp>
      <p:pic>
        <p:nvPicPr>
          <p:cNvPr id="10" name="fill" descr="img/fill.png"/>
          <p:cNvPicPr>
            <a:picLocks noChangeAspect="1"/>
          </p:cNvPicPr>
          <p:nvPr/>
        </p:nvPicPr>
        <p:blipFill>
          <a:blip r:embed="rId5"/>
          <a:srcRect/>
          <a:stretch/>
        </p:blipFill>
        <p:spPr>
          <a:xfrm>
            <a:off x="640080" y="1463040"/>
            <a:ext cx="3657600" cy="2057400"/>
          </a:xfrm>
          <a:prstGeom prst="rect">
            <a:avLst/>
          </a:prstGeom>
        </p:spPr>
      </p:pic>
      <p:sp>
        <p:nvSpPr>
          <p:cNvPr id="11" name="label"/>
          <p:cNvSpPr txBox="1"/>
          <p:nvPr/>
        </p:nvSpPr>
        <p:spPr>
          <a:xfrm>
            <a:off x="640080" y="3566160"/>
            <a:ext cx="3657600" cy="822960"/>
          </a:xfrm>
          <a:prstGeom prst="rect">
            <a:avLst/>
          </a:prstGeom>
          <a:noFill/>
          <a:ln/>
        </p:spPr>
        <p:txBody>
          <a:bodyPr wrap="square" lIns="0" tIns="0" rIns="0" bIns="0" rtlCol="0" anchor="ctr"/>
          <a:lstStyle/>
          <a:p>
            <a:pPr marL="0" indent="0" algn="ctr" rtl="1">
              <a:buNone/>
            </a:pPr>
            <a:r>
              <a:rPr lang="ar-OM" altLang="en-US" sz="1500" b="1" dirty="0">
                <a:solidFill>
                  <a:srgbClr val="2D1B4E"/>
                </a:solidFill>
                <a:latin typeface="Tahoma" pitchFamily="34" charset="0"/>
                <a:ea typeface="Tahoma" pitchFamily="34" charset="-122"/>
                <a:cs typeface="Tahoma" pitchFamily="34" charset="-120"/>
              </a:rPr>
              <a:t>للتعبئة: أداة التعبئة ← اللون ← انقر داخل الشكل</a:t>
            </a:r>
            <a:endParaRPr lang="ar-OM" sz="15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29B6D1"/>
          </a:solidFill>
          <a:ln/>
        </p:spPr>
        <p:txBody>
          <a:bodyPr/>
          <a:lstStyle/>
          <a:p>
            <a:endParaRPr lang="ar-OM"/>
          </a:p>
        </p:txBody>
      </p:sp>
      <p:pic>
        <p:nvPicPr>
          <p:cNvPr id="3" name="title-icon" descr="preencoded.png"/>
          <p:cNvPicPr>
            <a:picLocks noChangeAspect="1"/>
          </p:cNvPicPr>
          <p:nvPr/>
        </p:nvPicPr>
        <p:blipFill>
          <a:blip r:embed="rId5"/>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شاهد: كيف نرسم شكلًا ونلوّنه؟</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29B6D1"/>
                </a:solidFill>
                <a:latin typeface="Tahoma" pitchFamily="34" charset="0"/>
                <a:ea typeface="Tahoma" pitchFamily="34" charset="-122"/>
                <a:cs typeface="Tahoma" pitchFamily="34" charset="-120"/>
              </a:rPr>
              <a:t>شاهد المقطع بانتباه ثم أجب عن السؤال</a:t>
            </a:r>
            <a:endParaRPr lang="ar-OM" sz="1600" dirty="0"/>
          </a:p>
        </p:txBody>
      </p:sp>
      <p:sp>
        <p:nvSpPr>
          <p:cNvPr id="6" name="video-frame"/>
          <p:cNvSpPr/>
          <p:nvPr/>
        </p:nvSpPr>
        <p:spPr>
          <a:xfrm>
            <a:off x="1481328" y="1353312"/>
            <a:ext cx="6181344" cy="3310128"/>
          </a:xfrm>
          <a:prstGeom prst="roundRect">
            <a:avLst>
              <a:gd name="adj" fmla="val 3315"/>
            </a:avLst>
          </a:prstGeom>
          <a:solidFill>
            <a:srgbClr val="29B6D1"/>
          </a:solidFill>
          <a:ln/>
        </p:spPr>
        <p:txBody>
          <a:bodyPr/>
          <a:lstStyle/>
          <a:p>
            <a:endParaRPr lang="ar-OM"/>
          </a:p>
        </p:txBody>
      </p:sp>
      <p:pic>
        <p:nvPicPr>
          <p:cNvPr id="7" name="video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00200" y="1463040"/>
            <a:ext cx="5943600" cy="3072384"/>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29B6D1"/>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سؤال الهدف الثالث</a:t>
            </a:r>
            <a:endParaRPr lang="ar-OM" sz="3800" dirty="0"/>
          </a:p>
        </p:txBody>
      </p:sp>
      <p:sp>
        <p:nvSpPr>
          <p:cNvPr id="5" name="question"/>
          <p:cNvSpPr/>
          <p:nvPr/>
        </p:nvSpPr>
        <p:spPr>
          <a:xfrm>
            <a:off x="640080" y="1234440"/>
            <a:ext cx="7315200" cy="868680"/>
          </a:xfrm>
          <a:prstGeom prst="roundRect">
            <a:avLst>
              <a:gd name="adj" fmla="val 21053"/>
            </a:avLst>
          </a:prstGeom>
          <a:solidFill>
            <a:srgbClr val="F1ECFA"/>
          </a:solidFill>
          <a:ln w="25400">
            <a:solidFill>
              <a:srgbClr val="5B2C83"/>
            </a:solidFill>
          </a:ln>
        </p:spPr>
        <p:txBody>
          <a:bodyPr wrap="square" lIns="1270" tIns="1270" rIns="1270" bIns="1270" rtlCol="0" anchor="ctr"/>
          <a:lstStyle/>
          <a:p>
            <a:pPr marL="0" indent="0" algn="ctr" rtl="1">
              <a:buNone/>
            </a:pPr>
            <a:r>
              <a:rPr lang="ar-OM" altLang="en-US" sz="3400" b="1" dirty="0">
                <a:solidFill>
                  <a:srgbClr val="5B2C83"/>
                </a:solidFill>
                <a:latin typeface="Sakkal Majalla" pitchFamily="34" charset="0"/>
                <a:ea typeface="Sakkal Majalla" pitchFamily="34" charset="-122"/>
                <a:cs typeface="Sakkal Majalla" pitchFamily="34" charset="-120"/>
              </a:rPr>
              <a:t>بعد أن نختار الشكل، كيف نرسمه؟</a:t>
            </a:r>
            <a:endParaRPr lang="ar-OM" sz="3400" dirty="0"/>
          </a:p>
        </p:txBody>
      </p:sp>
      <p:sp>
        <p:nvSpPr>
          <p:cNvPr id="6" name="q-badge"/>
          <p:cNvSpPr/>
          <p:nvPr/>
        </p:nvSpPr>
        <p:spPr>
          <a:xfrm>
            <a:off x="8092440" y="1303020"/>
            <a:ext cx="731520" cy="731520"/>
          </a:xfrm>
          <a:prstGeom prst="ellipse">
            <a:avLst/>
          </a:prstGeom>
          <a:solidFill>
            <a:srgbClr val="F7941D"/>
          </a:solidFill>
          <a:ln/>
        </p:spPr>
        <p:txBody>
          <a:bodyPr/>
          <a:lstStyle/>
          <a:p>
            <a:endParaRPr lang="ar-OM"/>
          </a:p>
        </p:txBody>
      </p:sp>
      <p:pic>
        <p:nvPicPr>
          <p:cNvPr id="7" name="q-icon" descr="preencoded.png"/>
          <p:cNvPicPr>
            <a:picLocks noChangeAspect="1"/>
          </p:cNvPicPr>
          <p:nvPr/>
        </p:nvPicPr>
        <p:blipFill>
          <a:blip r:embed="rId3"/>
          <a:stretch>
            <a:fillRect/>
          </a:stretch>
        </p:blipFill>
        <p:spPr>
          <a:xfrm>
            <a:off x="8293608" y="1504188"/>
            <a:ext cx="329184" cy="329184"/>
          </a:xfrm>
          <a:prstGeom prst="rect">
            <a:avLst/>
          </a:prstGeom>
        </p:spPr>
      </p:pic>
      <p:sp>
        <p:nvSpPr>
          <p:cNvPr id="8" name="pill"/>
          <p:cNvSpPr/>
          <p:nvPr/>
        </p:nvSpPr>
        <p:spPr>
          <a:xfrm>
            <a:off x="1828800" y="2331720"/>
            <a:ext cx="5486400" cy="621792"/>
          </a:xfrm>
          <a:prstGeom prst="roundRect">
            <a:avLst>
              <a:gd name="adj" fmla="val 50000"/>
            </a:avLst>
          </a:prstGeom>
          <a:solidFill>
            <a:srgbClr val="29B6D1"/>
          </a:solidFill>
          <a:ln/>
        </p:spPr>
        <p:txBody>
          <a:bodyPr wrap="square" lIns="0" tIns="0" rIns="0"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ننقر ونسحب</a:t>
            </a:r>
            <a:endParaRPr lang="ar-OM" sz="2200" dirty="0"/>
          </a:p>
        </p:txBody>
      </p:sp>
      <p:pic>
        <p:nvPicPr>
          <p:cNvPr id="9" name="ANS_OK_q3" descr="إجابة صحيحة">
            <a:hlinkClick r:id="rId4" action="ppaction://hlinksldjump" tooltip=" ">
              <a:snd r:embed="rId5" name="correct.wav"/>
            </a:hlinkClick>
          </p:cNvPr>
          <p:cNvPicPr>
            <a:picLocks noChangeAspect="1"/>
          </p:cNvPicPr>
          <p:nvPr/>
        </p:nvPicPr>
        <p:blipFill>
          <a:blip r:embed="rId6"/>
          <a:stretch>
            <a:fillRect/>
          </a:stretch>
        </p:blipFill>
        <p:spPr>
          <a:xfrm>
            <a:off x="1828800" y="2331720"/>
            <a:ext cx="5486400" cy="621792"/>
          </a:xfrm>
          <a:prstGeom prst="rect">
            <a:avLst/>
          </a:prstGeom>
        </p:spPr>
      </p:pic>
      <p:sp>
        <p:nvSpPr>
          <p:cNvPr id="10" name="pill"/>
          <p:cNvSpPr/>
          <p:nvPr/>
        </p:nvSpPr>
        <p:spPr>
          <a:xfrm>
            <a:off x="1828800" y="3108960"/>
            <a:ext cx="5486400" cy="621792"/>
          </a:xfrm>
          <a:prstGeom prst="roundRect">
            <a:avLst>
              <a:gd name="adj" fmla="val 50000"/>
            </a:avLst>
          </a:prstGeom>
          <a:solidFill>
            <a:srgbClr val="EC4C8C"/>
          </a:solidFill>
          <a:ln/>
        </p:spPr>
        <p:txBody>
          <a:bodyPr wrap="square" lIns="0" tIns="0" rIns="0"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نغلق الرسّام</a:t>
            </a:r>
            <a:endParaRPr lang="ar-OM" sz="2200" dirty="0"/>
          </a:p>
        </p:txBody>
      </p:sp>
      <p:pic>
        <p:nvPicPr>
          <p:cNvPr id="11" name="ANS_NO_q3" descr="إجابة خاطئة">
            <a:hlinkClick r:id="rId7" action="ppaction://hlinksldjump" tooltip=" ">
              <a:snd r:embed="rId8" name="wrong.wav"/>
            </a:hlinkClick>
          </p:cNvPr>
          <p:cNvPicPr>
            <a:picLocks noChangeAspect="1"/>
          </p:cNvPicPr>
          <p:nvPr/>
        </p:nvPicPr>
        <p:blipFill>
          <a:blip r:embed="rId6"/>
          <a:stretch>
            <a:fillRect/>
          </a:stretch>
        </p:blipFill>
        <p:spPr>
          <a:xfrm>
            <a:off x="1828800" y="3108960"/>
            <a:ext cx="5486400" cy="621792"/>
          </a:xfrm>
          <a:prstGeom prst="rect">
            <a:avLst/>
          </a:prstGeom>
        </p:spPr>
      </p:pic>
      <p:sp>
        <p:nvSpPr>
          <p:cNvPr id="12" name="pill"/>
          <p:cNvSpPr/>
          <p:nvPr/>
        </p:nvSpPr>
        <p:spPr>
          <a:xfrm>
            <a:off x="1828800" y="3886200"/>
            <a:ext cx="5486400" cy="621792"/>
          </a:xfrm>
          <a:prstGeom prst="roundRect">
            <a:avLst>
              <a:gd name="adj" fmla="val 50000"/>
            </a:avLst>
          </a:prstGeom>
          <a:solidFill>
            <a:srgbClr val="7AC143"/>
          </a:solidFill>
          <a:ln/>
        </p:spPr>
        <p:txBody>
          <a:bodyPr wrap="square" lIns="0" tIns="0" rIns="0"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نضغط زر الحفظ</a:t>
            </a:r>
            <a:endParaRPr lang="ar-OM" sz="2200" dirty="0"/>
          </a:p>
        </p:txBody>
      </p:sp>
      <p:pic>
        <p:nvPicPr>
          <p:cNvPr id="13" name="ANS_NO_q3" descr="إجابة خاطئة">
            <a:hlinkClick r:id="rId7" action="ppaction://hlinksldjump" tooltip=" ">
              <a:snd r:embed="rId8" name="wrong.wav"/>
            </a:hlinkClick>
          </p:cNvPr>
          <p:cNvPicPr>
            <a:picLocks noChangeAspect="1"/>
          </p:cNvPicPr>
          <p:nvPr/>
        </p:nvPicPr>
        <p:blipFill>
          <a:blip r:embed="rId6"/>
          <a:stretch>
            <a:fillRect/>
          </a:stretch>
        </p:blipFill>
        <p:spPr>
          <a:xfrm>
            <a:off x="1828800" y="3886200"/>
            <a:ext cx="5486400" cy="621792"/>
          </a:xfrm>
          <a:prstGeom prst="rect">
            <a:avLst/>
          </a:prstGeom>
        </p:spPr>
      </p:pic>
    </p:spTree>
  </p:cSld>
  <p:clrMapOvr>
    <a:masterClrMapping/>
  </p:clrMapOvr>
  <p:transition spd="med" advClick="0">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EC4C8C"/>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المِمْحاةُ والتَّراجُعُ والإِعادَة</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EC4C8C"/>
                </a:solidFill>
                <a:latin typeface="Tahoma" pitchFamily="34" charset="0"/>
                <a:ea typeface="Tahoma" pitchFamily="34" charset="-122"/>
                <a:cs typeface="Tahoma" pitchFamily="34" charset="-120"/>
              </a:rPr>
              <a:t>الهدف الرابع</a:t>
            </a:r>
            <a:endParaRPr lang="ar-OM" sz="1600" dirty="0"/>
          </a:p>
        </p:txBody>
      </p:sp>
      <p:sp>
        <p:nvSpPr>
          <p:cNvPr id="6" name="card"/>
          <p:cNvSpPr/>
          <p:nvPr/>
        </p:nvSpPr>
        <p:spPr>
          <a:xfrm>
            <a:off x="4617720" y="1325880"/>
            <a:ext cx="4023360" cy="3154680"/>
          </a:xfrm>
          <a:prstGeom prst="roundRect">
            <a:avLst>
              <a:gd name="adj" fmla="val 5217"/>
            </a:avLst>
          </a:prstGeom>
          <a:solidFill>
            <a:srgbClr val="FFFFFF"/>
          </a:solidFill>
          <a:ln w="31750">
            <a:solidFill>
              <a:srgbClr val="EC4C8C"/>
            </a:solidFill>
            <a:prstDash val="solid"/>
          </a:ln>
          <a:effectLst>
            <a:outerShdw blurRad="76200" dist="25400" dir="5400000" algn="bl" rotWithShape="0">
              <a:srgbClr val="5B2C83">
                <a:alpha val="18000"/>
              </a:srgbClr>
            </a:outerShdw>
          </a:effectLst>
        </p:spPr>
        <p:txBody>
          <a:bodyPr/>
          <a:lstStyle/>
          <a:p>
            <a:endParaRPr lang="ar-OM"/>
          </a:p>
        </p:txBody>
      </p:sp>
      <p:pic>
        <p:nvPicPr>
          <p:cNvPr id="7" name="erase" descr="img/erase.png"/>
          <p:cNvPicPr>
            <a:picLocks noChangeAspect="1"/>
          </p:cNvPicPr>
          <p:nvPr/>
        </p:nvPicPr>
        <p:blipFill>
          <a:blip r:embed="rId4"/>
          <a:srcRect/>
          <a:stretch/>
        </p:blipFill>
        <p:spPr>
          <a:xfrm>
            <a:off x="4754880" y="1463040"/>
            <a:ext cx="3749040" cy="2103120"/>
          </a:xfrm>
          <a:prstGeom prst="rect">
            <a:avLst/>
          </a:prstGeom>
        </p:spPr>
      </p:pic>
      <p:sp>
        <p:nvSpPr>
          <p:cNvPr id="8" name="label"/>
          <p:cNvSpPr txBox="1"/>
          <p:nvPr/>
        </p:nvSpPr>
        <p:spPr>
          <a:xfrm>
            <a:off x="4754880" y="3611880"/>
            <a:ext cx="3749040" cy="777240"/>
          </a:xfrm>
          <a:prstGeom prst="rect">
            <a:avLst/>
          </a:prstGeom>
          <a:noFill/>
          <a:ln/>
        </p:spPr>
        <p:txBody>
          <a:bodyPr wrap="square" lIns="0" tIns="0" rIns="0" bIns="0" rtlCol="0" anchor="ctr"/>
          <a:lstStyle/>
          <a:p>
            <a:pPr marL="0" indent="0" algn="ctr" rtl="1">
              <a:buNone/>
            </a:pPr>
            <a:r>
              <a:rPr lang="ar-OM" altLang="en-US" sz="1500" b="1" dirty="0">
                <a:solidFill>
                  <a:srgbClr val="2D1B4E"/>
                </a:solidFill>
                <a:latin typeface="Tahoma" pitchFamily="34" charset="0"/>
                <a:ea typeface="Tahoma" pitchFamily="34" charset="-122"/>
                <a:cs typeface="Tahoma" pitchFamily="34" charset="-120"/>
              </a:rPr>
              <a:t>الممحاة: انقر عليها، ثم انقر واسحب لتمسح</a:t>
            </a:r>
            <a:endParaRPr lang="ar-OM" sz="1500" dirty="0"/>
          </a:p>
        </p:txBody>
      </p:sp>
      <p:sp>
        <p:nvSpPr>
          <p:cNvPr id="9" name="card"/>
          <p:cNvSpPr/>
          <p:nvPr/>
        </p:nvSpPr>
        <p:spPr>
          <a:xfrm>
            <a:off x="502920" y="1325880"/>
            <a:ext cx="3931920" cy="3154680"/>
          </a:xfrm>
          <a:prstGeom prst="roundRect">
            <a:avLst>
              <a:gd name="adj" fmla="val 5217"/>
            </a:avLst>
          </a:prstGeom>
          <a:solidFill>
            <a:srgbClr val="FFFFFF"/>
          </a:solidFill>
          <a:ln w="31750">
            <a:solidFill>
              <a:srgbClr val="F7941D"/>
            </a:solidFill>
            <a:prstDash val="solid"/>
          </a:ln>
          <a:effectLst>
            <a:outerShdw blurRad="76200" dist="25400" dir="5400000" algn="bl" rotWithShape="0">
              <a:srgbClr val="5B2C83">
                <a:alpha val="18000"/>
              </a:srgbClr>
            </a:outerShdw>
          </a:effectLst>
        </p:spPr>
        <p:txBody>
          <a:bodyPr/>
          <a:lstStyle/>
          <a:p>
            <a:endParaRPr lang="ar-OM"/>
          </a:p>
        </p:txBody>
      </p:sp>
      <p:pic>
        <p:nvPicPr>
          <p:cNvPr id="10" name="undoredo" descr="img/undoredo.png"/>
          <p:cNvPicPr>
            <a:picLocks noChangeAspect="1"/>
          </p:cNvPicPr>
          <p:nvPr/>
        </p:nvPicPr>
        <p:blipFill>
          <a:blip r:embed="rId5"/>
          <a:srcRect/>
          <a:stretch/>
        </p:blipFill>
        <p:spPr>
          <a:xfrm>
            <a:off x="640080" y="1463040"/>
            <a:ext cx="3657600" cy="2103120"/>
          </a:xfrm>
          <a:prstGeom prst="rect">
            <a:avLst/>
          </a:prstGeom>
        </p:spPr>
      </p:pic>
      <p:sp>
        <p:nvSpPr>
          <p:cNvPr id="11" name="u-bg"/>
          <p:cNvSpPr/>
          <p:nvPr/>
        </p:nvSpPr>
        <p:spPr>
          <a:xfrm>
            <a:off x="3017520" y="3639312"/>
            <a:ext cx="457200" cy="457200"/>
          </a:xfrm>
          <a:prstGeom prst="ellipse">
            <a:avLst/>
          </a:prstGeom>
          <a:solidFill>
            <a:srgbClr val="F7941D"/>
          </a:solidFill>
          <a:ln/>
        </p:spPr>
        <p:txBody>
          <a:bodyPr/>
          <a:lstStyle/>
          <a:p>
            <a:endParaRPr lang="ar-OM"/>
          </a:p>
        </p:txBody>
      </p:sp>
      <p:pic>
        <p:nvPicPr>
          <p:cNvPr id="12" name="u-ic" descr="preencoded.png"/>
          <p:cNvPicPr>
            <a:picLocks noChangeAspect="1"/>
          </p:cNvPicPr>
          <p:nvPr/>
        </p:nvPicPr>
        <p:blipFill>
          <a:blip r:embed="rId6"/>
          <a:stretch>
            <a:fillRect/>
          </a:stretch>
        </p:blipFill>
        <p:spPr>
          <a:xfrm>
            <a:off x="3127248" y="3749040"/>
            <a:ext cx="237744" cy="237744"/>
          </a:xfrm>
          <a:prstGeom prst="rect">
            <a:avLst/>
          </a:prstGeom>
        </p:spPr>
      </p:pic>
      <p:sp>
        <p:nvSpPr>
          <p:cNvPr id="13" name="label"/>
          <p:cNvSpPr txBox="1"/>
          <p:nvPr/>
        </p:nvSpPr>
        <p:spPr>
          <a:xfrm>
            <a:off x="2880360" y="4096512"/>
            <a:ext cx="731520" cy="320040"/>
          </a:xfrm>
          <a:prstGeom prst="rect">
            <a:avLst/>
          </a:prstGeom>
          <a:noFill/>
          <a:ln/>
        </p:spPr>
        <p:txBody>
          <a:bodyPr wrap="square" lIns="0" tIns="0" rIns="0" bIns="0" rtlCol="0" anchor="ctr"/>
          <a:lstStyle/>
          <a:p>
            <a:pPr marL="0" indent="0" algn="ctr" rtl="1">
              <a:buNone/>
            </a:pPr>
            <a:r>
              <a:rPr lang="ar-OM" altLang="en-US" sz="1300" b="1" dirty="0">
                <a:solidFill>
                  <a:srgbClr val="2D1B4E"/>
                </a:solidFill>
                <a:latin typeface="Tahoma" pitchFamily="34" charset="0"/>
                <a:ea typeface="Tahoma" pitchFamily="34" charset="-122"/>
                <a:cs typeface="Tahoma" pitchFamily="34" charset="-120"/>
              </a:rPr>
              <a:t>تراجع</a:t>
            </a:r>
            <a:endParaRPr lang="ar-OM" sz="1300" dirty="0"/>
          </a:p>
        </p:txBody>
      </p:sp>
      <p:sp>
        <p:nvSpPr>
          <p:cNvPr id="14" name="r-bg"/>
          <p:cNvSpPr/>
          <p:nvPr/>
        </p:nvSpPr>
        <p:spPr>
          <a:xfrm>
            <a:off x="1463040" y="3639312"/>
            <a:ext cx="457200" cy="457200"/>
          </a:xfrm>
          <a:prstGeom prst="ellipse">
            <a:avLst/>
          </a:prstGeom>
          <a:solidFill>
            <a:srgbClr val="7AC143"/>
          </a:solidFill>
          <a:ln/>
        </p:spPr>
        <p:txBody>
          <a:bodyPr/>
          <a:lstStyle/>
          <a:p>
            <a:endParaRPr lang="ar-OM"/>
          </a:p>
        </p:txBody>
      </p:sp>
      <p:pic>
        <p:nvPicPr>
          <p:cNvPr id="15" name="r-ic" descr="preencoded.png"/>
          <p:cNvPicPr>
            <a:picLocks noChangeAspect="1"/>
          </p:cNvPicPr>
          <p:nvPr/>
        </p:nvPicPr>
        <p:blipFill>
          <a:blip r:embed="rId7"/>
          <a:stretch>
            <a:fillRect/>
          </a:stretch>
        </p:blipFill>
        <p:spPr>
          <a:xfrm>
            <a:off x="1572768" y="3749040"/>
            <a:ext cx="237744" cy="237744"/>
          </a:xfrm>
          <a:prstGeom prst="rect">
            <a:avLst/>
          </a:prstGeom>
        </p:spPr>
      </p:pic>
      <p:sp>
        <p:nvSpPr>
          <p:cNvPr id="16" name="label"/>
          <p:cNvSpPr txBox="1"/>
          <p:nvPr/>
        </p:nvSpPr>
        <p:spPr>
          <a:xfrm>
            <a:off x="1325880" y="4096512"/>
            <a:ext cx="731520" cy="320040"/>
          </a:xfrm>
          <a:prstGeom prst="rect">
            <a:avLst/>
          </a:prstGeom>
          <a:noFill/>
          <a:ln/>
        </p:spPr>
        <p:txBody>
          <a:bodyPr wrap="square" lIns="0" tIns="0" rIns="0" bIns="0" rtlCol="0" anchor="ctr"/>
          <a:lstStyle/>
          <a:p>
            <a:pPr marL="0" indent="0" algn="ctr" rtl="1">
              <a:buNone/>
            </a:pPr>
            <a:r>
              <a:rPr lang="ar-OM" altLang="en-US" sz="1300" b="1" dirty="0">
                <a:solidFill>
                  <a:srgbClr val="2D1B4E"/>
                </a:solidFill>
                <a:latin typeface="Tahoma" pitchFamily="34" charset="0"/>
                <a:ea typeface="Tahoma" pitchFamily="34" charset="-122"/>
                <a:cs typeface="Tahoma" pitchFamily="34" charset="-120"/>
              </a:rPr>
              <a:t>إعادة</a:t>
            </a:r>
            <a:endParaRPr lang="ar-OM" sz="13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EC4C8C"/>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احْفَظْ (Save) عَمَلَكَ دائِمًا</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EC4C8C"/>
                </a:solidFill>
                <a:latin typeface="Tahoma" pitchFamily="34" charset="0"/>
                <a:ea typeface="Tahoma" pitchFamily="34" charset="-122"/>
                <a:cs typeface="Tahoma" pitchFamily="34" charset="-120"/>
              </a:rPr>
              <a:t>الهدف الرابع</a:t>
            </a:r>
            <a:endParaRPr lang="ar-OM" sz="1600" dirty="0"/>
          </a:p>
        </p:txBody>
      </p:sp>
      <p:sp>
        <p:nvSpPr>
          <p:cNvPr id="6" name="card"/>
          <p:cNvSpPr/>
          <p:nvPr/>
        </p:nvSpPr>
        <p:spPr>
          <a:xfrm>
            <a:off x="4617720" y="1325880"/>
            <a:ext cx="4023360" cy="2514600"/>
          </a:xfrm>
          <a:prstGeom prst="roundRect">
            <a:avLst>
              <a:gd name="adj" fmla="val 6545"/>
            </a:avLst>
          </a:prstGeom>
          <a:solidFill>
            <a:srgbClr val="FFFFFF"/>
          </a:solidFill>
          <a:ln w="31750">
            <a:solidFill>
              <a:srgbClr val="29B6D1"/>
            </a:solidFill>
            <a:prstDash val="solid"/>
          </a:ln>
          <a:effectLst>
            <a:outerShdw blurRad="76200" dist="25400" dir="5400000" algn="bl" rotWithShape="0">
              <a:srgbClr val="5B2C83">
                <a:alpha val="18000"/>
              </a:srgbClr>
            </a:outerShdw>
          </a:effectLst>
        </p:spPr>
        <p:txBody>
          <a:bodyPr/>
          <a:lstStyle/>
          <a:p>
            <a:endParaRPr lang="ar-OM"/>
          </a:p>
        </p:txBody>
      </p:sp>
      <p:pic>
        <p:nvPicPr>
          <p:cNvPr id="7" name="savemenu" descr="img/savemenu.png"/>
          <p:cNvPicPr>
            <a:picLocks noChangeAspect="1"/>
          </p:cNvPicPr>
          <p:nvPr/>
        </p:nvPicPr>
        <p:blipFill>
          <a:blip r:embed="rId4"/>
          <a:srcRect/>
          <a:stretch/>
        </p:blipFill>
        <p:spPr>
          <a:xfrm>
            <a:off x="4754880" y="1463040"/>
            <a:ext cx="3749040" cy="2240280"/>
          </a:xfrm>
          <a:prstGeom prst="rect">
            <a:avLst/>
          </a:prstGeom>
        </p:spPr>
      </p:pic>
      <p:sp>
        <p:nvSpPr>
          <p:cNvPr id="8" name="card"/>
          <p:cNvSpPr/>
          <p:nvPr/>
        </p:nvSpPr>
        <p:spPr>
          <a:xfrm>
            <a:off x="502920" y="1325880"/>
            <a:ext cx="3931920" cy="2514600"/>
          </a:xfrm>
          <a:prstGeom prst="roundRect">
            <a:avLst>
              <a:gd name="adj" fmla="val 6545"/>
            </a:avLst>
          </a:prstGeom>
          <a:solidFill>
            <a:srgbClr val="FFFFFF"/>
          </a:solidFill>
          <a:ln w="31750">
            <a:solidFill>
              <a:srgbClr val="5B2C83"/>
            </a:solidFill>
            <a:prstDash val="solid"/>
          </a:ln>
          <a:effectLst>
            <a:outerShdw blurRad="76200" dist="25400" dir="5400000" algn="bl" rotWithShape="0">
              <a:srgbClr val="5B2C83">
                <a:alpha val="18000"/>
              </a:srgbClr>
            </a:outerShdw>
          </a:effectLst>
        </p:spPr>
        <p:txBody>
          <a:bodyPr/>
          <a:lstStyle/>
          <a:p>
            <a:endParaRPr lang="ar-OM"/>
          </a:p>
        </p:txBody>
      </p:sp>
      <p:pic>
        <p:nvPicPr>
          <p:cNvPr id="9" name="savedlg" descr="img/savedlg.png"/>
          <p:cNvPicPr>
            <a:picLocks noChangeAspect="1"/>
          </p:cNvPicPr>
          <p:nvPr/>
        </p:nvPicPr>
        <p:blipFill>
          <a:blip r:embed="rId5"/>
          <a:srcRect/>
          <a:stretch/>
        </p:blipFill>
        <p:spPr>
          <a:xfrm>
            <a:off x="640080" y="1463040"/>
            <a:ext cx="3657600" cy="2240280"/>
          </a:xfrm>
          <a:prstGeom prst="rect">
            <a:avLst/>
          </a:prstGeom>
        </p:spPr>
      </p:pic>
      <p:sp>
        <p:nvSpPr>
          <p:cNvPr id="10" name="pill"/>
          <p:cNvSpPr/>
          <p:nvPr/>
        </p:nvSpPr>
        <p:spPr>
          <a:xfrm>
            <a:off x="6693408" y="3977640"/>
            <a:ext cx="1874520" cy="502920"/>
          </a:xfrm>
          <a:prstGeom prst="roundRect">
            <a:avLst>
              <a:gd name="adj" fmla="val 50000"/>
            </a:avLst>
          </a:prstGeom>
          <a:solidFill>
            <a:srgbClr val="F7941D"/>
          </a:solidFill>
          <a:ln/>
        </p:spPr>
        <p:txBody>
          <a:bodyPr wrap="square" lIns="0" tIns="0" rIns="0" bIns="0" rtlCol="0" anchor="ctr"/>
          <a:lstStyle/>
          <a:p>
            <a:pPr marL="0" indent="0" algn="ctr" rtl="1">
              <a:buNone/>
            </a:pPr>
            <a:r>
              <a:rPr lang="ar-OM" altLang="en-US" sz="1600" b="1" dirty="0">
                <a:solidFill>
                  <a:srgbClr val="FFFFFF"/>
                </a:solidFill>
                <a:latin typeface="Tahoma" pitchFamily="34" charset="0"/>
                <a:ea typeface="Tahoma" pitchFamily="34" charset="-122"/>
                <a:cs typeface="Tahoma" pitchFamily="34" charset="-120"/>
              </a:rPr>
              <a:t>انقر File</a:t>
            </a:r>
            <a:endParaRPr lang="ar-OM" sz="1600" dirty="0"/>
          </a:p>
        </p:txBody>
      </p:sp>
      <p:sp>
        <p:nvSpPr>
          <p:cNvPr id="11" name="no"/>
          <p:cNvSpPr/>
          <p:nvPr/>
        </p:nvSpPr>
        <p:spPr>
          <a:xfrm>
            <a:off x="8293608" y="3840480"/>
            <a:ext cx="384048" cy="384048"/>
          </a:xfrm>
          <a:prstGeom prst="ellipse">
            <a:avLst/>
          </a:prstGeom>
          <a:solidFill>
            <a:srgbClr val="5B2C83"/>
          </a:solid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12" name="pill"/>
          <p:cNvSpPr/>
          <p:nvPr/>
        </p:nvSpPr>
        <p:spPr>
          <a:xfrm>
            <a:off x="4654296" y="3977640"/>
            <a:ext cx="1874520" cy="502920"/>
          </a:xfrm>
          <a:prstGeom prst="roundRect">
            <a:avLst>
              <a:gd name="adj" fmla="val 50000"/>
            </a:avLst>
          </a:prstGeom>
          <a:solidFill>
            <a:srgbClr val="7AC143"/>
          </a:solidFill>
          <a:ln/>
        </p:spPr>
        <p:txBody>
          <a:bodyPr wrap="square" lIns="0" tIns="0" rIns="0" bIns="0" rtlCol="0" anchor="ctr"/>
          <a:lstStyle/>
          <a:p>
            <a:pPr marL="0" indent="0" algn="ctr" rtl="1">
              <a:buNone/>
            </a:pPr>
            <a:r>
              <a:rPr lang="ar-OM" altLang="en-US" sz="1600" b="1" dirty="0">
                <a:solidFill>
                  <a:srgbClr val="FFFFFF"/>
                </a:solidFill>
                <a:latin typeface="Tahoma" pitchFamily="34" charset="0"/>
                <a:ea typeface="Tahoma" pitchFamily="34" charset="-122"/>
                <a:cs typeface="Tahoma" pitchFamily="34" charset="-120"/>
              </a:rPr>
              <a:t>انقر Save as</a:t>
            </a:r>
            <a:endParaRPr lang="ar-OM" sz="1600" dirty="0"/>
          </a:p>
        </p:txBody>
      </p:sp>
      <p:sp>
        <p:nvSpPr>
          <p:cNvPr id="13" name="no"/>
          <p:cNvSpPr/>
          <p:nvPr/>
        </p:nvSpPr>
        <p:spPr>
          <a:xfrm>
            <a:off x="6254496" y="3840480"/>
            <a:ext cx="384048" cy="384048"/>
          </a:xfrm>
          <a:prstGeom prst="ellipse">
            <a:avLst/>
          </a:prstGeom>
          <a:solidFill>
            <a:srgbClr val="5B2C83"/>
          </a:solid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4" name="pill"/>
          <p:cNvSpPr/>
          <p:nvPr/>
        </p:nvSpPr>
        <p:spPr>
          <a:xfrm>
            <a:off x="2615184" y="3977640"/>
            <a:ext cx="1874520" cy="502920"/>
          </a:xfrm>
          <a:prstGeom prst="roundRect">
            <a:avLst>
              <a:gd name="adj" fmla="val 50000"/>
            </a:avLst>
          </a:prstGeom>
          <a:solidFill>
            <a:srgbClr val="29B6D1"/>
          </a:solidFill>
          <a:ln/>
        </p:spPr>
        <p:txBody>
          <a:bodyPr wrap="square" lIns="0" tIns="0" rIns="0" bIns="0" rtlCol="0" anchor="ctr"/>
          <a:lstStyle/>
          <a:p>
            <a:pPr marL="0" indent="0" algn="ctr" rtl="1">
              <a:buNone/>
            </a:pPr>
            <a:r>
              <a:rPr lang="ar-OM" altLang="en-US" sz="1600" b="1" dirty="0">
                <a:solidFill>
                  <a:srgbClr val="FFFFFF"/>
                </a:solidFill>
                <a:latin typeface="Tahoma" pitchFamily="34" charset="0"/>
                <a:ea typeface="Tahoma" pitchFamily="34" charset="-122"/>
                <a:cs typeface="Tahoma" pitchFamily="34" charset="-120"/>
              </a:rPr>
              <a:t>اكتب اسم الملف</a:t>
            </a:r>
            <a:endParaRPr lang="ar-OM" sz="1600" dirty="0"/>
          </a:p>
        </p:txBody>
      </p:sp>
      <p:sp>
        <p:nvSpPr>
          <p:cNvPr id="15" name="no"/>
          <p:cNvSpPr/>
          <p:nvPr/>
        </p:nvSpPr>
        <p:spPr>
          <a:xfrm>
            <a:off x="4215384" y="3840480"/>
            <a:ext cx="384048" cy="384048"/>
          </a:xfrm>
          <a:prstGeom prst="ellipse">
            <a:avLst/>
          </a:prstGeom>
          <a:solidFill>
            <a:srgbClr val="5B2C83"/>
          </a:solid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6" name="pill"/>
          <p:cNvSpPr/>
          <p:nvPr/>
        </p:nvSpPr>
        <p:spPr>
          <a:xfrm>
            <a:off x="576072" y="3977640"/>
            <a:ext cx="1874520" cy="502920"/>
          </a:xfrm>
          <a:prstGeom prst="roundRect">
            <a:avLst>
              <a:gd name="adj" fmla="val 50000"/>
            </a:avLst>
          </a:prstGeom>
          <a:solidFill>
            <a:srgbClr val="EC4C8C"/>
          </a:solidFill>
          <a:ln/>
        </p:spPr>
        <p:txBody>
          <a:bodyPr wrap="square" lIns="0" tIns="0" rIns="0" bIns="0" rtlCol="0" anchor="ctr"/>
          <a:lstStyle/>
          <a:p>
            <a:pPr marL="0" indent="0" algn="ctr" rtl="1">
              <a:buNone/>
            </a:pPr>
            <a:r>
              <a:rPr lang="ar-OM" altLang="en-US" sz="1600" b="1" dirty="0">
                <a:solidFill>
                  <a:srgbClr val="FFFFFF"/>
                </a:solidFill>
                <a:latin typeface="Tahoma" pitchFamily="34" charset="0"/>
                <a:ea typeface="Tahoma" pitchFamily="34" charset="-122"/>
                <a:cs typeface="Tahoma" pitchFamily="34" charset="-120"/>
              </a:rPr>
              <a:t>انقر Save</a:t>
            </a:r>
            <a:endParaRPr lang="ar-OM" sz="1600" dirty="0"/>
          </a:p>
        </p:txBody>
      </p:sp>
      <p:sp>
        <p:nvSpPr>
          <p:cNvPr id="17" name="no"/>
          <p:cNvSpPr/>
          <p:nvPr/>
        </p:nvSpPr>
        <p:spPr>
          <a:xfrm>
            <a:off x="2176272" y="3840480"/>
            <a:ext cx="384048" cy="384048"/>
          </a:xfrm>
          <a:prstGeom prst="ellipse">
            <a:avLst/>
          </a:prstGeom>
          <a:solidFill>
            <a:srgbClr val="5B2C83"/>
          </a:solidFill>
          <a:ln/>
        </p:spPr>
        <p:txBody>
          <a:bodyPr wrap="square" lIns="0" tIns="0" rIns="0" bIns="0" rtlCol="0" anchor="ctr"/>
          <a:lstStyle/>
          <a:p>
            <a:pPr marL="0" indent="0" algn="ctr">
              <a:buNone/>
            </a:pPr>
            <a:r>
              <a:rPr lang="en-US" sz="1500" b="1" dirty="0">
                <a:solidFill>
                  <a:srgbClr val="FFFFFF"/>
                </a:solidFill>
              </a:rPr>
              <a:t>4</a:t>
            </a:r>
            <a:endParaRPr lang="en-US" sz="15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EC4C8C"/>
          </a:solidFill>
          <a:ln/>
        </p:spPr>
        <p:txBody>
          <a:bodyPr/>
          <a:lstStyle/>
          <a:p>
            <a:endParaRPr lang="ar-OM"/>
          </a:p>
        </p:txBody>
      </p:sp>
      <p:pic>
        <p:nvPicPr>
          <p:cNvPr id="3" name="title-icon" descr="preencoded.png"/>
          <p:cNvPicPr>
            <a:picLocks noChangeAspect="1"/>
          </p:cNvPicPr>
          <p:nvPr/>
        </p:nvPicPr>
        <p:blipFill>
          <a:blip r:embed="rId5"/>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شاهد: نمسح ونتراجع ونحفظ</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EC4C8C"/>
                </a:solidFill>
                <a:latin typeface="Tahoma" pitchFamily="34" charset="0"/>
                <a:ea typeface="Tahoma" pitchFamily="34" charset="-122"/>
                <a:cs typeface="Tahoma" pitchFamily="34" charset="-120"/>
              </a:rPr>
              <a:t>شاهد المقطع بانتباه ثم أجب عن السؤال</a:t>
            </a:r>
            <a:endParaRPr lang="ar-OM" sz="1600" dirty="0"/>
          </a:p>
        </p:txBody>
      </p:sp>
      <p:sp>
        <p:nvSpPr>
          <p:cNvPr id="6" name="video-frame"/>
          <p:cNvSpPr/>
          <p:nvPr/>
        </p:nvSpPr>
        <p:spPr>
          <a:xfrm>
            <a:off x="1481328" y="1353312"/>
            <a:ext cx="6181344" cy="3310128"/>
          </a:xfrm>
          <a:prstGeom prst="roundRect">
            <a:avLst>
              <a:gd name="adj" fmla="val 3315"/>
            </a:avLst>
          </a:prstGeom>
          <a:solidFill>
            <a:srgbClr val="EC4C8C"/>
          </a:solidFill>
          <a:ln/>
        </p:spPr>
        <p:txBody>
          <a:bodyPr/>
          <a:lstStyle/>
          <a:p>
            <a:endParaRPr lang="ar-OM"/>
          </a:p>
        </p:txBody>
      </p:sp>
      <p:pic>
        <p:nvPicPr>
          <p:cNvPr id="7" name="video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00200" y="1463040"/>
            <a:ext cx="5943600" cy="3072384"/>
          </a:xfrm>
          <a:prstGeom prst="rect">
            <a:avLst/>
          </a:prstGeo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EC4C8C"/>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سؤال الهدف الرابع</a:t>
            </a:r>
            <a:endParaRPr lang="ar-OM" sz="3800" dirty="0"/>
          </a:p>
        </p:txBody>
      </p:sp>
      <p:sp>
        <p:nvSpPr>
          <p:cNvPr id="5" name="question"/>
          <p:cNvSpPr/>
          <p:nvPr/>
        </p:nvSpPr>
        <p:spPr>
          <a:xfrm>
            <a:off x="640080" y="1234440"/>
            <a:ext cx="7315200" cy="868680"/>
          </a:xfrm>
          <a:prstGeom prst="roundRect">
            <a:avLst>
              <a:gd name="adj" fmla="val 21053"/>
            </a:avLst>
          </a:prstGeom>
          <a:solidFill>
            <a:srgbClr val="F1ECFA"/>
          </a:solidFill>
          <a:ln w="25400">
            <a:solidFill>
              <a:srgbClr val="5B2C83"/>
            </a:solidFill>
          </a:ln>
        </p:spPr>
        <p:txBody>
          <a:bodyPr wrap="square" lIns="1270" tIns="1270" rIns="1270" bIns="1270" rtlCol="0" anchor="ctr"/>
          <a:lstStyle/>
          <a:p>
            <a:pPr marL="0" indent="0" algn="ctr" rtl="1">
              <a:buNone/>
            </a:pPr>
            <a:r>
              <a:rPr lang="ar-OM" altLang="en-US" sz="3400" b="1" dirty="0">
                <a:solidFill>
                  <a:srgbClr val="5B2C83"/>
                </a:solidFill>
                <a:latin typeface="Sakkal Majalla" pitchFamily="34" charset="0"/>
                <a:ea typeface="Sakkal Majalla" pitchFamily="34" charset="-122"/>
                <a:cs typeface="Sakkal Majalla" pitchFamily="34" charset="-120"/>
              </a:rPr>
              <a:t>أيّ زر يُلغي آخر خطوة؟</a:t>
            </a:r>
            <a:endParaRPr lang="ar-OM" sz="3400" dirty="0"/>
          </a:p>
        </p:txBody>
      </p:sp>
      <p:sp>
        <p:nvSpPr>
          <p:cNvPr id="6" name="q-badge"/>
          <p:cNvSpPr/>
          <p:nvPr/>
        </p:nvSpPr>
        <p:spPr>
          <a:xfrm>
            <a:off x="8092440" y="1303020"/>
            <a:ext cx="731520" cy="731520"/>
          </a:xfrm>
          <a:prstGeom prst="ellipse">
            <a:avLst/>
          </a:prstGeom>
          <a:solidFill>
            <a:srgbClr val="F7941D"/>
          </a:solidFill>
          <a:ln/>
        </p:spPr>
        <p:txBody>
          <a:bodyPr/>
          <a:lstStyle/>
          <a:p>
            <a:endParaRPr lang="ar-OM"/>
          </a:p>
        </p:txBody>
      </p:sp>
      <p:pic>
        <p:nvPicPr>
          <p:cNvPr id="7" name="q-icon" descr="preencoded.png"/>
          <p:cNvPicPr>
            <a:picLocks noChangeAspect="1"/>
          </p:cNvPicPr>
          <p:nvPr/>
        </p:nvPicPr>
        <p:blipFill>
          <a:blip r:embed="rId3"/>
          <a:stretch>
            <a:fillRect/>
          </a:stretch>
        </p:blipFill>
        <p:spPr>
          <a:xfrm>
            <a:off x="8293608" y="1504188"/>
            <a:ext cx="329184" cy="329184"/>
          </a:xfrm>
          <a:prstGeom prst="rect">
            <a:avLst/>
          </a:prstGeom>
        </p:spPr>
      </p:pic>
      <p:sp>
        <p:nvSpPr>
          <p:cNvPr id="8" name="card"/>
          <p:cNvSpPr/>
          <p:nvPr/>
        </p:nvSpPr>
        <p:spPr>
          <a:xfrm>
            <a:off x="6080760" y="2423160"/>
            <a:ext cx="2194560" cy="2057400"/>
          </a:xfrm>
          <a:prstGeom prst="roundRect">
            <a:avLst>
              <a:gd name="adj" fmla="val 8000"/>
            </a:avLst>
          </a:prstGeom>
          <a:solidFill>
            <a:srgbClr val="FFFFFF"/>
          </a:solidFill>
          <a:ln w="31750">
            <a:solidFill>
              <a:srgbClr val="F7941D"/>
            </a:solidFill>
            <a:prstDash val="solid"/>
          </a:ln>
          <a:effectLst>
            <a:outerShdw blurRad="76200" dist="25400" dir="5400000" algn="bl" rotWithShape="0">
              <a:srgbClr val="5B2C83">
                <a:alpha val="18000"/>
              </a:srgbClr>
            </a:outerShdw>
          </a:effectLst>
        </p:spPr>
        <p:txBody>
          <a:bodyPr/>
          <a:lstStyle/>
          <a:p>
            <a:endParaRPr lang="ar-OM"/>
          </a:p>
        </p:txBody>
      </p:sp>
      <p:sp>
        <p:nvSpPr>
          <p:cNvPr id="9" name="opt-bg"/>
          <p:cNvSpPr/>
          <p:nvPr/>
        </p:nvSpPr>
        <p:spPr>
          <a:xfrm>
            <a:off x="6720840" y="2651760"/>
            <a:ext cx="914400" cy="914400"/>
          </a:xfrm>
          <a:prstGeom prst="ellipse">
            <a:avLst/>
          </a:prstGeom>
          <a:solidFill>
            <a:srgbClr val="F7941D"/>
          </a:solidFill>
          <a:ln/>
        </p:spPr>
        <p:txBody>
          <a:bodyPr/>
          <a:lstStyle/>
          <a:p>
            <a:endParaRPr lang="ar-OM"/>
          </a:p>
        </p:txBody>
      </p:sp>
      <p:pic>
        <p:nvPicPr>
          <p:cNvPr id="10" name="opt-icon" descr="preencoded.png"/>
          <p:cNvPicPr>
            <a:picLocks noChangeAspect="1"/>
          </p:cNvPicPr>
          <p:nvPr/>
        </p:nvPicPr>
        <p:blipFill>
          <a:blip r:embed="rId4"/>
          <a:stretch>
            <a:fillRect/>
          </a:stretch>
        </p:blipFill>
        <p:spPr>
          <a:xfrm>
            <a:off x="6949440" y="2880360"/>
            <a:ext cx="457200" cy="457200"/>
          </a:xfrm>
          <a:prstGeom prst="rect">
            <a:avLst/>
          </a:prstGeom>
        </p:spPr>
      </p:pic>
      <p:sp>
        <p:nvSpPr>
          <p:cNvPr id="11" name="pill"/>
          <p:cNvSpPr/>
          <p:nvPr/>
        </p:nvSpPr>
        <p:spPr>
          <a:xfrm>
            <a:off x="6309360" y="3794760"/>
            <a:ext cx="1737360" cy="502920"/>
          </a:xfrm>
          <a:prstGeom prst="roundRect">
            <a:avLst>
              <a:gd name="adj" fmla="val 50000"/>
            </a:avLst>
          </a:prstGeom>
          <a:solidFill>
            <a:srgbClr val="F7941D"/>
          </a:solidFill>
          <a:ln/>
        </p:spPr>
        <p:txBody>
          <a:bodyPr wrap="square" lIns="0" tIns="0" rIns="0" bIns="0" rtlCol="0" anchor="ctr"/>
          <a:lstStyle/>
          <a:p>
            <a:pPr marL="0" indent="0" algn="ctr" rtl="1">
              <a:buNone/>
            </a:pPr>
            <a:r>
              <a:rPr lang="ar-OM" altLang="en-US" sz="2000" b="1" dirty="0">
                <a:solidFill>
                  <a:srgbClr val="FFFFFF"/>
                </a:solidFill>
                <a:latin typeface="Tahoma" pitchFamily="34" charset="0"/>
                <a:ea typeface="Tahoma" pitchFamily="34" charset="-122"/>
                <a:cs typeface="Tahoma" pitchFamily="34" charset="-120"/>
              </a:rPr>
              <a:t>تراجع</a:t>
            </a:r>
            <a:endParaRPr lang="ar-OM" sz="2000" dirty="0"/>
          </a:p>
        </p:txBody>
      </p:sp>
      <p:pic>
        <p:nvPicPr>
          <p:cNvPr id="12" name="ANS_OK_q4" descr="إجابة صحيحة">
            <a:hlinkClick r:id="rId5" action="ppaction://hlinksldjump" tooltip=" ">
              <a:snd r:embed="rId6" name="correct.wav"/>
            </a:hlinkClick>
          </p:cNvPr>
          <p:cNvPicPr>
            <a:picLocks noChangeAspect="1"/>
          </p:cNvPicPr>
          <p:nvPr/>
        </p:nvPicPr>
        <p:blipFill>
          <a:blip r:embed="rId7"/>
          <a:stretch>
            <a:fillRect/>
          </a:stretch>
        </p:blipFill>
        <p:spPr>
          <a:xfrm>
            <a:off x="6080760" y="2423160"/>
            <a:ext cx="2194560" cy="2057400"/>
          </a:xfrm>
          <a:prstGeom prst="rect">
            <a:avLst/>
          </a:prstGeom>
        </p:spPr>
      </p:pic>
      <p:sp>
        <p:nvSpPr>
          <p:cNvPr id="13" name="card"/>
          <p:cNvSpPr/>
          <p:nvPr/>
        </p:nvSpPr>
        <p:spPr>
          <a:xfrm>
            <a:off x="3474720" y="2423160"/>
            <a:ext cx="2194560" cy="2057400"/>
          </a:xfrm>
          <a:prstGeom prst="roundRect">
            <a:avLst>
              <a:gd name="adj" fmla="val 8000"/>
            </a:avLst>
          </a:prstGeom>
          <a:solidFill>
            <a:srgbClr val="FFFFFF"/>
          </a:solidFill>
          <a:ln w="31750">
            <a:solidFill>
              <a:srgbClr val="7AC143"/>
            </a:solidFill>
            <a:prstDash val="solid"/>
          </a:ln>
          <a:effectLst>
            <a:outerShdw blurRad="76200" dist="25400" dir="5400000" algn="bl" rotWithShape="0">
              <a:srgbClr val="5B2C83">
                <a:alpha val="18000"/>
              </a:srgbClr>
            </a:outerShdw>
          </a:effectLst>
        </p:spPr>
        <p:txBody>
          <a:bodyPr/>
          <a:lstStyle/>
          <a:p>
            <a:endParaRPr lang="ar-OM"/>
          </a:p>
        </p:txBody>
      </p:sp>
      <p:sp>
        <p:nvSpPr>
          <p:cNvPr id="14" name="opt-bg"/>
          <p:cNvSpPr/>
          <p:nvPr/>
        </p:nvSpPr>
        <p:spPr>
          <a:xfrm>
            <a:off x="4114800" y="2651760"/>
            <a:ext cx="914400" cy="914400"/>
          </a:xfrm>
          <a:prstGeom prst="ellipse">
            <a:avLst/>
          </a:prstGeom>
          <a:solidFill>
            <a:srgbClr val="7AC143"/>
          </a:solidFill>
          <a:ln/>
        </p:spPr>
        <p:txBody>
          <a:bodyPr/>
          <a:lstStyle/>
          <a:p>
            <a:endParaRPr lang="ar-OM"/>
          </a:p>
        </p:txBody>
      </p:sp>
      <p:pic>
        <p:nvPicPr>
          <p:cNvPr id="15" name="opt-icon" descr="preencoded.png"/>
          <p:cNvPicPr>
            <a:picLocks noChangeAspect="1"/>
          </p:cNvPicPr>
          <p:nvPr/>
        </p:nvPicPr>
        <p:blipFill>
          <a:blip r:embed="rId8"/>
          <a:stretch>
            <a:fillRect/>
          </a:stretch>
        </p:blipFill>
        <p:spPr>
          <a:xfrm>
            <a:off x="4343400" y="2880360"/>
            <a:ext cx="457200" cy="457200"/>
          </a:xfrm>
          <a:prstGeom prst="rect">
            <a:avLst/>
          </a:prstGeom>
        </p:spPr>
      </p:pic>
      <p:sp>
        <p:nvSpPr>
          <p:cNvPr id="16" name="pill"/>
          <p:cNvSpPr/>
          <p:nvPr/>
        </p:nvSpPr>
        <p:spPr>
          <a:xfrm>
            <a:off x="3703320" y="3794760"/>
            <a:ext cx="1737360" cy="502920"/>
          </a:xfrm>
          <a:prstGeom prst="roundRect">
            <a:avLst>
              <a:gd name="adj" fmla="val 50000"/>
            </a:avLst>
          </a:prstGeom>
          <a:solidFill>
            <a:srgbClr val="7AC143"/>
          </a:solidFill>
          <a:ln/>
        </p:spPr>
        <p:txBody>
          <a:bodyPr wrap="square" lIns="0" tIns="0" rIns="0" bIns="0" rtlCol="0" anchor="ctr"/>
          <a:lstStyle/>
          <a:p>
            <a:pPr marL="0" indent="0" algn="ctr" rtl="1">
              <a:buNone/>
            </a:pPr>
            <a:r>
              <a:rPr lang="ar-OM" altLang="en-US" sz="2000" b="1" dirty="0">
                <a:solidFill>
                  <a:srgbClr val="FFFFFF"/>
                </a:solidFill>
                <a:latin typeface="Tahoma" pitchFamily="34" charset="0"/>
                <a:ea typeface="Tahoma" pitchFamily="34" charset="-122"/>
                <a:cs typeface="Tahoma" pitchFamily="34" charset="-120"/>
              </a:rPr>
              <a:t>إعادة</a:t>
            </a:r>
            <a:endParaRPr lang="ar-OM" sz="2000" dirty="0"/>
          </a:p>
        </p:txBody>
      </p:sp>
      <p:pic>
        <p:nvPicPr>
          <p:cNvPr id="17" name="ANS_NO_q4" descr="إجابة خاطئة">
            <a:hlinkClick r:id="rId9" action="ppaction://hlinksldjump" tooltip=" ">
              <a:snd r:embed="rId10" name="wrong.wav"/>
            </a:hlinkClick>
          </p:cNvPr>
          <p:cNvPicPr>
            <a:picLocks noChangeAspect="1"/>
          </p:cNvPicPr>
          <p:nvPr/>
        </p:nvPicPr>
        <p:blipFill>
          <a:blip r:embed="rId7"/>
          <a:stretch>
            <a:fillRect/>
          </a:stretch>
        </p:blipFill>
        <p:spPr>
          <a:xfrm>
            <a:off x="3474720" y="2423160"/>
            <a:ext cx="2194560" cy="2057400"/>
          </a:xfrm>
          <a:prstGeom prst="rect">
            <a:avLst/>
          </a:prstGeom>
        </p:spPr>
      </p:pic>
      <p:sp>
        <p:nvSpPr>
          <p:cNvPr id="18" name="card"/>
          <p:cNvSpPr/>
          <p:nvPr/>
        </p:nvSpPr>
        <p:spPr>
          <a:xfrm>
            <a:off x="868680" y="2423160"/>
            <a:ext cx="2194560" cy="2057400"/>
          </a:xfrm>
          <a:prstGeom prst="roundRect">
            <a:avLst>
              <a:gd name="adj" fmla="val 8000"/>
            </a:avLst>
          </a:prstGeom>
          <a:solidFill>
            <a:srgbClr val="FFFFFF"/>
          </a:solidFill>
          <a:ln w="31750">
            <a:solidFill>
              <a:srgbClr val="29B6D1"/>
            </a:solidFill>
            <a:prstDash val="solid"/>
          </a:ln>
          <a:effectLst>
            <a:outerShdw blurRad="76200" dist="25400" dir="5400000" algn="bl" rotWithShape="0">
              <a:srgbClr val="5B2C83">
                <a:alpha val="18000"/>
              </a:srgbClr>
            </a:outerShdw>
          </a:effectLst>
        </p:spPr>
        <p:txBody>
          <a:bodyPr/>
          <a:lstStyle/>
          <a:p>
            <a:endParaRPr lang="ar-OM"/>
          </a:p>
        </p:txBody>
      </p:sp>
      <p:sp>
        <p:nvSpPr>
          <p:cNvPr id="19" name="opt-bg"/>
          <p:cNvSpPr/>
          <p:nvPr/>
        </p:nvSpPr>
        <p:spPr>
          <a:xfrm>
            <a:off x="1508760" y="2651760"/>
            <a:ext cx="914400" cy="914400"/>
          </a:xfrm>
          <a:prstGeom prst="ellipse">
            <a:avLst/>
          </a:prstGeom>
          <a:solidFill>
            <a:srgbClr val="29B6D1"/>
          </a:solidFill>
          <a:ln/>
        </p:spPr>
        <p:txBody>
          <a:bodyPr/>
          <a:lstStyle/>
          <a:p>
            <a:endParaRPr lang="ar-OM"/>
          </a:p>
        </p:txBody>
      </p:sp>
      <p:pic>
        <p:nvPicPr>
          <p:cNvPr id="20" name="opt-icon" descr="preencoded.png"/>
          <p:cNvPicPr>
            <a:picLocks noChangeAspect="1"/>
          </p:cNvPicPr>
          <p:nvPr/>
        </p:nvPicPr>
        <p:blipFill>
          <a:blip r:embed="rId11"/>
          <a:stretch>
            <a:fillRect/>
          </a:stretch>
        </p:blipFill>
        <p:spPr>
          <a:xfrm>
            <a:off x="1737360" y="2880360"/>
            <a:ext cx="457200" cy="457200"/>
          </a:xfrm>
          <a:prstGeom prst="rect">
            <a:avLst/>
          </a:prstGeom>
        </p:spPr>
      </p:pic>
      <p:sp>
        <p:nvSpPr>
          <p:cNvPr id="21" name="pill"/>
          <p:cNvSpPr/>
          <p:nvPr/>
        </p:nvSpPr>
        <p:spPr>
          <a:xfrm>
            <a:off x="1097280" y="3794760"/>
            <a:ext cx="1737360" cy="502920"/>
          </a:xfrm>
          <a:prstGeom prst="roundRect">
            <a:avLst>
              <a:gd name="adj" fmla="val 50000"/>
            </a:avLst>
          </a:prstGeom>
          <a:solidFill>
            <a:srgbClr val="29B6D1"/>
          </a:solidFill>
          <a:ln/>
        </p:spPr>
        <p:txBody>
          <a:bodyPr wrap="square" lIns="0" tIns="0" rIns="0" bIns="0" rtlCol="0" anchor="ctr"/>
          <a:lstStyle/>
          <a:p>
            <a:pPr marL="0" indent="0" algn="ctr" rtl="1">
              <a:buNone/>
            </a:pPr>
            <a:r>
              <a:rPr lang="ar-OM" altLang="en-US" sz="2000" b="1" dirty="0">
                <a:solidFill>
                  <a:srgbClr val="FFFFFF"/>
                </a:solidFill>
                <a:latin typeface="Tahoma" pitchFamily="34" charset="0"/>
                <a:ea typeface="Tahoma" pitchFamily="34" charset="-122"/>
                <a:cs typeface="Tahoma" pitchFamily="34" charset="-120"/>
              </a:rPr>
              <a:t>حفظ</a:t>
            </a:r>
            <a:endParaRPr lang="ar-OM" sz="2000" dirty="0"/>
          </a:p>
        </p:txBody>
      </p:sp>
      <p:pic>
        <p:nvPicPr>
          <p:cNvPr id="22" name="ANS_NO_q4" descr="إجابة خاطئة">
            <a:hlinkClick r:id="rId9" action="ppaction://hlinksldjump" tooltip=" ">
              <a:snd r:embed="rId10" name="wrong.wav"/>
            </a:hlinkClick>
          </p:cNvPr>
          <p:cNvPicPr>
            <a:picLocks noChangeAspect="1"/>
          </p:cNvPicPr>
          <p:nvPr/>
        </p:nvPicPr>
        <p:blipFill>
          <a:blip r:embed="rId7"/>
          <a:stretch>
            <a:fillRect/>
          </a:stretch>
        </p:blipFill>
        <p:spPr>
          <a:xfrm>
            <a:off x="868680" y="2423160"/>
            <a:ext cx="2194560" cy="2057400"/>
          </a:xfrm>
          <a:prstGeom prst="rect">
            <a:avLst/>
          </a:prstGeom>
        </p:spPr>
      </p:pic>
    </p:spTree>
  </p:cSld>
  <p:clrMapOvr>
    <a:masterClrMapping/>
  </p:clrMapOvr>
  <p:transition spd="med" advClick="0">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5B2C83"/>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التطبيق العملي</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5B2C83"/>
                </a:solidFill>
                <a:latin typeface="Tahoma" pitchFamily="34" charset="0"/>
                <a:ea typeface="Tahoma" pitchFamily="34" charset="-122"/>
                <a:cs typeface="Tahoma" pitchFamily="34" charset="-120"/>
              </a:rPr>
              <a:t>نشاط 1: اُرْسُمِ الأَشْكالَ الآتِيَةَ، ثُمَّ امْلَأْها بِالأَلْوان</a:t>
            </a:r>
            <a:endParaRPr lang="ar-OM" sz="1600" dirty="0"/>
          </a:p>
        </p:txBody>
      </p:sp>
      <p:sp>
        <p:nvSpPr>
          <p:cNvPr id="6" name="card"/>
          <p:cNvSpPr/>
          <p:nvPr/>
        </p:nvSpPr>
        <p:spPr>
          <a:xfrm>
            <a:off x="502920" y="1371600"/>
            <a:ext cx="5120640" cy="3108960"/>
          </a:xfrm>
          <a:prstGeom prst="roundRect">
            <a:avLst>
              <a:gd name="adj" fmla="val 5294"/>
            </a:avLst>
          </a:prstGeom>
          <a:solidFill>
            <a:srgbClr val="FFFFFF"/>
          </a:solidFill>
          <a:ln w="31750">
            <a:solidFill>
              <a:srgbClr val="5B2C83"/>
            </a:solidFill>
            <a:prstDash val="solid"/>
          </a:ln>
          <a:effectLst>
            <a:outerShdw blurRad="76200" dist="25400" dir="5400000" algn="bl" rotWithShape="0">
              <a:srgbClr val="5B2C83">
                <a:alpha val="18000"/>
              </a:srgbClr>
            </a:outerShdw>
          </a:effectLst>
        </p:spPr>
        <p:txBody>
          <a:bodyPr/>
          <a:lstStyle/>
          <a:p>
            <a:endParaRPr lang="ar-OM"/>
          </a:p>
        </p:txBody>
      </p:sp>
      <p:pic>
        <p:nvPicPr>
          <p:cNvPr id="7" name="shapes66" descr="img/shapes66.png"/>
          <p:cNvPicPr>
            <a:picLocks noChangeAspect="1"/>
          </p:cNvPicPr>
          <p:nvPr/>
        </p:nvPicPr>
        <p:blipFill>
          <a:blip r:embed="rId4"/>
          <a:srcRect/>
          <a:stretch/>
        </p:blipFill>
        <p:spPr>
          <a:xfrm>
            <a:off x="640080" y="1481328"/>
            <a:ext cx="4846320" cy="2889504"/>
          </a:xfrm>
          <a:prstGeom prst="rect">
            <a:avLst/>
          </a:prstGeom>
        </p:spPr>
      </p:pic>
      <p:sp>
        <p:nvSpPr>
          <p:cNvPr id="8" name="card"/>
          <p:cNvSpPr/>
          <p:nvPr/>
        </p:nvSpPr>
        <p:spPr>
          <a:xfrm>
            <a:off x="5852160" y="1417320"/>
            <a:ext cx="2788920" cy="621792"/>
          </a:xfrm>
          <a:prstGeom prst="roundRect">
            <a:avLst>
              <a:gd name="adj" fmla="val 26471"/>
            </a:avLst>
          </a:prstGeom>
          <a:solidFill>
            <a:srgbClr val="FFFFFF"/>
          </a:solidFill>
          <a:ln w="31750">
            <a:solidFill>
              <a:srgbClr val="FFC928"/>
            </a:solidFill>
            <a:prstDash val="solid"/>
          </a:ln>
          <a:effectLst>
            <a:outerShdw blurRad="76200" dist="25400" dir="5400000" algn="bl" rotWithShape="0">
              <a:srgbClr val="5B2C83">
                <a:alpha val="18000"/>
              </a:srgbClr>
            </a:outerShdw>
          </a:effectLst>
        </p:spPr>
        <p:txBody>
          <a:bodyPr/>
          <a:lstStyle/>
          <a:p>
            <a:endParaRPr lang="ar-OM"/>
          </a:p>
        </p:txBody>
      </p:sp>
      <p:sp>
        <p:nvSpPr>
          <p:cNvPr id="9" name="label"/>
          <p:cNvSpPr txBox="1"/>
          <p:nvPr/>
        </p:nvSpPr>
        <p:spPr>
          <a:xfrm>
            <a:off x="5943600" y="1417320"/>
            <a:ext cx="2606040" cy="621792"/>
          </a:xfrm>
          <a:prstGeom prst="rect">
            <a:avLst/>
          </a:prstGeom>
          <a:noFill/>
          <a:ln/>
        </p:spPr>
        <p:txBody>
          <a:bodyPr wrap="square" lIns="0" tIns="0" rIns="0" bIns="0" rtlCol="0" anchor="ctr"/>
          <a:lstStyle/>
          <a:p>
            <a:pPr marL="0" indent="0" algn="r" rtl="1">
              <a:buNone/>
            </a:pPr>
            <a:r>
              <a:rPr lang="ar-OM" altLang="en-US" sz="1400" b="1" dirty="0">
                <a:solidFill>
                  <a:srgbClr val="2D1B4E"/>
                </a:solidFill>
                <a:latin typeface="Tahoma" pitchFamily="34" charset="0"/>
                <a:ea typeface="Tahoma" pitchFamily="34" charset="-122"/>
                <a:cs typeface="Tahoma" pitchFamily="34" charset="-120"/>
              </a:rPr>
              <a:t>ارسم نجمة واملأها بالأصفر</a:t>
            </a:r>
            <a:endParaRPr lang="ar-OM" sz="1400" dirty="0"/>
          </a:p>
        </p:txBody>
      </p:sp>
      <p:sp>
        <p:nvSpPr>
          <p:cNvPr id="10" name="card"/>
          <p:cNvSpPr/>
          <p:nvPr/>
        </p:nvSpPr>
        <p:spPr>
          <a:xfrm>
            <a:off x="5852160" y="2185416"/>
            <a:ext cx="2788920" cy="621792"/>
          </a:xfrm>
          <a:prstGeom prst="roundRect">
            <a:avLst>
              <a:gd name="adj" fmla="val 26471"/>
            </a:avLst>
          </a:prstGeom>
          <a:solidFill>
            <a:srgbClr val="FFFFFF"/>
          </a:solidFill>
          <a:ln w="31750">
            <a:solidFill>
              <a:srgbClr val="E53935"/>
            </a:solidFill>
            <a:prstDash val="solid"/>
          </a:ln>
          <a:effectLst>
            <a:outerShdw blurRad="76200" dist="25400" dir="5400000" algn="bl" rotWithShape="0">
              <a:srgbClr val="5B2C83">
                <a:alpha val="18000"/>
              </a:srgbClr>
            </a:outerShdw>
          </a:effectLst>
        </p:spPr>
        <p:txBody>
          <a:bodyPr/>
          <a:lstStyle/>
          <a:p>
            <a:endParaRPr lang="ar-OM"/>
          </a:p>
        </p:txBody>
      </p:sp>
      <p:sp>
        <p:nvSpPr>
          <p:cNvPr id="11" name="label"/>
          <p:cNvSpPr txBox="1"/>
          <p:nvPr/>
        </p:nvSpPr>
        <p:spPr>
          <a:xfrm>
            <a:off x="5943600" y="2185416"/>
            <a:ext cx="2606040" cy="621792"/>
          </a:xfrm>
          <a:prstGeom prst="rect">
            <a:avLst/>
          </a:prstGeom>
          <a:noFill/>
          <a:ln/>
        </p:spPr>
        <p:txBody>
          <a:bodyPr wrap="square" lIns="0" tIns="0" rIns="0" bIns="0" rtlCol="0" anchor="ctr"/>
          <a:lstStyle/>
          <a:p>
            <a:pPr marL="0" indent="0" algn="r" rtl="1">
              <a:buNone/>
            </a:pPr>
            <a:r>
              <a:rPr lang="ar-OM" altLang="en-US" sz="1400" b="1" dirty="0">
                <a:solidFill>
                  <a:srgbClr val="2D1B4E"/>
                </a:solidFill>
                <a:latin typeface="Tahoma" pitchFamily="34" charset="0"/>
                <a:ea typeface="Tahoma" pitchFamily="34" charset="-122"/>
                <a:cs typeface="Tahoma" pitchFamily="34" charset="-120"/>
              </a:rPr>
              <a:t>ارسم مستطيلًا واملأه بالأحمر</a:t>
            </a:r>
            <a:endParaRPr lang="ar-OM" sz="1400" dirty="0"/>
          </a:p>
        </p:txBody>
      </p:sp>
      <p:sp>
        <p:nvSpPr>
          <p:cNvPr id="12" name="card"/>
          <p:cNvSpPr/>
          <p:nvPr/>
        </p:nvSpPr>
        <p:spPr>
          <a:xfrm>
            <a:off x="5852160" y="2953512"/>
            <a:ext cx="2788920" cy="621792"/>
          </a:xfrm>
          <a:prstGeom prst="roundRect">
            <a:avLst>
              <a:gd name="adj" fmla="val 26471"/>
            </a:avLst>
          </a:prstGeom>
          <a:solidFill>
            <a:srgbClr val="FFFFFF"/>
          </a:solidFill>
          <a:ln w="31750">
            <a:solidFill>
              <a:srgbClr val="7AC143"/>
            </a:solidFill>
            <a:prstDash val="solid"/>
          </a:ln>
          <a:effectLst>
            <a:outerShdw blurRad="76200" dist="25400" dir="5400000" algn="bl" rotWithShape="0">
              <a:srgbClr val="5B2C83">
                <a:alpha val="18000"/>
              </a:srgbClr>
            </a:outerShdw>
          </a:effectLst>
        </p:spPr>
        <p:txBody>
          <a:bodyPr/>
          <a:lstStyle/>
          <a:p>
            <a:endParaRPr lang="ar-OM"/>
          </a:p>
        </p:txBody>
      </p:sp>
      <p:sp>
        <p:nvSpPr>
          <p:cNvPr id="13" name="label"/>
          <p:cNvSpPr txBox="1"/>
          <p:nvPr/>
        </p:nvSpPr>
        <p:spPr>
          <a:xfrm>
            <a:off x="5943600" y="2953512"/>
            <a:ext cx="2606040" cy="621792"/>
          </a:xfrm>
          <a:prstGeom prst="rect">
            <a:avLst/>
          </a:prstGeom>
          <a:noFill/>
          <a:ln/>
        </p:spPr>
        <p:txBody>
          <a:bodyPr wrap="square" lIns="0" tIns="0" rIns="0" bIns="0" rtlCol="0" anchor="ctr"/>
          <a:lstStyle/>
          <a:p>
            <a:pPr marL="0" indent="0" algn="r" rtl="1">
              <a:buNone/>
            </a:pPr>
            <a:r>
              <a:rPr lang="ar-OM" altLang="en-US" sz="1400" b="1" dirty="0">
                <a:solidFill>
                  <a:srgbClr val="2D1B4E"/>
                </a:solidFill>
                <a:latin typeface="Tahoma" pitchFamily="34" charset="0"/>
                <a:ea typeface="Tahoma" pitchFamily="34" charset="-122"/>
                <a:cs typeface="Tahoma" pitchFamily="34" charset="-120"/>
              </a:rPr>
              <a:t>ارسم دائرة واملأها بالأخضر</a:t>
            </a:r>
            <a:endParaRPr lang="ar-OM" sz="1400" dirty="0"/>
          </a:p>
        </p:txBody>
      </p:sp>
      <p:sp>
        <p:nvSpPr>
          <p:cNvPr id="14" name="card"/>
          <p:cNvSpPr/>
          <p:nvPr/>
        </p:nvSpPr>
        <p:spPr>
          <a:xfrm>
            <a:off x="5852160" y="3721608"/>
            <a:ext cx="2788920" cy="621792"/>
          </a:xfrm>
          <a:prstGeom prst="roundRect">
            <a:avLst>
              <a:gd name="adj" fmla="val 26471"/>
            </a:avLst>
          </a:prstGeom>
          <a:solidFill>
            <a:srgbClr val="FFFFFF"/>
          </a:solidFill>
          <a:ln w="31750">
            <a:solidFill>
              <a:srgbClr val="EC4C8C"/>
            </a:solidFill>
            <a:prstDash val="solid"/>
          </a:ln>
          <a:effectLst>
            <a:outerShdw blurRad="76200" dist="25400" dir="5400000" algn="bl" rotWithShape="0">
              <a:srgbClr val="5B2C83">
                <a:alpha val="18000"/>
              </a:srgbClr>
            </a:outerShdw>
          </a:effectLst>
        </p:spPr>
        <p:txBody>
          <a:bodyPr/>
          <a:lstStyle/>
          <a:p>
            <a:endParaRPr lang="ar-OM"/>
          </a:p>
        </p:txBody>
      </p:sp>
      <p:sp>
        <p:nvSpPr>
          <p:cNvPr id="15" name="label"/>
          <p:cNvSpPr txBox="1"/>
          <p:nvPr/>
        </p:nvSpPr>
        <p:spPr>
          <a:xfrm>
            <a:off x="5943600" y="3721608"/>
            <a:ext cx="2606040" cy="621792"/>
          </a:xfrm>
          <a:prstGeom prst="rect">
            <a:avLst/>
          </a:prstGeom>
          <a:noFill/>
          <a:ln/>
        </p:spPr>
        <p:txBody>
          <a:bodyPr wrap="square" lIns="0" tIns="0" rIns="0" bIns="0" rtlCol="0" anchor="ctr"/>
          <a:lstStyle/>
          <a:p>
            <a:pPr marL="0" indent="0" algn="r" rtl="1">
              <a:buNone/>
            </a:pPr>
            <a:r>
              <a:rPr lang="ar-OM" altLang="en-US" sz="1400" b="1" dirty="0">
                <a:solidFill>
                  <a:srgbClr val="2D1B4E"/>
                </a:solidFill>
                <a:latin typeface="Tahoma" pitchFamily="34" charset="0"/>
                <a:ea typeface="Tahoma" pitchFamily="34" charset="-122"/>
                <a:cs typeface="Tahoma" pitchFamily="34" charset="-120"/>
              </a:rPr>
              <a:t>ارسم مثلثًا واملأه بالوردي</a:t>
            </a:r>
            <a:endParaRPr lang="ar-OM" sz="14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5B2C83"/>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ارْسُمْ أَشْكالًا مِنَ اخْتِيارِك</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5B2C83"/>
                </a:solidFill>
                <a:latin typeface="Tahoma" pitchFamily="34" charset="0"/>
                <a:ea typeface="Tahoma" pitchFamily="34" charset="-122"/>
                <a:cs typeface="Tahoma" pitchFamily="34" charset="-120"/>
              </a:rPr>
              <a:t>نشاط 2: لَوِّنْ حُدودَها وَامْلَأْها بِالأَلْوان</a:t>
            </a:r>
            <a:endParaRPr lang="ar-OM" sz="1600" dirty="0"/>
          </a:p>
        </p:txBody>
      </p:sp>
      <p:sp>
        <p:nvSpPr>
          <p:cNvPr id="6" name="card"/>
          <p:cNvSpPr/>
          <p:nvPr/>
        </p:nvSpPr>
        <p:spPr>
          <a:xfrm>
            <a:off x="548640" y="1371600"/>
            <a:ext cx="2377440" cy="3108960"/>
          </a:xfrm>
          <a:prstGeom prst="roundRect">
            <a:avLst>
              <a:gd name="adj" fmla="val 6923"/>
            </a:avLst>
          </a:prstGeom>
          <a:solidFill>
            <a:srgbClr val="FFFFFF"/>
          </a:solidFill>
          <a:ln w="31750">
            <a:solidFill>
              <a:srgbClr val="29B6D1"/>
            </a:solidFill>
            <a:prstDash val="solid"/>
          </a:ln>
          <a:effectLst>
            <a:outerShdw blurRad="76200" dist="25400" dir="5400000" algn="bl" rotWithShape="0">
              <a:srgbClr val="5B2C83">
                <a:alpha val="18000"/>
              </a:srgbClr>
            </a:outerShdw>
          </a:effectLst>
        </p:spPr>
        <p:txBody>
          <a:bodyPr/>
          <a:lstStyle/>
          <a:p>
            <a:endParaRPr lang="ar-OM"/>
          </a:p>
        </p:txBody>
      </p:sp>
      <p:pic>
        <p:nvPicPr>
          <p:cNvPr id="7" name="robot" descr="img/robot.png"/>
          <p:cNvPicPr>
            <a:picLocks noChangeAspect="1"/>
          </p:cNvPicPr>
          <p:nvPr/>
        </p:nvPicPr>
        <p:blipFill>
          <a:blip r:embed="rId4"/>
          <a:srcRect/>
          <a:stretch/>
        </p:blipFill>
        <p:spPr>
          <a:xfrm>
            <a:off x="685800" y="1481328"/>
            <a:ext cx="2103120" cy="2880360"/>
          </a:xfrm>
          <a:prstGeom prst="rect">
            <a:avLst/>
          </a:prstGeom>
        </p:spPr>
      </p:pic>
      <p:sp>
        <p:nvSpPr>
          <p:cNvPr id="8" name="card"/>
          <p:cNvSpPr/>
          <p:nvPr/>
        </p:nvSpPr>
        <p:spPr>
          <a:xfrm>
            <a:off x="7781544" y="1691640"/>
            <a:ext cx="1024128" cy="2194560"/>
          </a:xfrm>
          <a:prstGeom prst="roundRect">
            <a:avLst>
              <a:gd name="adj" fmla="val 16071"/>
            </a:avLst>
          </a:prstGeom>
          <a:solidFill>
            <a:srgbClr val="FFFFFF"/>
          </a:solidFill>
          <a:ln w="31750">
            <a:solidFill>
              <a:srgbClr val="F7941D"/>
            </a:solidFill>
            <a:prstDash val="solid"/>
          </a:ln>
          <a:effectLst>
            <a:outerShdw blurRad="76200" dist="25400" dir="5400000" algn="bl" rotWithShape="0">
              <a:srgbClr val="5B2C83">
                <a:alpha val="18000"/>
              </a:srgbClr>
            </a:outerShdw>
          </a:effectLst>
        </p:spPr>
        <p:txBody>
          <a:bodyPr/>
          <a:lstStyle/>
          <a:p>
            <a:endParaRPr lang="ar-OM"/>
          </a:p>
        </p:txBody>
      </p:sp>
      <p:sp>
        <p:nvSpPr>
          <p:cNvPr id="9" name="st-bg"/>
          <p:cNvSpPr/>
          <p:nvPr/>
        </p:nvSpPr>
        <p:spPr>
          <a:xfrm>
            <a:off x="7973568" y="1965960"/>
            <a:ext cx="640080" cy="640080"/>
          </a:xfrm>
          <a:prstGeom prst="ellipse">
            <a:avLst/>
          </a:prstGeom>
          <a:solidFill>
            <a:srgbClr val="F7941D"/>
          </a:solidFill>
          <a:ln/>
        </p:spPr>
        <p:txBody>
          <a:bodyPr/>
          <a:lstStyle/>
          <a:p>
            <a:endParaRPr lang="ar-OM"/>
          </a:p>
        </p:txBody>
      </p:sp>
      <p:pic>
        <p:nvPicPr>
          <p:cNvPr id="10" name="st-ic" descr="preencoded.png"/>
          <p:cNvPicPr>
            <a:picLocks noChangeAspect="1"/>
          </p:cNvPicPr>
          <p:nvPr/>
        </p:nvPicPr>
        <p:blipFill>
          <a:blip r:embed="rId5"/>
          <a:stretch>
            <a:fillRect/>
          </a:stretch>
        </p:blipFill>
        <p:spPr>
          <a:xfrm>
            <a:off x="8138160" y="2130552"/>
            <a:ext cx="310896" cy="310896"/>
          </a:xfrm>
          <a:prstGeom prst="rect">
            <a:avLst/>
          </a:prstGeom>
        </p:spPr>
      </p:pic>
      <p:sp>
        <p:nvSpPr>
          <p:cNvPr id="11" name="label"/>
          <p:cNvSpPr txBox="1"/>
          <p:nvPr/>
        </p:nvSpPr>
        <p:spPr>
          <a:xfrm>
            <a:off x="7827264" y="2743200"/>
            <a:ext cx="932688" cy="1005840"/>
          </a:xfrm>
          <a:prstGeom prst="rect">
            <a:avLst/>
          </a:prstGeom>
          <a:noFill/>
          <a:ln/>
        </p:spPr>
        <p:txBody>
          <a:bodyPr wrap="square" lIns="0" tIns="0" rIns="0" bIns="0" rtlCol="0" anchor="ctr"/>
          <a:lstStyle/>
          <a:p>
            <a:pPr marL="0" indent="0" algn="ctr" rtl="1">
              <a:buNone/>
            </a:pPr>
            <a:r>
              <a:rPr lang="ar-OM" altLang="en-US" sz="1400" b="1" dirty="0">
                <a:solidFill>
                  <a:srgbClr val="2D1B4E"/>
                </a:solidFill>
                <a:latin typeface="Tahoma" pitchFamily="34" charset="0"/>
                <a:ea typeface="Tahoma" pitchFamily="34" charset="-122"/>
                <a:cs typeface="Tahoma" pitchFamily="34" charset="-120"/>
              </a:rPr>
              <a:t>اختر شكلًا</a:t>
            </a:r>
            <a:endParaRPr lang="ar-OM" sz="1400" dirty="0"/>
          </a:p>
        </p:txBody>
      </p:sp>
      <p:sp>
        <p:nvSpPr>
          <p:cNvPr id="12" name="no"/>
          <p:cNvSpPr/>
          <p:nvPr/>
        </p:nvSpPr>
        <p:spPr>
          <a:xfrm>
            <a:off x="8549640" y="1554480"/>
            <a:ext cx="384048" cy="384048"/>
          </a:xfrm>
          <a:prstGeom prst="ellipse">
            <a:avLst/>
          </a:prstGeom>
          <a:solidFill>
            <a:srgbClr val="2D1B4E"/>
          </a:solid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13" name="card"/>
          <p:cNvSpPr/>
          <p:nvPr/>
        </p:nvSpPr>
        <p:spPr>
          <a:xfrm>
            <a:off x="6647688" y="1691640"/>
            <a:ext cx="1024128" cy="2194560"/>
          </a:xfrm>
          <a:prstGeom prst="roundRect">
            <a:avLst>
              <a:gd name="adj" fmla="val 16071"/>
            </a:avLst>
          </a:prstGeom>
          <a:solidFill>
            <a:srgbClr val="FFFFFF"/>
          </a:solidFill>
          <a:ln w="31750">
            <a:solidFill>
              <a:srgbClr val="7AC143"/>
            </a:solidFill>
            <a:prstDash val="solid"/>
          </a:ln>
          <a:effectLst>
            <a:outerShdw blurRad="76200" dist="25400" dir="5400000" algn="bl" rotWithShape="0">
              <a:srgbClr val="5B2C83">
                <a:alpha val="18000"/>
              </a:srgbClr>
            </a:outerShdw>
          </a:effectLst>
        </p:spPr>
        <p:txBody>
          <a:bodyPr/>
          <a:lstStyle/>
          <a:p>
            <a:endParaRPr lang="ar-OM"/>
          </a:p>
        </p:txBody>
      </p:sp>
      <p:sp>
        <p:nvSpPr>
          <p:cNvPr id="14" name="st-bg"/>
          <p:cNvSpPr/>
          <p:nvPr/>
        </p:nvSpPr>
        <p:spPr>
          <a:xfrm>
            <a:off x="6839712" y="1965960"/>
            <a:ext cx="640080" cy="640080"/>
          </a:xfrm>
          <a:prstGeom prst="ellipse">
            <a:avLst/>
          </a:prstGeom>
          <a:solidFill>
            <a:srgbClr val="7AC143"/>
          </a:solidFill>
          <a:ln/>
        </p:spPr>
        <p:txBody>
          <a:bodyPr/>
          <a:lstStyle/>
          <a:p>
            <a:endParaRPr lang="ar-OM"/>
          </a:p>
        </p:txBody>
      </p:sp>
      <p:pic>
        <p:nvPicPr>
          <p:cNvPr id="15" name="st-ic" descr="preencoded.png"/>
          <p:cNvPicPr>
            <a:picLocks noChangeAspect="1"/>
          </p:cNvPicPr>
          <p:nvPr/>
        </p:nvPicPr>
        <p:blipFill>
          <a:blip r:embed="rId6"/>
          <a:stretch>
            <a:fillRect/>
          </a:stretch>
        </p:blipFill>
        <p:spPr>
          <a:xfrm>
            <a:off x="7004304" y="2130552"/>
            <a:ext cx="310896" cy="310896"/>
          </a:xfrm>
          <a:prstGeom prst="rect">
            <a:avLst/>
          </a:prstGeom>
        </p:spPr>
      </p:pic>
      <p:sp>
        <p:nvSpPr>
          <p:cNvPr id="16" name="label"/>
          <p:cNvSpPr txBox="1"/>
          <p:nvPr/>
        </p:nvSpPr>
        <p:spPr>
          <a:xfrm>
            <a:off x="6693408" y="2743200"/>
            <a:ext cx="932688" cy="1005840"/>
          </a:xfrm>
          <a:prstGeom prst="rect">
            <a:avLst/>
          </a:prstGeom>
          <a:noFill/>
          <a:ln/>
        </p:spPr>
        <p:txBody>
          <a:bodyPr wrap="square" lIns="0" tIns="0" rIns="0" bIns="0" rtlCol="0" anchor="ctr"/>
          <a:lstStyle/>
          <a:p>
            <a:pPr marL="0" indent="0" algn="ctr" rtl="1">
              <a:buNone/>
            </a:pPr>
            <a:r>
              <a:rPr lang="ar-OM" altLang="en-US" sz="1400" b="1" dirty="0">
                <a:solidFill>
                  <a:srgbClr val="2D1B4E"/>
                </a:solidFill>
                <a:latin typeface="Tahoma" pitchFamily="34" charset="0"/>
                <a:ea typeface="Tahoma" pitchFamily="34" charset="-122"/>
                <a:cs typeface="Tahoma" pitchFamily="34" charset="-120"/>
              </a:rPr>
              <a:t>ارسمه بالسحب</a:t>
            </a:r>
            <a:endParaRPr lang="ar-OM" sz="1400" dirty="0"/>
          </a:p>
        </p:txBody>
      </p:sp>
      <p:sp>
        <p:nvSpPr>
          <p:cNvPr id="17" name="no"/>
          <p:cNvSpPr/>
          <p:nvPr/>
        </p:nvSpPr>
        <p:spPr>
          <a:xfrm>
            <a:off x="7415784" y="1554480"/>
            <a:ext cx="384048" cy="384048"/>
          </a:xfrm>
          <a:prstGeom prst="ellipse">
            <a:avLst/>
          </a:prstGeom>
          <a:solidFill>
            <a:srgbClr val="2D1B4E"/>
          </a:solid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8" name="card"/>
          <p:cNvSpPr/>
          <p:nvPr/>
        </p:nvSpPr>
        <p:spPr>
          <a:xfrm>
            <a:off x="5513832" y="1691640"/>
            <a:ext cx="1024128" cy="2194560"/>
          </a:xfrm>
          <a:prstGeom prst="roundRect">
            <a:avLst>
              <a:gd name="adj" fmla="val 16071"/>
            </a:avLst>
          </a:prstGeom>
          <a:solidFill>
            <a:srgbClr val="FFFFFF"/>
          </a:solidFill>
          <a:ln w="31750">
            <a:solidFill>
              <a:srgbClr val="29B6D1"/>
            </a:solidFill>
            <a:prstDash val="solid"/>
          </a:ln>
          <a:effectLst>
            <a:outerShdw blurRad="76200" dist="25400" dir="5400000" algn="bl" rotWithShape="0">
              <a:srgbClr val="5B2C83">
                <a:alpha val="18000"/>
              </a:srgbClr>
            </a:outerShdw>
          </a:effectLst>
        </p:spPr>
        <p:txBody>
          <a:bodyPr/>
          <a:lstStyle/>
          <a:p>
            <a:endParaRPr lang="ar-OM"/>
          </a:p>
        </p:txBody>
      </p:sp>
      <p:sp>
        <p:nvSpPr>
          <p:cNvPr id="19" name="st-bg"/>
          <p:cNvSpPr/>
          <p:nvPr/>
        </p:nvSpPr>
        <p:spPr>
          <a:xfrm>
            <a:off x="5705856" y="1965960"/>
            <a:ext cx="640080" cy="640080"/>
          </a:xfrm>
          <a:prstGeom prst="ellipse">
            <a:avLst/>
          </a:prstGeom>
          <a:solidFill>
            <a:srgbClr val="29B6D1"/>
          </a:solidFill>
          <a:ln/>
        </p:spPr>
        <p:txBody>
          <a:bodyPr/>
          <a:lstStyle/>
          <a:p>
            <a:endParaRPr lang="ar-OM"/>
          </a:p>
        </p:txBody>
      </p:sp>
      <p:pic>
        <p:nvPicPr>
          <p:cNvPr id="20" name="st-ic" descr="preencoded.png"/>
          <p:cNvPicPr>
            <a:picLocks noChangeAspect="1"/>
          </p:cNvPicPr>
          <p:nvPr/>
        </p:nvPicPr>
        <p:blipFill>
          <a:blip r:embed="rId3"/>
          <a:stretch>
            <a:fillRect/>
          </a:stretch>
        </p:blipFill>
        <p:spPr>
          <a:xfrm>
            <a:off x="5870448" y="2130552"/>
            <a:ext cx="310896" cy="310896"/>
          </a:xfrm>
          <a:prstGeom prst="rect">
            <a:avLst/>
          </a:prstGeom>
        </p:spPr>
      </p:pic>
      <p:sp>
        <p:nvSpPr>
          <p:cNvPr id="21" name="label"/>
          <p:cNvSpPr txBox="1"/>
          <p:nvPr/>
        </p:nvSpPr>
        <p:spPr>
          <a:xfrm>
            <a:off x="5559552" y="2743200"/>
            <a:ext cx="932688" cy="1005840"/>
          </a:xfrm>
          <a:prstGeom prst="rect">
            <a:avLst/>
          </a:prstGeom>
          <a:noFill/>
          <a:ln/>
        </p:spPr>
        <p:txBody>
          <a:bodyPr wrap="square" lIns="0" tIns="0" rIns="0" bIns="0" rtlCol="0" anchor="ctr"/>
          <a:lstStyle/>
          <a:p>
            <a:pPr marL="0" indent="0" algn="ctr" rtl="1">
              <a:buNone/>
            </a:pPr>
            <a:r>
              <a:rPr lang="ar-OM" altLang="en-US" sz="1400" b="1" dirty="0">
                <a:solidFill>
                  <a:srgbClr val="2D1B4E"/>
                </a:solidFill>
                <a:latin typeface="Tahoma" pitchFamily="34" charset="0"/>
                <a:ea typeface="Tahoma" pitchFamily="34" charset="-122"/>
                <a:cs typeface="Tahoma" pitchFamily="34" charset="-120"/>
              </a:rPr>
              <a:t>لوّن حدوده</a:t>
            </a:r>
            <a:endParaRPr lang="ar-OM" sz="1400" dirty="0"/>
          </a:p>
        </p:txBody>
      </p:sp>
      <p:sp>
        <p:nvSpPr>
          <p:cNvPr id="22" name="no"/>
          <p:cNvSpPr/>
          <p:nvPr/>
        </p:nvSpPr>
        <p:spPr>
          <a:xfrm>
            <a:off x="6281928" y="1554480"/>
            <a:ext cx="384048" cy="384048"/>
          </a:xfrm>
          <a:prstGeom prst="ellipse">
            <a:avLst/>
          </a:prstGeom>
          <a:solidFill>
            <a:srgbClr val="2D1B4E"/>
          </a:solid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23" name="card"/>
          <p:cNvSpPr/>
          <p:nvPr/>
        </p:nvSpPr>
        <p:spPr>
          <a:xfrm>
            <a:off x="4379976" y="1691640"/>
            <a:ext cx="1024128" cy="2194560"/>
          </a:xfrm>
          <a:prstGeom prst="roundRect">
            <a:avLst>
              <a:gd name="adj" fmla="val 16071"/>
            </a:avLst>
          </a:prstGeom>
          <a:solidFill>
            <a:srgbClr val="FFFFFF"/>
          </a:solidFill>
          <a:ln w="31750">
            <a:solidFill>
              <a:srgbClr val="EC4C8C"/>
            </a:solidFill>
            <a:prstDash val="solid"/>
          </a:ln>
          <a:effectLst>
            <a:outerShdw blurRad="76200" dist="25400" dir="5400000" algn="bl" rotWithShape="0">
              <a:srgbClr val="5B2C83">
                <a:alpha val="18000"/>
              </a:srgbClr>
            </a:outerShdw>
          </a:effectLst>
        </p:spPr>
        <p:txBody>
          <a:bodyPr/>
          <a:lstStyle/>
          <a:p>
            <a:endParaRPr lang="ar-OM"/>
          </a:p>
        </p:txBody>
      </p:sp>
      <p:sp>
        <p:nvSpPr>
          <p:cNvPr id="24" name="st-bg"/>
          <p:cNvSpPr/>
          <p:nvPr/>
        </p:nvSpPr>
        <p:spPr>
          <a:xfrm>
            <a:off x="4572000" y="1965960"/>
            <a:ext cx="640080" cy="640080"/>
          </a:xfrm>
          <a:prstGeom prst="ellipse">
            <a:avLst/>
          </a:prstGeom>
          <a:solidFill>
            <a:srgbClr val="EC4C8C"/>
          </a:solidFill>
          <a:ln/>
        </p:spPr>
        <p:txBody>
          <a:bodyPr/>
          <a:lstStyle/>
          <a:p>
            <a:endParaRPr lang="ar-OM"/>
          </a:p>
        </p:txBody>
      </p:sp>
      <p:pic>
        <p:nvPicPr>
          <p:cNvPr id="25" name="st-ic" descr="preencoded.png"/>
          <p:cNvPicPr>
            <a:picLocks noChangeAspect="1"/>
          </p:cNvPicPr>
          <p:nvPr/>
        </p:nvPicPr>
        <p:blipFill>
          <a:blip r:embed="rId7"/>
          <a:stretch>
            <a:fillRect/>
          </a:stretch>
        </p:blipFill>
        <p:spPr>
          <a:xfrm>
            <a:off x="4736592" y="2130552"/>
            <a:ext cx="310896" cy="310896"/>
          </a:xfrm>
          <a:prstGeom prst="rect">
            <a:avLst/>
          </a:prstGeom>
        </p:spPr>
      </p:pic>
      <p:sp>
        <p:nvSpPr>
          <p:cNvPr id="26" name="label"/>
          <p:cNvSpPr txBox="1"/>
          <p:nvPr/>
        </p:nvSpPr>
        <p:spPr>
          <a:xfrm>
            <a:off x="4425696" y="2743200"/>
            <a:ext cx="932688" cy="1005840"/>
          </a:xfrm>
          <a:prstGeom prst="rect">
            <a:avLst/>
          </a:prstGeom>
          <a:noFill/>
          <a:ln/>
        </p:spPr>
        <p:txBody>
          <a:bodyPr wrap="square" lIns="0" tIns="0" rIns="0" bIns="0" rtlCol="0" anchor="ctr"/>
          <a:lstStyle/>
          <a:p>
            <a:pPr marL="0" indent="0" algn="ctr" rtl="1">
              <a:buNone/>
            </a:pPr>
            <a:r>
              <a:rPr lang="ar-OM" altLang="en-US" sz="1400" b="1" dirty="0">
                <a:solidFill>
                  <a:srgbClr val="2D1B4E"/>
                </a:solidFill>
                <a:latin typeface="Tahoma" pitchFamily="34" charset="0"/>
                <a:ea typeface="Tahoma" pitchFamily="34" charset="-122"/>
                <a:cs typeface="Tahoma" pitchFamily="34" charset="-120"/>
              </a:rPr>
              <a:t>املأه باللون</a:t>
            </a:r>
            <a:endParaRPr lang="ar-OM" sz="1400" dirty="0"/>
          </a:p>
        </p:txBody>
      </p:sp>
      <p:sp>
        <p:nvSpPr>
          <p:cNvPr id="27" name="no"/>
          <p:cNvSpPr/>
          <p:nvPr/>
        </p:nvSpPr>
        <p:spPr>
          <a:xfrm>
            <a:off x="5148072" y="1554480"/>
            <a:ext cx="384048" cy="384048"/>
          </a:xfrm>
          <a:prstGeom prst="ellipse">
            <a:avLst/>
          </a:prstGeom>
          <a:solidFill>
            <a:srgbClr val="2D1B4E"/>
          </a:solid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28" name="card"/>
          <p:cNvSpPr/>
          <p:nvPr/>
        </p:nvSpPr>
        <p:spPr>
          <a:xfrm>
            <a:off x="3246120" y="1691640"/>
            <a:ext cx="1024128" cy="2194560"/>
          </a:xfrm>
          <a:prstGeom prst="roundRect">
            <a:avLst>
              <a:gd name="adj" fmla="val 16071"/>
            </a:avLst>
          </a:prstGeom>
          <a:solidFill>
            <a:srgbClr val="FFFFFF"/>
          </a:solidFill>
          <a:ln w="31750">
            <a:solidFill>
              <a:srgbClr val="5B2C83"/>
            </a:solidFill>
            <a:prstDash val="solid"/>
          </a:ln>
          <a:effectLst>
            <a:outerShdw blurRad="76200" dist="25400" dir="5400000" algn="bl" rotWithShape="0">
              <a:srgbClr val="5B2C83">
                <a:alpha val="18000"/>
              </a:srgbClr>
            </a:outerShdw>
          </a:effectLst>
        </p:spPr>
        <p:txBody>
          <a:bodyPr/>
          <a:lstStyle/>
          <a:p>
            <a:endParaRPr lang="ar-OM"/>
          </a:p>
        </p:txBody>
      </p:sp>
      <p:sp>
        <p:nvSpPr>
          <p:cNvPr id="29" name="st-bg"/>
          <p:cNvSpPr/>
          <p:nvPr/>
        </p:nvSpPr>
        <p:spPr>
          <a:xfrm>
            <a:off x="3438144" y="1965960"/>
            <a:ext cx="640080" cy="640080"/>
          </a:xfrm>
          <a:prstGeom prst="ellipse">
            <a:avLst/>
          </a:prstGeom>
          <a:solidFill>
            <a:srgbClr val="5B2C83"/>
          </a:solidFill>
          <a:ln/>
        </p:spPr>
        <p:txBody>
          <a:bodyPr/>
          <a:lstStyle/>
          <a:p>
            <a:endParaRPr lang="ar-OM"/>
          </a:p>
        </p:txBody>
      </p:sp>
      <p:pic>
        <p:nvPicPr>
          <p:cNvPr id="30" name="st-ic" descr="preencoded.png"/>
          <p:cNvPicPr>
            <a:picLocks noChangeAspect="1"/>
          </p:cNvPicPr>
          <p:nvPr/>
        </p:nvPicPr>
        <p:blipFill>
          <a:blip r:embed="rId8"/>
          <a:stretch>
            <a:fillRect/>
          </a:stretch>
        </p:blipFill>
        <p:spPr>
          <a:xfrm>
            <a:off x="3602736" y="2130552"/>
            <a:ext cx="310896" cy="310896"/>
          </a:xfrm>
          <a:prstGeom prst="rect">
            <a:avLst/>
          </a:prstGeom>
        </p:spPr>
      </p:pic>
      <p:sp>
        <p:nvSpPr>
          <p:cNvPr id="31" name="label"/>
          <p:cNvSpPr txBox="1"/>
          <p:nvPr/>
        </p:nvSpPr>
        <p:spPr>
          <a:xfrm>
            <a:off x="3291840" y="2743200"/>
            <a:ext cx="932688" cy="1005840"/>
          </a:xfrm>
          <a:prstGeom prst="rect">
            <a:avLst/>
          </a:prstGeom>
          <a:noFill/>
          <a:ln/>
        </p:spPr>
        <p:txBody>
          <a:bodyPr wrap="square" lIns="0" tIns="0" rIns="0" bIns="0" rtlCol="0" anchor="ctr"/>
          <a:lstStyle/>
          <a:p>
            <a:pPr marL="0" indent="0" algn="ctr" rtl="1">
              <a:buNone/>
            </a:pPr>
            <a:r>
              <a:rPr lang="ar-OM" altLang="en-US" sz="1400" b="1" dirty="0">
                <a:solidFill>
                  <a:srgbClr val="2D1B4E"/>
                </a:solidFill>
                <a:latin typeface="Tahoma" pitchFamily="34" charset="0"/>
                <a:ea typeface="Tahoma" pitchFamily="34" charset="-122"/>
                <a:cs typeface="Tahoma" pitchFamily="34" charset="-120"/>
              </a:rPr>
              <a:t>احفظ عملك</a:t>
            </a:r>
            <a:endParaRPr lang="ar-OM" sz="1400" dirty="0"/>
          </a:p>
        </p:txBody>
      </p:sp>
      <p:sp>
        <p:nvSpPr>
          <p:cNvPr id="32" name="no"/>
          <p:cNvSpPr/>
          <p:nvPr/>
        </p:nvSpPr>
        <p:spPr>
          <a:xfrm>
            <a:off x="4014216" y="1554480"/>
            <a:ext cx="384048" cy="384048"/>
          </a:xfrm>
          <a:prstGeom prst="ellipse">
            <a:avLst/>
          </a:prstGeom>
          <a:solidFill>
            <a:srgbClr val="2D1B4E"/>
          </a:solid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33" name="label"/>
          <p:cNvSpPr txBox="1"/>
          <p:nvPr/>
        </p:nvSpPr>
        <p:spPr>
          <a:xfrm>
            <a:off x="3246120" y="4023360"/>
            <a:ext cx="5394960" cy="411480"/>
          </a:xfrm>
          <a:prstGeom prst="rect">
            <a:avLst/>
          </a:prstGeom>
          <a:noFill/>
          <a:ln/>
        </p:spPr>
        <p:txBody>
          <a:bodyPr wrap="square" lIns="0" tIns="0" rIns="0" bIns="0" rtlCol="0" anchor="ctr"/>
          <a:lstStyle/>
          <a:p>
            <a:pPr marL="0" indent="0" algn="ctr" rtl="1">
              <a:buNone/>
            </a:pPr>
            <a:r>
              <a:rPr lang="ar-OM" altLang="en-US" sz="1600" b="1" dirty="0">
                <a:solidFill>
                  <a:srgbClr val="5B2C83"/>
                </a:solidFill>
                <a:latin typeface="Tahoma" pitchFamily="34" charset="0"/>
                <a:ea typeface="Tahoma" pitchFamily="34" charset="-122"/>
                <a:cs typeface="Tahoma" pitchFamily="34" charset="-120"/>
              </a:rPr>
              <a:t>كن مبدعًا! ارسم روبوتًا أو بيتًا من الأشكال</a:t>
            </a:r>
            <a:endParaRPr lang="ar-OM" sz="16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trophy" descr="preencoded.png"/>
          <p:cNvPicPr>
            <a:picLocks noChangeAspect="1"/>
          </p:cNvPicPr>
          <p:nvPr/>
        </p:nvPicPr>
        <p:blipFill>
          <a:blip r:embed="rId3"/>
          <a:stretch>
            <a:fillRect/>
          </a:stretch>
        </p:blipFill>
        <p:spPr>
          <a:xfrm>
            <a:off x="3977640" y="868680"/>
            <a:ext cx="1188720" cy="1188720"/>
          </a:xfrm>
          <a:prstGeom prst="rect">
            <a:avLst/>
          </a:prstGeom>
        </p:spPr>
      </p:pic>
      <p:sp>
        <p:nvSpPr>
          <p:cNvPr id="3" name="comp-title"/>
          <p:cNvSpPr txBox="1"/>
          <p:nvPr/>
        </p:nvSpPr>
        <p:spPr>
          <a:xfrm>
            <a:off x="1828800" y="2057400"/>
            <a:ext cx="5486400" cy="822960"/>
          </a:xfrm>
          <a:prstGeom prst="rect">
            <a:avLst/>
          </a:prstGeom>
          <a:noFill/>
          <a:ln/>
        </p:spPr>
        <p:txBody>
          <a:bodyPr wrap="square" lIns="0" tIns="0" rIns="0" bIns="0" rtlCol="0" anchor="ctr"/>
          <a:lstStyle/>
          <a:p>
            <a:pPr marL="0" indent="0" algn="ctr" rtl="1">
              <a:buNone/>
            </a:pPr>
            <a:r>
              <a:rPr lang="ar-OM" altLang="en-US" sz="5400" b="1" dirty="0">
                <a:solidFill>
                  <a:srgbClr val="5B2C83"/>
                </a:solidFill>
                <a:latin typeface="Sakkal Majalla" pitchFamily="34" charset="0"/>
                <a:ea typeface="Sakkal Majalla" pitchFamily="34" charset="-122"/>
                <a:cs typeface="Sakkal Majalla" pitchFamily="34" charset="-120"/>
              </a:rPr>
              <a:t>مسابقة الأبطال</a:t>
            </a:r>
            <a:endParaRPr lang="ar-OM" sz="5400" dirty="0"/>
          </a:p>
        </p:txBody>
      </p:sp>
      <p:sp>
        <p:nvSpPr>
          <p:cNvPr id="4" name="comp-sub"/>
          <p:cNvSpPr txBox="1"/>
          <p:nvPr/>
        </p:nvSpPr>
        <p:spPr>
          <a:xfrm>
            <a:off x="1828800" y="2834640"/>
            <a:ext cx="5486400" cy="548640"/>
          </a:xfrm>
          <a:prstGeom prst="rect">
            <a:avLst/>
          </a:prstGeom>
          <a:noFill/>
          <a:ln/>
        </p:spPr>
        <p:txBody>
          <a:bodyPr wrap="square" lIns="0" tIns="0" rIns="0" bIns="0" rtlCol="0" anchor="ctr"/>
          <a:lstStyle/>
          <a:p>
            <a:pPr marL="0" indent="0" algn="ctr" rtl="1">
              <a:buNone/>
            </a:pPr>
            <a:r>
              <a:rPr lang="ar-OM" altLang="en-US" sz="2200" b="1" dirty="0">
                <a:solidFill>
                  <a:srgbClr val="F7941D"/>
                </a:solidFill>
                <a:latin typeface="Tahoma" pitchFamily="34" charset="0"/>
                <a:ea typeface="Tahoma" pitchFamily="34" charset="-122"/>
                <a:cs typeface="Tahoma" pitchFamily="34" charset="-120"/>
              </a:rPr>
              <a:t>من يُجيب أولًا يحصل على نجمة لفريقه</a:t>
            </a:r>
            <a:endParaRPr lang="ar-OM" sz="2200" dirty="0"/>
          </a:p>
        </p:txBody>
      </p:sp>
      <p:sp>
        <p:nvSpPr>
          <p:cNvPr id="5" name="pill"/>
          <p:cNvSpPr/>
          <p:nvPr/>
        </p:nvSpPr>
        <p:spPr>
          <a:xfrm>
            <a:off x="4846320" y="3520440"/>
            <a:ext cx="2011680" cy="502920"/>
          </a:xfrm>
          <a:prstGeom prst="roundRect">
            <a:avLst>
              <a:gd name="adj" fmla="val 50000"/>
            </a:avLst>
          </a:prstGeom>
          <a:solidFill>
            <a:srgbClr val="F7941D"/>
          </a:solidFill>
          <a:ln/>
        </p:spPr>
        <p:txBody>
          <a:bodyPr wrap="square" lIns="0" tIns="0" rIns="0" bIns="0" rtlCol="0" anchor="ctr"/>
          <a:lstStyle/>
          <a:p>
            <a:pPr marL="0" indent="0" algn="ctr" rtl="1">
              <a:buNone/>
            </a:pPr>
            <a:r>
              <a:rPr lang="ar-OM" altLang="en-US" sz="1800" b="1" dirty="0">
                <a:solidFill>
                  <a:srgbClr val="FFFFFF"/>
                </a:solidFill>
                <a:latin typeface="Tahoma" pitchFamily="34" charset="0"/>
                <a:ea typeface="Tahoma" pitchFamily="34" charset="-122"/>
                <a:cs typeface="Tahoma" pitchFamily="34" charset="-120"/>
              </a:rPr>
              <a:t>فريق النجوم</a:t>
            </a:r>
            <a:endParaRPr lang="ar-OM" sz="1800" dirty="0"/>
          </a:p>
        </p:txBody>
      </p:sp>
      <p:sp>
        <p:nvSpPr>
          <p:cNvPr id="6" name="pill"/>
          <p:cNvSpPr/>
          <p:nvPr/>
        </p:nvSpPr>
        <p:spPr>
          <a:xfrm>
            <a:off x="2286000" y="3520440"/>
            <a:ext cx="2011680" cy="502920"/>
          </a:xfrm>
          <a:prstGeom prst="roundRect">
            <a:avLst>
              <a:gd name="adj" fmla="val 50000"/>
            </a:avLst>
          </a:prstGeom>
          <a:solidFill>
            <a:srgbClr val="29B6D1"/>
          </a:solidFill>
          <a:ln/>
        </p:spPr>
        <p:txBody>
          <a:bodyPr wrap="square" lIns="0" tIns="0" rIns="0" bIns="0" rtlCol="0" anchor="ctr"/>
          <a:lstStyle/>
          <a:p>
            <a:pPr marL="0" indent="0" algn="ctr" rtl="1">
              <a:buNone/>
            </a:pPr>
            <a:r>
              <a:rPr lang="ar-OM" altLang="en-US" sz="1800" b="1" dirty="0">
                <a:solidFill>
                  <a:srgbClr val="FFFFFF"/>
                </a:solidFill>
                <a:latin typeface="Tahoma" pitchFamily="34" charset="0"/>
                <a:ea typeface="Tahoma" pitchFamily="34" charset="-122"/>
                <a:cs typeface="Tahoma" pitchFamily="34" charset="-120"/>
              </a:rPr>
              <a:t>فريق الأقمار</a:t>
            </a:r>
            <a:endParaRPr lang="ar-OM" sz="18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F7941D"/>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تحدّي 1</a:t>
            </a:r>
            <a:endParaRPr lang="ar-OM" sz="3800" dirty="0"/>
          </a:p>
        </p:txBody>
      </p:sp>
      <p:sp>
        <p:nvSpPr>
          <p:cNvPr id="5" name="question"/>
          <p:cNvSpPr/>
          <p:nvPr/>
        </p:nvSpPr>
        <p:spPr>
          <a:xfrm>
            <a:off x="640080" y="1188720"/>
            <a:ext cx="7315200" cy="777240"/>
          </a:xfrm>
          <a:prstGeom prst="roundRect">
            <a:avLst>
              <a:gd name="adj" fmla="val 23529"/>
            </a:avLst>
          </a:prstGeom>
          <a:solidFill>
            <a:srgbClr val="F1ECFA"/>
          </a:solidFill>
          <a:ln w="25400">
            <a:solidFill>
              <a:srgbClr val="5B2C83"/>
            </a:solidFill>
          </a:ln>
        </p:spPr>
        <p:txBody>
          <a:bodyPr wrap="square" lIns="1270" tIns="1270" rIns="1270" bIns="1270" rtlCol="0" anchor="ctr"/>
          <a:lstStyle/>
          <a:p>
            <a:pPr marL="0" indent="0" algn="ctr" rtl="1">
              <a:buNone/>
            </a:pPr>
            <a:r>
              <a:rPr lang="ar-OM" altLang="en-US" sz="3400" b="1" dirty="0">
                <a:solidFill>
                  <a:srgbClr val="5B2C83"/>
                </a:solidFill>
                <a:latin typeface="Sakkal Majalla" pitchFamily="34" charset="0"/>
                <a:ea typeface="Sakkal Majalla" pitchFamily="34" charset="-122"/>
                <a:cs typeface="Sakkal Majalla" pitchFamily="34" charset="-120"/>
              </a:rPr>
              <a:t>ما لون تعبئة الدائرة؟</a:t>
            </a:r>
            <a:endParaRPr lang="ar-OM" sz="3400" dirty="0"/>
          </a:p>
        </p:txBody>
      </p:sp>
      <p:sp>
        <p:nvSpPr>
          <p:cNvPr id="6" name="q-badge"/>
          <p:cNvSpPr/>
          <p:nvPr/>
        </p:nvSpPr>
        <p:spPr>
          <a:xfrm>
            <a:off x="8092440" y="1211580"/>
            <a:ext cx="731520" cy="731520"/>
          </a:xfrm>
          <a:prstGeom prst="ellipse">
            <a:avLst/>
          </a:prstGeom>
          <a:solidFill>
            <a:srgbClr val="F7941D"/>
          </a:solidFill>
          <a:ln/>
        </p:spPr>
        <p:txBody>
          <a:bodyPr/>
          <a:lstStyle/>
          <a:p>
            <a:endParaRPr lang="ar-OM"/>
          </a:p>
        </p:txBody>
      </p:sp>
      <p:pic>
        <p:nvPicPr>
          <p:cNvPr id="7" name="q-icon" descr="preencoded.png"/>
          <p:cNvPicPr>
            <a:picLocks noChangeAspect="1"/>
          </p:cNvPicPr>
          <p:nvPr/>
        </p:nvPicPr>
        <p:blipFill>
          <a:blip r:embed="rId4"/>
          <a:stretch>
            <a:fillRect/>
          </a:stretch>
        </p:blipFill>
        <p:spPr>
          <a:xfrm>
            <a:off x="8293608" y="1412748"/>
            <a:ext cx="329184" cy="329184"/>
          </a:xfrm>
          <a:prstGeom prst="rect">
            <a:avLst/>
          </a:prstGeom>
        </p:spPr>
      </p:pic>
      <p:sp>
        <p:nvSpPr>
          <p:cNvPr id="8" name="card"/>
          <p:cNvSpPr/>
          <p:nvPr/>
        </p:nvSpPr>
        <p:spPr>
          <a:xfrm>
            <a:off x="5120640" y="2194560"/>
            <a:ext cx="3520440" cy="2331720"/>
          </a:xfrm>
          <a:prstGeom prst="roundRect">
            <a:avLst>
              <a:gd name="adj" fmla="val 7059"/>
            </a:avLst>
          </a:prstGeom>
          <a:solidFill>
            <a:srgbClr val="FFFFFF"/>
          </a:solidFill>
          <a:ln w="31750">
            <a:solidFill>
              <a:srgbClr val="F7941D"/>
            </a:solidFill>
            <a:prstDash val="solid"/>
          </a:ln>
          <a:effectLst>
            <a:outerShdw blurRad="76200" dist="25400" dir="5400000" algn="bl" rotWithShape="0">
              <a:srgbClr val="5B2C83">
                <a:alpha val="18000"/>
              </a:srgbClr>
            </a:outerShdw>
          </a:effectLst>
        </p:spPr>
        <p:txBody>
          <a:bodyPr/>
          <a:lstStyle/>
          <a:p>
            <a:endParaRPr lang="ar-OM"/>
          </a:p>
        </p:txBody>
      </p:sp>
      <p:pic>
        <p:nvPicPr>
          <p:cNvPr id="9" name="shapes66" descr="img/shapes66.png"/>
          <p:cNvPicPr>
            <a:picLocks noChangeAspect="1"/>
          </p:cNvPicPr>
          <p:nvPr/>
        </p:nvPicPr>
        <p:blipFill>
          <a:blip r:embed="rId5"/>
          <a:srcRect/>
          <a:stretch/>
        </p:blipFill>
        <p:spPr>
          <a:xfrm>
            <a:off x="5230368" y="2286000"/>
            <a:ext cx="3291840" cy="2148840"/>
          </a:xfrm>
          <a:prstGeom prst="rect">
            <a:avLst/>
          </a:prstGeom>
        </p:spPr>
      </p:pic>
      <p:sp>
        <p:nvSpPr>
          <p:cNvPr id="10" name="color"/>
          <p:cNvSpPr/>
          <p:nvPr/>
        </p:nvSpPr>
        <p:spPr>
          <a:xfrm>
            <a:off x="3657600" y="2377440"/>
            <a:ext cx="1188720" cy="1188720"/>
          </a:xfrm>
          <a:prstGeom prst="ellipse">
            <a:avLst/>
          </a:prstGeom>
          <a:solidFill>
            <a:srgbClr val="C5D96B"/>
          </a:solidFill>
          <a:ln w="50800">
            <a:solidFill>
              <a:srgbClr val="FFFFFF"/>
            </a:solidFill>
            <a:prstDash val="solid"/>
          </a:ln>
          <a:effectLst>
            <a:outerShdw blurRad="76200" dist="25400" dir="5400000" algn="bl" rotWithShape="0">
              <a:srgbClr val="5B2C83">
                <a:alpha val="18000"/>
              </a:srgbClr>
            </a:outerShdw>
          </a:effectLst>
        </p:spPr>
        <p:txBody>
          <a:bodyPr/>
          <a:lstStyle/>
          <a:p>
            <a:endParaRPr lang="ar-OM"/>
          </a:p>
        </p:txBody>
      </p:sp>
      <p:sp>
        <p:nvSpPr>
          <p:cNvPr id="11" name="label"/>
          <p:cNvSpPr txBox="1"/>
          <p:nvPr/>
        </p:nvSpPr>
        <p:spPr>
          <a:xfrm>
            <a:off x="3566160" y="3703320"/>
            <a:ext cx="1371600" cy="457200"/>
          </a:xfrm>
          <a:prstGeom prst="rect">
            <a:avLst/>
          </a:prstGeom>
          <a:noFill/>
          <a:ln/>
        </p:spPr>
        <p:txBody>
          <a:bodyPr wrap="square" lIns="0" tIns="0" rIns="0" bIns="0" rtlCol="0" anchor="ctr"/>
          <a:lstStyle/>
          <a:p>
            <a:pPr marL="0" indent="0" algn="ctr" rtl="1">
              <a:buNone/>
            </a:pPr>
            <a:r>
              <a:rPr lang="ar-OM" altLang="en-US" sz="2000" b="1" dirty="0">
                <a:solidFill>
                  <a:srgbClr val="2D1B4E"/>
                </a:solidFill>
                <a:latin typeface="Tahoma" pitchFamily="34" charset="0"/>
                <a:ea typeface="Tahoma" pitchFamily="34" charset="-122"/>
                <a:cs typeface="Tahoma" pitchFamily="34" charset="-120"/>
              </a:rPr>
              <a:t>أخضر</a:t>
            </a:r>
            <a:endParaRPr lang="ar-OM" sz="2000" dirty="0"/>
          </a:p>
        </p:txBody>
      </p:sp>
      <p:pic>
        <p:nvPicPr>
          <p:cNvPr id="12" name="ANS_OK_c1" descr="إجابة صحيحة">
            <a:hlinkClick r:id="rId6" action="ppaction://hlinksldjump" tooltip=" ">
              <a:snd r:embed="rId7" name="correct.wav"/>
            </a:hlinkClick>
          </p:cNvPr>
          <p:cNvPicPr>
            <a:picLocks noChangeAspect="1"/>
          </p:cNvPicPr>
          <p:nvPr/>
        </p:nvPicPr>
        <p:blipFill>
          <a:blip r:embed="rId8"/>
          <a:stretch>
            <a:fillRect/>
          </a:stretch>
        </p:blipFill>
        <p:spPr>
          <a:xfrm>
            <a:off x="3566160" y="2377440"/>
            <a:ext cx="1371600" cy="1783080"/>
          </a:xfrm>
          <a:prstGeom prst="rect">
            <a:avLst/>
          </a:prstGeom>
        </p:spPr>
      </p:pic>
      <p:sp>
        <p:nvSpPr>
          <p:cNvPr id="13" name="color"/>
          <p:cNvSpPr/>
          <p:nvPr/>
        </p:nvSpPr>
        <p:spPr>
          <a:xfrm>
            <a:off x="2148840" y="2377440"/>
            <a:ext cx="1188720" cy="1188720"/>
          </a:xfrm>
          <a:prstGeom prst="ellipse">
            <a:avLst/>
          </a:prstGeom>
          <a:solidFill>
            <a:srgbClr val="E53935"/>
          </a:solidFill>
          <a:ln w="50800">
            <a:solidFill>
              <a:srgbClr val="FFFFFF"/>
            </a:solidFill>
            <a:prstDash val="solid"/>
          </a:ln>
          <a:effectLst>
            <a:outerShdw blurRad="76200" dist="25400" dir="5400000" algn="bl" rotWithShape="0">
              <a:srgbClr val="5B2C83">
                <a:alpha val="18000"/>
              </a:srgbClr>
            </a:outerShdw>
          </a:effectLst>
        </p:spPr>
        <p:txBody>
          <a:bodyPr/>
          <a:lstStyle/>
          <a:p>
            <a:endParaRPr lang="ar-OM"/>
          </a:p>
        </p:txBody>
      </p:sp>
      <p:sp>
        <p:nvSpPr>
          <p:cNvPr id="14" name="label"/>
          <p:cNvSpPr txBox="1"/>
          <p:nvPr/>
        </p:nvSpPr>
        <p:spPr>
          <a:xfrm>
            <a:off x="2057400" y="3703320"/>
            <a:ext cx="1371600" cy="457200"/>
          </a:xfrm>
          <a:prstGeom prst="rect">
            <a:avLst/>
          </a:prstGeom>
          <a:noFill/>
          <a:ln/>
        </p:spPr>
        <p:txBody>
          <a:bodyPr wrap="square" lIns="0" tIns="0" rIns="0" bIns="0" rtlCol="0" anchor="ctr"/>
          <a:lstStyle/>
          <a:p>
            <a:pPr marL="0" indent="0" algn="ctr" rtl="1">
              <a:buNone/>
            </a:pPr>
            <a:r>
              <a:rPr lang="ar-OM" altLang="en-US" sz="2000" b="1" dirty="0">
                <a:solidFill>
                  <a:srgbClr val="2D1B4E"/>
                </a:solidFill>
                <a:latin typeface="Tahoma" pitchFamily="34" charset="0"/>
                <a:ea typeface="Tahoma" pitchFamily="34" charset="-122"/>
                <a:cs typeface="Tahoma" pitchFamily="34" charset="-120"/>
              </a:rPr>
              <a:t>أحمر</a:t>
            </a:r>
            <a:endParaRPr lang="ar-OM" sz="2000" dirty="0"/>
          </a:p>
        </p:txBody>
      </p:sp>
      <p:pic>
        <p:nvPicPr>
          <p:cNvPr id="15" name="ANS_NO_c1" descr="إجابة خاطئة">
            <a:hlinkClick r:id="rId9" action="ppaction://hlinksldjump" tooltip=" ">
              <a:snd r:embed="rId10" name="wrong.wav"/>
            </a:hlinkClick>
          </p:cNvPr>
          <p:cNvPicPr>
            <a:picLocks noChangeAspect="1"/>
          </p:cNvPicPr>
          <p:nvPr/>
        </p:nvPicPr>
        <p:blipFill>
          <a:blip r:embed="rId8"/>
          <a:stretch>
            <a:fillRect/>
          </a:stretch>
        </p:blipFill>
        <p:spPr>
          <a:xfrm>
            <a:off x="2057400" y="2377440"/>
            <a:ext cx="1371600" cy="1783080"/>
          </a:xfrm>
          <a:prstGeom prst="rect">
            <a:avLst/>
          </a:prstGeom>
        </p:spPr>
      </p:pic>
      <p:sp>
        <p:nvSpPr>
          <p:cNvPr id="16" name="color"/>
          <p:cNvSpPr/>
          <p:nvPr/>
        </p:nvSpPr>
        <p:spPr>
          <a:xfrm>
            <a:off x="640080" y="2377440"/>
            <a:ext cx="1188720" cy="1188720"/>
          </a:xfrm>
          <a:prstGeom prst="ellipse">
            <a:avLst/>
          </a:prstGeom>
          <a:solidFill>
            <a:srgbClr val="F4AFCB"/>
          </a:solidFill>
          <a:ln w="50800">
            <a:solidFill>
              <a:srgbClr val="FFFFFF"/>
            </a:solidFill>
            <a:prstDash val="solid"/>
          </a:ln>
          <a:effectLst>
            <a:outerShdw blurRad="76200" dist="25400" dir="5400000" algn="bl" rotWithShape="0">
              <a:srgbClr val="5B2C83">
                <a:alpha val="18000"/>
              </a:srgbClr>
            </a:outerShdw>
          </a:effectLst>
        </p:spPr>
        <p:txBody>
          <a:bodyPr/>
          <a:lstStyle/>
          <a:p>
            <a:endParaRPr lang="ar-OM"/>
          </a:p>
        </p:txBody>
      </p:sp>
      <p:sp>
        <p:nvSpPr>
          <p:cNvPr id="17" name="label"/>
          <p:cNvSpPr txBox="1"/>
          <p:nvPr/>
        </p:nvSpPr>
        <p:spPr>
          <a:xfrm>
            <a:off x="548640" y="3703320"/>
            <a:ext cx="1371600" cy="457200"/>
          </a:xfrm>
          <a:prstGeom prst="rect">
            <a:avLst/>
          </a:prstGeom>
          <a:noFill/>
          <a:ln/>
        </p:spPr>
        <p:txBody>
          <a:bodyPr wrap="square" lIns="0" tIns="0" rIns="0" bIns="0" rtlCol="0" anchor="ctr"/>
          <a:lstStyle/>
          <a:p>
            <a:pPr marL="0" indent="0" algn="ctr" rtl="1">
              <a:buNone/>
            </a:pPr>
            <a:r>
              <a:rPr lang="ar-OM" altLang="en-US" sz="2000" b="1" dirty="0">
                <a:solidFill>
                  <a:srgbClr val="2D1B4E"/>
                </a:solidFill>
                <a:latin typeface="Tahoma" pitchFamily="34" charset="0"/>
                <a:ea typeface="Tahoma" pitchFamily="34" charset="-122"/>
                <a:cs typeface="Tahoma" pitchFamily="34" charset="-120"/>
              </a:rPr>
              <a:t>وردي</a:t>
            </a:r>
            <a:endParaRPr lang="ar-OM" sz="2000" dirty="0"/>
          </a:p>
        </p:txBody>
      </p:sp>
      <p:pic>
        <p:nvPicPr>
          <p:cNvPr id="18" name="ANS_NO_c1" descr="إجابة خاطئة">
            <a:hlinkClick r:id="rId9" action="ppaction://hlinksldjump" tooltip=" ">
              <a:snd r:embed="rId10" name="wrong.wav"/>
            </a:hlinkClick>
          </p:cNvPr>
          <p:cNvPicPr>
            <a:picLocks noChangeAspect="1"/>
          </p:cNvPicPr>
          <p:nvPr/>
        </p:nvPicPr>
        <p:blipFill>
          <a:blip r:embed="rId8"/>
          <a:stretch>
            <a:fillRect/>
          </a:stretch>
        </p:blipFill>
        <p:spPr>
          <a:xfrm>
            <a:off x="548640" y="2377440"/>
            <a:ext cx="1371600" cy="1783080"/>
          </a:xfrm>
          <a:prstGeom prst="rect">
            <a:avLst/>
          </a:prstGeom>
        </p:spPr>
      </p:pic>
    </p:spTree>
  </p:cSld>
  <p:clrMapOvr>
    <a:masterClrMapping/>
  </p:clrMapOvr>
  <p:transition spd="med" advClick="0">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F7941D"/>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تحدّي 2</a:t>
            </a:r>
            <a:endParaRPr lang="ar-OM" sz="3800" dirty="0"/>
          </a:p>
        </p:txBody>
      </p:sp>
      <p:sp>
        <p:nvSpPr>
          <p:cNvPr id="5" name="question"/>
          <p:cNvSpPr/>
          <p:nvPr/>
        </p:nvSpPr>
        <p:spPr>
          <a:xfrm>
            <a:off x="640080" y="1188720"/>
            <a:ext cx="7315200" cy="868680"/>
          </a:xfrm>
          <a:prstGeom prst="roundRect">
            <a:avLst>
              <a:gd name="adj" fmla="val 21053"/>
            </a:avLst>
          </a:prstGeom>
          <a:solidFill>
            <a:srgbClr val="F1ECFA"/>
          </a:solidFill>
          <a:ln w="25400">
            <a:solidFill>
              <a:srgbClr val="5B2C83"/>
            </a:solidFill>
          </a:ln>
        </p:spPr>
        <p:txBody>
          <a:bodyPr wrap="square" lIns="1270" tIns="1270" rIns="1270" bIns="1270" rtlCol="0" anchor="ctr"/>
          <a:lstStyle/>
          <a:p>
            <a:pPr marL="0" indent="0" algn="ctr" rtl="1">
              <a:buNone/>
            </a:pPr>
            <a:r>
              <a:rPr lang="ar-OM" altLang="en-US" sz="3400" b="1" dirty="0">
                <a:solidFill>
                  <a:srgbClr val="5B2C83"/>
                </a:solidFill>
                <a:latin typeface="Sakkal Majalla" pitchFamily="34" charset="0"/>
                <a:ea typeface="Sakkal Majalla" pitchFamily="34" charset="-122"/>
                <a:cs typeface="Sakkal Majalla" pitchFamily="34" charset="-120"/>
              </a:rPr>
              <a:t>لأحفظ رسمتي أنقر على:</a:t>
            </a:r>
            <a:endParaRPr lang="ar-OM" sz="3400" dirty="0"/>
          </a:p>
        </p:txBody>
      </p:sp>
      <p:sp>
        <p:nvSpPr>
          <p:cNvPr id="6" name="q-badge"/>
          <p:cNvSpPr/>
          <p:nvPr/>
        </p:nvSpPr>
        <p:spPr>
          <a:xfrm>
            <a:off x="8092440" y="1257300"/>
            <a:ext cx="731520" cy="731520"/>
          </a:xfrm>
          <a:prstGeom prst="ellipse">
            <a:avLst/>
          </a:prstGeom>
          <a:solidFill>
            <a:srgbClr val="F7941D"/>
          </a:solidFill>
          <a:ln/>
        </p:spPr>
        <p:txBody>
          <a:bodyPr/>
          <a:lstStyle/>
          <a:p>
            <a:endParaRPr lang="ar-OM"/>
          </a:p>
        </p:txBody>
      </p:sp>
      <p:pic>
        <p:nvPicPr>
          <p:cNvPr id="7" name="q-icon" descr="preencoded.png"/>
          <p:cNvPicPr>
            <a:picLocks noChangeAspect="1"/>
          </p:cNvPicPr>
          <p:nvPr/>
        </p:nvPicPr>
        <p:blipFill>
          <a:blip r:embed="rId4"/>
          <a:stretch>
            <a:fillRect/>
          </a:stretch>
        </p:blipFill>
        <p:spPr>
          <a:xfrm>
            <a:off x="8293608" y="1458468"/>
            <a:ext cx="329184" cy="329184"/>
          </a:xfrm>
          <a:prstGeom prst="rect">
            <a:avLst/>
          </a:prstGeom>
        </p:spPr>
      </p:pic>
      <p:sp>
        <p:nvSpPr>
          <p:cNvPr id="8" name="pill"/>
          <p:cNvSpPr/>
          <p:nvPr/>
        </p:nvSpPr>
        <p:spPr>
          <a:xfrm>
            <a:off x="6035040" y="2743200"/>
            <a:ext cx="2286000" cy="914400"/>
          </a:xfrm>
          <a:prstGeom prst="roundRect">
            <a:avLst>
              <a:gd name="adj" fmla="val 50000"/>
            </a:avLst>
          </a:prstGeom>
          <a:solidFill>
            <a:srgbClr val="29B6D1"/>
          </a:solidFill>
          <a:ln/>
        </p:spPr>
        <p:txBody>
          <a:bodyPr wrap="square" lIns="0" tIns="0" rIns="0" bIns="0" rtlCol="0" anchor="ctr"/>
          <a:lstStyle/>
          <a:p>
            <a:pPr marL="0" indent="0" algn="ctr" rtl="1">
              <a:buNone/>
            </a:pPr>
            <a:r>
              <a:rPr lang="ar-OM" altLang="en-US" sz="2400" b="1" dirty="0">
                <a:solidFill>
                  <a:srgbClr val="FFFFFF"/>
                </a:solidFill>
                <a:latin typeface="Tahoma" pitchFamily="34" charset="0"/>
                <a:ea typeface="Tahoma" pitchFamily="34" charset="-122"/>
                <a:cs typeface="Tahoma" pitchFamily="34" charset="-120"/>
              </a:rPr>
              <a:t>Save</a:t>
            </a:r>
            <a:endParaRPr lang="ar-OM" sz="2400" dirty="0"/>
          </a:p>
        </p:txBody>
      </p:sp>
      <p:pic>
        <p:nvPicPr>
          <p:cNvPr id="9" name="ANS_OK_c2" descr="إجابة صحيحة">
            <a:hlinkClick r:id="rId5" action="ppaction://hlinksldjump" tooltip=" ">
              <a:snd r:embed="rId6" name="correct.wav"/>
            </a:hlinkClick>
          </p:cNvPr>
          <p:cNvPicPr>
            <a:picLocks noChangeAspect="1"/>
          </p:cNvPicPr>
          <p:nvPr/>
        </p:nvPicPr>
        <p:blipFill>
          <a:blip r:embed="rId7"/>
          <a:stretch>
            <a:fillRect/>
          </a:stretch>
        </p:blipFill>
        <p:spPr>
          <a:xfrm>
            <a:off x="6035040" y="2743200"/>
            <a:ext cx="2286000" cy="914400"/>
          </a:xfrm>
          <a:prstGeom prst="rect">
            <a:avLst/>
          </a:prstGeom>
        </p:spPr>
      </p:pic>
      <p:sp>
        <p:nvSpPr>
          <p:cNvPr id="10" name="pill"/>
          <p:cNvSpPr/>
          <p:nvPr/>
        </p:nvSpPr>
        <p:spPr>
          <a:xfrm>
            <a:off x="3429000" y="2743200"/>
            <a:ext cx="2286000" cy="914400"/>
          </a:xfrm>
          <a:prstGeom prst="roundRect">
            <a:avLst>
              <a:gd name="adj" fmla="val 50000"/>
            </a:avLst>
          </a:prstGeom>
          <a:solidFill>
            <a:srgbClr val="EC4C8C"/>
          </a:solidFill>
          <a:ln/>
        </p:spPr>
        <p:txBody>
          <a:bodyPr wrap="square" lIns="0" tIns="0" rIns="0" bIns="0" rtlCol="0" anchor="ctr"/>
          <a:lstStyle/>
          <a:p>
            <a:pPr marL="0" indent="0" algn="ctr" rtl="1">
              <a:buNone/>
            </a:pPr>
            <a:r>
              <a:rPr lang="ar-OM" altLang="en-US" sz="2400" b="1" dirty="0">
                <a:solidFill>
                  <a:srgbClr val="FFFFFF"/>
                </a:solidFill>
                <a:latin typeface="Tahoma" pitchFamily="34" charset="0"/>
                <a:ea typeface="Tahoma" pitchFamily="34" charset="-122"/>
                <a:cs typeface="Tahoma" pitchFamily="34" charset="-120"/>
              </a:rPr>
              <a:t>Eraser</a:t>
            </a:r>
            <a:endParaRPr lang="ar-OM" sz="2400" dirty="0"/>
          </a:p>
        </p:txBody>
      </p:sp>
      <p:pic>
        <p:nvPicPr>
          <p:cNvPr id="11" name="ANS_NO_c2" descr="إجابة خاطئة">
            <a:hlinkClick r:id="rId8" action="ppaction://hlinksldjump" tooltip=" ">
              <a:snd r:embed="rId9" name="wrong.wav"/>
            </a:hlinkClick>
          </p:cNvPr>
          <p:cNvPicPr>
            <a:picLocks noChangeAspect="1"/>
          </p:cNvPicPr>
          <p:nvPr/>
        </p:nvPicPr>
        <p:blipFill>
          <a:blip r:embed="rId7"/>
          <a:stretch>
            <a:fillRect/>
          </a:stretch>
        </p:blipFill>
        <p:spPr>
          <a:xfrm>
            <a:off x="3429000" y="2743200"/>
            <a:ext cx="2286000" cy="914400"/>
          </a:xfrm>
          <a:prstGeom prst="rect">
            <a:avLst/>
          </a:prstGeom>
        </p:spPr>
      </p:pic>
      <p:sp>
        <p:nvSpPr>
          <p:cNvPr id="12" name="pill"/>
          <p:cNvSpPr/>
          <p:nvPr/>
        </p:nvSpPr>
        <p:spPr>
          <a:xfrm>
            <a:off x="822960" y="2743200"/>
            <a:ext cx="2286000" cy="914400"/>
          </a:xfrm>
          <a:prstGeom prst="roundRect">
            <a:avLst>
              <a:gd name="adj" fmla="val 50000"/>
            </a:avLst>
          </a:prstGeom>
          <a:solidFill>
            <a:srgbClr val="7AC143"/>
          </a:solidFill>
          <a:ln/>
        </p:spPr>
        <p:txBody>
          <a:bodyPr wrap="square" lIns="0" tIns="0" rIns="0" bIns="0" rtlCol="0" anchor="ctr"/>
          <a:lstStyle/>
          <a:p>
            <a:pPr marL="0" indent="0" algn="ctr" rtl="1">
              <a:buNone/>
            </a:pPr>
            <a:r>
              <a:rPr lang="ar-OM" altLang="en-US" sz="2400" b="1" dirty="0">
                <a:solidFill>
                  <a:srgbClr val="FFFFFF"/>
                </a:solidFill>
                <a:latin typeface="Tahoma" pitchFamily="34" charset="0"/>
                <a:ea typeface="Tahoma" pitchFamily="34" charset="-122"/>
                <a:cs typeface="Tahoma" pitchFamily="34" charset="-120"/>
              </a:rPr>
              <a:t>Fill</a:t>
            </a:r>
            <a:endParaRPr lang="ar-OM" sz="2400" dirty="0"/>
          </a:p>
        </p:txBody>
      </p:sp>
      <p:pic>
        <p:nvPicPr>
          <p:cNvPr id="13" name="ANS_NO_c2" descr="إجابة خاطئة">
            <a:hlinkClick r:id="rId8" action="ppaction://hlinksldjump" tooltip=" ">
              <a:snd r:embed="rId9" name="wrong.wav"/>
            </a:hlinkClick>
          </p:cNvPr>
          <p:cNvPicPr>
            <a:picLocks noChangeAspect="1"/>
          </p:cNvPicPr>
          <p:nvPr/>
        </p:nvPicPr>
        <p:blipFill>
          <a:blip r:embed="rId7"/>
          <a:stretch>
            <a:fillRect/>
          </a:stretch>
        </p:blipFill>
        <p:spPr>
          <a:xfrm>
            <a:off x="822960" y="2743200"/>
            <a:ext cx="2286000" cy="914400"/>
          </a:xfrm>
          <a:prstGeom prst="rect">
            <a:avLst/>
          </a:prstGeom>
        </p:spPr>
      </p:pic>
    </p:spTree>
  </p:cSld>
  <p:clrMapOvr>
    <a:masterClrMapping/>
  </p:clrMapOvr>
  <p:transition spd="med" advClick="0">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icon-bg"/>
          <p:cNvSpPr/>
          <p:nvPr/>
        </p:nvSpPr>
        <p:spPr>
          <a:xfrm>
            <a:off x="8001000" y="228600"/>
            <a:ext cx="658368" cy="658368"/>
          </a:xfrm>
          <a:prstGeom prst="ellipse">
            <a:avLst/>
          </a:prstGeom>
          <a:solidFill>
            <a:srgbClr val="7AC143"/>
          </a:solidFill>
          <a:ln/>
        </p:spPr>
        <p:txBody>
          <a:bodyPr/>
          <a:lstStyle/>
          <a:p>
            <a:endParaRPr lang="ar-OM"/>
          </a:p>
        </p:txBody>
      </p:sp>
      <p:pic>
        <p:nvPicPr>
          <p:cNvPr id="3" name="title-icon" descr="preencoded.png"/>
          <p:cNvPicPr>
            <a:picLocks noChangeAspect="1"/>
          </p:cNvPicPr>
          <p:nvPr/>
        </p:nvPicPr>
        <p:blipFill>
          <a:blip r:embed="rId3"/>
          <a:stretch>
            <a:fillRect/>
          </a:stretch>
        </p:blipFill>
        <p:spPr>
          <a:xfrm>
            <a:off x="8165592" y="393192"/>
            <a:ext cx="329184" cy="329184"/>
          </a:xfrm>
          <a:prstGeom prst="rect">
            <a:avLst/>
          </a:prstGeom>
        </p:spPr>
      </p:pic>
      <p:sp>
        <p:nvSpPr>
          <p:cNvPr id="4" name="title"/>
          <p:cNvSpPr txBox="1"/>
          <p:nvPr/>
        </p:nvSpPr>
        <p:spPr>
          <a:xfrm>
            <a:off x="1280160" y="182880"/>
            <a:ext cx="6583680" cy="731520"/>
          </a:xfrm>
          <a:prstGeom prst="rect">
            <a:avLst/>
          </a:prstGeom>
          <a:noFill/>
          <a:ln/>
        </p:spPr>
        <p:txBody>
          <a:bodyPr wrap="square" lIns="0" tIns="0" rIns="0" bIns="0" rtlCol="0" anchor="ctr"/>
          <a:lstStyle/>
          <a:p>
            <a:pPr marL="0" indent="0" algn="r" rtl="1">
              <a:buNone/>
            </a:pPr>
            <a:r>
              <a:rPr lang="ar-OM" altLang="en-US" sz="3800" b="1" dirty="0">
                <a:solidFill>
                  <a:srgbClr val="5B2C83"/>
                </a:solidFill>
                <a:latin typeface="Sakkal Majalla" pitchFamily="34" charset="0"/>
                <a:ea typeface="Sakkal Majalla" pitchFamily="34" charset="-122"/>
                <a:cs typeface="Sakkal Majalla" pitchFamily="34" charset="-120"/>
              </a:rPr>
              <a:t>ماذا تعلّمنا اليوم؟</a:t>
            </a:r>
            <a:endParaRPr lang="ar-OM" sz="3800" dirty="0"/>
          </a:p>
        </p:txBody>
      </p:sp>
      <p:sp>
        <p:nvSpPr>
          <p:cNvPr id="5" name="subtitle"/>
          <p:cNvSpPr txBox="1"/>
          <p:nvPr/>
        </p:nvSpPr>
        <p:spPr>
          <a:xfrm>
            <a:off x="1280160" y="841248"/>
            <a:ext cx="6583680" cy="365760"/>
          </a:xfrm>
          <a:prstGeom prst="rect">
            <a:avLst/>
          </a:prstGeom>
          <a:noFill/>
          <a:ln/>
        </p:spPr>
        <p:txBody>
          <a:bodyPr wrap="square" lIns="0" tIns="0" rIns="0" bIns="0" rtlCol="0" anchor="ctr"/>
          <a:lstStyle/>
          <a:p>
            <a:pPr marL="0" indent="0" algn="r" rtl="1">
              <a:buNone/>
            </a:pPr>
            <a:r>
              <a:rPr lang="ar-OM" altLang="en-US" sz="1600" b="1" dirty="0">
                <a:solidFill>
                  <a:srgbClr val="7AC143"/>
                </a:solidFill>
                <a:latin typeface="Tahoma" pitchFamily="34" charset="0"/>
                <a:ea typeface="Tahoma" pitchFamily="34" charset="-122"/>
                <a:cs typeface="Tahoma" pitchFamily="34" charset="-120"/>
              </a:rPr>
              <a:t>التعزيز</a:t>
            </a:r>
            <a:endParaRPr lang="ar-OM" sz="1600" dirty="0"/>
          </a:p>
        </p:txBody>
      </p:sp>
      <p:sp>
        <p:nvSpPr>
          <p:cNvPr id="6" name="card"/>
          <p:cNvSpPr/>
          <p:nvPr/>
        </p:nvSpPr>
        <p:spPr>
          <a:xfrm>
            <a:off x="1463040" y="1325880"/>
            <a:ext cx="7132320" cy="640080"/>
          </a:xfrm>
          <a:prstGeom prst="roundRect">
            <a:avLst>
              <a:gd name="adj" fmla="val 25714"/>
            </a:avLst>
          </a:prstGeom>
          <a:solidFill>
            <a:srgbClr val="FFFFFF"/>
          </a:solidFill>
          <a:ln w="31750">
            <a:solidFill>
              <a:srgbClr val="F7941D"/>
            </a:solidFill>
            <a:prstDash val="solid"/>
          </a:ln>
          <a:effectLst>
            <a:outerShdw blurRad="76200" dist="25400" dir="5400000" algn="bl" rotWithShape="0">
              <a:srgbClr val="5B2C83">
                <a:alpha val="18000"/>
              </a:srgbClr>
            </a:outerShdw>
          </a:effectLst>
        </p:spPr>
        <p:txBody>
          <a:bodyPr/>
          <a:lstStyle/>
          <a:p>
            <a:endParaRPr lang="ar-OM"/>
          </a:p>
        </p:txBody>
      </p:sp>
      <p:pic>
        <p:nvPicPr>
          <p:cNvPr id="7" name="star" descr="preencoded.png"/>
          <p:cNvPicPr>
            <a:picLocks noChangeAspect="1"/>
          </p:cNvPicPr>
          <p:nvPr/>
        </p:nvPicPr>
        <p:blipFill>
          <a:blip r:embed="rId4"/>
          <a:stretch>
            <a:fillRect/>
          </a:stretch>
        </p:blipFill>
        <p:spPr>
          <a:xfrm>
            <a:off x="8092440" y="1453896"/>
            <a:ext cx="384048" cy="384048"/>
          </a:xfrm>
          <a:prstGeom prst="rect">
            <a:avLst/>
          </a:prstGeom>
        </p:spPr>
      </p:pic>
      <p:sp>
        <p:nvSpPr>
          <p:cNvPr id="8" name="label"/>
          <p:cNvSpPr txBox="1"/>
          <p:nvPr/>
        </p:nvSpPr>
        <p:spPr>
          <a:xfrm>
            <a:off x="1645920" y="1325880"/>
            <a:ext cx="6309360" cy="640080"/>
          </a:xfrm>
          <a:prstGeom prst="rect">
            <a:avLst/>
          </a:prstGeom>
          <a:noFill/>
          <a:ln/>
        </p:spPr>
        <p:txBody>
          <a:bodyPr wrap="square" lIns="0" tIns="0" rIns="0" bIns="0" rtlCol="0" anchor="ctr"/>
          <a:lstStyle/>
          <a:p>
            <a:pPr marL="0" indent="0" algn="r" rtl="1">
              <a:buNone/>
            </a:pPr>
            <a:r>
              <a:rPr lang="ar-OM" altLang="en-US" sz="1700" b="1" dirty="0">
                <a:solidFill>
                  <a:srgbClr val="2D1B4E"/>
                </a:solidFill>
                <a:latin typeface="Tahoma" pitchFamily="34" charset="0"/>
                <a:ea typeface="Tahoma" pitchFamily="34" charset="-122"/>
                <a:cs typeface="Tahoma" pitchFamily="34" charset="-120"/>
              </a:rPr>
              <a:t>نفتح تطبيق الرسّام من زر ابدأ</a:t>
            </a:r>
            <a:endParaRPr lang="ar-OM" sz="1700" dirty="0"/>
          </a:p>
        </p:txBody>
      </p:sp>
      <p:sp>
        <p:nvSpPr>
          <p:cNvPr id="9" name="card"/>
          <p:cNvSpPr/>
          <p:nvPr/>
        </p:nvSpPr>
        <p:spPr>
          <a:xfrm>
            <a:off x="1463040" y="2112264"/>
            <a:ext cx="7132320" cy="640080"/>
          </a:xfrm>
          <a:prstGeom prst="roundRect">
            <a:avLst>
              <a:gd name="adj" fmla="val 25714"/>
            </a:avLst>
          </a:prstGeom>
          <a:solidFill>
            <a:srgbClr val="FFFFFF"/>
          </a:solidFill>
          <a:ln w="31750">
            <a:solidFill>
              <a:srgbClr val="29B6D1"/>
            </a:solidFill>
            <a:prstDash val="solid"/>
          </a:ln>
          <a:effectLst>
            <a:outerShdw blurRad="76200" dist="25400" dir="5400000" algn="bl" rotWithShape="0">
              <a:srgbClr val="5B2C83">
                <a:alpha val="18000"/>
              </a:srgbClr>
            </a:outerShdw>
          </a:effectLst>
        </p:spPr>
        <p:txBody>
          <a:bodyPr/>
          <a:lstStyle/>
          <a:p>
            <a:endParaRPr lang="ar-OM"/>
          </a:p>
        </p:txBody>
      </p:sp>
      <p:pic>
        <p:nvPicPr>
          <p:cNvPr id="10" name="star" descr="preencoded.png"/>
          <p:cNvPicPr>
            <a:picLocks noChangeAspect="1"/>
          </p:cNvPicPr>
          <p:nvPr/>
        </p:nvPicPr>
        <p:blipFill>
          <a:blip r:embed="rId4"/>
          <a:stretch>
            <a:fillRect/>
          </a:stretch>
        </p:blipFill>
        <p:spPr>
          <a:xfrm>
            <a:off x="8092440" y="2240280"/>
            <a:ext cx="384048" cy="384048"/>
          </a:xfrm>
          <a:prstGeom prst="rect">
            <a:avLst/>
          </a:prstGeom>
        </p:spPr>
      </p:pic>
      <p:sp>
        <p:nvSpPr>
          <p:cNvPr id="11" name="label"/>
          <p:cNvSpPr txBox="1"/>
          <p:nvPr/>
        </p:nvSpPr>
        <p:spPr>
          <a:xfrm>
            <a:off x="1645920" y="2112264"/>
            <a:ext cx="6309360" cy="640080"/>
          </a:xfrm>
          <a:prstGeom prst="rect">
            <a:avLst/>
          </a:prstGeom>
          <a:noFill/>
          <a:ln/>
        </p:spPr>
        <p:txBody>
          <a:bodyPr wrap="square" lIns="0" tIns="0" rIns="0" bIns="0" rtlCol="0" anchor="ctr"/>
          <a:lstStyle/>
          <a:p>
            <a:pPr marL="0" indent="0" algn="r" rtl="1">
              <a:buNone/>
            </a:pPr>
            <a:r>
              <a:rPr lang="ar-OM" altLang="en-US" sz="1700" b="1" dirty="0">
                <a:solidFill>
                  <a:srgbClr val="2D1B4E"/>
                </a:solidFill>
                <a:latin typeface="Tahoma" pitchFamily="34" charset="0"/>
                <a:ea typeface="Tahoma" pitchFamily="34" charset="-122"/>
                <a:cs typeface="Tahoma" pitchFamily="34" charset="-120"/>
              </a:rPr>
              <a:t>أدواتي: الألوان، الأشكال، التعبئة، الممحاة</a:t>
            </a:r>
            <a:endParaRPr lang="ar-OM" sz="1700" dirty="0"/>
          </a:p>
        </p:txBody>
      </p:sp>
      <p:sp>
        <p:nvSpPr>
          <p:cNvPr id="12" name="card"/>
          <p:cNvSpPr/>
          <p:nvPr/>
        </p:nvSpPr>
        <p:spPr>
          <a:xfrm>
            <a:off x="1463040" y="2898648"/>
            <a:ext cx="7132320" cy="640080"/>
          </a:xfrm>
          <a:prstGeom prst="roundRect">
            <a:avLst>
              <a:gd name="adj" fmla="val 25714"/>
            </a:avLst>
          </a:prstGeom>
          <a:solidFill>
            <a:srgbClr val="FFFFFF"/>
          </a:solidFill>
          <a:ln w="31750">
            <a:solidFill>
              <a:srgbClr val="7AC143"/>
            </a:solidFill>
            <a:prstDash val="solid"/>
          </a:ln>
          <a:effectLst>
            <a:outerShdw blurRad="76200" dist="25400" dir="5400000" algn="bl" rotWithShape="0">
              <a:srgbClr val="5B2C83">
                <a:alpha val="18000"/>
              </a:srgbClr>
            </a:outerShdw>
          </a:effectLst>
        </p:spPr>
        <p:txBody>
          <a:bodyPr/>
          <a:lstStyle/>
          <a:p>
            <a:endParaRPr lang="ar-OM"/>
          </a:p>
        </p:txBody>
      </p:sp>
      <p:pic>
        <p:nvPicPr>
          <p:cNvPr id="13" name="star" descr="preencoded.png"/>
          <p:cNvPicPr>
            <a:picLocks noChangeAspect="1"/>
          </p:cNvPicPr>
          <p:nvPr/>
        </p:nvPicPr>
        <p:blipFill>
          <a:blip r:embed="rId4"/>
          <a:stretch>
            <a:fillRect/>
          </a:stretch>
        </p:blipFill>
        <p:spPr>
          <a:xfrm>
            <a:off x="8092440" y="3026664"/>
            <a:ext cx="384048" cy="384048"/>
          </a:xfrm>
          <a:prstGeom prst="rect">
            <a:avLst/>
          </a:prstGeom>
        </p:spPr>
      </p:pic>
      <p:sp>
        <p:nvSpPr>
          <p:cNvPr id="14" name="label"/>
          <p:cNvSpPr txBox="1"/>
          <p:nvPr/>
        </p:nvSpPr>
        <p:spPr>
          <a:xfrm>
            <a:off x="1645920" y="2898648"/>
            <a:ext cx="6309360" cy="640080"/>
          </a:xfrm>
          <a:prstGeom prst="rect">
            <a:avLst/>
          </a:prstGeom>
          <a:noFill/>
          <a:ln/>
        </p:spPr>
        <p:txBody>
          <a:bodyPr wrap="square" lIns="0" tIns="0" rIns="0" bIns="0" rtlCol="0" anchor="ctr"/>
          <a:lstStyle/>
          <a:p>
            <a:pPr marL="0" indent="0" algn="r" rtl="1">
              <a:buNone/>
            </a:pPr>
            <a:r>
              <a:rPr lang="ar-OM" altLang="en-US" sz="1700" b="1" dirty="0">
                <a:solidFill>
                  <a:srgbClr val="2D1B4E"/>
                </a:solidFill>
                <a:latin typeface="Tahoma" pitchFamily="34" charset="0"/>
                <a:ea typeface="Tahoma" pitchFamily="34" charset="-122"/>
                <a:cs typeface="Tahoma" pitchFamily="34" charset="-120"/>
              </a:rPr>
              <a:t>نرسم الشكل بالنقر والسحب، ثم نلوّن إطاره ونملؤه</a:t>
            </a:r>
            <a:endParaRPr lang="ar-OM" sz="1700" dirty="0"/>
          </a:p>
        </p:txBody>
      </p:sp>
      <p:sp>
        <p:nvSpPr>
          <p:cNvPr id="15" name="card"/>
          <p:cNvSpPr/>
          <p:nvPr/>
        </p:nvSpPr>
        <p:spPr>
          <a:xfrm>
            <a:off x="1463040" y="3685032"/>
            <a:ext cx="7132320" cy="640080"/>
          </a:xfrm>
          <a:prstGeom prst="roundRect">
            <a:avLst>
              <a:gd name="adj" fmla="val 25714"/>
            </a:avLst>
          </a:prstGeom>
          <a:solidFill>
            <a:srgbClr val="FFFFFF"/>
          </a:solidFill>
          <a:ln w="31750">
            <a:solidFill>
              <a:srgbClr val="EC4C8C"/>
            </a:solidFill>
            <a:prstDash val="solid"/>
          </a:ln>
          <a:effectLst>
            <a:outerShdw blurRad="76200" dist="25400" dir="5400000" algn="bl" rotWithShape="0">
              <a:srgbClr val="5B2C83">
                <a:alpha val="18000"/>
              </a:srgbClr>
            </a:outerShdw>
          </a:effectLst>
        </p:spPr>
        <p:txBody>
          <a:bodyPr/>
          <a:lstStyle/>
          <a:p>
            <a:endParaRPr lang="ar-OM"/>
          </a:p>
        </p:txBody>
      </p:sp>
      <p:pic>
        <p:nvPicPr>
          <p:cNvPr id="16" name="star" descr="preencoded.png"/>
          <p:cNvPicPr>
            <a:picLocks noChangeAspect="1"/>
          </p:cNvPicPr>
          <p:nvPr/>
        </p:nvPicPr>
        <p:blipFill>
          <a:blip r:embed="rId4"/>
          <a:stretch>
            <a:fillRect/>
          </a:stretch>
        </p:blipFill>
        <p:spPr>
          <a:xfrm>
            <a:off x="8092440" y="3813048"/>
            <a:ext cx="384048" cy="384048"/>
          </a:xfrm>
          <a:prstGeom prst="rect">
            <a:avLst/>
          </a:prstGeom>
        </p:spPr>
      </p:pic>
      <p:sp>
        <p:nvSpPr>
          <p:cNvPr id="17" name="label"/>
          <p:cNvSpPr txBox="1"/>
          <p:nvPr/>
        </p:nvSpPr>
        <p:spPr>
          <a:xfrm>
            <a:off x="1645920" y="3685032"/>
            <a:ext cx="6309360" cy="640080"/>
          </a:xfrm>
          <a:prstGeom prst="rect">
            <a:avLst/>
          </a:prstGeom>
          <a:noFill/>
          <a:ln/>
        </p:spPr>
        <p:txBody>
          <a:bodyPr wrap="square" lIns="0" tIns="0" rIns="0" bIns="0" rtlCol="0" anchor="ctr"/>
          <a:lstStyle/>
          <a:p>
            <a:pPr marL="0" indent="0" algn="r" rtl="1">
              <a:buNone/>
            </a:pPr>
            <a:r>
              <a:rPr lang="ar-OM" altLang="en-US" sz="1700" b="1" dirty="0">
                <a:solidFill>
                  <a:srgbClr val="2D1B4E"/>
                </a:solidFill>
                <a:latin typeface="Tahoma" pitchFamily="34" charset="0"/>
                <a:ea typeface="Tahoma" pitchFamily="34" charset="-122"/>
                <a:cs typeface="Tahoma" pitchFamily="34" charset="-120"/>
              </a:rPr>
              <a:t>نمسح ونتراجع ونعيد، ونحفظ عملنا دائمًا</a:t>
            </a:r>
            <a:endParaRPr lang="ar-OM" sz="1700" dirty="0"/>
          </a:p>
        </p:txBody>
      </p:sp>
      <p:pic>
        <p:nvPicPr>
          <p:cNvPr id="18" name="smile" descr="preencoded.png"/>
          <p:cNvPicPr>
            <a:picLocks noChangeAspect="1"/>
          </p:cNvPicPr>
          <p:nvPr/>
        </p:nvPicPr>
        <p:blipFill>
          <a:blip r:embed="rId5"/>
          <a:stretch>
            <a:fillRect/>
          </a:stretch>
        </p:blipFill>
        <p:spPr>
          <a:xfrm>
            <a:off x="502920" y="2377440"/>
            <a:ext cx="777240" cy="777240"/>
          </a:xfrm>
          <a:prstGeom prst="rect">
            <a:avLst/>
          </a:prstGeom>
        </p:spPr>
      </p:pic>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crown" descr="preencoded.png"/>
          <p:cNvPicPr>
            <a:picLocks noChangeAspect="1"/>
          </p:cNvPicPr>
          <p:nvPr/>
        </p:nvPicPr>
        <p:blipFill>
          <a:blip r:embed="rId3"/>
          <a:stretch>
            <a:fillRect/>
          </a:stretch>
        </p:blipFill>
        <p:spPr>
          <a:xfrm>
            <a:off x="4023360" y="960120"/>
            <a:ext cx="1097280" cy="1097280"/>
          </a:xfrm>
          <a:prstGeom prst="rect">
            <a:avLst/>
          </a:prstGeom>
        </p:spPr>
      </p:pic>
      <p:sp>
        <p:nvSpPr>
          <p:cNvPr id="3" name="end-title"/>
          <p:cNvSpPr txBox="1"/>
          <p:nvPr/>
        </p:nvSpPr>
        <p:spPr>
          <a:xfrm>
            <a:off x="1645920" y="2057400"/>
            <a:ext cx="5852160" cy="914400"/>
          </a:xfrm>
          <a:prstGeom prst="rect">
            <a:avLst/>
          </a:prstGeom>
          <a:noFill/>
          <a:ln/>
        </p:spPr>
        <p:txBody>
          <a:bodyPr wrap="square" lIns="0" tIns="0" rIns="0" bIns="0" rtlCol="0" anchor="ctr"/>
          <a:lstStyle/>
          <a:p>
            <a:pPr marL="0" indent="0" algn="ctr" rtl="1">
              <a:buNone/>
            </a:pPr>
            <a:r>
              <a:rPr lang="ar-OM" altLang="en-US" sz="5800" b="1" dirty="0">
                <a:solidFill>
                  <a:srgbClr val="5B2C83"/>
                </a:solidFill>
                <a:latin typeface="Sakkal Majalla" pitchFamily="34" charset="0"/>
                <a:ea typeface="Sakkal Majalla" pitchFamily="34" charset="-122"/>
                <a:cs typeface="Sakkal Majalla" pitchFamily="34" charset="-120"/>
              </a:rPr>
              <a:t>أحسنتم يا أبطال!</a:t>
            </a:r>
            <a:endParaRPr lang="ar-OM" sz="5800" dirty="0"/>
          </a:p>
        </p:txBody>
      </p:sp>
      <p:sp>
        <p:nvSpPr>
          <p:cNvPr id="4" name="end-sub"/>
          <p:cNvSpPr txBox="1"/>
          <p:nvPr/>
        </p:nvSpPr>
        <p:spPr>
          <a:xfrm>
            <a:off x="1645920" y="2926080"/>
            <a:ext cx="5852160" cy="548640"/>
          </a:xfrm>
          <a:prstGeom prst="rect">
            <a:avLst/>
          </a:prstGeom>
          <a:noFill/>
          <a:ln/>
        </p:spPr>
        <p:txBody>
          <a:bodyPr wrap="square" lIns="0" tIns="0" rIns="0" bIns="0" rtlCol="0" anchor="ctr"/>
          <a:lstStyle/>
          <a:p>
            <a:pPr marL="0" indent="0" algn="ctr" rtl="1">
              <a:buNone/>
            </a:pPr>
            <a:r>
              <a:rPr lang="ar-OM" altLang="en-US" sz="2400" b="1" dirty="0">
                <a:solidFill>
                  <a:srgbClr val="F7941D"/>
                </a:solidFill>
                <a:latin typeface="Tahoma" pitchFamily="34" charset="0"/>
                <a:ea typeface="Tahoma" pitchFamily="34" charset="-122"/>
                <a:cs typeface="Tahoma" pitchFamily="34" charset="-120"/>
              </a:rPr>
              <a:t>أنتم رسّامون مبدعون للأشكال</a:t>
            </a:r>
            <a:endParaRPr lang="ar-OM" sz="2400" dirty="0"/>
          </a:p>
        </p:txBody>
      </p:sp>
      <p:pic>
        <p:nvPicPr>
          <p:cNvPr id="5" name="star" descr="preencoded.png"/>
          <p:cNvPicPr>
            <a:picLocks noChangeAspect="1"/>
          </p:cNvPicPr>
          <p:nvPr/>
        </p:nvPicPr>
        <p:blipFill>
          <a:blip r:embed="rId4"/>
          <a:stretch>
            <a:fillRect/>
          </a:stretch>
        </p:blipFill>
        <p:spPr>
          <a:xfrm>
            <a:off x="2880360" y="3611880"/>
            <a:ext cx="457200" cy="457200"/>
          </a:xfrm>
          <a:prstGeom prst="rect">
            <a:avLst/>
          </a:prstGeom>
        </p:spPr>
      </p:pic>
      <p:pic>
        <p:nvPicPr>
          <p:cNvPr id="6" name="star" descr="preencoded.png"/>
          <p:cNvPicPr>
            <a:picLocks noChangeAspect="1"/>
          </p:cNvPicPr>
          <p:nvPr/>
        </p:nvPicPr>
        <p:blipFill>
          <a:blip r:embed="rId4"/>
          <a:stretch>
            <a:fillRect/>
          </a:stretch>
        </p:blipFill>
        <p:spPr>
          <a:xfrm>
            <a:off x="3611880" y="3611880"/>
            <a:ext cx="457200" cy="457200"/>
          </a:xfrm>
          <a:prstGeom prst="rect">
            <a:avLst/>
          </a:prstGeom>
        </p:spPr>
      </p:pic>
      <p:pic>
        <p:nvPicPr>
          <p:cNvPr id="7" name="star" descr="preencoded.png"/>
          <p:cNvPicPr>
            <a:picLocks noChangeAspect="1"/>
          </p:cNvPicPr>
          <p:nvPr/>
        </p:nvPicPr>
        <p:blipFill>
          <a:blip r:embed="rId4"/>
          <a:stretch>
            <a:fillRect/>
          </a:stretch>
        </p:blipFill>
        <p:spPr>
          <a:xfrm>
            <a:off x="4343400" y="3611880"/>
            <a:ext cx="457200" cy="457200"/>
          </a:xfrm>
          <a:prstGeom prst="rect">
            <a:avLst/>
          </a:prstGeom>
        </p:spPr>
      </p:pic>
      <p:pic>
        <p:nvPicPr>
          <p:cNvPr id="8" name="star" descr="preencoded.png"/>
          <p:cNvPicPr>
            <a:picLocks noChangeAspect="1"/>
          </p:cNvPicPr>
          <p:nvPr/>
        </p:nvPicPr>
        <p:blipFill>
          <a:blip r:embed="rId4"/>
          <a:stretch>
            <a:fillRect/>
          </a:stretch>
        </p:blipFill>
        <p:spPr>
          <a:xfrm>
            <a:off x="5074920" y="3611880"/>
            <a:ext cx="457200" cy="457200"/>
          </a:xfrm>
          <a:prstGeom prst="rect">
            <a:avLst/>
          </a:prstGeom>
        </p:spPr>
      </p:pic>
      <p:pic>
        <p:nvPicPr>
          <p:cNvPr id="9" name="star" descr="preencoded.png"/>
          <p:cNvPicPr>
            <a:picLocks noChangeAspect="1"/>
          </p:cNvPicPr>
          <p:nvPr/>
        </p:nvPicPr>
        <p:blipFill>
          <a:blip r:embed="rId4"/>
          <a:stretch>
            <a:fillRect/>
          </a:stretch>
        </p:blipFill>
        <p:spPr>
          <a:xfrm>
            <a:off x="5806440" y="3611880"/>
            <a:ext cx="457200" cy="457200"/>
          </a:xfrm>
          <a:prstGeom prst="rect">
            <a:avLst/>
          </a:prstGeom>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show="0">
  <p:cSld name="Slide 26">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7AC143"/>
                </a:solidFill>
                <a:latin typeface="Sakkal Majalla" pitchFamily="34" charset="0"/>
                <a:ea typeface="Sakkal Majalla" pitchFamily="34" charset="-122"/>
                <a:cs typeface="Sakkal Majalla" pitchFamily="34" charset="-120"/>
              </a:rPr>
              <a:t>أحسنت يا بطل!</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الصورة تتكوّن من وحدات البكسل</a:t>
            </a:r>
            <a:endParaRPr lang="ar-OM" sz="2200" dirty="0"/>
          </a:p>
        </p:txBody>
      </p:sp>
      <p:sp>
        <p:nvSpPr>
          <p:cNvPr id="4" name="nav-btn"/>
          <p:cNvSpPr/>
          <p:nvPr/>
        </p:nvSpPr>
        <p:spPr>
          <a:xfrm>
            <a:off x="3383280" y="3154680"/>
            <a:ext cx="2377440" cy="594360"/>
          </a:xfrm>
          <a:prstGeom prst="roundRect">
            <a:avLst>
              <a:gd name="adj" fmla="val 49231"/>
            </a:avLst>
          </a:prstGeom>
          <a:solidFill>
            <a:srgbClr val="5B2C83"/>
          </a:solidFill>
          <a:ln/>
        </p:spPr>
        <p:txBody>
          <a:bodyPr wrap="square" lIns="0" tIns="1270" rIns="6985"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التالي</a:t>
            </a:r>
            <a:endParaRPr lang="ar-OM" sz="2200" dirty="0"/>
          </a:p>
        </p:txBody>
      </p:sp>
      <p:pic>
        <p:nvPicPr>
          <p:cNvPr id="5" name="nav-icon" descr="preencoded.png"/>
          <p:cNvPicPr>
            <a:picLocks noChangeAspect="1"/>
          </p:cNvPicPr>
          <p:nvPr/>
        </p:nvPicPr>
        <p:blipFill>
          <a:blip r:embed="rId3"/>
          <a:stretch>
            <a:fillRect/>
          </a:stretch>
        </p:blipFill>
        <p:spPr>
          <a:xfrm>
            <a:off x="3566160" y="3310128"/>
            <a:ext cx="283464" cy="283464"/>
          </a:xfrm>
          <a:prstGeom prst="rect">
            <a:avLst/>
          </a:prstGeom>
        </p:spPr>
      </p:pic>
      <p:pic>
        <p:nvPicPr>
          <p:cNvPr id="6" name="NAV_next" descr="التالي">
            <a:hlinkClick r:id="rId4" action="ppaction://hlinksldjump" tooltip=" "/>
          </p:cNvPr>
          <p:cNvPicPr>
            <a:picLocks noChangeAspect="1"/>
          </p:cNvPicPr>
          <p:nvPr/>
        </p:nvPicPr>
        <p:blipFill>
          <a:blip r:embed="rId5"/>
          <a:stretch>
            <a:fillRect/>
          </a:stretch>
        </p:blipFill>
        <p:spPr>
          <a:xfrm>
            <a:off x="3383280" y="3154680"/>
            <a:ext cx="2377440" cy="594360"/>
          </a:xfrm>
          <a:prstGeom prst="rect">
            <a:avLst/>
          </a:prstGeom>
        </p:spPr>
      </p:pic>
    </p:spTree>
  </p:cSld>
  <p:clrMapOvr>
    <a:masterClrMapping/>
  </p:clrMapOvr>
  <p:transition spd="med" advClick="0">
    <p:fade/>
  </p:transition>
</p:sld>
</file>

<file path=ppt/slides/slide27.xml><?xml version="1.0" encoding="utf-8"?>
<p:sld xmlns:a="http://schemas.openxmlformats.org/drawingml/2006/main" xmlns:r="http://schemas.openxmlformats.org/officeDocument/2006/relationships" xmlns:p="http://schemas.openxmlformats.org/presentationml/2006/main" show="0">
  <p:cSld name="Slide 27">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F7941D"/>
                </a:solidFill>
                <a:latin typeface="Sakkal Majalla" pitchFamily="34" charset="0"/>
                <a:ea typeface="Sakkal Majalla" pitchFamily="34" charset="-122"/>
                <a:cs typeface="Sakkal Majalla" pitchFamily="34" charset="-120"/>
              </a:rPr>
              <a:t>حاول مرة أخرى</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تذكّر درس الرسم الرقمي</a:t>
            </a:r>
            <a:endParaRPr lang="ar-OM" sz="2200" dirty="0"/>
          </a:p>
        </p:txBody>
      </p:sp>
      <p:sp>
        <p:nvSpPr>
          <p:cNvPr id="4" name="nav-btn"/>
          <p:cNvSpPr/>
          <p:nvPr/>
        </p:nvSpPr>
        <p:spPr>
          <a:xfrm>
            <a:off x="3063240" y="3154680"/>
            <a:ext cx="3017520" cy="594360"/>
          </a:xfrm>
          <a:prstGeom prst="roundRect">
            <a:avLst>
              <a:gd name="adj" fmla="val 49231"/>
            </a:avLst>
          </a:prstGeom>
          <a:solidFill>
            <a:srgbClr val="F7941D"/>
          </a:solidFill>
          <a:ln/>
        </p:spPr>
        <p:txBody>
          <a:bodyPr wrap="square" lIns="0" tIns="0" rIns="0"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حاول مرة أخرى</a:t>
            </a:r>
            <a:endParaRPr lang="ar-OM" sz="2200" dirty="0"/>
          </a:p>
        </p:txBody>
      </p:sp>
      <p:pic>
        <p:nvPicPr>
          <p:cNvPr id="5" name="NAV_back" descr="عودة إلى السؤال">
            <a:hlinkClick r:id="rId3" action="ppaction://hlinksldjump" tooltip=" "/>
          </p:cNvPr>
          <p:cNvPicPr>
            <a:picLocks noChangeAspect="1"/>
          </p:cNvPicPr>
          <p:nvPr/>
        </p:nvPicPr>
        <p:blipFill>
          <a:blip r:embed="rId4"/>
          <a:stretch>
            <a:fillRect/>
          </a:stretch>
        </p:blipFill>
        <p:spPr>
          <a:xfrm>
            <a:off x="3063240" y="3154680"/>
            <a:ext cx="3017520" cy="594360"/>
          </a:xfrm>
          <a:prstGeom prst="rect">
            <a:avLst/>
          </a:prstGeom>
        </p:spPr>
      </p:pic>
    </p:spTree>
  </p:cSld>
  <p:clrMapOvr>
    <a:masterClrMapping/>
  </p:clrMapOvr>
  <p:transition spd="med" advClick="0">
    <p:fade/>
  </p:transition>
</p:sld>
</file>

<file path=ppt/slides/slide28.xml><?xml version="1.0" encoding="utf-8"?>
<p:sld xmlns:a="http://schemas.openxmlformats.org/drawingml/2006/main" xmlns:r="http://schemas.openxmlformats.org/officeDocument/2006/relationships" xmlns:p="http://schemas.openxmlformats.org/presentationml/2006/main" show="0">
  <p:cSld name="Slide 28">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7AC143"/>
                </a:solidFill>
                <a:latin typeface="Sakkal Majalla" pitchFamily="34" charset="0"/>
                <a:ea typeface="Sakkal Majalla" pitchFamily="34" charset="-122"/>
                <a:cs typeface="Sakkal Majalla" pitchFamily="34" charset="-120"/>
              </a:rPr>
              <a:t>ممتاز!</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نبدأ من زر ابدأ لنفتح الرسّام</a:t>
            </a:r>
            <a:endParaRPr lang="ar-OM" sz="2200" dirty="0"/>
          </a:p>
        </p:txBody>
      </p:sp>
      <p:sp>
        <p:nvSpPr>
          <p:cNvPr id="4" name="nav-btn"/>
          <p:cNvSpPr/>
          <p:nvPr/>
        </p:nvSpPr>
        <p:spPr>
          <a:xfrm>
            <a:off x="3383280" y="3154680"/>
            <a:ext cx="2377440" cy="594360"/>
          </a:xfrm>
          <a:prstGeom prst="roundRect">
            <a:avLst>
              <a:gd name="adj" fmla="val 49231"/>
            </a:avLst>
          </a:prstGeom>
          <a:solidFill>
            <a:srgbClr val="5B2C83"/>
          </a:solidFill>
          <a:ln/>
        </p:spPr>
        <p:txBody>
          <a:bodyPr wrap="square" lIns="0" tIns="1270" rIns="6985"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التالي</a:t>
            </a:r>
            <a:endParaRPr lang="ar-OM" sz="2200" dirty="0"/>
          </a:p>
        </p:txBody>
      </p:sp>
      <p:pic>
        <p:nvPicPr>
          <p:cNvPr id="5" name="nav-icon" descr="preencoded.png"/>
          <p:cNvPicPr>
            <a:picLocks noChangeAspect="1"/>
          </p:cNvPicPr>
          <p:nvPr/>
        </p:nvPicPr>
        <p:blipFill>
          <a:blip r:embed="rId3"/>
          <a:stretch>
            <a:fillRect/>
          </a:stretch>
        </p:blipFill>
        <p:spPr>
          <a:xfrm>
            <a:off x="3566160" y="3310128"/>
            <a:ext cx="283464" cy="283464"/>
          </a:xfrm>
          <a:prstGeom prst="rect">
            <a:avLst/>
          </a:prstGeom>
        </p:spPr>
      </p:pic>
      <p:pic>
        <p:nvPicPr>
          <p:cNvPr id="6" name="NAV_next" descr="التالي">
            <a:hlinkClick r:id="rId4" action="ppaction://hlinksldjump" tooltip=" "/>
          </p:cNvPr>
          <p:cNvPicPr>
            <a:picLocks noChangeAspect="1"/>
          </p:cNvPicPr>
          <p:nvPr/>
        </p:nvPicPr>
        <p:blipFill>
          <a:blip r:embed="rId5"/>
          <a:stretch>
            <a:fillRect/>
          </a:stretch>
        </p:blipFill>
        <p:spPr>
          <a:xfrm>
            <a:off x="3383280" y="3154680"/>
            <a:ext cx="2377440" cy="594360"/>
          </a:xfrm>
          <a:prstGeom prst="rect">
            <a:avLst/>
          </a:prstGeom>
        </p:spPr>
      </p:pic>
    </p:spTree>
  </p:cSld>
  <p:clrMapOvr>
    <a:masterClrMapping/>
  </p:clrMapOvr>
  <p:transition spd="med" advClick="0">
    <p:fade/>
  </p:transition>
</p:sld>
</file>

<file path=ppt/slides/slide29.xml><?xml version="1.0" encoding="utf-8"?>
<p:sld xmlns:a="http://schemas.openxmlformats.org/drawingml/2006/main" xmlns:r="http://schemas.openxmlformats.org/officeDocument/2006/relationships" xmlns:p="http://schemas.openxmlformats.org/presentationml/2006/main" show="0">
  <p:cSld name="Slide 29">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F7941D"/>
                </a:solidFill>
                <a:latin typeface="Sakkal Majalla" pitchFamily="34" charset="0"/>
                <a:ea typeface="Sakkal Majalla" pitchFamily="34" charset="-122"/>
                <a:cs typeface="Sakkal Majalla" pitchFamily="34" charset="-120"/>
              </a:rPr>
              <a:t>حاول مرة أخرى</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ابحث عن الزر في أسفل الشاشة</a:t>
            </a:r>
            <a:endParaRPr lang="ar-OM" sz="2200" dirty="0"/>
          </a:p>
        </p:txBody>
      </p:sp>
      <p:sp>
        <p:nvSpPr>
          <p:cNvPr id="4" name="nav-btn"/>
          <p:cNvSpPr/>
          <p:nvPr/>
        </p:nvSpPr>
        <p:spPr>
          <a:xfrm>
            <a:off x="3063240" y="3154680"/>
            <a:ext cx="3017520" cy="594360"/>
          </a:xfrm>
          <a:prstGeom prst="roundRect">
            <a:avLst>
              <a:gd name="adj" fmla="val 49231"/>
            </a:avLst>
          </a:prstGeom>
          <a:solidFill>
            <a:srgbClr val="F7941D"/>
          </a:solidFill>
          <a:ln/>
        </p:spPr>
        <p:txBody>
          <a:bodyPr wrap="square" lIns="0" tIns="0" rIns="0"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حاول مرة أخرى</a:t>
            </a:r>
            <a:endParaRPr lang="ar-OM" sz="2200" dirty="0"/>
          </a:p>
        </p:txBody>
      </p:sp>
      <p:pic>
        <p:nvPicPr>
          <p:cNvPr id="5" name="NAV_back" descr="عودة إلى السؤال">
            <a:hlinkClick r:id="rId3" action="ppaction://hlinksldjump" tooltip=" "/>
          </p:cNvPr>
          <p:cNvPicPr>
            <a:picLocks noChangeAspect="1"/>
          </p:cNvPicPr>
          <p:nvPr/>
        </p:nvPicPr>
        <p:blipFill>
          <a:blip r:embed="rId4"/>
          <a:stretch>
            <a:fillRect/>
          </a:stretch>
        </p:blipFill>
        <p:spPr>
          <a:xfrm>
            <a:off x="3063240" y="3154680"/>
            <a:ext cx="3017520" cy="594360"/>
          </a:xfrm>
          <a:prstGeom prst="rect">
            <a:avLst/>
          </a:prstGeom>
        </p:spPr>
      </p:pic>
    </p:spTree>
  </p:cSld>
  <p:clrMapOvr>
    <a:masterClrMapping/>
  </p:clrMapOvr>
  <p:transition spd="med" advClick="0">
    <p:fade/>
  </p:transition>
</p:sld>
</file>

<file path=ppt/slides/slide30.xml><?xml version="1.0" encoding="utf-8"?>
<p:sld xmlns:a="http://schemas.openxmlformats.org/drawingml/2006/main" xmlns:r="http://schemas.openxmlformats.org/officeDocument/2006/relationships" xmlns:p="http://schemas.openxmlformats.org/presentationml/2006/main" show="0">
  <p:cSld name="Slide 30">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7AC143"/>
                </a:solidFill>
                <a:latin typeface="Sakkal Majalla" pitchFamily="34" charset="0"/>
                <a:ea typeface="Sakkal Majalla" pitchFamily="34" charset="-122"/>
                <a:cs typeface="Sakkal Majalla" pitchFamily="34" charset="-120"/>
              </a:rPr>
              <a:t>إجابة صحيحة!</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أداة التعبئة تملأ الشكل باللون</a:t>
            </a:r>
            <a:endParaRPr lang="ar-OM" sz="2200" dirty="0"/>
          </a:p>
        </p:txBody>
      </p:sp>
      <p:sp>
        <p:nvSpPr>
          <p:cNvPr id="4" name="nav-btn"/>
          <p:cNvSpPr/>
          <p:nvPr/>
        </p:nvSpPr>
        <p:spPr>
          <a:xfrm>
            <a:off x="3383280" y="3154680"/>
            <a:ext cx="2377440" cy="594360"/>
          </a:xfrm>
          <a:prstGeom prst="roundRect">
            <a:avLst>
              <a:gd name="adj" fmla="val 49231"/>
            </a:avLst>
          </a:prstGeom>
          <a:solidFill>
            <a:srgbClr val="5B2C83"/>
          </a:solidFill>
          <a:ln/>
        </p:spPr>
        <p:txBody>
          <a:bodyPr wrap="square" lIns="0" tIns="1270" rIns="6985"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التالي</a:t>
            </a:r>
            <a:endParaRPr lang="ar-OM" sz="2200" dirty="0"/>
          </a:p>
        </p:txBody>
      </p:sp>
      <p:pic>
        <p:nvPicPr>
          <p:cNvPr id="5" name="nav-icon" descr="preencoded.png"/>
          <p:cNvPicPr>
            <a:picLocks noChangeAspect="1"/>
          </p:cNvPicPr>
          <p:nvPr/>
        </p:nvPicPr>
        <p:blipFill>
          <a:blip r:embed="rId3"/>
          <a:stretch>
            <a:fillRect/>
          </a:stretch>
        </p:blipFill>
        <p:spPr>
          <a:xfrm>
            <a:off x="3566160" y="3310128"/>
            <a:ext cx="283464" cy="283464"/>
          </a:xfrm>
          <a:prstGeom prst="rect">
            <a:avLst/>
          </a:prstGeom>
        </p:spPr>
      </p:pic>
      <p:pic>
        <p:nvPicPr>
          <p:cNvPr id="6" name="NAV_next" descr="التالي">
            <a:hlinkClick r:id="rId4" action="ppaction://hlinksldjump" tooltip=" "/>
          </p:cNvPr>
          <p:cNvPicPr>
            <a:picLocks noChangeAspect="1"/>
          </p:cNvPicPr>
          <p:nvPr/>
        </p:nvPicPr>
        <p:blipFill>
          <a:blip r:embed="rId5"/>
          <a:stretch>
            <a:fillRect/>
          </a:stretch>
        </p:blipFill>
        <p:spPr>
          <a:xfrm>
            <a:off x="3383280" y="3154680"/>
            <a:ext cx="2377440" cy="594360"/>
          </a:xfrm>
          <a:prstGeom prst="rect">
            <a:avLst/>
          </a:prstGeom>
        </p:spPr>
      </p:pic>
    </p:spTree>
  </p:cSld>
  <p:clrMapOvr>
    <a:masterClrMapping/>
  </p:clrMapOvr>
  <p:transition spd="med" advClick="0">
    <p:fade/>
  </p:transition>
</p:sld>
</file>

<file path=ppt/slides/slide31.xml><?xml version="1.0" encoding="utf-8"?>
<p:sld xmlns:a="http://schemas.openxmlformats.org/drawingml/2006/main" xmlns:r="http://schemas.openxmlformats.org/officeDocument/2006/relationships" xmlns:p="http://schemas.openxmlformats.org/presentationml/2006/main" show="0">
  <p:cSld name="Slide 31">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F7941D"/>
                </a:solidFill>
                <a:latin typeface="Sakkal Majalla" pitchFamily="34" charset="0"/>
                <a:ea typeface="Sakkal Majalla" pitchFamily="34" charset="-122"/>
                <a:cs typeface="Sakkal Majalla" pitchFamily="34" charset="-120"/>
              </a:rPr>
              <a:t>حاول مرة أخرى</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أيّ أداة تشبه الدلو؟</a:t>
            </a:r>
            <a:endParaRPr lang="ar-OM" sz="2200" dirty="0"/>
          </a:p>
        </p:txBody>
      </p:sp>
      <p:sp>
        <p:nvSpPr>
          <p:cNvPr id="4" name="nav-btn"/>
          <p:cNvSpPr/>
          <p:nvPr/>
        </p:nvSpPr>
        <p:spPr>
          <a:xfrm>
            <a:off x="3063240" y="3154680"/>
            <a:ext cx="3017520" cy="594360"/>
          </a:xfrm>
          <a:prstGeom prst="roundRect">
            <a:avLst>
              <a:gd name="adj" fmla="val 49231"/>
            </a:avLst>
          </a:prstGeom>
          <a:solidFill>
            <a:srgbClr val="F7941D"/>
          </a:solidFill>
          <a:ln/>
        </p:spPr>
        <p:txBody>
          <a:bodyPr wrap="square" lIns="0" tIns="0" rIns="0"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حاول مرة أخرى</a:t>
            </a:r>
            <a:endParaRPr lang="ar-OM" sz="2200" dirty="0"/>
          </a:p>
        </p:txBody>
      </p:sp>
      <p:pic>
        <p:nvPicPr>
          <p:cNvPr id="5" name="NAV_back" descr="عودة إلى السؤال">
            <a:hlinkClick r:id="rId3" action="ppaction://hlinksldjump" tooltip=" "/>
          </p:cNvPr>
          <p:cNvPicPr>
            <a:picLocks noChangeAspect="1"/>
          </p:cNvPicPr>
          <p:nvPr/>
        </p:nvPicPr>
        <p:blipFill>
          <a:blip r:embed="rId4"/>
          <a:stretch>
            <a:fillRect/>
          </a:stretch>
        </p:blipFill>
        <p:spPr>
          <a:xfrm>
            <a:off x="3063240" y="3154680"/>
            <a:ext cx="3017520" cy="594360"/>
          </a:xfrm>
          <a:prstGeom prst="rect">
            <a:avLst/>
          </a:prstGeom>
        </p:spPr>
      </p:pic>
    </p:spTree>
  </p:cSld>
  <p:clrMapOvr>
    <a:masterClrMapping/>
  </p:clrMapOvr>
  <p:transition spd="med" advClick="0">
    <p:fade/>
  </p:transition>
</p:sld>
</file>

<file path=ppt/slides/slide32.xml><?xml version="1.0" encoding="utf-8"?>
<p:sld xmlns:a="http://schemas.openxmlformats.org/drawingml/2006/main" xmlns:r="http://schemas.openxmlformats.org/officeDocument/2006/relationships" xmlns:p="http://schemas.openxmlformats.org/presentationml/2006/main" show="0">
  <p:cSld name="Slide 32">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7AC143"/>
                </a:solidFill>
                <a:latin typeface="Sakkal Majalla" pitchFamily="34" charset="0"/>
                <a:ea typeface="Sakkal Majalla" pitchFamily="34" charset="-122"/>
                <a:cs typeface="Sakkal Majalla" pitchFamily="34" charset="-120"/>
              </a:rPr>
              <a:t>أحسنت!</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ننقر ونسحب ثم نُفلت زر الفأرة</a:t>
            </a:r>
            <a:endParaRPr lang="ar-OM" sz="2200" dirty="0"/>
          </a:p>
        </p:txBody>
      </p:sp>
      <p:sp>
        <p:nvSpPr>
          <p:cNvPr id="4" name="nav-btn"/>
          <p:cNvSpPr/>
          <p:nvPr/>
        </p:nvSpPr>
        <p:spPr>
          <a:xfrm>
            <a:off x="3383280" y="3154680"/>
            <a:ext cx="2377440" cy="594360"/>
          </a:xfrm>
          <a:prstGeom prst="roundRect">
            <a:avLst>
              <a:gd name="adj" fmla="val 49231"/>
            </a:avLst>
          </a:prstGeom>
          <a:solidFill>
            <a:srgbClr val="5B2C83"/>
          </a:solidFill>
          <a:ln/>
        </p:spPr>
        <p:txBody>
          <a:bodyPr wrap="square" lIns="0" tIns="1270" rIns="6985"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التالي</a:t>
            </a:r>
            <a:endParaRPr lang="ar-OM" sz="2200" dirty="0"/>
          </a:p>
        </p:txBody>
      </p:sp>
      <p:pic>
        <p:nvPicPr>
          <p:cNvPr id="5" name="nav-icon" descr="preencoded.png"/>
          <p:cNvPicPr>
            <a:picLocks noChangeAspect="1"/>
          </p:cNvPicPr>
          <p:nvPr/>
        </p:nvPicPr>
        <p:blipFill>
          <a:blip r:embed="rId3"/>
          <a:stretch>
            <a:fillRect/>
          </a:stretch>
        </p:blipFill>
        <p:spPr>
          <a:xfrm>
            <a:off x="3566160" y="3310128"/>
            <a:ext cx="283464" cy="283464"/>
          </a:xfrm>
          <a:prstGeom prst="rect">
            <a:avLst/>
          </a:prstGeom>
        </p:spPr>
      </p:pic>
      <p:pic>
        <p:nvPicPr>
          <p:cNvPr id="6" name="NAV_next" descr="التالي">
            <a:hlinkClick r:id="rId4" action="ppaction://hlinksldjump" tooltip=" "/>
          </p:cNvPr>
          <p:cNvPicPr>
            <a:picLocks noChangeAspect="1"/>
          </p:cNvPicPr>
          <p:nvPr/>
        </p:nvPicPr>
        <p:blipFill>
          <a:blip r:embed="rId5"/>
          <a:stretch>
            <a:fillRect/>
          </a:stretch>
        </p:blipFill>
        <p:spPr>
          <a:xfrm>
            <a:off x="3383280" y="3154680"/>
            <a:ext cx="2377440" cy="594360"/>
          </a:xfrm>
          <a:prstGeom prst="rect">
            <a:avLst/>
          </a:prstGeom>
        </p:spPr>
      </p:pic>
    </p:spTree>
  </p:cSld>
  <p:clrMapOvr>
    <a:masterClrMapping/>
  </p:clrMapOvr>
  <p:transition spd="med" advClick="0">
    <p:fade/>
  </p:transition>
</p:sld>
</file>

<file path=ppt/slides/slide33.xml><?xml version="1.0" encoding="utf-8"?>
<p:sld xmlns:a="http://schemas.openxmlformats.org/drawingml/2006/main" xmlns:r="http://schemas.openxmlformats.org/officeDocument/2006/relationships" xmlns:p="http://schemas.openxmlformats.org/presentationml/2006/main" show="0">
  <p:cSld name="Slide 33">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F7941D"/>
                </a:solidFill>
                <a:latin typeface="Sakkal Majalla" pitchFamily="34" charset="0"/>
                <a:ea typeface="Sakkal Majalla" pitchFamily="34" charset="-122"/>
                <a:cs typeface="Sakkal Majalla" pitchFamily="34" charset="-120"/>
              </a:rPr>
              <a:t>حاول مرة أخرى</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كيف نحرّك الفأرة لنرسم؟</a:t>
            </a:r>
            <a:endParaRPr lang="ar-OM" sz="2200" dirty="0"/>
          </a:p>
        </p:txBody>
      </p:sp>
      <p:sp>
        <p:nvSpPr>
          <p:cNvPr id="4" name="nav-btn"/>
          <p:cNvSpPr/>
          <p:nvPr/>
        </p:nvSpPr>
        <p:spPr>
          <a:xfrm>
            <a:off x="3063240" y="3154680"/>
            <a:ext cx="3017520" cy="594360"/>
          </a:xfrm>
          <a:prstGeom prst="roundRect">
            <a:avLst>
              <a:gd name="adj" fmla="val 49231"/>
            </a:avLst>
          </a:prstGeom>
          <a:solidFill>
            <a:srgbClr val="F7941D"/>
          </a:solidFill>
          <a:ln/>
        </p:spPr>
        <p:txBody>
          <a:bodyPr wrap="square" lIns="0" tIns="0" rIns="0"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حاول مرة أخرى</a:t>
            </a:r>
            <a:endParaRPr lang="ar-OM" sz="2200" dirty="0"/>
          </a:p>
        </p:txBody>
      </p:sp>
      <p:pic>
        <p:nvPicPr>
          <p:cNvPr id="5" name="NAV_back" descr="عودة إلى السؤال">
            <a:hlinkClick r:id="rId3" action="ppaction://hlinksldjump" tooltip=" "/>
          </p:cNvPr>
          <p:cNvPicPr>
            <a:picLocks noChangeAspect="1"/>
          </p:cNvPicPr>
          <p:nvPr/>
        </p:nvPicPr>
        <p:blipFill>
          <a:blip r:embed="rId4"/>
          <a:stretch>
            <a:fillRect/>
          </a:stretch>
        </p:blipFill>
        <p:spPr>
          <a:xfrm>
            <a:off x="3063240" y="3154680"/>
            <a:ext cx="3017520" cy="594360"/>
          </a:xfrm>
          <a:prstGeom prst="rect">
            <a:avLst/>
          </a:prstGeom>
        </p:spPr>
      </p:pic>
    </p:spTree>
  </p:cSld>
  <p:clrMapOvr>
    <a:masterClrMapping/>
  </p:clrMapOvr>
  <p:transition spd="med" advClick="0">
    <p:fade/>
  </p:transition>
</p:sld>
</file>

<file path=ppt/slides/slide34.xml><?xml version="1.0" encoding="utf-8"?>
<p:sld xmlns:a="http://schemas.openxmlformats.org/drawingml/2006/main" xmlns:r="http://schemas.openxmlformats.org/officeDocument/2006/relationships" xmlns:p="http://schemas.openxmlformats.org/presentationml/2006/main" show="0">
  <p:cSld name="Slide 34">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7AC143"/>
                </a:solidFill>
                <a:latin typeface="Sakkal Majalla" pitchFamily="34" charset="0"/>
                <a:ea typeface="Sakkal Majalla" pitchFamily="34" charset="-122"/>
                <a:cs typeface="Sakkal Majalla" pitchFamily="34" charset="-120"/>
              </a:rPr>
              <a:t>عبقري!</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زر التراجع يُلغي آخر خطوة</a:t>
            </a:r>
            <a:endParaRPr lang="ar-OM" sz="2200" dirty="0"/>
          </a:p>
        </p:txBody>
      </p:sp>
      <p:sp>
        <p:nvSpPr>
          <p:cNvPr id="4" name="nav-btn"/>
          <p:cNvSpPr/>
          <p:nvPr/>
        </p:nvSpPr>
        <p:spPr>
          <a:xfrm>
            <a:off x="3383280" y="3154680"/>
            <a:ext cx="2377440" cy="594360"/>
          </a:xfrm>
          <a:prstGeom prst="roundRect">
            <a:avLst>
              <a:gd name="adj" fmla="val 49231"/>
            </a:avLst>
          </a:prstGeom>
          <a:solidFill>
            <a:srgbClr val="5B2C83"/>
          </a:solidFill>
          <a:ln/>
        </p:spPr>
        <p:txBody>
          <a:bodyPr wrap="square" lIns="0" tIns="1270" rIns="6985"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التالي</a:t>
            </a:r>
            <a:endParaRPr lang="ar-OM" sz="2200" dirty="0"/>
          </a:p>
        </p:txBody>
      </p:sp>
      <p:pic>
        <p:nvPicPr>
          <p:cNvPr id="5" name="nav-icon" descr="preencoded.png"/>
          <p:cNvPicPr>
            <a:picLocks noChangeAspect="1"/>
          </p:cNvPicPr>
          <p:nvPr/>
        </p:nvPicPr>
        <p:blipFill>
          <a:blip r:embed="rId3"/>
          <a:stretch>
            <a:fillRect/>
          </a:stretch>
        </p:blipFill>
        <p:spPr>
          <a:xfrm>
            <a:off x="3566160" y="3310128"/>
            <a:ext cx="283464" cy="283464"/>
          </a:xfrm>
          <a:prstGeom prst="rect">
            <a:avLst/>
          </a:prstGeom>
        </p:spPr>
      </p:pic>
      <p:pic>
        <p:nvPicPr>
          <p:cNvPr id="6" name="NAV_next" descr="التالي">
            <a:hlinkClick r:id="rId4" action="ppaction://hlinksldjump" tooltip=" "/>
          </p:cNvPr>
          <p:cNvPicPr>
            <a:picLocks noChangeAspect="1"/>
          </p:cNvPicPr>
          <p:nvPr/>
        </p:nvPicPr>
        <p:blipFill>
          <a:blip r:embed="rId5"/>
          <a:stretch>
            <a:fillRect/>
          </a:stretch>
        </p:blipFill>
        <p:spPr>
          <a:xfrm>
            <a:off x="3383280" y="3154680"/>
            <a:ext cx="2377440" cy="594360"/>
          </a:xfrm>
          <a:prstGeom prst="rect">
            <a:avLst/>
          </a:prstGeom>
        </p:spPr>
      </p:pic>
    </p:spTree>
  </p:cSld>
  <p:clrMapOvr>
    <a:masterClrMapping/>
  </p:clrMapOvr>
  <p:transition spd="med" advClick="0">
    <p:fade/>
  </p:transition>
</p:sld>
</file>

<file path=ppt/slides/slide35.xml><?xml version="1.0" encoding="utf-8"?>
<p:sld xmlns:a="http://schemas.openxmlformats.org/drawingml/2006/main" xmlns:r="http://schemas.openxmlformats.org/officeDocument/2006/relationships" xmlns:p="http://schemas.openxmlformats.org/presentationml/2006/main" show="0">
  <p:cSld name="Slide 35">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F7941D"/>
                </a:solidFill>
                <a:latin typeface="Sakkal Majalla" pitchFamily="34" charset="0"/>
                <a:ea typeface="Sakkal Majalla" pitchFamily="34" charset="-122"/>
                <a:cs typeface="Sakkal Majalla" pitchFamily="34" charset="-120"/>
              </a:rPr>
              <a:t>حاول مرة أخرى</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أيّ سهم يرجع إلى الخلف؟</a:t>
            </a:r>
            <a:endParaRPr lang="ar-OM" sz="2200" dirty="0"/>
          </a:p>
        </p:txBody>
      </p:sp>
      <p:sp>
        <p:nvSpPr>
          <p:cNvPr id="4" name="nav-btn"/>
          <p:cNvSpPr/>
          <p:nvPr/>
        </p:nvSpPr>
        <p:spPr>
          <a:xfrm>
            <a:off x="3063240" y="3154680"/>
            <a:ext cx="3017520" cy="594360"/>
          </a:xfrm>
          <a:prstGeom prst="roundRect">
            <a:avLst>
              <a:gd name="adj" fmla="val 49231"/>
            </a:avLst>
          </a:prstGeom>
          <a:solidFill>
            <a:srgbClr val="F7941D"/>
          </a:solidFill>
          <a:ln/>
        </p:spPr>
        <p:txBody>
          <a:bodyPr wrap="square" lIns="0" tIns="0" rIns="0"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حاول مرة أخرى</a:t>
            </a:r>
            <a:endParaRPr lang="ar-OM" sz="2200" dirty="0"/>
          </a:p>
        </p:txBody>
      </p:sp>
      <p:pic>
        <p:nvPicPr>
          <p:cNvPr id="5" name="NAV_back" descr="عودة إلى السؤال">
            <a:hlinkClick r:id="rId3" action="ppaction://hlinksldjump" tooltip=" "/>
          </p:cNvPr>
          <p:cNvPicPr>
            <a:picLocks noChangeAspect="1"/>
          </p:cNvPicPr>
          <p:nvPr/>
        </p:nvPicPr>
        <p:blipFill>
          <a:blip r:embed="rId4"/>
          <a:stretch>
            <a:fillRect/>
          </a:stretch>
        </p:blipFill>
        <p:spPr>
          <a:xfrm>
            <a:off x="3063240" y="3154680"/>
            <a:ext cx="3017520" cy="594360"/>
          </a:xfrm>
          <a:prstGeom prst="rect">
            <a:avLst/>
          </a:prstGeom>
        </p:spPr>
      </p:pic>
    </p:spTree>
  </p:cSld>
  <p:clrMapOvr>
    <a:masterClrMapping/>
  </p:clrMapOvr>
  <p:transition spd="med" advClick="0">
    <p:fade/>
  </p:transition>
</p:sld>
</file>

<file path=ppt/slides/slide36.xml><?xml version="1.0" encoding="utf-8"?>
<p:sld xmlns:a="http://schemas.openxmlformats.org/drawingml/2006/main" xmlns:r="http://schemas.openxmlformats.org/officeDocument/2006/relationships" xmlns:p="http://schemas.openxmlformats.org/presentationml/2006/main" show="0">
  <p:cSld name="Slide 36">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7AC143"/>
                </a:solidFill>
                <a:latin typeface="Sakkal Majalla" pitchFamily="34" charset="0"/>
                <a:ea typeface="Sakkal Majalla" pitchFamily="34" charset="-122"/>
                <a:cs typeface="Sakkal Majalla" pitchFamily="34" charset="-120"/>
              </a:rPr>
              <a:t>بطل!</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الدائرة مملوءة باللون الأخضر</a:t>
            </a:r>
            <a:endParaRPr lang="ar-OM" sz="2200" dirty="0"/>
          </a:p>
        </p:txBody>
      </p:sp>
      <p:sp>
        <p:nvSpPr>
          <p:cNvPr id="4" name="nav-btn"/>
          <p:cNvSpPr/>
          <p:nvPr/>
        </p:nvSpPr>
        <p:spPr>
          <a:xfrm>
            <a:off x="3383280" y="3154680"/>
            <a:ext cx="2377440" cy="594360"/>
          </a:xfrm>
          <a:prstGeom prst="roundRect">
            <a:avLst>
              <a:gd name="adj" fmla="val 49231"/>
            </a:avLst>
          </a:prstGeom>
          <a:solidFill>
            <a:srgbClr val="5B2C83"/>
          </a:solidFill>
          <a:ln/>
        </p:spPr>
        <p:txBody>
          <a:bodyPr wrap="square" lIns="0" tIns="1270" rIns="6985"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التالي</a:t>
            </a:r>
            <a:endParaRPr lang="ar-OM" sz="2200" dirty="0"/>
          </a:p>
        </p:txBody>
      </p:sp>
      <p:pic>
        <p:nvPicPr>
          <p:cNvPr id="5" name="nav-icon" descr="preencoded.png"/>
          <p:cNvPicPr>
            <a:picLocks noChangeAspect="1"/>
          </p:cNvPicPr>
          <p:nvPr/>
        </p:nvPicPr>
        <p:blipFill>
          <a:blip r:embed="rId3"/>
          <a:stretch>
            <a:fillRect/>
          </a:stretch>
        </p:blipFill>
        <p:spPr>
          <a:xfrm>
            <a:off x="3566160" y="3310128"/>
            <a:ext cx="283464" cy="283464"/>
          </a:xfrm>
          <a:prstGeom prst="rect">
            <a:avLst/>
          </a:prstGeom>
        </p:spPr>
      </p:pic>
      <p:pic>
        <p:nvPicPr>
          <p:cNvPr id="6" name="NAV_next" descr="التالي">
            <a:hlinkClick r:id="rId4" action="ppaction://hlinksldjump" tooltip=" "/>
          </p:cNvPr>
          <p:cNvPicPr>
            <a:picLocks noChangeAspect="1"/>
          </p:cNvPicPr>
          <p:nvPr/>
        </p:nvPicPr>
        <p:blipFill>
          <a:blip r:embed="rId5"/>
          <a:stretch>
            <a:fillRect/>
          </a:stretch>
        </p:blipFill>
        <p:spPr>
          <a:xfrm>
            <a:off x="3383280" y="3154680"/>
            <a:ext cx="2377440" cy="594360"/>
          </a:xfrm>
          <a:prstGeom prst="rect">
            <a:avLst/>
          </a:prstGeom>
        </p:spPr>
      </p:pic>
    </p:spTree>
  </p:cSld>
  <p:clrMapOvr>
    <a:masterClrMapping/>
  </p:clrMapOvr>
  <p:transition spd="med" advClick="0">
    <p:fade/>
  </p:transition>
</p:sld>
</file>

<file path=ppt/slides/slide37.xml><?xml version="1.0" encoding="utf-8"?>
<p:sld xmlns:a="http://schemas.openxmlformats.org/drawingml/2006/main" xmlns:r="http://schemas.openxmlformats.org/officeDocument/2006/relationships" xmlns:p="http://schemas.openxmlformats.org/presentationml/2006/main" show="0">
  <p:cSld name="Slide 37">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F7941D"/>
                </a:solidFill>
                <a:latin typeface="Sakkal Majalla" pitchFamily="34" charset="0"/>
                <a:ea typeface="Sakkal Majalla" pitchFamily="34" charset="-122"/>
                <a:cs typeface="Sakkal Majalla" pitchFamily="34" charset="-120"/>
              </a:rPr>
              <a:t>حاول مرة أخرى</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انظر جيدًا إلى الدائرة</a:t>
            </a:r>
            <a:endParaRPr lang="ar-OM" sz="2200" dirty="0"/>
          </a:p>
        </p:txBody>
      </p:sp>
      <p:sp>
        <p:nvSpPr>
          <p:cNvPr id="4" name="nav-btn"/>
          <p:cNvSpPr/>
          <p:nvPr/>
        </p:nvSpPr>
        <p:spPr>
          <a:xfrm>
            <a:off x="3063240" y="3154680"/>
            <a:ext cx="3017520" cy="594360"/>
          </a:xfrm>
          <a:prstGeom prst="roundRect">
            <a:avLst>
              <a:gd name="adj" fmla="val 49231"/>
            </a:avLst>
          </a:prstGeom>
          <a:solidFill>
            <a:srgbClr val="F7941D"/>
          </a:solidFill>
          <a:ln/>
        </p:spPr>
        <p:txBody>
          <a:bodyPr wrap="square" lIns="0" tIns="0" rIns="0"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حاول مرة أخرى</a:t>
            </a:r>
            <a:endParaRPr lang="ar-OM" sz="2200" dirty="0"/>
          </a:p>
        </p:txBody>
      </p:sp>
      <p:pic>
        <p:nvPicPr>
          <p:cNvPr id="5" name="NAV_back" descr="عودة إلى السؤال">
            <a:hlinkClick r:id="rId3" action="ppaction://hlinksldjump" tooltip=" "/>
          </p:cNvPr>
          <p:cNvPicPr>
            <a:picLocks noChangeAspect="1"/>
          </p:cNvPicPr>
          <p:nvPr/>
        </p:nvPicPr>
        <p:blipFill>
          <a:blip r:embed="rId4"/>
          <a:stretch>
            <a:fillRect/>
          </a:stretch>
        </p:blipFill>
        <p:spPr>
          <a:xfrm>
            <a:off x="3063240" y="3154680"/>
            <a:ext cx="3017520" cy="594360"/>
          </a:xfrm>
          <a:prstGeom prst="rect">
            <a:avLst/>
          </a:prstGeom>
        </p:spPr>
      </p:pic>
    </p:spTree>
  </p:cSld>
  <p:clrMapOvr>
    <a:masterClrMapping/>
  </p:clrMapOvr>
  <p:transition spd="med" advClick="0">
    <p:fade/>
  </p:transition>
</p:sld>
</file>

<file path=ppt/slides/slide38.xml><?xml version="1.0" encoding="utf-8"?>
<p:sld xmlns:a="http://schemas.openxmlformats.org/drawingml/2006/main" xmlns:r="http://schemas.openxmlformats.org/officeDocument/2006/relationships" xmlns:p="http://schemas.openxmlformats.org/presentationml/2006/main" show="0">
  <p:cSld name="Slide 38">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7AC143"/>
                </a:solidFill>
                <a:latin typeface="Sakkal Majalla" pitchFamily="34" charset="0"/>
                <a:ea typeface="Sakkal Majalla" pitchFamily="34" charset="-122"/>
                <a:cs typeface="Sakkal Majalla" pitchFamily="34" charset="-120"/>
              </a:rPr>
              <a:t>أحسنت يا رسّام!</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نحفظ عملنا بالنقر على Save</a:t>
            </a:r>
            <a:endParaRPr lang="ar-OM" sz="2200" dirty="0"/>
          </a:p>
        </p:txBody>
      </p:sp>
      <p:sp>
        <p:nvSpPr>
          <p:cNvPr id="4" name="nav-btn"/>
          <p:cNvSpPr/>
          <p:nvPr/>
        </p:nvSpPr>
        <p:spPr>
          <a:xfrm>
            <a:off x="3383280" y="3154680"/>
            <a:ext cx="2377440" cy="594360"/>
          </a:xfrm>
          <a:prstGeom prst="roundRect">
            <a:avLst>
              <a:gd name="adj" fmla="val 49231"/>
            </a:avLst>
          </a:prstGeom>
          <a:solidFill>
            <a:srgbClr val="5B2C83"/>
          </a:solidFill>
          <a:ln/>
        </p:spPr>
        <p:txBody>
          <a:bodyPr wrap="square" lIns="0" tIns="1270" rIns="6985"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التالي</a:t>
            </a:r>
            <a:endParaRPr lang="ar-OM" sz="2200" dirty="0"/>
          </a:p>
        </p:txBody>
      </p:sp>
      <p:pic>
        <p:nvPicPr>
          <p:cNvPr id="5" name="nav-icon" descr="preencoded.png"/>
          <p:cNvPicPr>
            <a:picLocks noChangeAspect="1"/>
          </p:cNvPicPr>
          <p:nvPr/>
        </p:nvPicPr>
        <p:blipFill>
          <a:blip r:embed="rId3"/>
          <a:stretch>
            <a:fillRect/>
          </a:stretch>
        </p:blipFill>
        <p:spPr>
          <a:xfrm>
            <a:off x="3566160" y="3310128"/>
            <a:ext cx="283464" cy="283464"/>
          </a:xfrm>
          <a:prstGeom prst="rect">
            <a:avLst/>
          </a:prstGeom>
        </p:spPr>
      </p:pic>
      <p:pic>
        <p:nvPicPr>
          <p:cNvPr id="6" name="NAV_next" descr="التالي">
            <a:hlinkClick r:id="rId4" action="ppaction://hlinksldjump" tooltip=" "/>
          </p:cNvPr>
          <p:cNvPicPr>
            <a:picLocks noChangeAspect="1"/>
          </p:cNvPicPr>
          <p:nvPr/>
        </p:nvPicPr>
        <p:blipFill>
          <a:blip r:embed="rId5"/>
          <a:stretch>
            <a:fillRect/>
          </a:stretch>
        </p:blipFill>
        <p:spPr>
          <a:xfrm>
            <a:off x="3383280" y="3154680"/>
            <a:ext cx="2377440" cy="594360"/>
          </a:xfrm>
          <a:prstGeom prst="rect">
            <a:avLst/>
          </a:prstGeom>
        </p:spPr>
      </p:pic>
    </p:spTree>
  </p:cSld>
  <p:clrMapOvr>
    <a:masterClrMapping/>
  </p:clrMapOvr>
  <p:transition spd="med" advClick="0">
    <p:fade/>
  </p:transition>
</p:sld>
</file>

<file path=ppt/slides/slide39.xml><?xml version="1.0" encoding="utf-8"?>
<p:sld xmlns:a="http://schemas.openxmlformats.org/drawingml/2006/main" xmlns:r="http://schemas.openxmlformats.org/officeDocument/2006/relationships" xmlns:p="http://schemas.openxmlformats.org/presentationml/2006/main" show="0">
  <p:cSld name="Slide 39">
    <p:spTree>
      <p:nvGrpSpPr>
        <p:cNvPr id="1" name=""/>
        <p:cNvGrpSpPr/>
        <p:nvPr/>
      </p:nvGrpSpPr>
      <p:grpSpPr>
        <a:xfrm>
          <a:off x="0" y="0"/>
          <a:ext cx="0" cy="0"/>
          <a:chOff x="0" y="0"/>
          <a:chExt cx="0" cy="0"/>
        </a:xfrm>
      </p:grpSpPr>
      <p:sp>
        <p:nvSpPr>
          <p:cNvPr id="2" name="praise"/>
          <p:cNvSpPr txBox="1"/>
          <p:nvPr/>
        </p:nvSpPr>
        <p:spPr>
          <a:xfrm>
            <a:off x="2377440" y="1051560"/>
            <a:ext cx="4389120" cy="914400"/>
          </a:xfrm>
          <a:prstGeom prst="rect">
            <a:avLst/>
          </a:prstGeom>
          <a:noFill/>
          <a:ln/>
        </p:spPr>
        <p:txBody>
          <a:bodyPr wrap="square" lIns="0" tIns="0" rIns="0" bIns="0" rtlCol="0" anchor="ctr"/>
          <a:lstStyle/>
          <a:p>
            <a:pPr marL="0" indent="0" algn="ctr" rtl="1">
              <a:buNone/>
            </a:pPr>
            <a:r>
              <a:rPr lang="ar-OM" altLang="en-US" sz="5000" b="1" dirty="0">
                <a:solidFill>
                  <a:srgbClr val="F7941D"/>
                </a:solidFill>
                <a:latin typeface="Sakkal Majalla" pitchFamily="34" charset="0"/>
                <a:ea typeface="Sakkal Majalla" pitchFamily="34" charset="-122"/>
                <a:cs typeface="Sakkal Majalla" pitchFamily="34" charset="-120"/>
              </a:rPr>
              <a:t>حاول مرة أخرى</a:t>
            </a:r>
            <a:endParaRPr lang="ar-OM" sz="5000" dirty="0"/>
          </a:p>
        </p:txBody>
      </p:sp>
      <p:sp>
        <p:nvSpPr>
          <p:cNvPr id="3" name="praise-sub"/>
          <p:cNvSpPr txBox="1"/>
          <p:nvPr/>
        </p:nvSpPr>
        <p:spPr>
          <a:xfrm>
            <a:off x="2011680" y="2011680"/>
            <a:ext cx="5120640" cy="914400"/>
          </a:xfrm>
          <a:prstGeom prst="rect">
            <a:avLst/>
          </a:prstGeom>
          <a:noFill/>
          <a:ln/>
        </p:spPr>
        <p:txBody>
          <a:bodyPr wrap="square" lIns="0" tIns="0" rIns="0" bIns="0" rtlCol="0" anchor="ctr"/>
          <a:lstStyle/>
          <a:p>
            <a:pPr marL="0" indent="0" algn="ctr" rtl="1">
              <a:buNone/>
            </a:pPr>
            <a:r>
              <a:rPr lang="ar-OM" altLang="en-US" sz="2200" b="1" dirty="0">
                <a:solidFill>
                  <a:srgbClr val="5B2C83"/>
                </a:solidFill>
                <a:latin typeface="Tahoma" pitchFamily="34" charset="0"/>
                <a:ea typeface="Tahoma" pitchFamily="34" charset="-122"/>
                <a:cs typeface="Tahoma" pitchFamily="34" charset="-120"/>
              </a:rPr>
              <a:t>Save تعني: احفظ</a:t>
            </a:r>
            <a:endParaRPr lang="ar-OM" sz="2200" dirty="0"/>
          </a:p>
        </p:txBody>
      </p:sp>
      <p:sp>
        <p:nvSpPr>
          <p:cNvPr id="4" name="nav-btn"/>
          <p:cNvSpPr/>
          <p:nvPr/>
        </p:nvSpPr>
        <p:spPr>
          <a:xfrm>
            <a:off x="3063240" y="3154680"/>
            <a:ext cx="3017520" cy="594360"/>
          </a:xfrm>
          <a:prstGeom prst="roundRect">
            <a:avLst>
              <a:gd name="adj" fmla="val 49231"/>
            </a:avLst>
          </a:prstGeom>
          <a:solidFill>
            <a:srgbClr val="F7941D"/>
          </a:solidFill>
          <a:ln/>
        </p:spPr>
        <p:txBody>
          <a:bodyPr wrap="square" lIns="0" tIns="0" rIns="0" bIns="0" rtlCol="0" anchor="ctr"/>
          <a:lstStyle/>
          <a:p>
            <a:pPr marL="0" indent="0" algn="ctr" rtl="1">
              <a:buNone/>
            </a:pPr>
            <a:r>
              <a:rPr lang="ar-OM" altLang="en-US" sz="2200" b="1" dirty="0">
                <a:solidFill>
                  <a:srgbClr val="FFFFFF"/>
                </a:solidFill>
                <a:latin typeface="Tahoma" pitchFamily="34" charset="0"/>
                <a:ea typeface="Tahoma" pitchFamily="34" charset="-122"/>
                <a:cs typeface="Tahoma" pitchFamily="34" charset="-120"/>
              </a:rPr>
              <a:t>حاول مرة أخرى</a:t>
            </a:r>
            <a:endParaRPr lang="ar-OM" sz="2200" dirty="0"/>
          </a:p>
        </p:txBody>
      </p:sp>
      <p:pic>
        <p:nvPicPr>
          <p:cNvPr id="5" name="NAV_back" descr="عودة إلى السؤال">
            <a:hlinkClick r:id="rId3" action="ppaction://hlinksldjump" tooltip=" "/>
          </p:cNvPr>
          <p:cNvPicPr>
            <a:picLocks noChangeAspect="1"/>
          </p:cNvPicPr>
          <p:nvPr/>
        </p:nvPicPr>
        <p:blipFill>
          <a:blip r:embed="rId4"/>
          <a:stretch>
            <a:fillRect/>
          </a:stretch>
        </p:blipFill>
        <p:spPr>
          <a:xfrm>
            <a:off x="3063240" y="3154680"/>
            <a:ext cx="3017520" cy="594360"/>
          </a:xfrm>
          <a:prstGeom prst="rect">
            <a:avLst/>
          </a:prstGeom>
        </p:spPr>
      </p:pic>
    </p:spTree>
  </p:cSld>
  <p:clrMapOvr>
    <a:masterClrMapping/>
  </p:clrMapOvr>
  <p:transition spd="med" advClick="0">
    <p:fade/>
  </p:transition>
</p:sld>
</file>

<file path=ppt/theme/theme1.xml><?xml version="1.0" encoding="utf-8"?>
<a:theme xmlns:a="http://schemas.openxmlformats.org/drawingml/2006/main" name="Pixel Kids">
  <a:themeElements>
    <a:clrScheme name="Pixel Kids">
      <a:dk1>
        <a:srgbClr val="2D1B4E"/>
      </a:dk1>
      <a:lt1>
        <a:srgbClr val="FFFFFF"/>
      </a:lt1>
      <a:dk2>
        <a:srgbClr val="5B2C83"/>
      </a:dk2>
      <a:lt2>
        <a:srgbClr val="F8F6FF"/>
      </a:lt2>
      <a:accent1>
        <a:srgbClr val="F7941D"/>
      </a:accent1>
      <a:accent2>
        <a:srgbClr val="7AC143"/>
      </a:accent2>
      <a:accent3>
        <a:srgbClr val="29B6D1"/>
      </a:accent3>
      <a:accent4>
        <a:srgbClr val="EC4C8C"/>
      </a:accent4>
      <a:accent5>
        <a:srgbClr val="FFC928"/>
      </a:accent5>
      <a:accent6>
        <a:srgbClr val="E53935"/>
      </a:accent6>
      <a:hlink>
        <a:srgbClr val="29B6D1"/>
      </a:hlink>
      <a:folHlink>
        <a:srgbClr val="5B2C83"/>
      </a:folHlink>
    </a:clrScheme>
    <a:fontScheme name="Pixel Kids">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1021</Words>
  <Application>Microsoft Office PowerPoint</Application>
  <PresentationFormat>عرض على الشاشة (16:9)</PresentationFormat>
  <Paragraphs>237</Paragraphs>
  <Slides>39</Slides>
  <Notes>39</Notes>
  <HiddenSlides>14</HiddenSlides>
  <MMClips>4</MMClips>
  <ScaleCrop>false</ScaleCrop>
  <HeadingPairs>
    <vt:vector size="6" baseType="variant">
      <vt:variant>
        <vt:lpstr>الخطوط المستخدمة</vt:lpstr>
      </vt:variant>
      <vt:variant>
        <vt:i4>3</vt:i4>
      </vt:variant>
      <vt:variant>
        <vt:lpstr>نسق</vt:lpstr>
      </vt:variant>
      <vt:variant>
        <vt:i4>1</vt:i4>
      </vt:variant>
      <vt:variant>
        <vt:lpstr>عناوين الشرائح</vt:lpstr>
      </vt:variant>
      <vt:variant>
        <vt:i4>39</vt:i4>
      </vt:variant>
    </vt:vector>
  </HeadingPairs>
  <TitlesOfParts>
    <vt:vector size="43" baseType="lpstr">
      <vt:lpstr>Arial</vt:lpstr>
      <vt:lpstr>Sakkal Majalla</vt:lpstr>
      <vt:lpstr>Tahoma</vt:lpstr>
      <vt:lpstr>Pixel Kids</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الدرس 2.2: رسم الأشكال</dc:title>
  <dc:subject>PptxGenJS Presentation</dc:subject>
  <dc:creator>الأستاذة عبير صالح اليحمدية</dc:creator>
  <cp:lastModifiedBy>Abeer Alyahmadi</cp:lastModifiedBy>
  <cp:revision>2</cp:revision>
  <dcterms:created xsi:type="dcterms:W3CDTF">2026-10-19T05:27:56Z</dcterms:created>
  <dcterms:modified xsi:type="dcterms:W3CDTF">2026-10-19T05:49:32Z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15af2f3-15c0-42f7-aff1-8120ca254967_Enabled">
    <vt:lpwstr>true</vt:lpwstr>
  </property>
  <property fmtid="{D5CDD505-2E9C-101B-9397-08002B2CF9AE}" pid="3" name="MSIP_Label_c15af2f3-15c0-42f7-aff1-8120ca254967_SetDate">
    <vt:lpwstr>2026-10-19T05:49:30Z</vt:lpwstr>
  </property>
  <property fmtid="{D5CDD505-2E9C-101B-9397-08002B2CF9AE}" pid="4" name="MSIP_Label_c15af2f3-15c0-42f7-aff1-8120ca254967_Method">
    <vt:lpwstr>Standard</vt:lpwstr>
  </property>
  <property fmtid="{D5CDD505-2E9C-101B-9397-08002B2CF9AE}" pid="5" name="MSIP_Label_c15af2f3-15c0-42f7-aff1-8120ca254967_Name">
    <vt:lpwstr>defa4170-0d19-0005-0004-bc88714345d2</vt:lpwstr>
  </property>
  <property fmtid="{D5CDD505-2E9C-101B-9397-08002B2CF9AE}" pid="6" name="MSIP_Label_c15af2f3-15c0-42f7-aff1-8120ca254967_SiteId">
    <vt:lpwstr>04b4cb5d-cc41-401f-bd9d-4ca8a31a5c2f</vt:lpwstr>
  </property>
  <property fmtid="{D5CDD505-2E9C-101B-9397-08002B2CF9AE}" pid="7" name="MSIP_Label_c15af2f3-15c0-42f7-aff1-8120ca254967_ActionId">
    <vt:lpwstr>7774908d-5061-44de-bff6-a8aa377a0f15</vt:lpwstr>
  </property>
  <property fmtid="{D5CDD505-2E9C-101B-9397-08002B2CF9AE}" pid="8" name="MSIP_Label_c15af2f3-15c0-42f7-aff1-8120ca254967_ContentBits">
    <vt:lpwstr>0</vt:lpwstr>
  </property>
  <property fmtid="{D5CDD505-2E9C-101B-9397-08002B2CF9AE}" pid="9" name="MSIP_Label_c15af2f3-15c0-42f7-aff1-8120ca254967_Tag">
    <vt:lpwstr>10, 3, 0, 1</vt:lpwstr>
  </property>
</Properties>
</file>