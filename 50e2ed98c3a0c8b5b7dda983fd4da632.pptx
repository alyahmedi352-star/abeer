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نرحّب بالطلبة ونسألهم: لو كتبت عنوانًا لموضوع، كيف تجعله يلفت النظر؟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نقرأ الأهداف. يمكن النقر على أي هدف للانتقال إليه مباشرة. بعد كل هدف سؤال تفاعلي: الإجابة الصحيحة تفتح شريحة تصفيق ونجوم، والخاطئة تفتح شريحة «حاول مرة أخرى».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نطبّق الخطوات على الجهاز أمام الطلبة، ثم يعيدها طالب بصوت عالٍ.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يفكّر الطلبة 10 ثوانٍ، ثم يختار أحدهم الإجابة بالنقر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تعزيز: تصفيق ونجوم. نشجّع الطالب ونطلب منه شرح سبب إجابته.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بأس، نعود للسؤال ونفكّر مرة أخرى.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نعرض أدوات التنسيق في الصفحة الرئيسية ونسأل: أي أداة استخدمتموها من قبل؟ ثم نشاهد مقاطع الأدوات.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ننقر على أي أداة لمشاهدة مقطع قصير يوضح طريقة استخدامها، ثم نعود إلى هذه الشريحة.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على المقطع لتشغيله.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على المقطع لتشغيله.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على المقطع لتشغيله.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على المقطع لتشغيله.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على المقطع لتشغيله.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على المقطع لتشغيله.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على المقطع لتشغيله.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على المقطع لتشغيله.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نشير إلى كل أداة بالترتيب ويسمّيها طالب مختلف، ثم ننقر «اكشف الإجابات».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الإجابات مع تصفيق.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التحديد أولًا. النقر على غامق مرة ثانية يُلغي الغامق، فهو يعمل كمفتاح تشغيل وإيقاف.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يُجاب على كل عبارة وحدها. بعد شريحة التعزيز نعود للسؤال لإكمال العبارات.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تعزيز: تصفيق ونجوم. نشجّع الطالب ونطلب منه شرح سبب إجابته.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بأس، نعود للسؤال ونفكّر مرة أخرى.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بلا لون يزيل التمييز من نص محدد، وإيقاف التمييز يلغي تشغيل أداة التمييز نفسها.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خيار «إيقاف التمييز» مُشتِّت مقصود؛ نناقش لماذا لا يزيل اللون عن النص.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تعزيز: تصفيق ونجوم. نشجّع الطالب ونطلب منه شرح سبب إجابته.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بأس، نعود للسؤال ونفكّر مرة أخرى.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النصوص العربية نستخدم غالبًا المحاذاة لليمين. نذكّر: حدّد النص أولًا قبل أي تنسيق.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ننظر إلى أطراف الأسطر: أين تتساوى؟ يُجاب على كل فقرة وحدها.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تعزيز: تصفيق ونجوم. نشجّع الطالب ونطلب منه شرح سبب إجابته.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بأس، نعود للسؤال ونفكّر مرة أخرى.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نؤكد على عادة الحفظ المستمر. معلومة إضافية: الحفظ السريع بالضغط على Ctrl و S معًا.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بعد الإجابة يشير الطلبة إلى زر الحفظ على شاشاتهم.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تعزيز: تصفيق ونجوم. نشجّع الطالب ونطلب منه شرح سبب إجابته.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بأس، نعود للسؤال ونفكّر مرة أخرى.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يطبّق الطلبة كل ما تعلّموه على مستند «إعادة التدوير»، ونتابعهم بقائمة التحقق.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نراجع المحطات الست، ويعدّ الطلبة النجوم التي جمعوها، ثم يكتب كل طالب إجابته على بطاقة الخروج.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6272784"/>
            <a:ext cx="4096512" cy="35661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7.xml"/><Relationship Id="rId5" Type="http://schemas.openxmlformats.org/officeDocument/2006/relationships/slide" Target="slide7.xml"/><Relationship Id="rId6" Type="http://schemas.openxmlformats.org/officeDocument/2006/relationships/slide" Target="slide7.xml"/><Relationship Id="rId7" Type="http://schemas.openxmlformats.org/officeDocument/2006/relationships/slide" Target="slide19.xml"/><Relationship Id="rId8" Type="http://schemas.openxmlformats.org/officeDocument/2006/relationships/slide" Target="slide19.xml"/><Relationship Id="rId9" Type="http://schemas.openxmlformats.org/officeDocument/2006/relationships/slide" Target="slide19.xml"/><Relationship Id="rId10" Type="http://schemas.openxmlformats.org/officeDocument/2006/relationships/slide" Target="slide23.xml"/><Relationship Id="rId11" Type="http://schemas.openxmlformats.org/officeDocument/2006/relationships/slide" Target="slide23.xml"/><Relationship Id="rId12" Type="http://schemas.openxmlformats.org/officeDocument/2006/relationships/slide" Target="slide23.xml"/><Relationship Id="rId13" Type="http://schemas.openxmlformats.org/officeDocument/2006/relationships/slide" Target="slide27.xml"/><Relationship Id="rId14" Type="http://schemas.openxmlformats.org/officeDocument/2006/relationships/slide" Target="slide27.xml"/><Relationship Id="rId15" Type="http://schemas.openxmlformats.org/officeDocument/2006/relationships/slide" Target="slide27.xml"/><Relationship Id="rId16" Type="http://schemas.openxmlformats.org/officeDocument/2006/relationships/slide" Target="slide31.xml"/><Relationship Id="rId17" Type="http://schemas.openxmlformats.org/officeDocument/2006/relationships/slide" Target="slide31.xml"/><Relationship Id="rId18" Type="http://schemas.openxmlformats.org/officeDocument/2006/relationships/slide" Target="slide31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slide" Target="slide3.xml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" Target="slide6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6.xml"/><Relationship Id="rId11" Type="http://schemas.openxmlformats.org/officeDocument/2006/relationships/slide" Target="slide6.xml"/><Relationship Id="rId12" Type="http://schemas.openxmlformats.org/officeDocument/2006/relationships/slide" Target="slide6.xml"/><Relationship Id="rId13" Type="http://schemas.openxmlformats.org/officeDocument/2006/relationships/slide" Target="slide6.xml"/><Relationship Id="rId14" Type="http://schemas.openxmlformats.org/officeDocument/2006/relationships/slide" Target="slide6.xml"/><Relationship Id="rId15" Type="http://schemas.openxmlformats.org/officeDocument/2006/relationships/slide" Target="slide6.xml"/><Relationship Id="rId16" Type="http://schemas.openxmlformats.org/officeDocument/2006/relationships/slide" Target="slide6.xml"/><Relationship Id="rId17" Type="http://schemas.openxmlformats.org/officeDocument/2006/relationships/slide" Target="slide3.xml"/><Relationship Id="rId18" Type="http://schemas.openxmlformats.org/officeDocument/2006/relationships/slide" Target="slide1.xml"/><Relationship Id="rId19" Type="http://schemas.openxmlformats.org/officeDocument/2006/relationships/slide" Target="slide7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Relationship Id="rIdSnd1" Type="http://schemas.openxmlformats.org/officeDocument/2006/relationships/audio" Target="../media/applause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Relationship Id="rIdSnd1" Type="http://schemas.openxmlformats.org/officeDocument/2006/relationships/audio" Target="../media/buzz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4.xml"/><Relationship Id="rId3" Type="http://schemas.openxmlformats.org/officeDocument/2006/relationships/slide" Target="slide1.xml"/><Relationship Id="rId4" Type="http://schemas.openxmlformats.org/officeDocument/2006/relationships/slide" Target="slide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9.xml"/><Relationship Id="rId3" Type="http://schemas.openxmlformats.org/officeDocument/2006/relationships/slide" Target="slide9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" Target="slide10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1.xml"/><Relationship Id="rId11" Type="http://schemas.openxmlformats.org/officeDocument/2006/relationships/slide" Target="slide11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slide" Target="slide12.xml"/><Relationship Id="rId15" Type="http://schemas.openxmlformats.org/officeDocument/2006/relationships/slide" Target="slide12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3.xml"/><Relationship Id="rId19" Type="http://schemas.openxmlformats.org/officeDocument/2006/relationships/slide" Target="slide13.xml"/><Relationship Id="rId20" Type="http://schemas.openxmlformats.org/officeDocument/2006/relationships/slide" Target="slide13.xml"/><Relationship Id="rId21" Type="http://schemas.openxmlformats.org/officeDocument/2006/relationships/slide" Target="slide14.xml"/><Relationship Id="rId22" Type="http://schemas.openxmlformats.org/officeDocument/2006/relationships/slide" Target="slide14.xml"/><Relationship Id="rId23" Type="http://schemas.openxmlformats.org/officeDocument/2006/relationships/slide" Target="slide14.xml"/><Relationship Id="rId24" Type="http://schemas.openxmlformats.org/officeDocument/2006/relationships/slide" Target="slide14.xml"/><Relationship Id="rId25" Type="http://schemas.openxmlformats.org/officeDocument/2006/relationships/slide" Target="slide15.xml"/><Relationship Id="rId26" Type="http://schemas.openxmlformats.org/officeDocument/2006/relationships/slide" Target="slide15.xml"/><Relationship Id="rId27" Type="http://schemas.openxmlformats.org/officeDocument/2006/relationships/slide" Target="slide15.xml"/><Relationship Id="rId28" Type="http://schemas.openxmlformats.org/officeDocument/2006/relationships/slide" Target="slide15.xml"/><Relationship Id="rId29" Type="http://schemas.openxmlformats.org/officeDocument/2006/relationships/slide" Target="slide16.xml"/><Relationship Id="rId30" Type="http://schemas.openxmlformats.org/officeDocument/2006/relationships/slide" Target="slide16.xml"/><Relationship Id="rId31" Type="http://schemas.openxmlformats.org/officeDocument/2006/relationships/slide" Target="slide16.xml"/><Relationship Id="rId32" Type="http://schemas.openxmlformats.org/officeDocument/2006/relationships/slide" Target="slide16.xml"/><Relationship Id="rId33" Type="http://schemas.openxmlformats.org/officeDocument/2006/relationships/slide" Target="slide7.xml"/><Relationship Id="rId34" Type="http://schemas.openxmlformats.org/officeDocument/2006/relationships/slide" Target="slide1.xml"/><Relationship Id="rId35" Type="http://schemas.openxmlformats.org/officeDocument/2006/relationships/slide" Target="slide17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1.xml"/><Relationship Id="rId1" Type="http://schemas.openxmlformats.org/officeDocument/2006/relationships/video" Target="../media/media-9-1.mp4"/><Relationship Id="rId2" Type="http://schemas.microsoft.com/office/2007/relationships/media" Target="../media/media-9-1.mp4"/><Relationship Id="rId3" Type="http://schemas.openxmlformats.org/officeDocument/2006/relationships/image" Target="../media/image-9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1.xml"/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1.xml"/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1.xml"/><Relationship Id="rId1" Type="http://schemas.openxmlformats.org/officeDocument/2006/relationships/video" Target="../media/media-12-1.mp4"/><Relationship Id="rId2" Type="http://schemas.microsoft.com/office/2007/relationships/media" Target="../media/media-12-1.mp4"/><Relationship Id="rId3" Type="http://schemas.openxmlformats.org/officeDocument/2006/relationships/image" Target="../media/image-12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1.xml"/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1.xml"/><Relationship Id="rId1" Type="http://schemas.openxmlformats.org/officeDocument/2006/relationships/video" Target="../media/media-14-1.mp4"/><Relationship Id="rId2" Type="http://schemas.microsoft.com/office/2007/relationships/media" Target="../media/media-14-1.mp4"/><Relationship Id="rId3" Type="http://schemas.openxmlformats.org/officeDocument/2006/relationships/image" Target="../media/image-14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1.xml"/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27.xml"/><Relationship Id="rId6" Type="http://schemas.openxmlformats.org/officeDocument/2006/relationships/slide" Target="slide1.xml"/><Relationship Id="rId1" Type="http://schemas.openxmlformats.org/officeDocument/2006/relationships/video" Target="../media/media-16-1.mp4"/><Relationship Id="rId2" Type="http://schemas.microsoft.com/office/2007/relationships/media" Target="../media/media-16-1.mp4"/><Relationship Id="rId3" Type="http://schemas.openxmlformats.org/officeDocument/2006/relationships/image" Target="../media/image-16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" Target="slide8.xml"/><Relationship Id="rId3" Type="http://schemas.openxmlformats.org/officeDocument/2006/relationships/slide" Target="slide1.xml"/><Relationship Id="rId4" Type="http://schemas.openxmlformats.org/officeDocument/2006/relationships/slide" Target="slide1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Relationship Id="rIdSnd1" Type="http://schemas.openxmlformats.org/officeDocument/2006/relationships/audio" Target="../media/applaus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.xml"/><Relationship Id="rId3" Type="http://schemas.openxmlformats.org/officeDocument/2006/relationships/slide" Target="slide20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1.xml"/><Relationship Id="rId2" Type="http://schemas.openxmlformats.org/officeDocument/2006/relationships/slide" Target="slide22.xml"/><Relationship Id="rId3" Type="http://schemas.openxmlformats.org/officeDocument/2006/relationships/slide" Target="slide22.xml"/><Relationship Id="rId4" Type="http://schemas.openxmlformats.org/officeDocument/2006/relationships/slide" Target="slide21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19.xml"/><Relationship Id="rId8" Type="http://schemas.openxmlformats.org/officeDocument/2006/relationships/slide" Target="slide1.xml"/><Relationship Id="rId9" Type="http://schemas.openxmlformats.org/officeDocument/2006/relationships/slide" Target="slide23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Relationship Id="rIdSnd1" Type="http://schemas.openxmlformats.org/officeDocument/2006/relationships/audio" Target="../media/applaus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Relationship Id="rIdSnd1" Type="http://schemas.openxmlformats.org/officeDocument/2006/relationships/audio" Target="../media/buzz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1.xml"/><Relationship Id="rId3" Type="http://schemas.openxmlformats.org/officeDocument/2006/relationships/slide" Target="slide2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" Target="slide25.xml"/><Relationship Id="rId3" Type="http://schemas.openxmlformats.org/officeDocument/2006/relationships/slide" Target="slide25.xml"/><Relationship Id="rId4" Type="http://schemas.openxmlformats.org/officeDocument/2006/relationships/slide" Target="slide25.xml"/><Relationship Id="rId5" Type="http://schemas.openxmlformats.org/officeDocument/2006/relationships/slide" Target="slide26.xml"/><Relationship Id="rId6" Type="http://schemas.openxmlformats.org/officeDocument/2006/relationships/slide" Target="slide26.xml"/><Relationship Id="rId7" Type="http://schemas.openxmlformats.org/officeDocument/2006/relationships/slide" Target="slide26.xml"/><Relationship Id="rId8" Type="http://schemas.openxmlformats.org/officeDocument/2006/relationships/slide" Target="slide26.xml"/><Relationship Id="rId9" Type="http://schemas.openxmlformats.org/officeDocument/2006/relationships/slide" Target="slide26.xml"/><Relationship Id="rId10" Type="http://schemas.openxmlformats.org/officeDocument/2006/relationships/slide" Target="slide26.xml"/><Relationship Id="rId11" Type="http://schemas.openxmlformats.org/officeDocument/2006/relationships/slide" Target="slide26.xml"/><Relationship Id="rId12" Type="http://schemas.openxmlformats.org/officeDocument/2006/relationships/slide" Target="slide26.xml"/><Relationship Id="rId13" Type="http://schemas.openxmlformats.org/officeDocument/2006/relationships/slide" Target="slide26.xml"/><Relationship Id="rId14" Type="http://schemas.openxmlformats.org/officeDocument/2006/relationships/slide" Target="slide26.xml"/><Relationship Id="rId15" Type="http://schemas.openxmlformats.org/officeDocument/2006/relationships/slide" Target="slide26.xml"/><Relationship Id="rId16" Type="http://schemas.openxmlformats.org/officeDocument/2006/relationships/slide" Target="slide26.xml"/><Relationship Id="rId17" Type="http://schemas.openxmlformats.org/officeDocument/2006/relationships/slide" Target="slide23.xml"/><Relationship Id="rId18" Type="http://schemas.openxmlformats.org/officeDocument/2006/relationships/slide" Target="slide1.xml"/><Relationship Id="rId19" Type="http://schemas.openxmlformats.org/officeDocument/2006/relationships/slide" Target="slide27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4.xml"/><Relationship Id="rId2" Type="http://schemas.openxmlformats.org/officeDocument/2006/relationships/slide" Target="slide2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Relationship Id="rIdSnd1" Type="http://schemas.openxmlformats.org/officeDocument/2006/relationships/audio" Target="../media/applaus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Relationship Id="rIdSnd1" Type="http://schemas.openxmlformats.org/officeDocument/2006/relationships/audio" Target="../media/buzz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24.xml"/><Relationship Id="rId3" Type="http://schemas.openxmlformats.org/officeDocument/2006/relationships/slide" Target="slide1.xml"/><Relationship Id="rId4" Type="http://schemas.openxmlformats.org/officeDocument/2006/relationships/slide" Target="slide2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slide" Target="slide30.xml"/><Relationship Id="rId7" Type="http://schemas.openxmlformats.org/officeDocument/2006/relationships/slide" Target="slide30.xml"/><Relationship Id="rId8" Type="http://schemas.openxmlformats.org/officeDocument/2006/relationships/slide" Target="slide30.xml"/><Relationship Id="rId9" Type="http://schemas.openxmlformats.org/officeDocument/2006/relationships/slide" Target="slide29.xml"/><Relationship Id="rId10" Type="http://schemas.openxmlformats.org/officeDocument/2006/relationships/slide" Target="slide27.xml"/><Relationship Id="rId11" Type="http://schemas.openxmlformats.org/officeDocument/2006/relationships/slide" Target="slide1.xml"/><Relationship Id="rId12" Type="http://schemas.openxmlformats.org/officeDocument/2006/relationships/slide" Target="slide31.xml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3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Relationship Id="rIdSnd1" Type="http://schemas.openxmlformats.org/officeDocument/2006/relationships/audio" Target="../media/applause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Relationship Id="rIdSnd1" Type="http://schemas.openxmlformats.org/officeDocument/2006/relationships/audio" Target="../media/buzz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1.xml"/><Relationship Id="rId3" Type="http://schemas.openxmlformats.org/officeDocument/2006/relationships/slide" Target="slide32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33.xml"/><Relationship Id="rId2" Type="http://schemas.openxmlformats.org/officeDocument/2006/relationships/slide" Target="slide33.xml"/><Relationship Id="rId3" Type="http://schemas.openxmlformats.org/officeDocument/2006/relationships/slide" Target="slide33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4.xml"/><Relationship Id="rId7" Type="http://schemas.openxmlformats.org/officeDocument/2006/relationships/slide" Target="slide34.xml"/><Relationship Id="rId8" Type="http://schemas.openxmlformats.org/officeDocument/2006/relationships/slide" Target="slide34.xml"/><Relationship Id="rId9" Type="http://schemas.openxmlformats.org/officeDocument/2006/relationships/slide" Target="slide34.xml"/><Relationship Id="rId10" Type="http://schemas.openxmlformats.org/officeDocument/2006/relationships/slide" Target="slide34.xml"/><Relationship Id="rId11" Type="http://schemas.openxmlformats.org/officeDocument/2006/relationships/slide" Target="slide34.xml"/><Relationship Id="rId12" Type="http://schemas.openxmlformats.org/officeDocument/2006/relationships/slide" Target="slide34.xml"/><Relationship Id="rId13" Type="http://schemas.openxmlformats.org/officeDocument/2006/relationships/slide" Target="slide34.xml"/><Relationship Id="rId14" Type="http://schemas.openxmlformats.org/officeDocument/2006/relationships/slide" Target="slide34.xml"/><Relationship Id="rId15" Type="http://schemas.openxmlformats.org/officeDocument/2006/relationships/slide" Target="slide34.xml"/><Relationship Id="rId16" Type="http://schemas.openxmlformats.org/officeDocument/2006/relationships/slide" Target="slide34.xml"/><Relationship Id="rId17" Type="http://schemas.openxmlformats.org/officeDocument/2006/relationships/slide" Target="slide31.xml"/><Relationship Id="rId18" Type="http://schemas.openxmlformats.org/officeDocument/2006/relationships/slide" Target="slide1.xml"/><Relationship Id="rId19" Type="http://schemas.openxmlformats.org/officeDocument/2006/relationships/slide" Target="slide35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3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Relationship Id="rIdSnd1" Type="http://schemas.openxmlformats.org/officeDocument/2006/relationships/audio" Target="../media/applaus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Relationship Id="rIdSnd1" Type="http://schemas.openxmlformats.org/officeDocument/2006/relationships/audio" Target="../media/buzz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1.xml"/><Relationship Id="rId3" Type="http://schemas.openxmlformats.org/officeDocument/2006/relationships/slide" Target="slide3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7.xml"/><Relationship Id="rId4" Type="http://schemas.openxmlformats.org/officeDocument/2006/relationships/slide" Target="slide7.xml"/><Relationship Id="rId5" Type="http://schemas.openxmlformats.org/officeDocument/2006/relationships/slide" Target="slide19.xml"/><Relationship Id="rId6" Type="http://schemas.openxmlformats.org/officeDocument/2006/relationships/slide" Target="slide19.xml"/><Relationship Id="rId7" Type="http://schemas.openxmlformats.org/officeDocument/2006/relationships/slide" Target="slide23.xml"/><Relationship Id="rId8" Type="http://schemas.openxmlformats.org/officeDocument/2006/relationships/slide" Target="slide23.xml"/><Relationship Id="rId9" Type="http://schemas.openxmlformats.org/officeDocument/2006/relationships/slide" Target="slide27.xml"/><Relationship Id="rId10" Type="http://schemas.openxmlformats.org/officeDocument/2006/relationships/slide" Target="slide27.xml"/><Relationship Id="rId11" Type="http://schemas.openxmlformats.org/officeDocument/2006/relationships/slide" Target="slide31.xml"/><Relationship Id="rId12" Type="http://schemas.openxmlformats.org/officeDocument/2006/relationships/slide" Target="slide31.xml"/><Relationship Id="rId13" Type="http://schemas.openxmlformats.org/officeDocument/2006/relationships/slide" Target="slide4.xml"/><Relationship Id="rId14" Type="http://schemas.openxmlformats.org/officeDocument/2006/relationships/slide" Target="slide35.xml"/><Relationship Id="rId15" Type="http://schemas.openxmlformats.org/officeDocument/2006/relationships/slide" Target="slide1.xml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101791" y="822960"/>
            <a:ext cx="5541264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2.1  |  معالج الكلمات Microsoft Word</a:t>
            </a:r>
            <a:endParaRPr lang="ar-OM" sz="1400" dirty="0"/>
          </a:p>
        </p:txBody>
      </p:sp>
      <p:sp>
        <p:nvSpPr>
          <p:cNvPr id="4" name="Shape 1"/>
          <p:cNvSpPr/>
          <p:nvPr/>
        </p:nvSpPr>
        <p:spPr>
          <a:xfrm rot="-120000">
            <a:off x="4480560" y="1600200"/>
            <a:ext cx="3182112" cy="1600200"/>
          </a:xfrm>
          <a:prstGeom prst="roundRect">
            <a:avLst>
              <a:gd name="adj" fmla="val 14286"/>
            </a:avLst>
          </a:prstGeom>
          <a:solidFill>
            <a:srgbClr val="FFD2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480560" y="1600200"/>
            <a:ext cx="31821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8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</a:t>
            </a:r>
            <a:endParaRPr lang="ar-OM" sz="88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600200"/>
            <a:ext cx="37764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88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تنسيق</a:t>
            </a:r>
            <a:endParaRPr lang="ar-OM" sz="8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29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نتعلّم كيف نجعل نصوصنا أوضح وأجمل وأكثر تنظيمًا</a:t>
            </a:r>
            <a:endParaRPr lang="ar-OM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865815" y="420624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951415" y="420624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5FD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i="1" dirty="0">
                <a:solidFill>
                  <a:srgbClr val="1C1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037015" y="420624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9EA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sng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122615" y="420624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208215" y="420624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E24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0">
            <a:hlinkClick r:id="rId1" tooltip="" action="ppaction://hlinksldjump"/>
          </p:cNvPr>
          <p:cNvSpPr txBox="1"/>
          <p:nvPr/>
        </p:nvSpPr>
        <p:spPr>
          <a:xfrm>
            <a:off x="9082735" y="525780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لنبدأ الدرس ◀</a:t>
            </a:r>
            <a:endParaRPr lang="ar-OM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786823" y="50292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6A3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الدرس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نهاية الدرس سأكون قادرًا على أن</a:t>
            </a:r>
            <a:endParaRPr lang="ar-OM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rgbClr val="5B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على أي هدف للانتقال إليه مباشرة</a:t>
            </a:r>
            <a:endParaRPr lang="ar-OM" sz="1500" dirty="0"/>
          </a:p>
        </p:txBody>
      </p:sp>
      <p:sp>
        <p:nvSpPr>
          <p:cNvPr id="6" name="Text 3">
            <a:hlinkClick r:id="rId1" tooltip="" action="ppaction://hlinksldjump"/>
          </p:cNvPr>
          <p:cNvSpPr txBox="1"/>
          <p:nvPr/>
        </p:nvSpPr>
        <p:spPr>
          <a:xfrm>
            <a:off x="8127797" y="2194560"/>
            <a:ext cx="3515258" cy="1783080"/>
          </a:xfrm>
          <a:prstGeom prst="roundRect">
            <a:avLst>
              <a:gd name="adj" fmla="val 7692"/>
            </a:avLst>
          </a:prstGeom>
          <a:solidFill>
            <a:srgbClr val="E0F2F1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7" name="Text 4">
            <a:hlinkClick r:id="rId2" tooltip="" action="ppaction://hlinksldjump"/>
          </p:cNvPr>
          <p:cNvSpPr txBox="1"/>
          <p:nvPr/>
        </p:nvSpPr>
        <p:spPr>
          <a:xfrm>
            <a:off x="10774375" y="2468880"/>
            <a:ext cx="594360" cy="594360"/>
          </a:xfrm>
          <a:prstGeom prst="ellipse">
            <a:avLst/>
          </a:prstGeom>
          <a:solidFill>
            <a:srgbClr val="0B7D7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2000" dirty="0"/>
          </a:p>
        </p:txBody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8402117" y="31089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أفتح مستندًا محفوظًا في معالج الكلمات</a:t>
            </a:r>
            <a:endParaRPr lang="ar-OM" sz="1800" dirty="0"/>
          </a:p>
        </p:txBody>
      </p:sp>
      <p:sp>
        <p:nvSpPr>
          <p:cNvPr id="9" name="Text 6">
            <a:hlinkClick r:id="rId4" tooltip="" action="ppaction://hlinksldjump"/>
          </p:cNvPr>
          <p:cNvSpPr txBox="1"/>
          <p:nvPr/>
        </p:nvSpPr>
        <p:spPr>
          <a:xfrm>
            <a:off x="4338218" y="2194560"/>
            <a:ext cx="3515258" cy="1783080"/>
          </a:xfrm>
          <a:prstGeom prst="roundRect">
            <a:avLst>
              <a:gd name="adj" fmla="val 7692"/>
            </a:avLst>
          </a:prstGeom>
          <a:solidFill>
            <a:srgbClr val="EDE7FB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0" name="Text 7">
            <a:hlinkClick r:id="rId5" tooltip="" action="ppaction://hlinksldjump"/>
          </p:cNvPr>
          <p:cNvSpPr txBox="1"/>
          <p:nvPr/>
        </p:nvSpPr>
        <p:spPr>
          <a:xfrm>
            <a:off x="6984797" y="2468880"/>
            <a:ext cx="594360" cy="594360"/>
          </a:xfrm>
          <a:prstGeom prst="ellipse">
            <a:avLst/>
          </a:prstGeom>
          <a:solidFill>
            <a:srgbClr val="6A3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2000" dirty="0"/>
          </a:p>
        </p:txBody>
      </p:sp>
      <p:sp>
        <p:nvSpPr>
          <p:cNvPr id="11" name="Text 8">
            <a:hlinkClick r:id="rId6" tooltip="" action="ppaction://hlinksldjump"/>
          </p:cNvPr>
          <p:cNvSpPr txBox="1"/>
          <p:nvPr/>
        </p:nvSpPr>
        <p:spPr>
          <a:xfrm>
            <a:off x="4612538" y="31089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أتعرّف أدوات التنسيق في الصفحة الرئيسية</a:t>
            </a:r>
            <a:endParaRPr lang="ar-OM" sz="1800" dirty="0"/>
          </a:p>
        </p:txBody>
      </p:sp>
      <p:sp>
        <p:nvSpPr>
          <p:cNvPr id="12" name="Text 9">
            <a:hlinkClick r:id="rId7" tooltip="" action="ppaction://hlinksldjump"/>
          </p:cNvPr>
          <p:cNvSpPr txBox="1"/>
          <p:nvPr/>
        </p:nvSpPr>
        <p:spPr>
          <a:xfrm>
            <a:off x="548640" y="2194560"/>
            <a:ext cx="3515258" cy="1783080"/>
          </a:xfrm>
          <a:prstGeom prst="roundRect">
            <a:avLst>
              <a:gd name="adj" fmla="val 7692"/>
            </a:avLst>
          </a:prstGeom>
          <a:solidFill>
            <a:srgbClr val="FBE4E2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3" name="Text 10">
            <a:hlinkClick r:id="rId8" tooltip="" action="ppaction://hlinksldjump"/>
          </p:cNvPr>
          <p:cNvSpPr txBox="1"/>
          <p:nvPr/>
        </p:nvSpPr>
        <p:spPr>
          <a:xfrm>
            <a:off x="3195218" y="2468880"/>
            <a:ext cx="594360" cy="594360"/>
          </a:xfrm>
          <a:prstGeom prst="ellipse">
            <a:avLst/>
          </a:prstGeom>
          <a:solidFill>
            <a:srgbClr val="C8352B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OM" sz="2000" dirty="0"/>
          </a:p>
        </p:txBody>
      </p:sp>
      <p:sp>
        <p:nvSpPr>
          <p:cNvPr id="14" name="Text 11">
            <a:hlinkClick r:id="rId9" tooltip="" action="ppaction://hlinksldjump"/>
          </p:cNvPr>
          <p:cNvSpPr txBox="1"/>
          <p:nvPr/>
        </p:nvSpPr>
        <p:spPr>
          <a:xfrm>
            <a:off x="822960" y="31089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أجعل الخط غامقًا ومائلًا ومسطّرًا</a:t>
            </a:r>
            <a:endParaRPr lang="ar-OM" sz="1800" dirty="0"/>
          </a:p>
        </p:txBody>
      </p:sp>
      <p:sp>
        <p:nvSpPr>
          <p:cNvPr id="15" name="Text 12">
            <a:hlinkClick r:id="rId10" tooltip="" action="ppaction://hlinksldjump"/>
          </p:cNvPr>
          <p:cNvSpPr txBox="1"/>
          <p:nvPr/>
        </p:nvSpPr>
        <p:spPr>
          <a:xfrm>
            <a:off x="8127797" y="4251960"/>
            <a:ext cx="3515258" cy="1783080"/>
          </a:xfrm>
          <a:prstGeom prst="roundRect">
            <a:avLst>
              <a:gd name="adj" fmla="val 7692"/>
            </a:avLst>
          </a:prstGeom>
          <a:solidFill>
            <a:srgbClr val="FCEBDD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6" name="Text 13">
            <a:hlinkClick r:id="rId11" tooltip="" action="ppaction://hlinksldjump"/>
          </p:cNvPr>
          <p:cNvSpPr txBox="1"/>
          <p:nvPr/>
        </p:nvSpPr>
        <p:spPr>
          <a:xfrm>
            <a:off x="10774375" y="4526280"/>
            <a:ext cx="594360" cy="594360"/>
          </a:xfrm>
          <a:prstGeom prst="ellipse">
            <a:avLst/>
          </a:prstGeom>
          <a:solidFill>
            <a:srgbClr val="B3540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OM" sz="2000" dirty="0"/>
          </a:p>
        </p:txBody>
      </p:sp>
      <p:sp>
        <p:nvSpPr>
          <p:cNvPr id="17" name="Text 14">
            <a:hlinkClick r:id="rId12" tooltip="" action="ppaction://hlinksldjump"/>
          </p:cNvPr>
          <p:cNvSpPr txBox="1"/>
          <p:nvPr/>
        </p:nvSpPr>
        <p:spPr>
          <a:xfrm>
            <a:off x="8402117" y="51663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أميّز أجزاء من النص بلون وأزيل التمييز</a:t>
            </a:r>
            <a:endParaRPr lang="ar-OM" sz="1800" dirty="0"/>
          </a:p>
        </p:txBody>
      </p:sp>
      <p:sp>
        <p:nvSpPr>
          <p:cNvPr id="18" name="Text 15">
            <a:hlinkClick r:id="rId13" tooltip="" action="ppaction://hlinksldjump"/>
          </p:cNvPr>
          <p:cNvSpPr txBox="1"/>
          <p:nvPr/>
        </p:nvSpPr>
        <p:spPr>
          <a:xfrm>
            <a:off x="4338218" y="4251960"/>
            <a:ext cx="3515258" cy="1783080"/>
          </a:xfrm>
          <a:prstGeom prst="roundRect">
            <a:avLst>
              <a:gd name="adj" fmla="val 7692"/>
            </a:avLst>
          </a:prstGeom>
          <a:solidFill>
            <a:srgbClr val="E2F3E8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9" name="Text 16">
            <a:hlinkClick r:id="rId14" tooltip="" action="ppaction://hlinksldjump"/>
          </p:cNvPr>
          <p:cNvSpPr txBox="1"/>
          <p:nvPr/>
        </p:nvSpPr>
        <p:spPr>
          <a:xfrm>
            <a:off x="6984797" y="4526280"/>
            <a:ext cx="594360" cy="594360"/>
          </a:xfrm>
          <a:prstGeom prst="ellipse">
            <a:avLst/>
          </a:prstGeom>
          <a:solidFill>
            <a:srgbClr val="1A7D4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OM" sz="2000" dirty="0"/>
          </a:p>
        </p:txBody>
      </p:sp>
      <p:sp>
        <p:nvSpPr>
          <p:cNvPr id="20" name="Text 17">
            <a:hlinkClick r:id="rId15" tooltip="" action="ppaction://hlinksldjump"/>
          </p:cNvPr>
          <p:cNvSpPr txBox="1"/>
          <p:nvPr/>
        </p:nvSpPr>
        <p:spPr>
          <a:xfrm>
            <a:off x="4612538" y="51663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أحاذي النص لجعله منظّمًا</a:t>
            </a:r>
            <a:endParaRPr lang="ar-OM" sz="1800" dirty="0"/>
          </a:p>
        </p:txBody>
      </p:sp>
      <p:sp>
        <p:nvSpPr>
          <p:cNvPr id="21" name="Text 18">
            <a:hlinkClick r:id="rId16" tooltip="" action="ppaction://hlinksldjump"/>
          </p:cNvPr>
          <p:cNvSpPr txBox="1"/>
          <p:nvPr/>
        </p:nvSpPr>
        <p:spPr>
          <a:xfrm>
            <a:off x="548640" y="4251960"/>
            <a:ext cx="3515258" cy="1783080"/>
          </a:xfrm>
          <a:prstGeom prst="roundRect">
            <a:avLst>
              <a:gd name="adj" fmla="val 7692"/>
            </a:avLst>
          </a:prstGeom>
          <a:solidFill>
            <a:srgbClr val="FFF5CC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22" name="Text 19">
            <a:hlinkClick r:id="rId17" tooltip="" action="ppaction://hlinksldjump"/>
          </p:cNvPr>
          <p:cNvSpPr txBox="1"/>
          <p:nvPr/>
        </p:nvSpPr>
        <p:spPr>
          <a:xfrm>
            <a:off x="3195218" y="4526280"/>
            <a:ext cx="594360" cy="594360"/>
          </a:xfrm>
          <a:prstGeom prst="ellipse">
            <a:avLst/>
          </a:prstGeom>
          <a:solidFill>
            <a:srgbClr val="D4A00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OM" sz="2000" dirty="0"/>
          </a:p>
        </p:txBody>
      </p:sp>
      <p:sp>
        <p:nvSpPr>
          <p:cNvPr id="23" name="Text 20">
            <a:hlinkClick r:id="rId18" tooltip="" action="ppaction://hlinksldjump"/>
          </p:cNvPr>
          <p:cNvSpPr txBox="1"/>
          <p:nvPr/>
        </p:nvSpPr>
        <p:spPr>
          <a:xfrm>
            <a:off x="822960" y="51663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أحفظ التعديلات على المستند</a:t>
            </a:r>
            <a:endParaRPr lang="ar-OM" sz="1800" dirty="0"/>
          </a:p>
        </p:txBody>
      </p:sp>
      <p:sp>
        <p:nvSpPr>
          <p:cNvPr id="24" name="Text 21">
            <a:hlinkClick r:id="rId19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5" name="Text 22">
            <a:hlinkClick r:id="rId20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6" name="Text 23">
            <a:hlinkClick r:id="rId21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262311" y="50292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0B7D7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1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0B7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مستند في معالج الكلمات</a:t>
            </a:r>
            <a:endParaRPr lang="ar-OM" sz="3400" dirty="0"/>
          </a:p>
        </p:txBody>
      </p:sp>
      <p:sp>
        <p:nvSpPr>
          <p:cNvPr id="5" name="Shape 2"/>
          <p:cNvSpPr/>
          <p:nvPr/>
        </p:nvSpPr>
        <p:spPr>
          <a:xfrm>
            <a:off x="9607052" y="19202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5815" y="2148840"/>
            <a:ext cx="548640" cy="548640"/>
          </a:xfrm>
          <a:prstGeom prst="ellipse">
            <a:avLst/>
          </a:prstGeom>
          <a:solidFill>
            <a:srgbClr val="0B7D7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89932" y="28346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قائمة ملف</a:t>
            </a:r>
            <a:endParaRPr lang="ar-OM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38404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OM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ar-OM" sz="1200" dirty="0"/>
          </a:p>
        </p:txBody>
      </p:sp>
      <p:sp>
        <p:nvSpPr>
          <p:cNvPr id="9" name="Shape 6"/>
          <p:cNvSpPr/>
          <p:nvPr/>
        </p:nvSpPr>
        <p:spPr>
          <a:xfrm>
            <a:off x="7342449" y="19202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01212" y="2148840"/>
            <a:ext cx="548640" cy="548640"/>
          </a:xfrm>
          <a:prstGeom prst="ellipse">
            <a:avLst/>
          </a:prstGeom>
          <a:solidFill>
            <a:srgbClr val="0B7D7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525329" y="28346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أمر فتح</a:t>
            </a:r>
            <a:endParaRPr lang="ar-OM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64052" y="38404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OM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ar-OM" sz="1200" dirty="0"/>
          </a:p>
        </p:txBody>
      </p:sp>
      <p:sp>
        <p:nvSpPr>
          <p:cNvPr id="13" name="Shape 10"/>
          <p:cNvSpPr/>
          <p:nvPr/>
        </p:nvSpPr>
        <p:spPr>
          <a:xfrm>
            <a:off x="5077846" y="19202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609" y="2148840"/>
            <a:ext cx="548640" cy="548640"/>
          </a:xfrm>
          <a:prstGeom prst="ellipse">
            <a:avLst/>
          </a:prstGeom>
          <a:solidFill>
            <a:srgbClr val="0B7D7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OM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260726" y="28346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تصفّح</a:t>
            </a:r>
            <a:endParaRPr lang="ar-OM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016569" y="384048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OM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</a:t>
            </a:r>
            <a:endParaRPr lang="ar-OM" sz="1200" dirty="0"/>
          </a:p>
        </p:txBody>
      </p:sp>
      <p:sp>
        <p:nvSpPr>
          <p:cNvPr id="17" name="Shape 14"/>
          <p:cNvSpPr/>
          <p:nvPr/>
        </p:nvSpPr>
        <p:spPr>
          <a:xfrm>
            <a:off x="2813243" y="19202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72006" y="2148840"/>
            <a:ext cx="548640" cy="548640"/>
          </a:xfrm>
          <a:prstGeom prst="ellipse">
            <a:avLst/>
          </a:prstGeom>
          <a:solidFill>
            <a:srgbClr val="0B7D7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OM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996123" y="28346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المستند من نافذة فتح</a:t>
            </a:r>
            <a:endParaRPr lang="ar-OM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111886" y="384048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التدوير</a:t>
            </a:r>
            <a:endParaRPr lang="ar-OM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19202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807403" y="2148840"/>
            <a:ext cx="548640" cy="548640"/>
          </a:xfrm>
          <a:prstGeom prst="ellipse">
            <a:avLst/>
          </a:prstGeom>
          <a:solidFill>
            <a:srgbClr val="0B7D7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OM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28346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زر فتح</a:t>
            </a:r>
            <a:endParaRPr lang="ar-OM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670243" y="38404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OM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ar-OM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475488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3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 الكلمات يتيح لنا إنشاء المستندات وتعديل النصوص، وسنعمل اليوم على مستند «إعادة التدوير»</a:t>
            </a:r>
            <a:endParaRPr lang="ar-OM" sz="1800" dirty="0"/>
          </a:p>
        </p:txBody>
      </p:sp>
      <p:sp>
        <p:nvSpPr>
          <p:cNvPr id="27" name="Text 24">
            <a:hlinkClick r:id="rId1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8" name="Text 25">
            <a:hlinkClick r:id="rId2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9" name="Text 26">
            <a:hlinkClick r:id="rId3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60359" y="502920"/>
            <a:ext cx="3282696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تفاعلي  ·  الهدف 1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28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النقر على قائمة ملف، ما الأمر الذي نختاره لفتح مستند؟</a:t>
            </a:r>
            <a:endParaRPr lang="ar-OM" sz="2800" dirty="0"/>
          </a:p>
        </p:txBody>
      </p:sp>
      <p:sp>
        <p:nvSpPr>
          <p:cNvPr id="5" name="Text 2">
            <a:hlinkClick r:id="rId1" tooltip="" action="ppaction://hlinksldjump"/>
          </p:cNvPr>
          <p:cNvSpPr txBox="1"/>
          <p:nvPr/>
        </p:nvSpPr>
        <p:spPr>
          <a:xfrm>
            <a:off x="6233008" y="251460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6" name="Text 3">
            <a:hlinkClick r:id="rId2" tooltip="" action="ppaction://hlinksldjump"/>
          </p:cNvPr>
          <p:cNvSpPr txBox="1"/>
          <p:nvPr/>
        </p:nvSpPr>
        <p:spPr>
          <a:xfrm>
            <a:off x="10774375" y="2788920"/>
            <a:ext cx="640080" cy="64008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OM" sz="2100" dirty="0"/>
          </a:p>
        </p:txBody>
      </p:sp>
      <p:sp>
        <p:nvSpPr>
          <p:cNvPr id="7" name="Text 4">
            <a:hlinkClick r:id="rId3" tooltip="" action="ppaction://hlinksldjump"/>
          </p:cNvPr>
          <p:cNvSpPr txBox="1"/>
          <p:nvPr/>
        </p:nvSpPr>
        <p:spPr>
          <a:xfrm>
            <a:off x="6507328" y="267004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</a:t>
            </a:r>
            <a:endParaRPr lang="ar-OM" sz="2200" dirty="0"/>
          </a:p>
        </p:txBody>
      </p:sp>
      <p:sp>
        <p:nvSpPr>
          <p:cNvPr id="8" name="Text 5">
            <a:hlinkClick r:id="rId4" tooltip="" action="ppaction://hlinksldjump"/>
          </p:cNvPr>
          <p:cNvSpPr txBox="1"/>
          <p:nvPr/>
        </p:nvSpPr>
        <p:spPr>
          <a:xfrm>
            <a:off x="6507328" y="32004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400" dirty="0"/>
          </a:p>
        </p:txBody>
      </p:sp>
      <p:sp>
        <p:nvSpPr>
          <p:cNvPr id="9" name="Text 6">
            <a:hlinkClick r:id="rId5" tooltip="" action="ppaction://hlinksldjump"/>
          </p:cNvPr>
          <p:cNvSpPr txBox="1"/>
          <p:nvPr/>
        </p:nvSpPr>
        <p:spPr>
          <a:xfrm>
            <a:off x="548640" y="251460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0" name="Text 7">
            <a:hlinkClick r:id="rId6" tooltip="" action="ppaction://hlinksldjump"/>
          </p:cNvPr>
          <p:cNvSpPr txBox="1"/>
          <p:nvPr/>
        </p:nvSpPr>
        <p:spPr>
          <a:xfrm>
            <a:off x="5090008" y="2788920"/>
            <a:ext cx="640080" cy="640080"/>
          </a:xfrm>
          <a:prstGeom prst="ellipse">
            <a:avLst/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OM" sz="2100" dirty="0"/>
          </a:p>
        </p:txBody>
      </p:sp>
      <p:sp>
        <p:nvSpPr>
          <p:cNvPr id="11" name="Text 8">
            <a:hlinkClick r:id="rId7" tooltip="" action="ppaction://hlinksldjump"/>
          </p:cNvPr>
          <p:cNvSpPr txBox="1"/>
          <p:nvPr/>
        </p:nvSpPr>
        <p:spPr>
          <a:xfrm>
            <a:off x="822960" y="267004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</a:t>
            </a:r>
            <a:endParaRPr lang="ar-OM" sz="2200" dirty="0"/>
          </a:p>
        </p:txBody>
      </p:sp>
      <p:sp>
        <p:nvSpPr>
          <p:cNvPr id="12" name="Text 9">
            <a:hlinkClick r:id="rId8" tooltip="" action="ppaction://hlinksldjump"/>
          </p:cNvPr>
          <p:cNvSpPr txBox="1"/>
          <p:nvPr/>
        </p:nvSpPr>
        <p:spPr>
          <a:xfrm>
            <a:off x="822960" y="32004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400" dirty="0"/>
          </a:p>
        </p:txBody>
      </p:sp>
      <p:sp>
        <p:nvSpPr>
          <p:cNvPr id="13" name="Text 10">
            <a:hlinkClick r:id="rId9" tooltip="" action="ppaction://hlinksldjump"/>
          </p:cNvPr>
          <p:cNvSpPr txBox="1"/>
          <p:nvPr/>
        </p:nvSpPr>
        <p:spPr>
          <a:xfrm>
            <a:off x="6233008" y="397764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4" name="Text 11">
            <a:hlinkClick r:id="rId10" tooltip="" action="ppaction://hlinksldjump"/>
          </p:cNvPr>
          <p:cNvSpPr txBox="1"/>
          <p:nvPr/>
        </p:nvSpPr>
        <p:spPr>
          <a:xfrm>
            <a:off x="10774375" y="4251960"/>
            <a:ext cx="640080" cy="640080"/>
          </a:xfrm>
          <a:prstGeom prst="ellipse">
            <a:avLst/>
          </a:prstGeom>
          <a:solidFill>
            <a:srgbClr val="5FD8E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OM" sz="2100" dirty="0"/>
          </a:p>
        </p:txBody>
      </p:sp>
      <p:sp>
        <p:nvSpPr>
          <p:cNvPr id="15" name="Text 12">
            <a:hlinkClick r:id="rId11" tooltip="" action="ppaction://hlinksldjump"/>
          </p:cNvPr>
          <p:cNvSpPr txBox="1"/>
          <p:nvPr/>
        </p:nvSpPr>
        <p:spPr>
          <a:xfrm>
            <a:off x="6507328" y="413308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طباعة</a:t>
            </a:r>
            <a:endParaRPr lang="ar-OM" sz="2200" dirty="0"/>
          </a:p>
        </p:txBody>
      </p:sp>
      <p:sp>
        <p:nvSpPr>
          <p:cNvPr id="16" name="Text 13">
            <a:hlinkClick r:id="rId12" tooltip="" action="ppaction://hlinksldjump"/>
          </p:cNvPr>
          <p:cNvSpPr txBox="1"/>
          <p:nvPr/>
        </p:nvSpPr>
        <p:spPr>
          <a:xfrm>
            <a:off x="6507328" y="466344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400" dirty="0"/>
          </a:p>
        </p:txBody>
      </p:sp>
      <p:sp>
        <p:nvSpPr>
          <p:cNvPr id="17" name="Text 14">
            <a:hlinkClick r:id="rId13" tooltip="" action="ppaction://hlinksldjump"/>
          </p:cNvPr>
          <p:cNvSpPr txBox="1"/>
          <p:nvPr/>
        </p:nvSpPr>
        <p:spPr>
          <a:xfrm>
            <a:off x="548640" y="397764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8" name="Text 15">
            <a:hlinkClick r:id="rId14" tooltip="" action="ppaction://hlinksldjump"/>
          </p:cNvPr>
          <p:cNvSpPr txBox="1"/>
          <p:nvPr/>
        </p:nvSpPr>
        <p:spPr>
          <a:xfrm>
            <a:off x="5090008" y="4251960"/>
            <a:ext cx="640080" cy="640080"/>
          </a:xfrm>
          <a:prstGeom prst="ellipse">
            <a:avLst/>
          </a:prstGeom>
          <a:solidFill>
            <a:srgbClr val="B9EA6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OM" sz="2100" dirty="0"/>
          </a:p>
        </p:txBody>
      </p:sp>
      <p:sp>
        <p:nvSpPr>
          <p:cNvPr id="19" name="Text 16">
            <a:hlinkClick r:id="rId15" tooltip="" action="ppaction://hlinksldjump"/>
          </p:cNvPr>
          <p:cNvSpPr txBox="1"/>
          <p:nvPr/>
        </p:nvSpPr>
        <p:spPr>
          <a:xfrm>
            <a:off x="822960" y="413308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جديد</a:t>
            </a:r>
            <a:endParaRPr lang="ar-OM" sz="2200" dirty="0"/>
          </a:p>
        </p:txBody>
      </p:sp>
      <p:sp>
        <p:nvSpPr>
          <p:cNvPr id="20" name="Text 17">
            <a:hlinkClick r:id="rId16" tooltip="" action="ppaction://hlinksldjump"/>
          </p:cNvPr>
          <p:cNvSpPr txBox="1"/>
          <p:nvPr/>
        </p:nvSpPr>
        <p:spPr>
          <a:xfrm>
            <a:off x="822960" y="466344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532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b="1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على الإجابة التي تراها صحيحة</a:t>
            </a:r>
            <a:endParaRPr lang="ar-OM" sz="1500" dirty="0"/>
          </a:p>
        </p:txBody>
      </p:sp>
      <p:sp>
        <p:nvSpPr>
          <p:cNvPr id="22" name="Text 19">
            <a:hlinkClick r:id="rId17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3" name="Text 20">
            <a:hlinkClick r:id="rId18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4" name="Text 21">
            <a:hlinkClick r:id="rId19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2E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0" y="822960"/>
            <a:ext cx="457200" cy="4572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380000">
            <a:off x="2103120" y="201168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60000">
            <a:off x="731520" y="4206240"/>
            <a:ext cx="411480" cy="41148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540000">
            <a:off x="1828800" y="521208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920000">
            <a:off x="10607040" y="731520"/>
            <a:ext cx="411480" cy="4114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3300000">
            <a:off x="9692640" y="1920240"/>
            <a:ext cx="274320" cy="27432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1080000">
            <a:off x="10972800" y="3840480"/>
            <a:ext cx="457200" cy="45720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460000">
            <a:off x="9966960" y="5120640"/>
            <a:ext cx="320040" cy="32004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40000">
            <a:off x="3657600" y="54864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620000">
            <a:off x="8229600" y="50292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3000000">
            <a:off x="3017520" y="5486400"/>
            <a:ext cx="365760" cy="36576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780000">
            <a:off x="8961120" y="557784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160000">
            <a:off x="58521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3540000">
            <a:off x="1463040" y="3017520"/>
            <a:ext cx="256032" cy="256032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1320000">
            <a:off x="10332720" y="2926080"/>
            <a:ext cx="274320" cy="27432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55848" y="137160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355848" y="1371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6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أحسنت!</a:t>
            </a:r>
            <a:endParaRPr lang="ar-OM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1828800" y="342900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الإجابة الصحيحة: فتح (Open)</a:t>
            </a:r>
            <a:endParaRPr lang="ar-OM" sz="2400" dirty="0"/>
          </a:p>
        </p:txBody>
      </p:sp>
      <p:sp>
        <p:nvSpPr>
          <p:cNvPr id="21" name="Text 18">
            <a:hlinkClick r:id="rId1" tooltip="" action="ppaction://hlinksldjump"/>
          </p:cNvPr>
          <p:cNvSpPr txBox="1"/>
          <p:nvPr/>
        </p:nvSpPr>
        <p:spPr>
          <a:xfrm>
            <a:off x="6263640" y="45720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</a:t>
            </a:r>
            <a:endParaRPr lang="ar-OM" sz="1800" dirty="0"/>
          </a:p>
        </p:txBody>
      </p:sp>
      <p:sp>
        <p:nvSpPr>
          <p:cNvPr id="22" name="Text 19">
            <a:hlinkClick r:id="rId2" tooltip="" action="ppaction://hlinksldjump"/>
          </p:cNvPr>
          <p:cNvSpPr txBox="1"/>
          <p:nvPr/>
        </p:nvSpPr>
        <p:spPr>
          <a:xfrm>
            <a:off x="3749040" y="457200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الدرس ◀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applause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9C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98648" y="1554480"/>
            <a:ext cx="64008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898648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5400" b="1" dirty="0">
                <a:solidFill>
                  <a:srgbClr val="9C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356616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جيدًا… أنت قادر على الوصول إلى الإجابة الصحيحة</a:t>
            </a:r>
            <a:endParaRPr lang="ar-OM" sz="2200" dirty="0"/>
          </a:p>
        </p:txBody>
      </p:sp>
      <p:sp>
        <p:nvSpPr>
          <p:cNvPr id="6" name="Text 3">
            <a:hlinkClick r:id="rId1" tooltip="" action="ppaction://hlinksldjump"/>
          </p:cNvPr>
          <p:cNvSpPr txBox="1"/>
          <p:nvPr/>
        </p:nvSpPr>
        <p:spPr>
          <a:xfrm>
            <a:off x="4910328" y="457200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 ▶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buzz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262311" y="50292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6A3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2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التنسيق في الصفحة الرئيسية</a:t>
            </a:r>
            <a:endParaRPr lang="ar-OM" sz="3400" dirty="0"/>
          </a:p>
        </p:txBody>
      </p:sp>
      <p:sp>
        <p:nvSpPr>
          <p:cNvPr id="5" name="Text 2">
            <a:hlinkClick r:id="rId1" tooltip="" action="ppaction://hlinksldjump"/>
          </p:cNvPr>
          <p:cNvSpPr txBox="1"/>
          <p:nvPr/>
        </p:nvSpPr>
        <p:spPr>
          <a:xfrm>
            <a:off x="548640" y="10972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6A3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مقاطع الأدوات ◀</a:t>
            </a:r>
            <a:endParaRPr lang="ar-OM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OM" altLang="en-US" sz="1700" dirty="0">
                <a:solidFill>
                  <a:srgbClr val="5B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نجدها في تبويب الصفحة الرئيسية </a:t>
            </a:r>
            <a:pPr algn="r" indent="0" marL="0">
              <a:buNone/>
            </a:pPr>
            <a:r>
              <a:rPr lang="ar-OM" altLang="en-US" sz="17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ar-OM" sz="1700" dirty="0"/>
          </a:p>
        </p:txBody>
      </p:sp>
      <p:sp>
        <p:nvSpPr>
          <p:cNvPr id="7" name="Shape 4"/>
          <p:cNvSpPr/>
          <p:nvPr/>
        </p:nvSpPr>
        <p:spPr>
          <a:xfrm>
            <a:off x="9040901" y="2286000"/>
            <a:ext cx="2602154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454335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54335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dirty="0">
                <a:solidFill>
                  <a:srgbClr val="1C1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223781" y="2606040"/>
            <a:ext cx="1093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9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الخط</a:t>
            </a:r>
            <a:endParaRPr lang="ar-OM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223781" y="3063240"/>
            <a:ext cx="1093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0148" y="2286000"/>
            <a:ext cx="2602154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23581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06461" y="278892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9AA6B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3581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393028" y="2606040"/>
            <a:ext cx="1093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9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الخط</a:t>
            </a:r>
            <a:endParaRPr lang="ar-OM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393028" y="3063240"/>
            <a:ext cx="1093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379394" y="2286000"/>
            <a:ext cx="2602154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92828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92828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heavy" dirty="0">
                <a:solidFill>
                  <a:srgbClr val="1C1452"/>
                </a:solidFill>
                <a:uFill>
                  <a:solidFill>
                    <a:srgbClr val="D93A2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3562274" y="2606040"/>
            <a:ext cx="1093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9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لون الخط</a:t>
            </a:r>
            <a:endParaRPr lang="ar-OM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3562274" y="3063240"/>
            <a:ext cx="1093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2286000"/>
            <a:ext cx="2602154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962074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962074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2606040"/>
            <a:ext cx="1093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9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غامق</a:t>
            </a:r>
            <a:endParaRPr lang="ar-OM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3063240"/>
            <a:ext cx="1093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040901" y="4023360"/>
            <a:ext cx="2602154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454335" y="4297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454335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i="1" dirty="0">
                <a:solidFill>
                  <a:srgbClr val="1C1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9223781" y="4343400"/>
            <a:ext cx="1093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9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مائل</a:t>
            </a:r>
            <a:endParaRPr lang="ar-OM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9223781" y="4800600"/>
            <a:ext cx="1093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Italic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210148" y="4023360"/>
            <a:ext cx="2602154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623581" y="4297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623581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sng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6393028" y="4343400"/>
            <a:ext cx="1093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9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تسطير</a:t>
            </a:r>
            <a:endParaRPr lang="ar-OM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6393028" y="4800600"/>
            <a:ext cx="1093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48640" y="4023360"/>
            <a:ext cx="543290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92828" y="4297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792828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731520" y="4343400"/>
            <a:ext cx="3924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9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لون تمييز النص</a:t>
            </a:r>
            <a:endParaRPr lang="ar-OM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731520" y="4800600"/>
            <a:ext cx="392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Highlight Color</a:t>
            </a:r>
            <a:endParaRPr lang="en-US" sz="1300" dirty="0"/>
          </a:p>
        </p:txBody>
      </p:sp>
      <p:sp>
        <p:nvSpPr>
          <p:cNvPr id="43" name="Text 40">
            <a:hlinkClick r:id="rId2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44" name="Text 41">
            <a:hlinkClick r:id="rId3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45" name="Text 42">
            <a:hlinkClick r:id="rId4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549079" y="502920"/>
            <a:ext cx="2093976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مقاطع توضيحية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كيف تعمل كل أداة</a:t>
            </a:r>
            <a:endParaRPr lang="ar-OM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على الأداة لمشاهدة المقطع</a:t>
            </a:r>
            <a:endParaRPr lang="ar-OM" sz="1500" dirty="0"/>
          </a:p>
        </p:txBody>
      </p:sp>
      <p:sp>
        <p:nvSpPr>
          <p:cNvPr id="6" name="Text 3">
            <a:hlinkClick r:id="rId1" tooltip="" action="ppaction://hlinksldjump"/>
          </p:cNvPr>
          <p:cNvSpPr txBox="1"/>
          <p:nvPr/>
        </p:nvSpPr>
        <p:spPr>
          <a:xfrm>
            <a:off x="9075191" y="2194560"/>
            <a:ext cx="2567864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7" name="Shape 4"/>
          <p:cNvSpPr/>
          <p:nvPr/>
        </p:nvSpPr>
        <p:spPr>
          <a:xfrm>
            <a:off x="10500055" y="25146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00055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dirty="0">
                <a:solidFill>
                  <a:srgbClr val="1C1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3000" dirty="0"/>
          </a:p>
        </p:txBody>
      </p:sp>
      <p:sp>
        <p:nvSpPr>
          <p:cNvPr id="9" name="Text 6">
            <a:hlinkClick r:id="rId2" tooltip="" action="ppaction://hlinksldjump"/>
          </p:cNvPr>
          <p:cNvSpPr txBox="1"/>
          <p:nvPr/>
        </p:nvSpPr>
        <p:spPr>
          <a:xfrm>
            <a:off x="9258071" y="2514600"/>
            <a:ext cx="110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الخط</a:t>
            </a:r>
            <a:endParaRPr lang="ar-OM" sz="1800" dirty="0"/>
          </a:p>
        </p:txBody>
      </p:sp>
      <p:sp>
        <p:nvSpPr>
          <p:cNvPr id="10" name="Text 7">
            <a:hlinkClick r:id="rId3" tooltip="" action="ppaction://hlinksldjump"/>
          </p:cNvPr>
          <p:cNvSpPr txBox="1"/>
          <p:nvPr/>
        </p:nvSpPr>
        <p:spPr>
          <a:xfrm>
            <a:off x="9258071" y="3017520"/>
            <a:ext cx="110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</a:t>
            </a:r>
            <a:endParaRPr lang="en-US" sz="1200" dirty="0"/>
          </a:p>
        </p:txBody>
      </p:sp>
      <p:sp>
        <p:nvSpPr>
          <p:cNvPr id="11" name="Text 8">
            <a:hlinkClick r:id="rId4" tooltip="" action="ppaction://hlinksldjump"/>
          </p:cNvPr>
          <p:cNvSpPr txBox="1"/>
          <p:nvPr/>
        </p:nvSpPr>
        <p:spPr>
          <a:xfrm>
            <a:off x="9258071" y="342900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تشغيل</a:t>
            </a:r>
            <a:endParaRPr lang="ar-OM" sz="1200" dirty="0"/>
          </a:p>
        </p:txBody>
      </p:sp>
      <p:sp>
        <p:nvSpPr>
          <p:cNvPr id="12" name="Text 9">
            <a:hlinkClick r:id="rId5" tooltip="" action="ppaction://hlinksldjump"/>
          </p:cNvPr>
          <p:cNvSpPr txBox="1"/>
          <p:nvPr/>
        </p:nvSpPr>
        <p:spPr>
          <a:xfrm>
            <a:off x="6233008" y="2194560"/>
            <a:ext cx="2567864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3" name="Shape 10"/>
          <p:cNvSpPr/>
          <p:nvPr/>
        </p:nvSpPr>
        <p:spPr>
          <a:xfrm>
            <a:off x="7657871" y="25146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40751" y="27432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9AA6B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57871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16" name="Text 13">
            <a:hlinkClick r:id="rId6" tooltip="" action="ppaction://hlinksldjump"/>
          </p:cNvPr>
          <p:cNvSpPr txBox="1"/>
          <p:nvPr/>
        </p:nvSpPr>
        <p:spPr>
          <a:xfrm>
            <a:off x="6415888" y="2514600"/>
            <a:ext cx="110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الخط</a:t>
            </a:r>
            <a:endParaRPr lang="ar-OM" sz="1800" dirty="0"/>
          </a:p>
        </p:txBody>
      </p:sp>
      <p:sp>
        <p:nvSpPr>
          <p:cNvPr id="17" name="Text 14">
            <a:hlinkClick r:id="rId7" tooltip="" action="ppaction://hlinksldjump"/>
          </p:cNvPr>
          <p:cNvSpPr txBox="1"/>
          <p:nvPr/>
        </p:nvSpPr>
        <p:spPr>
          <a:xfrm>
            <a:off x="6415888" y="3017520"/>
            <a:ext cx="110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200" dirty="0"/>
          </a:p>
        </p:txBody>
      </p:sp>
      <p:sp>
        <p:nvSpPr>
          <p:cNvPr id="18" name="Text 15">
            <a:hlinkClick r:id="rId8" tooltip="" action="ppaction://hlinksldjump"/>
          </p:cNvPr>
          <p:cNvSpPr txBox="1"/>
          <p:nvPr/>
        </p:nvSpPr>
        <p:spPr>
          <a:xfrm>
            <a:off x="6415888" y="342900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تشغيل</a:t>
            </a:r>
            <a:endParaRPr lang="ar-OM" sz="1200" dirty="0"/>
          </a:p>
        </p:txBody>
      </p:sp>
      <p:sp>
        <p:nvSpPr>
          <p:cNvPr id="19" name="Text 16">
            <a:hlinkClick r:id="rId9" tooltip="" action="ppaction://hlinksldjump"/>
          </p:cNvPr>
          <p:cNvSpPr txBox="1"/>
          <p:nvPr/>
        </p:nvSpPr>
        <p:spPr>
          <a:xfrm>
            <a:off x="3390824" y="2194560"/>
            <a:ext cx="2567864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20" name="Shape 17"/>
          <p:cNvSpPr/>
          <p:nvPr/>
        </p:nvSpPr>
        <p:spPr>
          <a:xfrm>
            <a:off x="4815688" y="25146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15688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heavy" dirty="0">
                <a:solidFill>
                  <a:srgbClr val="1C1452"/>
                </a:solidFill>
                <a:uFill>
                  <a:solidFill>
                    <a:srgbClr val="D93A2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22" name="Text 19">
            <a:hlinkClick r:id="rId10" tooltip="" action="ppaction://hlinksldjump"/>
          </p:cNvPr>
          <p:cNvSpPr txBox="1"/>
          <p:nvPr/>
        </p:nvSpPr>
        <p:spPr>
          <a:xfrm>
            <a:off x="3573704" y="2514600"/>
            <a:ext cx="110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لون الخط</a:t>
            </a:r>
            <a:endParaRPr lang="ar-OM" sz="1800" dirty="0"/>
          </a:p>
        </p:txBody>
      </p:sp>
      <p:sp>
        <p:nvSpPr>
          <p:cNvPr id="23" name="Text 20">
            <a:hlinkClick r:id="rId11" tooltip="" action="ppaction://hlinksldjump"/>
          </p:cNvPr>
          <p:cNvSpPr txBox="1"/>
          <p:nvPr/>
        </p:nvSpPr>
        <p:spPr>
          <a:xfrm>
            <a:off x="3573704" y="3017520"/>
            <a:ext cx="110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200" dirty="0"/>
          </a:p>
        </p:txBody>
      </p:sp>
      <p:sp>
        <p:nvSpPr>
          <p:cNvPr id="24" name="Text 21">
            <a:hlinkClick r:id="rId12" tooltip="" action="ppaction://hlinksldjump"/>
          </p:cNvPr>
          <p:cNvSpPr txBox="1"/>
          <p:nvPr/>
        </p:nvSpPr>
        <p:spPr>
          <a:xfrm>
            <a:off x="3573704" y="342900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تشغيل</a:t>
            </a:r>
            <a:endParaRPr lang="ar-OM" sz="1200" dirty="0"/>
          </a:p>
        </p:txBody>
      </p:sp>
      <p:sp>
        <p:nvSpPr>
          <p:cNvPr id="25" name="Text 22">
            <a:hlinkClick r:id="rId13" tooltip="" action="ppaction://hlinksldjump"/>
          </p:cNvPr>
          <p:cNvSpPr txBox="1"/>
          <p:nvPr/>
        </p:nvSpPr>
        <p:spPr>
          <a:xfrm>
            <a:off x="548640" y="2194560"/>
            <a:ext cx="2567864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26" name="Shape 23"/>
          <p:cNvSpPr/>
          <p:nvPr/>
        </p:nvSpPr>
        <p:spPr>
          <a:xfrm>
            <a:off x="1973504" y="25146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973504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28" name="Text 25">
            <a:hlinkClick r:id="rId14" tooltip="" action="ppaction://hlinksldjump"/>
          </p:cNvPr>
          <p:cNvSpPr txBox="1"/>
          <p:nvPr/>
        </p:nvSpPr>
        <p:spPr>
          <a:xfrm>
            <a:off x="731520" y="2514600"/>
            <a:ext cx="110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غامق</a:t>
            </a:r>
            <a:endParaRPr lang="ar-OM" sz="1800" dirty="0"/>
          </a:p>
        </p:txBody>
      </p:sp>
      <p:sp>
        <p:nvSpPr>
          <p:cNvPr id="29" name="Text 26">
            <a:hlinkClick r:id="rId15" tooltip="" action="ppaction://hlinksldjump"/>
          </p:cNvPr>
          <p:cNvSpPr txBox="1"/>
          <p:nvPr/>
        </p:nvSpPr>
        <p:spPr>
          <a:xfrm>
            <a:off x="731520" y="3017520"/>
            <a:ext cx="110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</a:t>
            </a:r>
            <a:endParaRPr lang="en-US" sz="1200" dirty="0"/>
          </a:p>
        </p:txBody>
      </p:sp>
      <p:sp>
        <p:nvSpPr>
          <p:cNvPr id="30" name="Text 27">
            <a:hlinkClick r:id="rId16" tooltip="" action="ppaction://hlinksldjump"/>
          </p:cNvPr>
          <p:cNvSpPr txBox="1"/>
          <p:nvPr/>
        </p:nvSpPr>
        <p:spPr>
          <a:xfrm>
            <a:off x="731520" y="342900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تشغيل</a:t>
            </a:r>
            <a:endParaRPr lang="ar-OM" sz="1200" dirty="0"/>
          </a:p>
        </p:txBody>
      </p:sp>
      <p:sp>
        <p:nvSpPr>
          <p:cNvPr id="31" name="Text 28">
            <a:hlinkClick r:id="rId17" tooltip="" action="ppaction://hlinksldjump"/>
          </p:cNvPr>
          <p:cNvSpPr txBox="1"/>
          <p:nvPr/>
        </p:nvSpPr>
        <p:spPr>
          <a:xfrm>
            <a:off x="9075191" y="4160520"/>
            <a:ext cx="2567864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32" name="Shape 29"/>
          <p:cNvSpPr/>
          <p:nvPr/>
        </p:nvSpPr>
        <p:spPr>
          <a:xfrm>
            <a:off x="10500055" y="44805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500055" y="4480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i="1" dirty="0">
                <a:solidFill>
                  <a:srgbClr val="1C1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34" name="Text 31">
            <a:hlinkClick r:id="rId18" tooltip="" action="ppaction://hlinksldjump"/>
          </p:cNvPr>
          <p:cNvSpPr txBox="1"/>
          <p:nvPr/>
        </p:nvSpPr>
        <p:spPr>
          <a:xfrm>
            <a:off x="9258071" y="4480560"/>
            <a:ext cx="110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مائل</a:t>
            </a:r>
            <a:endParaRPr lang="ar-OM" sz="1800" dirty="0"/>
          </a:p>
        </p:txBody>
      </p:sp>
      <p:sp>
        <p:nvSpPr>
          <p:cNvPr id="35" name="Text 32">
            <a:hlinkClick r:id="rId19" tooltip="" action="ppaction://hlinksldjump"/>
          </p:cNvPr>
          <p:cNvSpPr txBox="1"/>
          <p:nvPr/>
        </p:nvSpPr>
        <p:spPr>
          <a:xfrm>
            <a:off x="9258071" y="4983480"/>
            <a:ext cx="110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Italic</a:t>
            </a:r>
            <a:endParaRPr lang="en-US" sz="1200" dirty="0"/>
          </a:p>
        </p:txBody>
      </p:sp>
      <p:sp>
        <p:nvSpPr>
          <p:cNvPr id="36" name="Text 33">
            <a:hlinkClick r:id="rId20" tooltip="" action="ppaction://hlinksldjump"/>
          </p:cNvPr>
          <p:cNvSpPr txBox="1"/>
          <p:nvPr/>
        </p:nvSpPr>
        <p:spPr>
          <a:xfrm>
            <a:off x="9258071" y="539496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تشغيل</a:t>
            </a:r>
            <a:endParaRPr lang="ar-OM" sz="1200" dirty="0"/>
          </a:p>
        </p:txBody>
      </p:sp>
      <p:sp>
        <p:nvSpPr>
          <p:cNvPr id="37" name="Text 34">
            <a:hlinkClick r:id="rId21" tooltip="" action="ppaction://hlinksldjump"/>
          </p:cNvPr>
          <p:cNvSpPr txBox="1"/>
          <p:nvPr/>
        </p:nvSpPr>
        <p:spPr>
          <a:xfrm>
            <a:off x="6233008" y="4160520"/>
            <a:ext cx="2567864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38" name="Shape 35"/>
          <p:cNvSpPr/>
          <p:nvPr/>
        </p:nvSpPr>
        <p:spPr>
          <a:xfrm>
            <a:off x="7657871" y="44805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657871" y="4480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sng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3000" dirty="0"/>
          </a:p>
        </p:txBody>
      </p:sp>
      <p:sp>
        <p:nvSpPr>
          <p:cNvPr id="40" name="Text 37">
            <a:hlinkClick r:id="rId22" tooltip="" action="ppaction://hlinksldjump"/>
          </p:cNvPr>
          <p:cNvSpPr txBox="1"/>
          <p:nvPr/>
        </p:nvSpPr>
        <p:spPr>
          <a:xfrm>
            <a:off x="6415888" y="4480560"/>
            <a:ext cx="110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تسطير</a:t>
            </a:r>
            <a:endParaRPr lang="ar-OM" sz="1800" dirty="0"/>
          </a:p>
        </p:txBody>
      </p:sp>
      <p:sp>
        <p:nvSpPr>
          <p:cNvPr id="41" name="Text 38">
            <a:hlinkClick r:id="rId23" tooltip="" action="ppaction://hlinksldjump"/>
          </p:cNvPr>
          <p:cNvSpPr txBox="1"/>
          <p:nvPr/>
        </p:nvSpPr>
        <p:spPr>
          <a:xfrm>
            <a:off x="6415888" y="4983480"/>
            <a:ext cx="110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</a:t>
            </a:r>
            <a:endParaRPr lang="en-US" sz="1200" dirty="0"/>
          </a:p>
        </p:txBody>
      </p:sp>
      <p:sp>
        <p:nvSpPr>
          <p:cNvPr id="42" name="Text 39">
            <a:hlinkClick r:id="rId24" tooltip="" action="ppaction://hlinksldjump"/>
          </p:cNvPr>
          <p:cNvSpPr txBox="1"/>
          <p:nvPr/>
        </p:nvSpPr>
        <p:spPr>
          <a:xfrm>
            <a:off x="6415888" y="539496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تشغيل</a:t>
            </a:r>
            <a:endParaRPr lang="ar-OM" sz="1200" dirty="0"/>
          </a:p>
        </p:txBody>
      </p:sp>
      <p:sp>
        <p:nvSpPr>
          <p:cNvPr id="43" name="Text 40">
            <a:hlinkClick r:id="rId25" tooltip="" action="ppaction://hlinksldjump"/>
          </p:cNvPr>
          <p:cNvSpPr txBox="1"/>
          <p:nvPr/>
        </p:nvSpPr>
        <p:spPr>
          <a:xfrm>
            <a:off x="3390824" y="4160520"/>
            <a:ext cx="2567864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44" name="Shape 41"/>
          <p:cNvSpPr/>
          <p:nvPr/>
        </p:nvSpPr>
        <p:spPr>
          <a:xfrm>
            <a:off x="4815688" y="44805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815688" y="4480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46" name="Text 43">
            <a:hlinkClick r:id="rId26" tooltip="" action="ppaction://hlinksldjump"/>
          </p:cNvPr>
          <p:cNvSpPr txBox="1"/>
          <p:nvPr/>
        </p:nvSpPr>
        <p:spPr>
          <a:xfrm>
            <a:off x="3573704" y="4480560"/>
            <a:ext cx="110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تمييز النص</a:t>
            </a:r>
            <a:endParaRPr lang="ar-OM" sz="1800" dirty="0"/>
          </a:p>
        </p:txBody>
      </p:sp>
      <p:sp>
        <p:nvSpPr>
          <p:cNvPr id="47" name="Text 44">
            <a:hlinkClick r:id="rId27" tooltip="" action="ppaction://hlinksldjump"/>
          </p:cNvPr>
          <p:cNvSpPr txBox="1"/>
          <p:nvPr/>
        </p:nvSpPr>
        <p:spPr>
          <a:xfrm>
            <a:off x="3573704" y="4983480"/>
            <a:ext cx="110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</a:t>
            </a:r>
            <a:endParaRPr lang="en-US" sz="1200" dirty="0"/>
          </a:p>
        </p:txBody>
      </p:sp>
      <p:sp>
        <p:nvSpPr>
          <p:cNvPr id="48" name="Text 45">
            <a:hlinkClick r:id="rId28" tooltip="" action="ppaction://hlinksldjump"/>
          </p:cNvPr>
          <p:cNvSpPr txBox="1"/>
          <p:nvPr/>
        </p:nvSpPr>
        <p:spPr>
          <a:xfrm>
            <a:off x="3573704" y="539496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تشغيل</a:t>
            </a:r>
            <a:endParaRPr lang="ar-OM" sz="1200" dirty="0"/>
          </a:p>
        </p:txBody>
      </p:sp>
      <p:sp>
        <p:nvSpPr>
          <p:cNvPr id="49" name="Text 46">
            <a:hlinkClick r:id="rId29" tooltip="" action="ppaction://hlinksldjump"/>
          </p:cNvPr>
          <p:cNvSpPr txBox="1"/>
          <p:nvPr/>
        </p:nvSpPr>
        <p:spPr>
          <a:xfrm>
            <a:off x="548640" y="4160520"/>
            <a:ext cx="2567864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50" name="Shape 47"/>
          <p:cNvSpPr/>
          <p:nvPr/>
        </p:nvSpPr>
        <p:spPr>
          <a:xfrm>
            <a:off x="1973504" y="44805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375840" y="4709160"/>
            <a:ext cx="329184" cy="64008"/>
          </a:xfrm>
          <a:prstGeom prst="rect">
            <a:avLst/>
          </a:prstGeom>
          <a:solidFill>
            <a:srgbClr val="1C1452"/>
          </a:solidFill>
          <a:ln w="12700">
            <a:solidFill>
              <a:srgbClr val="1C145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458136" y="4846320"/>
            <a:ext cx="246888" cy="64008"/>
          </a:xfrm>
          <a:prstGeom prst="rect">
            <a:avLst/>
          </a:prstGeom>
          <a:solidFill>
            <a:srgbClr val="1C1452"/>
          </a:solidFill>
          <a:ln w="12700">
            <a:solidFill>
              <a:srgbClr val="1C145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375840" y="4983480"/>
            <a:ext cx="329184" cy="64008"/>
          </a:xfrm>
          <a:prstGeom prst="rect">
            <a:avLst/>
          </a:prstGeom>
          <a:solidFill>
            <a:srgbClr val="1C1452"/>
          </a:solidFill>
          <a:ln w="12700">
            <a:solidFill>
              <a:srgbClr val="1C145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513000" y="5120640"/>
            <a:ext cx="192024" cy="64008"/>
          </a:xfrm>
          <a:prstGeom prst="rect">
            <a:avLst/>
          </a:prstGeom>
          <a:solidFill>
            <a:srgbClr val="1C1452"/>
          </a:solidFill>
          <a:ln w="12700">
            <a:solidFill>
              <a:srgbClr val="1C1452"/>
            </a:solidFill>
            <a:prstDash val="solid"/>
          </a:ln>
        </p:spPr>
      </p:sp>
      <p:sp>
        <p:nvSpPr>
          <p:cNvPr id="55" name="Text 52">
            <a:hlinkClick r:id="rId30" tooltip="" action="ppaction://hlinksldjump"/>
          </p:cNvPr>
          <p:cNvSpPr txBox="1"/>
          <p:nvPr/>
        </p:nvSpPr>
        <p:spPr>
          <a:xfrm>
            <a:off x="731520" y="4480560"/>
            <a:ext cx="110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محاذاة لليمين</a:t>
            </a:r>
            <a:endParaRPr lang="ar-OM" sz="1800" dirty="0"/>
          </a:p>
        </p:txBody>
      </p:sp>
      <p:sp>
        <p:nvSpPr>
          <p:cNvPr id="56" name="Text 53">
            <a:hlinkClick r:id="rId31" tooltip="" action="ppaction://hlinksldjump"/>
          </p:cNvPr>
          <p:cNvSpPr txBox="1"/>
          <p:nvPr/>
        </p:nvSpPr>
        <p:spPr>
          <a:xfrm>
            <a:off x="731520" y="4983480"/>
            <a:ext cx="110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6A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Right</a:t>
            </a:r>
            <a:endParaRPr lang="en-US" sz="1200" dirty="0"/>
          </a:p>
        </p:txBody>
      </p:sp>
      <p:sp>
        <p:nvSpPr>
          <p:cNvPr id="57" name="Text 54">
            <a:hlinkClick r:id="rId32" tooltip="" action="ppaction://hlinksldjump"/>
          </p:cNvPr>
          <p:cNvSpPr txBox="1"/>
          <p:nvPr/>
        </p:nvSpPr>
        <p:spPr>
          <a:xfrm>
            <a:off x="731520" y="539496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تشغيل</a:t>
            </a:r>
            <a:endParaRPr lang="ar-OM" sz="1200" dirty="0"/>
          </a:p>
        </p:txBody>
      </p:sp>
      <p:sp>
        <p:nvSpPr>
          <p:cNvPr id="58" name="Text 55">
            <a:hlinkClick r:id="rId33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59" name="Text 56">
            <a:hlinkClick r:id="rId34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60" name="Text 57">
            <a:hlinkClick r:id="rId35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الخط  (Font)</a:t>
            </a:r>
            <a:endParaRPr lang="ar-OM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68680"/>
            <a:ext cx="9144000" cy="5143500"/>
          </a:xfrm>
          <a:prstGeom prst="rect">
            <a:avLst/>
          </a:prstGeom>
        </p:spPr>
      </p:pic>
      <p:sp>
        <p:nvSpPr>
          <p:cNvPr id="5" name="Text 1">
            <a:hlinkClick r:id="rId4" tooltip="" action="ppaction://hlinksldjump"/>
          </p:cNvPr>
          <p:cNvSpPr txBox="1"/>
          <p:nvPr/>
        </p:nvSpPr>
        <p:spPr>
          <a:xfrm>
            <a:off x="2743200" y="6236208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إلى المقاطع ▶</a:t>
            </a:r>
            <a:endParaRPr lang="ar-OM" sz="1300" dirty="0"/>
          </a:p>
        </p:txBody>
      </p:sp>
      <p:sp>
        <p:nvSpPr>
          <p:cNvPr id="6" name="Text 2">
            <a:hlinkClick r:id="rId5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الخط  (Size)</a:t>
            </a:r>
            <a:endParaRPr lang="ar-OM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68680"/>
            <a:ext cx="9144000" cy="5143500"/>
          </a:xfrm>
          <a:prstGeom prst="rect">
            <a:avLst/>
          </a:prstGeom>
        </p:spPr>
      </p:pic>
      <p:sp>
        <p:nvSpPr>
          <p:cNvPr id="5" name="Text 1">
            <a:hlinkClick r:id="rId4" tooltip="" action="ppaction://hlinksldjump"/>
          </p:cNvPr>
          <p:cNvSpPr txBox="1"/>
          <p:nvPr/>
        </p:nvSpPr>
        <p:spPr>
          <a:xfrm>
            <a:off x="2743200" y="6236208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إلى المقاطع ▶</a:t>
            </a:r>
            <a:endParaRPr lang="ar-OM" sz="1300" dirty="0"/>
          </a:p>
        </p:txBody>
      </p:sp>
      <p:sp>
        <p:nvSpPr>
          <p:cNvPr id="6" name="Text 2">
            <a:hlinkClick r:id="rId5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لون الخط  (Color)</a:t>
            </a:r>
            <a:endParaRPr lang="ar-OM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68680"/>
            <a:ext cx="9144000" cy="5143500"/>
          </a:xfrm>
          <a:prstGeom prst="rect">
            <a:avLst/>
          </a:prstGeom>
        </p:spPr>
      </p:pic>
      <p:sp>
        <p:nvSpPr>
          <p:cNvPr id="5" name="Text 1">
            <a:hlinkClick r:id="rId4" tooltip="" action="ppaction://hlinksldjump"/>
          </p:cNvPr>
          <p:cNvSpPr txBox="1"/>
          <p:nvPr/>
        </p:nvSpPr>
        <p:spPr>
          <a:xfrm>
            <a:off x="2743200" y="6236208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إلى المقاطع ▶</a:t>
            </a:r>
            <a:endParaRPr lang="ar-OM" sz="1300" dirty="0"/>
          </a:p>
        </p:txBody>
      </p:sp>
      <p:sp>
        <p:nvSpPr>
          <p:cNvPr id="6" name="Text 2">
            <a:hlinkClick r:id="rId5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غامق  (Bold)</a:t>
            </a:r>
            <a:endParaRPr lang="ar-OM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68680"/>
            <a:ext cx="9144000" cy="5143500"/>
          </a:xfrm>
          <a:prstGeom prst="rect">
            <a:avLst/>
          </a:prstGeom>
        </p:spPr>
      </p:pic>
      <p:sp>
        <p:nvSpPr>
          <p:cNvPr id="5" name="Text 1">
            <a:hlinkClick r:id="rId4" tooltip="" action="ppaction://hlinksldjump"/>
          </p:cNvPr>
          <p:cNvSpPr txBox="1"/>
          <p:nvPr/>
        </p:nvSpPr>
        <p:spPr>
          <a:xfrm>
            <a:off x="2743200" y="6236208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إلى المقاطع ▶</a:t>
            </a:r>
            <a:endParaRPr lang="ar-OM" sz="1300" dirty="0"/>
          </a:p>
        </p:txBody>
      </p:sp>
      <p:sp>
        <p:nvSpPr>
          <p:cNvPr id="6" name="Text 2">
            <a:hlinkClick r:id="rId5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مائل  (Italic)</a:t>
            </a:r>
            <a:endParaRPr lang="ar-OM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68680"/>
            <a:ext cx="9144000" cy="5143500"/>
          </a:xfrm>
          <a:prstGeom prst="rect">
            <a:avLst/>
          </a:prstGeom>
        </p:spPr>
      </p:pic>
      <p:sp>
        <p:nvSpPr>
          <p:cNvPr id="5" name="Text 1">
            <a:hlinkClick r:id="rId4" tooltip="" action="ppaction://hlinksldjump"/>
          </p:cNvPr>
          <p:cNvSpPr txBox="1"/>
          <p:nvPr/>
        </p:nvSpPr>
        <p:spPr>
          <a:xfrm>
            <a:off x="2743200" y="6236208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إلى المقاطع ▶</a:t>
            </a:r>
            <a:endParaRPr lang="ar-OM" sz="1300" dirty="0"/>
          </a:p>
        </p:txBody>
      </p:sp>
      <p:sp>
        <p:nvSpPr>
          <p:cNvPr id="6" name="Text 2">
            <a:hlinkClick r:id="rId5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تسطير  (Underline)</a:t>
            </a:r>
            <a:endParaRPr lang="ar-OM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68680"/>
            <a:ext cx="9144000" cy="5143500"/>
          </a:xfrm>
          <a:prstGeom prst="rect">
            <a:avLst/>
          </a:prstGeom>
        </p:spPr>
      </p:pic>
      <p:sp>
        <p:nvSpPr>
          <p:cNvPr id="5" name="Text 1">
            <a:hlinkClick r:id="rId4" tooltip="" action="ppaction://hlinksldjump"/>
          </p:cNvPr>
          <p:cNvSpPr txBox="1"/>
          <p:nvPr/>
        </p:nvSpPr>
        <p:spPr>
          <a:xfrm>
            <a:off x="2743200" y="6236208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إلى المقاطع ▶</a:t>
            </a:r>
            <a:endParaRPr lang="ar-OM" sz="1300" dirty="0"/>
          </a:p>
        </p:txBody>
      </p:sp>
      <p:sp>
        <p:nvSpPr>
          <p:cNvPr id="6" name="Text 2">
            <a:hlinkClick r:id="rId5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تمييز النص  (Highlight)</a:t>
            </a:r>
            <a:endParaRPr lang="ar-OM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68680"/>
            <a:ext cx="9144000" cy="5143500"/>
          </a:xfrm>
          <a:prstGeom prst="rect">
            <a:avLst/>
          </a:prstGeom>
        </p:spPr>
      </p:pic>
      <p:sp>
        <p:nvSpPr>
          <p:cNvPr id="5" name="Text 1">
            <a:hlinkClick r:id="rId4" tooltip="" action="ppaction://hlinksldjump"/>
          </p:cNvPr>
          <p:cNvSpPr txBox="1"/>
          <p:nvPr/>
        </p:nvSpPr>
        <p:spPr>
          <a:xfrm>
            <a:off x="2743200" y="6236208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إلى المقاطع ▶</a:t>
            </a:r>
            <a:endParaRPr lang="ar-OM" sz="1300" dirty="0"/>
          </a:p>
        </p:txBody>
      </p:sp>
      <p:sp>
        <p:nvSpPr>
          <p:cNvPr id="6" name="Text 2">
            <a:hlinkClick r:id="rId5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محاذاة لليمين  (Align Right)</a:t>
            </a:r>
            <a:endParaRPr lang="ar-OM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68680"/>
            <a:ext cx="9144000" cy="5143500"/>
          </a:xfrm>
          <a:prstGeom prst="rect">
            <a:avLst/>
          </a:prstGeom>
        </p:spPr>
      </p:pic>
      <p:sp>
        <p:nvSpPr>
          <p:cNvPr id="5" name="Text 1">
            <a:hlinkClick r:id="rId4" tooltip="" action="ppaction://hlinksldjump"/>
          </p:cNvPr>
          <p:cNvSpPr txBox="1"/>
          <p:nvPr/>
        </p:nvSpPr>
        <p:spPr>
          <a:xfrm>
            <a:off x="2743200" y="6236208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إلى المقاطع ▶</a:t>
            </a:r>
            <a:endParaRPr lang="ar-OM" sz="1300" dirty="0"/>
          </a:p>
        </p:txBody>
      </p:sp>
      <p:sp>
        <p:nvSpPr>
          <p:cNvPr id="6" name="Text 2">
            <a:hlinkClick r:id="rId5" tooltip="" action="ppaction://hlinksldjump"/>
          </p:cNvPr>
          <p:cNvSpPr txBox="1"/>
          <p:nvPr/>
        </p:nvSpPr>
        <p:spPr>
          <a:xfrm>
            <a:off x="4892040" y="6236208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للدرس</a:t>
            </a:r>
            <a:endParaRPr lang="ar-OM" sz="1300" dirty="0"/>
          </a:p>
        </p:txBody>
      </p:sp>
      <p:sp>
        <p:nvSpPr>
          <p:cNvPr id="7" name="Text 3">
            <a:hlinkClick r:id="rId6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60359" y="502920"/>
            <a:ext cx="3282696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تفاعلي  ·  الهدف 2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28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اسم كل أداة؟ طابق كل أداة بوظيفتها</a:t>
            </a:r>
            <a:endParaRPr lang="ar-OM" sz="2800" dirty="0"/>
          </a:p>
        </p:txBody>
      </p:sp>
      <p:sp>
        <p:nvSpPr>
          <p:cNvPr id="5" name="Shape 2"/>
          <p:cNvSpPr/>
          <p:nvPr/>
        </p:nvSpPr>
        <p:spPr>
          <a:xfrm>
            <a:off x="10042855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317175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317175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0596067" y="1965960"/>
            <a:ext cx="502920" cy="50292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700" dirty="0"/>
          </a:p>
        </p:txBody>
      </p:sp>
      <p:sp>
        <p:nvSpPr>
          <p:cNvPr id="9" name="Shape 6"/>
          <p:cNvSpPr/>
          <p:nvPr/>
        </p:nvSpPr>
        <p:spPr>
          <a:xfrm>
            <a:off x="8144012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8332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8332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697224" y="1965960"/>
            <a:ext cx="502920" cy="502920"/>
          </a:xfrm>
          <a:prstGeom prst="ellipse">
            <a:avLst/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700" dirty="0"/>
          </a:p>
        </p:txBody>
      </p:sp>
      <p:sp>
        <p:nvSpPr>
          <p:cNvPr id="13" name="Shape 10"/>
          <p:cNvSpPr/>
          <p:nvPr/>
        </p:nvSpPr>
        <p:spPr>
          <a:xfrm>
            <a:off x="6245169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19489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9801" y="2777490"/>
            <a:ext cx="630936" cy="5257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9AA6B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19489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798381" y="1965960"/>
            <a:ext cx="502920" cy="502920"/>
          </a:xfrm>
          <a:prstGeom prst="ellipse">
            <a:avLst/>
          </a:prstGeom>
          <a:solidFill>
            <a:srgbClr val="5FD8E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OM" sz="1700" dirty="0"/>
          </a:p>
        </p:txBody>
      </p:sp>
      <p:sp>
        <p:nvSpPr>
          <p:cNvPr id="18" name="Shape 15"/>
          <p:cNvSpPr/>
          <p:nvPr/>
        </p:nvSpPr>
        <p:spPr>
          <a:xfrm>
            <a:off x="4346326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0646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20646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i="1" dirty="0">
                <a:solidFill>
                  <a:srgbClr val="1C1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899538" y="1965960"/>
            <a:ext cx="502920" cy="502920"/>
          </a:xfrm>
          <a:prstGeom prst="ellipse">
            <a:avLst/>
          </a:prstGeom>
          <a:solidFill>
            <a:srgbClr val="B9EA6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OM" sz="1700" dirty="0"/>
          </a:p>
        </p:txBody>
      </p:sp>
      <p:sp>
        <p:nvSpPr>
          <p:cNvPr id="22" name="Shape 19"/>
          <p:cNvSpPr/>
          <p:nvPr/>
        </p:nvSpPr>
        <p:spPr>
          <a:xfrm>
            <a:off x="2447483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21803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21803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sng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3000695" y="1965960"/>
            <a:ext cx="502920" cy="50292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OM" sz="1700" dirty="0"/>
          </a:p>
        </p:txBody>
      </p:sp>
      <p:sp>
        <p:nvSpPr>
          <p:cNvPr id="26" name="Shape 23"/>
          <p:cNvSpPr/>
          <p:nvPr/>
        </p:nvSpPr>
        <p:spPr>
          <a:xfrm>
            <a:off x="548640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heavy" dirty="0">
                <a:solidFill>
                  <a:srgbClr val="1C1452"/>
                </a:solidFill>
                <a:uFill>
                  <a:solidFill>
                    <a:srgbClr val="D93A2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1101852" y="1965960"/>
            <a:ext cx="502920" cy="502920"/>
          </a:xfrm>
          <a:prstGeom prst="ellipse">
            <a:avLst/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OM" sz="1700" dirty="0"/>
          </a:p>
        </p:txBody>
      </p:sp>
      <p:sp>
        <p:nvSpPr>
          <p:cNvPr id="30" name="Text 27">
            <a:hlinkClick r:id="rId1" tooltip="" action="ppaction://hlinksldjump"/>
          </p:cNvPr>
          <p:cNvSpPr txBox="1"/>
          <p:nvPr/>
        </p:nvSpPr>
        <p:spPr>
          <a:xfrm>
            <a:off x="4727448" y="434340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الإجابات</a:t>
            </a:r>
            <a:endParaRPr lang="ar-OM" sz="2000" dirty="0"/>
          </a:p>
        </p:txBody>
      </p:sp>
      <p:sp>
        <p:nvSpPr>
          <p:cNvPr id="31" name="Text 28">
            <a:hlinkClick r:id="rId2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32" name="Text 29">
            <a:hlinkClick r:id="rId3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33" name="Text 30">
            <a:hlinkClick r:id="rId4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4864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0" y="548640"/>
            <a:ext cx="365760" cy="36576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5120640"/>
            <a:ext cx="320040" cy="32004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64240" y="5029200"/>
            <a:ext cx="320040" cy="32004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544068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0" y="5394960"/>
            <a:ext cx="274320" cy="27432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52560" y="5440680"/>
            <a:ext cx="274320" cy="27432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16975" y="5029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الإجابات  ·  الهدف 2</a:t>
            </a:r>
            <a:endParaRPr lang="ar-OM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0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أحسنتم! هذه أسماء الأدوات</a:t>
            </a:r>
            <a:endParaRPr lang="ar-OM" sz="3000" dirty="0"/>
          </a:p>
        </p:txBody>
      </p:sp>
      <p:sp>
        <p:nvSpPr>
          <p:cNvPr id="12" name="Shape 9"/>
          <p:cNvSpPr/>
          <p:nvPr/>
        </p:nvSpPr>
        <p:spPr>
          <a:xfrm>
            <a:off x="10042855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317175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317175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0596067" y="1965960"/>
            <a:ext cx="502920" cy="50292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042855" y="40690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تمييز النص</a:t>
            </a:r>
            <a:endParaRPr lang="ar-OM" sz="1600" dirty="0"/>
          </a:p>
        </p:txBody>
      </p:sp>
      <p:sp>
        <p:nvSpPr>
          <p:cNvPr id="17" name="Shape 14"/>
          <p:cNvSpPr/>
          <p:nvPr/>
        </p:nvSpPr>
        <p:spPr>
          <a:xfrm>
            <a:off x="8144012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8332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8332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8697224" y="1965960"/>
            <a:ext cx="502920" cy="502920"/>
          </a:xfrm>
          <a:prstGeom prst="ellipse">
            <a:avLst/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144012" y="40690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غامق</a:t>
            </a:r>
            <a:endParaRPr lang="ar-OM" sz="1600" dirty="0"/>
          </a:p>
        </p:txBody>
      </p:sp>
      <p:sp>
        <p:nvSpPr>
          <p:cNvPr id="22" name="Shape 19"/>
          <p:cNvSpPr/>
          <p:nvPr/>
        </p:nvSpPr>
        <p:spPr>
          <a:xfrm>
            <a:off x="6245169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19489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29801" y="2777490"/>
            <a:ext cx="630936" cy="5257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9AA6B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19489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6798381" y="1965960"/>
            <a:ext cx="502920" cy="502920"/>
          </a:xfrm>
          <a:prstGeom prst="ellipse">
            <a:avLst/>
          </a:prstGeom>
          <a:solidFill>
            <a:srgbClr val="5FD8E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OM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245169" y="40690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الخط</a:t>
            </a:r>
            <a:endParaRPr lang="ar-OM" sz="1600" dirty="0"/>
          </a:p>
        </p:txBody>
      </p:sp>
      <p:sp>
        <p:nvSpPr>
          <p:cNvPr id="28" name="Shape 25"/>
          <p:cNvSpPr/>
          <p:nvPr/>
        </p:nvSpPr>
        <p:spPr>
          <a:xfrm>
            <a:off x="4346326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20646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20646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i="1" dirty="0">
                <a:solidFill>
                  <a:srgbClr val="1C1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4899538" y="1965960"/>
            <a:ext cx="502920" cy="502920"/>
          </a:xfrm>
          <a:prstGeom prst="ellipse">
            <a:avLst/>
          </a:prstGeom>
          <a:solidFill>
            <a:srgbClr val="B9EA6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OM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4346326" y="40690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مائل</a:t>
            </a:r>
            <a:endParaRPr lang="ar-OM" sz="1600" dirty="0"/>
          </a:p>
        </p:txBody>
      </p:sp>
      <p:sp>
        <p:nvSpPr>
          <p:cNvPr id="33" name="Shape 30"/>
          <p:cNvSpPr/>
          <p:nvPr/>
        </p:nvSpPr>
        <p:spPr>
          <a:xfrm>
            <a:off x="2447483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21803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721803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sng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3000695" y="1965960"/>
            <a:ext cx="502920" cy="50292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OM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2447483" y="40690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تسطير الخط</a:t>
            </a:r>
            <a:endParaRPr lang="ar-OM" sz="1600" dirty="0"/>
          </a:p>
        </p:txBody>
      </p:sp>
      <p:sp>
        <p:nvSpPr>
          <p:cNvPr id="38" name="Shape 35"/>
          <p:cNvSpPr/>
          <p:nvPr/>
        </p:nvSpPr>
        <p:spPr>
          <a:xfrm>
            <a:off x="548640" y="224028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2960" y="2514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2960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u="heavy" dirty="0">
                <a:solidFill>
                  <a:srgbClr val="1C1452"/>
                </a:solidFill>
                <a:uFill>
                  <a:solidFill>
                    <a:srgbClr val="D93A2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1101852" y="1965960"/>
            <a:ext cx="502920" cy="502920"/>
          </a:xfrm>
          <a:prstGeom prst="ellipse">
            <a:avLst/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OM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40690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لون الخط</a:t>
            </a:r>
            <a:endParaRPr lang="ar-OM" sz="1600" dirty="0"/>
          </a:p>
        </p:txBody>
      </p:sp>
      <p:sp>
        <p:nvSpPr>
          <p:cNvPr id="43" name="Text 40">
            <a:hlinkClick r:id="rId1" tooltip="" action="ppaction://hlinksldjump"/>
          </p:cNvPr>
          <p:cNvSpPr txBox="1"/>
          <p:nvPr/>
        </p:nvSpPr>
        <p:spPr>
          <a:xfrm>
            <a:off x="6263640" y="5029200"/>
            <a:ext cx="21945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</a:t>
            </a:r>
            <a:endParaRPr lang="ar-OM" sz="1700" dirty="0"/>
          </a:p>
        </p:txBody>
      </p:sp>
      <p:sp>
        <p:nvSpPr>
          <p:cNvPr id="44" name="Text 41">
            <a:hlinkClick r:id="rId2" tooltip="" action="ppaction://hlinksldjump"/>
          </p:cNvPr>
          <p:cNvSpPr txBox="1"/>
          <p:nvPr/>
        </p:nvSpPr>
        <p:spPr>
          <a:xfrm>
            <a:off x="3749040" y="5029200"/>
            <a:ext cx="2331720" cy="594360"/>
          </a:xfrm>
          <a:prstGeom prst="roundRect">
            <a:avLst>
              <a:gd name="adj" fmla="val 18462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الدرس ◀</a:t>
            </a:r>
            <a:endParaRPr lang="ar-OM" sz="1700" dirty="0"/>
          </a:p>
        </p:txBody>
      </p:sp>
    </p:spTree>
  </p:cSld>
  <p:clrMapOvr>
    <a:masterClrMapping/>
  </p:clrMapOvr>
  <p:transition spd="med">
    <p:fade/>
    <p:sndAc>
      <p:stSnd>
        <p:snd r:embed="rIdSnd1" name="applause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262311" y="50292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C8352B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3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C8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جعل الخط غامقًا ومائلًا ومسطّرًا</a:t>
            </a:r>
            <a:endParaRPr lang="ar-OM" sz="3400" dirty="0"/>
          </a:p>
        </p:txBody>
      </p:sp>
      <p:sp>
        <p:nvSpPr>
          <p:cNvPr id="5" name="Shape 2"/>
          <p:cNvSpPr/>
          <p:nvPr/>
        </p:nvSpPr>
        <p:spPr>
          <a:xfrm>
            <a:off x="6278728" y="1920240"/>
            <a:ext cx="5364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957255" y="2103120"/>
            <a:ext cx="502920" cy="502920"/>
          </a:xfrm>
          <a:prstGeom prst="ellipse">
            <a:avLst/>
          </a:prstGeom>
          <a:solidFill>
            <a:srgbClr val="C8352B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07328" y="2057400"/>
            <a:ext cx="431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 العنوان</a:t>
            </a:r>
            <a:endParaRPr lang="ar-OM" sz="1700" dirty="0"/>
          </a:p>
        </p:txBody>
      </p:sp>
      <p:sp>
        <p:nvSpPr>
          <p:cNvPr id="8" name="Shape 5"/>
          <p:cNvSpPr/>
          <p:nvPr/>
        </p:nvSpPr>
        <p:spPr>
          <a:xfrm>
            <a:off x="6278728" y="2971800"/>
            <a:ext cx="536432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957255" y="3154680"/>
            <a:ext cx="502920" cy="502920"/>
          </a:xfrm>
          <a:prstGeom prst="ellipse">
            <a:avLst/>
          </a:prstGeom>
          <a:solidFill>
            <a:srgbClr val="C8352B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07328" y="3108960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الصفحة الرئيسية انقر زر غامق</a:t>
            </a:r>
            <a:endParaRPr lang="ar-OM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0042855" y="3730752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973007" y="373075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Bold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78728" y="4389120"/>
            <a:ext cx="5364328" cy="1143000"/>
          </a:xfrm>
          <a:prstGeom prst="roundRect">
            <a:avLst>
              <a:gd name="adj" fmla="val 9600"/>
            </a:avLst>
          </a:prstGeom>
          <a:solidFill>
            <a:srgbClr val="FFF3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53048" y="438912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أيضًا أمر مائل (Italic) وأمر تسطير (Underline)، ثم انقر غامق مرة أخرى ولاحظ العنوان</a:t>
            </a:r>
            <a:endParaRPr lang="ar-OM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1920240"/>
            <a:ext cx="5364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20116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400" b="1" dirty="0">
                <a:solidFill>
                  <a:srgbClr val="5B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</a:t>
            </a:r>
            <a:endParaRPr lang="ar-OM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37744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3000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التدوير</a:t>
            </a:r>
            <a:endParaRPr lang="ar-OM" sz="3000" dirty="0"/>
          </a:p>
        </p:txBody>
      </p:sp>
      <p:sp>
        <p:nvSpPr>
          <p:cNvPr id="18" name="Shape 15"/>
          <p:cNvSpPr/>
          <p:nvPr/>
        </p:nvSpPr>
        <p:spPr>
          <a:xfrm>
            <a:off x="2956484" y="3456432"/>
            <a:ext cx="548640" cy="640080"/>
          </a:xfrm>
          <a:prstGeom prst="downArrow">
            <a:avLst/>
          </a:prstGeom>
          <a:solidFill>
            <a:srgbClr val="C8352B"/>
          </a:solidFill>
          <a:ln w="12700">
            <a:solidFill>
              <a:srgbClr val="C8352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206240"/>
            <a:ext cx="5364328" cy="1417320"/>
          </a:xfrm>
          <a:prstGeom prst="roundRect">
            <a:avLst>
              <a:gd name="adj" fmla="val 7742"/>
            </a:avLst>
          </a:prstGeom>
          <a:solidFill>
            <a:srgbClr val="FB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2976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400" b="1" dirty="0">
                <a:solidFill>
                  <a:srgbClr val="C8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</a:t>
            </a:r>
            <a:endParaRPr lang="ar-OM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66344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3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التدوير</a:t>
            </a:r>
            <a:endParaRPr lang="ar-OM" sz="3000" dirty="0"/>
          </a:p>
        </p:txBody>
      </p:sp>
      <p:sp>
        <p:nvSpPr>
          <p:cNvPr id="22" name="Text 19">
            <a:hlinkClick r:id="rId1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3" name="Text 20">
            <a:hlinkClick r:id="rId2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4" name="Text 21">
            <a:hlinkClick r:id="rId3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60359" y="502920"/>
            <a:ext cx="3282696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تفاعلي  ·  الهدف 3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3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 أم خطأ؟</a:t>
            </a:r>
            <a:endParaRPr lang="ar-OM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2E2380"/>
          </a:solidFill>
          <a:ln w="25400">
            <a:solidFill>
              <a:srgbClr val="5A49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5815" y="2194560"/>
            <a:ext cx="548640" cy="548640"/>
          </a:xfrm>
          <a:prstGeom prst="ellipse">
            <a:avLst/>
          </a:prstGeom>
          <a:solidFill>
            <a:srgbClr val="FFF8EC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965960"/>
            <a:ext cx="7116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1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يجب تحديد النص أولًا قبل تطبيق أي تنسيق</a:t>
            </a:r>
            <a:endParaRPr lang="ar-OM" sz="2100" dirty="0"/>
          </a:p>
        </p:txBody>
      </p:sp>
      <p:sp>
        <p:nvSpPr>
          <p:cNvPr id="8" name="Text 5">
            <a:hlinkClick r:id="rId1" tooltip="" action="ppaction://hlinksldjump"/>
          </p:cNvPr>
          <p:cNvSpPr txBox="1"/>
          <p:nvPr/>
        </p:nvSpPr>
        <p:spPr>
          <a:xfrm>
            <a:off x="1965960" y="2194560"/>
            <a:ext cx="1325880" cy="548640"/>
          </a:xfrm>
          <a:prstGeom prst="roundRect">
            <a:avLst>
              <a:gd name="adj" fmla="val 20000"/>
            </a:avLst>
          </a:prstGeom>
          <a:solidFill>
            <a:srgbClr val="B9EA6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</a:t>
            </a:r>
            <a:endParaRPr lang="ar-OM" sz="1700" dirty="0"/>
          </a:p>
        </p:txBody>
      </p:sp>
      <p:sp>
        <p:nvSpPr>
          <p:cNvPr id="9" name="Text 6">
            <a:hlinkClick r:id="rId2" tooltip="" action="ppaction://hlinksldjump"/>
          </p:cNvPr>
          <p:cNvSpPr txBox="1"/>
          <p:nvPr/>
        </p:nvSpPr>
        <p:spPr>
          <a:xfrm>
            <a:off x="777240" y="2194560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</a:t>
            </a:r>
            <a:endParaRPr lang="ar-OM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2E2380"/>
          </a:solidFill>
          <a:ln w="25400">
            <a:solidFill>
              <a:srgbClr val="5A49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865815" y="3429000"/>
            <a:ext cx="548640" cy="548640"/>
          </a:xfrm>
          <a:prstGeom prst="ellipse">
            <a:avLst/>
          </a:prstGeom>
          <a:solidFill>
            <a:srgbClr val="FFF8EC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3200400"/>
            <a:ext cx="7116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1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النقر على غامق مرة ثانية يُبقي النص غامقًا</a:t>
            </a:r>
            <a:endParaRPr lang="ar-OM" sz="2100" dirty="0"/>
          </a:p>
        </p:txBody>
      </p:sp>
      <p:sp>
        <p:nvSpPr>
          <p:cNvPr id="13" name="Text 10">
            <a:hlinkClick r:id="rId3" tooltip="" action="ppaction://hlinksldjump"/>
          </p:cNvPr>
          <p:cNvSpPr txBox="1"/>
          <p:nvPr/>
        </p:nvSpPr>
        <p:spPr>
          <a:xfrm>
            <a:off x="1965960" y="3429000"/>
            <a:ext cx="1325880" cy="548640"/>
          </a:xfrm>
          <a:prstGeom prst="roundRect">
            <a:avLst>
              <a:gd name="adj" fmla="val 20000"/>
            </a:avLst>
          </a:prstGeom>
          <a:solidFill>
            <a:srgbClr val="B9EA6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</a:t>
            </a:r>
            <a:endParaRPr lang="ar-OM" sz="1700" dirty="0"/>
          </a:p>
        </p:txBody>
      </p:sp>
      <p:sp>
        <p:nvSpPr>
          <p:cNvPr id="14" name="Text 11">
            <a:hlinkClick r:id="rId4" tooltip="" action="ppaction://hlinksldjump"/>
          </p:cNvPr>
          <p:cNvSpPr txBox="1"/>
          <p:nvPr/>
        </p:nvSpPr>
        <p:spPr>
          <a:xfrm>
            <a:off x="777240" y="3429000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</a:t>
            </a:r>
            <a:endParaRPr lang="ar-OM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2E2380"/>
          </a:solidFill>
          <a:ln w="25400">
            <a:solidFill>
              <a:srgbClr val="5A49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865815" y="4663440"/>
            <a:ext cx="548640" cy="548640"/>
          </a:xfrm>
          <a:prstGeom prst="ellipse">
            <a:avLst/>
          </a:prstGeom>
          <a:solidFill>
            <a:srgbClr val="FFF8EC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OM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4434840"/>
            <a:ext cx="7116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1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التسطير تضع خطًا تحت النص</a:t>
            </a:r>
            <a:endParaRPr lang="ar-OM" sz="2100" dirty="0"/>
          </a:p>
        </p:txBody>
      </p:sp>
      <p:sp>
        <p:nvSpPr>
          <p:cNvPr id="18" name="Text 15">
            <a:hlinkClick r:id="rId5" tooltip="" action="ppaction://hlinksldjump"/>
          </p:cNvPr>
          <p:cNvSpPr txBox="1"/>
          <p:nvPr/>
        </p:nvSpPr>
        <p:spPr>
          <a:xfrm>
            <a:off x="1965960" y="4663440"/>
            <a:ext cx="1325880" cy="548640"/>
          </a:xfrm>
          <a:prstGeom prst="roundRect">
            <a:avLst>
              <a:gd name="adj" fmla="val 20000"/>
            </a:avLst>
          </a:prstGeom>
          <a:solidFill>
            <a:srgbClr val="B9EA6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</a:t>
            </a:r>
            <a:endParaRPr lang="ar-OM" sz="1700" dirty="0"/>
          </a:p>
        </p:txBody>
      </p:sp>
      <p:sp>
        <p:nvSpPr>
          <p:cNvPr id="19" name="Text 16">
            <a:hlinkClick r:id="rId6" tooltip="" action="ppaction://hlinksldjump"/>
          </p:cNvPr>
          <p:cNvSpPr txBox="1"/>
          <p:nvPr/>
        </p:nvSpPr>
        <p:spPr>
          <a:xfrm>
            <a:off x="777240" y="4663440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</a:t>
            </a:r>
            <a:endParaRPr lang="ar-OM" sz="1700" dirty="0"/>
          </a:p>
        </p:txBody>
      </p:sp>
      <p:sp>
        <p:nvSpPr>
          <p:cNvPr id="20" name="Text 17">
            <a:hlinkClick r:id="rId7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1" name="Text 18">
            <a:hlinkClick r:id="rId8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2" name="Text 19">
            <a:hlinkClick r:id="rId9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2E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0" y="822960"/>
            <a:ext cx="457200" cy="4572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380000">
            <a:off x="2103120" y="201168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60000">
            <a:off x="731520" y="4206240"/>
            <a:ext cx="411480" cy="41148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540000">
            <a:off x="1828800" y="521208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920000">
            <a:off x="10607040" y="731520"/>
            <a:ext cx="411480" cy="4114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3300000">
            <a:off x="9692640" y="1920240"/>
            <a:ext cx="274320" cy="27432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1080000">
            <a:off x="10972800" y="3840480"/>
            <a:ext cx="457200" cy="45720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460000">
            <a:off x="9966960" y="5120640"/>
            <a:ext cx="320040" cy="32004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40000">
            <a:off x="3657600" y="54864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620000">
            <a:off x="8229600" y="50292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3000000">
            <a:off x="3017520" y="5486400"/>
            <a:ext cx="365760" cy="36576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780000">
            <a:off x="8961120" y="557784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160000">
            <a:off x="58521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3540000">
            <a:off x="1463040" y="3017520"/>
            <a:ext cx="256032" cy="256032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1320000">
            <a:off x="10332720" y="2926080"/>
            <a:ext cx="274320" cy="27432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55848" y="137160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355848" y="1371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6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أحسنت!</a:t>
            </a:r>
            <a:endParaRPr lang="ar-OM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1828800" y="342900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عُد إلى السؤال لتكمل باقي العبارات، أو تابع الدرس</a:t>
            </a:r>
            <a:endParaRPr lang="ar-OM" sz="2400" dirty="0"/>
          </a:p>
        </p:txBody>
      </p:sp>
      <p:sp>
        <p:nvSpPr>
          <p:cNvPr id="21" name="Text 18">
            <a:hlinkClick r:id="rId1" tooltip="" action="ppaction://hlinksldjump"/>
          </p:cNvPr>
          <p:cNvSpPr txBox="1"/>
          <p:nvPr/>
        </p:nvSpPr>
        <p:spPr>
          <a:xfrm>
            <a:off x="6263640" y="45720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</a:t>
            </a:r>
            <a:endParaRPr lang="ar-OM" sz="1800" dirty="0"/>
          </a:p>
        </p:txBody>
      </p:sp>
      <p:sp>
        <p:nvSpPr>
          <p:cNvPr id="22" name="Text 19">
            <a:hlinkClick r:id="rId2" tooltip="" action="ppaction://hlinksldjump"/>
          </p:cNvPr>
          <p:cNvSpPr txBox="1"/>
          <p:nvPr/>
        </p:nvSpPr>
        <p:spPr>
          <a:xfrm>
            <a:off x="3749040" y="457200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الدرس ◀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applause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9C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98648" y="1554480"/>
            <a:ext cx="64008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898648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5400" b="1" dirty="0">
                <a:solidFill>
                  <a:srgbClr val="9C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356616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جيدًا… أنت قادر على الوصول إلى الإجابة الصحيحة</a:t>
            </a:r>
            <a:endParaRPr lang="ar-OM" sz="2200" dirty="0"/>
          </a:p>
        </p:txBody>
      </p:sp>
      <p:sp>
        <p:nvSpPr>
          <p:cNvPr id="6" name="Text 3">
            <a:hlinkClick r:id="rId1" tooltip="" action="ppaction://hlinksldjump"/>
          </p:cNvPr>
          <p:cNvSpPr txBox="1"/>
          <p:nvPr/>
        </p:nvSpPr>
        <p:spPr>
          <a:xfrm>
            <a:off x="4910328" y="457200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 ▶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buzz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262311" y="50292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B3540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4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B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تمييز النص بلون</a:t>
            </a:r>
            <a:endParaRPr lang="ar-OM" sz="3400" dirty="0"/>
          </a:p>
        </p:txBody>
      </p:sp>
      <p:sp>
        <p:nvSpPr>
          <p:cNvPr id="5" name="Shape 2"/>
          <p:cNvSpPr/>
          <p:nvPr/>
        </p:nvSpPr>
        <p:spPr>
          <a:xfrm>
            <a:off x="6278728" y="1828800"/>
            <a:ext cx="5364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957255" y="2011680"/>
            <a:ext cx="502920" cy="502920"/>
          </a:xfrm>
          <a:prstGeom prst="ellipse">
            <a:avLst/>
          </a:prstGeom>
          <a:solidFill>
            <a:srgbClr val="B3540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07328" y="1965960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الصفحة الرئيسية انقر السهم بجانب لون تمييز النص</a:t>
            </a:r>
            <a:endParaRPr lang="ar-OM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042855" y="2542032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84287" y="254203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Highlight Color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3154680"/>
            <a:ext cx="536432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0957255" y="3337560"/>
            <a:ext cx="502920" cy="502920"/>
          </a:xfrm>
          <a:prstGeom prst="ellipse">
            <a:avLst/>
          </a:prstGeom>
          <a:solidFill>
            <a:srgbClr val="B3540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07328" y="329184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لونًا مناسبًا، وليكن أصفر</a:t>
            </a:r>
            <a:endParaRPr lang="ar-OM" sz="1700" dirty="0"/>
          </a:p>
        </p:txBody>
      </p:sp>
      <p:sp>
        <p:nvSpPr>
          <p:cNvPr id="13" name="Shape 10"/>
          <p:cNvSpPr/>
          <p:nvPr/>
        </p:nvSpPr>
        <p:spPr>
          <a:xfrm>
            <a:off x="6278728" y="4069080"/>
            <a:ext cx="536432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0957255" y="4251960"/>
            <a:ext cx="502920" cy="502920"/>
          </a:xfrm>
          <a:prstGeom prst="ellipse">
            <a:avLst/>
          </a:prstGeom>
          <a:solidFill>
            <a:srgbClr val="B3540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OM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507328" y="420624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 النص الذي ترغب في تمييزه</a:t>
            </a:r>
            <a:endParaRPr lang="ar-OM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1828800"/>
            <a:ext cx="536432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8680" y="196596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التدوير</a:t>
            </a:r>
            <a:endParaRPr lang="ar-OM" sz="1800" dirty="0"/>
          </a:p>
          <a:p>
            <a:pPr algn="r" indent="0" marL="0">
              <a:lnSpc>
                <a:spcPct val="140000"/>
              </a:lnSpc>
              <a:buNone/>
            </a:pPr>
            <a:r>
              <a:rPr lang="ar-OM" altLang="en-US" sz="1800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التدوير هي عملية تحويل النفايات إلى </a:t>
            </a:r>
            <a:pPr algn="r" indent="0" marL="0">
              <a:lnSpc>
                <a:spcPct val="140000"/>
              </a:lnSpc>
              <a:buNone/>
            </a:pPr>
            <a:r>
              <a:rPr lang="ar-OM" altLang="en-US" sz="1800" b="1" dirty="0">
                <a:solidFill>
                  <a:srgbClr val="1C1452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مواد وعناصر جديدة قابلة للاستخدام</a:t>
            </a:r>
            <a:pPr algn="r" indent="0" marL="0">
              <a:lnSpc>
                <a:spcPct val="140000"/>
              </a:lnSpc>
              <a:buNone/>
            </a:pPr>
            <a:r>
              <a:rPr lang="ar-OM" altLang="en-US" sz="1800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مرة أخرى، حيث تهدف هذه العملية إلى التقليل من حجم النفايات</a:t>
            </a:r>
            <a:endParaRPr lang="ar-OM" sz="1800" dirty="0"/>
          </a:p>
        </p:txBody>
      </p:sp>
      <p:sp>
        <p:nvSpPr>
          <p:cNvPr id="18" name="Shape 15"/>
          <p:cNvSpPr/>
          <p:nvPr/>
        </p:nvSpPr>
        <p:spPr>
          <a:xfrm>
            <a:off x="6233008" y="5029200"/>
            <a:ext cx="5410048" cy="868680"/>
          </a:xfrm>
          <a:prstGeom prst="roundRect">
            <a:avLst>
              <a:gd name="adj" fmla="val 12632"/>
            </a:avLst>
          </a:prstGeom>
          <a:solidFill>
            <a:srgbClr val="1C1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07328" y="5029200"/>
            <a:ext cx="3032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لإزالة لون التمييز من النص</a:t>
            </a:r>
            <a:endParaRPr lang="ar-OM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317175" y="53035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Color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029200"/>
            <a:ext cx="5410048" cy="868680"/>
          </a:xfrm>
          <a:prstGeom prst="roundRect">
            <a:avLst>
              <a:gd name="adj" fmla="val 12632"/>
            </a:avLst>
          </a:prstGeom>
          <a:solidFill>
            <a:srgbClr val="1C1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5029200"/>
            <a:ext cx="3032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لإلغاء تحديد أداة التمييز</a:t>
            </a:r>
            <a:endParaRPr lang="ar-OM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3809848" y="530352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Highlighting</a:t>
            </a:r>
            <a:endParaRPr lang="en-US" sz="1200" dirty="0"/>
          </a:p>
        </p:txBody>
      </p:sp>
      <p:sp>
        <p:nvSpPr>
          <p:cNvPr id="24" name="Text 21">
            <a:hlinkClick r:id="rId1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5" name="Text 22">
            <a:hlinkClick r:id="rId2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6" name="Text 23">
            <a:hlinkClick r:id="rId3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60359" y="502920"/>
            <a:ext cx="3282696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تفاعلي  ·  الهدف 4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28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أردت إزالة اللون الأصفر عن كلمة مميزة، ماذا تختار؟</a:t>
            </a:r>
            <a:endParaRPr lang="ar-OM" sz="2800" dirty="0"/>
          </a:p>
        </p:txBody>
      </p:sp>
      <p:sp>
        <p:nvSpPr>
          <p:cNvPr id="5" name="Text 2">
            <a:hlinkClick r:id="rId1" tooltip="" action="ppaction://hlinksldjump"/>
          </p:cNvPr>
          <p:cNvSpPr txBox="1"/>
          <p:nvPr/>
        </p:nvSpPr>
        <p:spPr>
          <a:xfrm>
            <a:off x="6233008" y="251460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6" name="Text 3">
            <a:hlinkClick r:id="rId2" tooltip="" action="ppaction://hlinksldjump"/>
          </p:cNvPr>
          <p:cNvSpPr txBox="1"/>
          <p:nvPr/>
        </p:nvSpPr>
        <p:spPr>
          <a:xfrm>
            <a:off x="10774375" y="2788920"/>
            <a:ext cx="640080" cy="64008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OM" sz="2100" dirty="0"/>
          </a:p>
        </p:txBody>
      </p:sp>
      <p:sp>
        <p:nvSpPr>
          <p:cNvPr id="7" name="Text 4">
            <a:hlinkClick r:id="rId3" tooltip="" action="ppaction://hlinksldjump"/>
          </p:cNvPr>
          <p:cNvSpPr txBox="1"/>
          <p:nvPr/>
        </p:nvSpPr>
        <p:spPr>
          <a:xfrm>
            <a:off x="6507328" y="267004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لون</a:t>
            </a:r>
            <a:endParaRPr lang="ar-OM" sz="2200" dirty="0"/>
          </a:p>
        </p:txBody>
      </p:sp>
      <p:sp>
        <p:nvSpPr>
          <p:cNvPr id="8" name="Text 5">
            <a:hlinkClick r:id="rId4" tooltip="" action="ppaction://hlinksldjump"/>
          </p:cNvPr>
          <p:cNvSpPr txBox="1"/>
          <p:nvPr/>
        </p:nvSpPr>
        <p:spPr>
          <a:xfrm>
            <a:off x="6507328" y="32004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Color</a:t>
            </a:r>
            <a:endParaRPr lang="en-US" sz="1400" dirty="0"/>
          </a:p>
        </p:txBody>
      </p:sp>
      <p:sp>
        <p:nvSpPr>
          <p:cNvPr id="9" name="Text 6">
            <a:hlinkClick r:id="rId5" tooltip="" action="ppaction://hlinksldjump"/>
          </p:cNvPr>
          <p:cNvSpPr txBox="1"/>
          <p:nvPr/>
        </p:nvSpPr>
        <p:spPr>
          <a:xfrm>
            <a:off x="548640" y="251460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0" name="Text 7">
            <a:hlinkClick r:id="rId6" tooltip="" action="ppaction://hlinksldjump"/>
          </p:cNvPr>
          <p:cNvSpPr txBox="1"/>
          <p:nvPr/>
        </p:nvSpPr>
        <p:spPr>
          <a:xfrm>
            <a:off x="5090008" y="2788920"/>
            <a:ext cx="640080" cy="640080"/>
          </a:xfrm>
          <a:prstGeom prst="ellipse">
            <a:avLst/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OM" sz="2100" dirty="0"/>
          </a:p>
        </p:txBody>
      </p:sp>
      <p:sp>
        <p:nvSpPr>
          <p:cNvPr id="11" name="Text 8">
            <a:hlinkClick r:id="rId7" tooltip="" action="ppaction://hlinksldjump"/>
          </p:cNvPr>
          <p:cNvSpPr txBox="1"/>
          <p:nvPr/>
        </p:nvSpPr>
        <p:spPr>
          <a:xfrm>
            <a:off x="822960" y="267004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إيقاف التمييز</a:t>
            </a:r>
            <a:endParaRPr lang="ar-OM" sz="2200" dirty="0"/>
          </a:p>
        </p:txBody>
      </p:sp>
      <p:sp>
        <p:nvSpPr>
          <p:cNvPr id="12" name="Text 9">
            <a:hlinkClick r:id="rId8" tooltip="" action="ppaction://hlinksldjump"/>
          </p:cNvPr>
          <p:cNvSpPr txBox="1"/>
          <p:nvPr/>
        </p:nvSpPr>
        <p:spPr>
          <a:xfrm>
            <a:off x="822960" y="32004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Highlighting</a:t>
            </a:r>
            <a:endParaRPr lang="en-US" sz="1400" dirty="0"/>
          </a:p>
        </p:txBody>
      </p:sp>
      <p:sp>
        <p:nvSpPr>
          <p:cNvPr id="13" name="Text 10">
            <a:hlinkClick r:id="rId9" tooltip="" action="ppaction://hlinksldjump"/>
          </p:cNvPr>
          <p:cNvSpPr txBox="1"/>
          <p:nvPr/>
        </p:nvSpPr>
        <p:spPr>
          <a:xfrm>
            <a:off x="6233008" y="397764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4" name="Text 11">
            <a:hlinkClick r:id="rId10" tooltip="" action="ppaction://hlinksldjump"/>
          </p:cNvPr>
          <p:cNvSpPr txBox="1"/>
          <p:nvPr/>
        </p:nvSpPr>
        <p:spPr>
          <a:xfrm>
            <a:off x="10774375" y="4251960"/>
            <a:ext cx="640080" cy="640080"/>
          </a:xfrm>
          <a:prstGeom prst="ellipse">
            <a:avLst/>
          </a:prstGeom>
          <a:solidFill>
            <a:srgbClr val="5FD8E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OM" sz="2100" dirty="0"/>
          </a:p>
        </p:txBody>
      </p:sp>
      <p:sp>
        <p:nvSpPr>
          <p:cNvPr id="15" name="Text 12">
            <a:hlinkClick r:id="rId11" tooltip="" action="ppaction://hlinksldjump"/>
          </p:cNvPr>
          <p:cNvSpPr txBox="1"/>
          <p:nvPr/>
        </p:nvSpPr>
        <p:spPr>
          <a:xfrm>
            <a:off x="6507328" y="413308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غامق</a:t>
            </a:r>
            <a:endParaRPr lang="ar-OM" sz="2200" dirty="0"/>
          </a:p>
        </p:txBody>
      </p:sp>
      <p:sp>
        <p:nvSpPr>
          <p:cNvPr id="16" name="Text 13">
            <a:hlinkClick r:id="rId12" tooltip="" action="ppaction://hlinksldjump"/>
          </p:cNvPr>
          <p:cNvSpPr txBox="1"/>
          <p:nvPr/>
        </p:nvSpPr>
        <p:spPr>
          <a:xfrm>
            <a:off x="6507328" y="466344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</a:t>
            </a:r>
            <a:endParaRPr lang="en-US" sz="1400" dirty="0"/>
          </a:p>
        </p:txBody>
      </p:sp>
      <p:sp>
        <p:nvSpPr>
          <p:cNvPr id="17" name="Text 14">
            <a:hlinkClick r:id="rId13" tooltip="" action="ppaction://hlinksldjump"/>
          </p:cNvPr>
          <p:cNvSpPr txBox="1"/>
          <p:nvPr/>
        </p:nvSpPr>
        <p:spPr>
          <a:xfrm>
            <a:off x="548640" y="397764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8" name="Text 15">
            <a:hlinkClick r:id="rId14" tooltip="" action="ppaction://hlinksldjump"/>
          </p:cNvPr>
          <p:cNvSpPr txBox="1"/>
          <p:nvPr/>
        </p:nvSpPr>
        <p:spPr>
          <a:xfrm>
            <a:off x="5090008" y="4251960"/>
            <a:ext cx="640080" cy="640080"/>
          </a:xfrm>
          <a:prstGeom prst="ellipse">
            <a:avLst/>
          </a:prstGeom>
          <a:solidFill>
            <a:srgbClr val="B9EA6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OM" sz="2100" dirty="0"/>
          </a:p>
        </p:txBody>
      </p:sp>
      <p:sp>
        <p:nvSpPr>
          <p:cNvPr id="19" name="Text 16">
            <a:hlinkClick r:id="rId15" tooltip="" action="ppaction://hlinksldjump"/>
          </p:cNvPr>
          <p:cNvSpPr txBox="1"/>
          <p:nvPr/>
        </p:nvSpPr>
        <p:spPr>
          <a:xfrm>
            <a:off x="822960" y="413308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لون الخط</a:t>
            </a:r>
            <a:endParaRPr lang="ar-OM" sz="2200" dirty="0"/>
          </a:p>
        </p:txBody>
      </p:sp>
      <p:sp>
        <p:nvSpPr>
          <p:cNvPr id="20" name="Text 17">
            <a:hlinkClick r:id="rId16" tooltip="" action="ppaction://hlinksldjump"/>
          </p:cNvPr>
          <p:cNvSpPr txBox="1"/>
          <p:nvPr/>
        </p:nvSpPr>
        <p:spPr>
          <a:xfrm>
            <a:off x="822960" y="466344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Color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532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b="1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على الإجابة التي تراها صحيحة</a:t>
            </a:r>
            <a:endParaRPr lang="ar-OM" sz="1500" dirty="0"/>
          </a:p>
        </p:txBody>
      </p:sp>
      <p:sp>
        <p:nvSpPr>
          <p:cNvPr id="22" name="Text 19">
            <a:hlinkClick r:id="rId17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3" name="Text 20">
            <a:hlinkClick r:id="rId18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4" name="Text 21">
            <a:hlinkClick r:id="rId19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solidFill>
          <a:srgbClr val="2E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0" y="822960"/>
            <a:ext cx="457200" cy="4572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380000">
            <a:off x="2103120" y="201168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60000">
            <a:off x="731520" y="4206240"/>
            <a:ext cx="411480" cy="41148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540000">
            <a:off x="1828800" y="521208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920000">
            <a:off x="10607040" y="731520"/>
            <a:ext cx="411480" cy="4114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3300000">
            <a:off x="9692640" y="1920240"/>
            <a:ext cx="274320" cy="27432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1080000">
            <a:off x="10972800" y="3840480"/>
            <a:ext cx="457200" cy="45720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460000">
            <a:off x="9966960" y="5120640"/>
            <a:ext cx="320040" cy="32004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40000">
            <a:off x="3657600" y="54864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620000">
            <a:off x="8229600" y="50292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3000000">
            <a:off x="3017520" y="5486400"/>
            <a:ext cx="365760" cy="36576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780000">
            <a:off x="8961120" y="557784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160000">
            <a:off x="58521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3540000">
            <a:off x="1463040" y="3017520"/>
            <a:ext cx="256032" cy="256032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1320000">
            <a:off x="10332720" y="2926080"/>
            <a:ext cx="274320" cy="27432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55848" y="137160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355848" y="1371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6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أحسنت!</a:t>
            </a:r>
            <a:endParaRPr lang="ar-OM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1828800" y="342900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الإجابة الصحيحة: بلا لون (No Color)</a:t>
            </a:r>
            <a:endParaRPr lang="ar-OM" sz="2400" dirty="0"/>
          </a:p>
        </p:txBody>
      </p:sp>
      <p:sp>
        <p:nvSpPr>
          <p:cNvPr id="21" name="Text 18">
            <a:hlinkClick r:id="rId1" tooltip="" action="ppaction://hlinksldjump"/>
          </p:cNvPr>
          <p:cNvSpPr txBox="1"/>
          <p:nvPr/>
        </p:nvSpPr>
        <p:spPr>
          <a:xfrm>
            <a:off x="6263640" y="45720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</a:t>
            </a:r>
            <a:endParaRPr lang="ar-OM" sz="1800" dirty="0"/>
          </a:p>
        </p:txBody>
      </p:sp>
      <p:sp>
        <p:nvSpPr>
          <p:cNvPr id="22" name="Text 19">
            <a:hlinkClick r:id="rId2" tooltip="" action="ppaction://hlinksldjump"/>
          </p:cNvPr>
          <p:cNvSpPr txBox="1"/>
          <p:nvPr/>
        </p:nvSpPr>
        <p:spPr>
          <a:xfrm>
            <a:off x="3749040" y="457200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الدرس ◀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applause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9C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98648" y="1554480"/>
            <a:ext cx="64008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898648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5400" b="1" dirty="0">
                <a:solidFill>
                  <a:srgbClr val="9C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356616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جيدًا… أنت قادر على الوصول إلى الإجابة الصحيحة</a:t>
            </a:r>
            <a:endParaRPr lang="ar-OM" sz="2200" dirty="0"/>
          </a:p>
        </p:txBody>
      </p:sp>
      <p:sp>
        <p:nvSpPr>
          <p:cNvPr id="6" name="Text 3">
            <a:hlinkClick r:id="rId1" tooltip="" action="ppaction://hlinksldjump"/>
          </p:cNvPr>
          <p:cNvSpPr txBox="1"/>
          <p:nvPr/>
        </p:nvSpPr>
        <p:spPr>
          <a:xfrm>
            <a:off x="4910328" y="457200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 ▶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buzz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262311" y="50292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1A7D4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5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1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محاذاة النص لجعله منظّمًا</a:t>
            </a:r>
            <a:endParaRPr lang="ar-OM" sz="3400" dirty="0"/>
          </a:p>
        </p:txBody>
      </p:sp>
      <p:sp>
        <p:nvSpPr>
          <p:cNvPr id="5" name="Text 2">
            <a:hlinkClick r:id="rId1" tooltip="" action="ppaction://hlinksldjump"/>
          </p:cNvPr>
          <p:cNvSpPr txBox="1"/>
          <p:nvPr/>
        </p:nvSpPr>
        <p:spPr>
          <a:xfrm>
            <a:off x="548640" y="109728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1A7D4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الفيديو ◀</a:t>
            </a:r>
            <a:endParaRPr lang="ar-OM" sz="1500" dirty="0"/>
          </a:p>
        </p:txBody>
      </p:sp>
      <p:sp>
        <p:nvSpPr>
          <p:cNvPr id="6" name="Shape 3"/>
          <p:cNvSpPr/>
          <p:nvPr/>
        </p:nvSpPr>
        <p:spPr>
          <a:xfrm>
            <a:off x="6233008" y="178308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957255" y="1965960"/>
            <a:ext cx="502920" cy="502920"/>
          </a:xfrm>
          <a:prstGeom prst="ellipse">
            <a:avLst/>
          </a:prstGeom>
          <a:solidFill>
            <a:srgbClr val="1A7D4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61608" y="1920240"/>
            <a:ext cx="435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 الفقرة التي ترغب في محاذاتها</a:t>
            </a:r>
            <a:endParaRPr lang="ar-OM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272888" y="1965960"/>
            <a:ext cx="502920" cy="502920"/>
          </a:xfrm>
          <a:prstGeom prst="ellipse">
            <a:avLst/>
          </a:prstGeom>
          <a:solidFill>
            <a:srgbClr val="1A7D4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920240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الصفحة الرئيسية انقر خيار المحاذاة المناسب</a:t>
            </a:r>
            <a:endParaRPr lang="ar-OM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358488" y="2542032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040901" y="3200400"/>
            <a:ext cx="2602154" cy="269748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223781" y="3383280"/>
            <a:ext cx="2236394" cy="1463040"/>
          </a:xfrm>
          <a:prstGeom prst="roundRect">
            <a:avLst>
              <a:gd name="adj" fmla="val 6250"/>
            </a:avLst>
          </a:prstGeom>
          <a:solidFill>
            <a:srgbClr val="E2F3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30301" y="3634740"/>
            <a:ext cx="1601274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86140" y="3909060"/>
            <a:ext cx="1245436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737052" y="4183380"/>
            <a:ext cx="1494523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41978" y="4457700"/>
            <a:ext cx="889597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23781" y="49834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محاذاة لليمين</a:t>
            </a:r>
            <a:endParaRPr lang="ar-OM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223781" y="541324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1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Right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10148" y="3200400"/>
            <a:ext cx="2602154" cy="269748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3028" y="3383280"/>
            <a:ext cx="2236394" cy="1463040"/>
          </a:xfrm>
          <a:prstGeom prst="roundRect">
            <a:avLst>
              <a:gd name="adj" fmla="val 6250"/>
            </a:avLst>
          </a:prstGeom>
          <a:solidFill>
            <a:srgbClr val="E2F3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10587" y="3634740"/>
            <a:ext cx="1601274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88507" y="3909060"/>
            <a:ext cx="1245436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63963" y="4183380"/>
            <a:ext cx="1494523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66426" y="4457700"/>
            <a:ext cx="889597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93028" y="49834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توسيط</a:t>
            </a:r>
            <a:endParaRPr lang="ar-OM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93028" y="541324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1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379394" y="3200400"/>
            <a:ext cx="2602154" cy="269748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562274" y="3383280"/>
            <a:ext cx="2236394" cy="1463040"/>
          </a:xfrm>
          <a:prstGeom prst="roundRect">
            <a:avLst>
              <a:gd name="adj" fmla="val 6250"/>
            </a:avLst>
          </a:prstGeom>
          <a:solidFill>
            <a:srgbClr val="E2F3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790874" y="3634740"/>
            <a:ext cx="1601274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790874" y="3909060"/>
            <a:ext cx="1245436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90874" y="4183380"/>
            <a:ext cx="1494523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90874" y="4457700"/>
            <a:ext cx="889597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562274" y="49834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محاذاة لليسار</a:t>
            </a:r>
            <a:endParaRPr lang="ar-OM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3562274" y="541324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1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Left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3200400"/>
            <a:ext cx="2602154" cy="269748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C9B8A0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31520" y="3383280"/>
            <a:ext cx="2236394" cy="1463040"/>
          </a:xfrm>
          <a:prstGeom prst="roundRect">
            <a:avLst>
              <a:gd name="adj" fmla="val 6250"/>
            </a:avLst>
          </a:prstGeom>
          <a:solidFill>
            <a:srgbClr val="E2F3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0120" y="3634740"/>
            <a:ext cx="1779194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60120" y="3909060"/>
            <a:ext cx="1779194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60120" y="4183380"/>
            <a:ext cx="1779194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760757" y="4457700"/>
            <a:ext cx="978557" cy="123444"/>
          </a:xfrm>
          <a:prstGeom prst="roundRect">
            <a:avLst>
              <a:gd name="adj" fmla="val 37037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49834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ضبط</a:t>
            </a:r>
            <a:endParaRPr lang="ar-OM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731520" y="541324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b="1" dirty="0">
                <a:solidFill>
                  <a:srgbClr val="1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</a:t>
            </a:r>
            <a:endParaRPr lang="en-US" sz="1300" dirty="0"/>
          </a:p>
        </p:txBody>
      </p:sp>
      <p:sp>
        <p:nvSpPr>
          <p:cNvPr id="45" name="Text 42">
            <a:hlinkClick r:id="rId2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46" name="Text 43">
            <a:hlinkClick r:id="rId3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47" name="Text 44">
            <a:hlinkClick r:id="rId4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60359" y="502920"/>
            <a:ext cx="3282696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تفاعلي  ·  الهدف 5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30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نوع المحاذاة في كل فقرة؟</a:t>
            </a:r>
            <a:endParaRPr lang="ar-OM" sz="3000" dirty="0"/>
          </a:p>
        </p:txBody>
      </p:sp>
      <p:sp>
        <p:nvSpPr>
          <p:cNvPr id="5" name="Shape 2"/>
          <p:cNvSpPr/>
          <p:nvPr/>
        </p:nvSpPr>
        <p:spPr>
          <a:xfrm>
            <a:off x="8158277" y="1874520"/>
            <a:ext cx="3484778" cy="356616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53778" y="1618488"/>
            <a:ext cx="502920" cy="50292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700" dirty="0"/>
          </a:p>
        </p:txBody>
      </p:sp>
      <p:sp>
        <p:nvSpPr>
          <p:cNvPr id="7" name="Shape 4"/>
          <p:cNvSpPr/>
          <p:nvPr/>
        </p:nvSpPr>
        <p:spPr>
          <a:xfrm>
            <a:off x="8386877" y="2194560"/>
            <a:ext cx="3027578" cy="2148840"/>
          </a:xfrm>
          <a:prstGeom prst="roundRect">
            <a:avLst>
              <a:gd name="adj" fmla="val 4255"/>
            </a:avLst>
          </a:prstGeom>
          <a:solidFill>
            <a:srgbClr val="F3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18292" y="2466594"/>
            <a:ext cx="236474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01034" y="2823210"/>
            <a:ext cx="1799265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21107" y="3179826"/>
            <a:ext cx="215911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32368" y="3536442"/>
            <a:ext cx="1336597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23922" y="3893058"/>
            <a:ext cx="195348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3" name="Text 10">
            <a:hlinkClick r:id="rId1" tooltip="" action="ppaction://hlinksldjump"/>
          </p:cNvPr>
          <p:cNvSpPr txBox="1"/>
          <p:nvPr/>
        </p:nvSpPr>
        <p:spPr>
          <a:xfrm>
            <a:off x="10478414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يمين</a:t>
            </a:r>
            <a:endParaRPr lang="ar-OM" sz="1500" dirty="0"/>
          </a:p>
        </p:txBody>
      </p:sp>
      <p:sp>
        <p:nvSpPr>
          <p:cNvPr id="14" name="Text 11">
            <a:hlinkClick r:id="rId2" tooltip="" action="ppaction://hlinksldjump"/>
          </p:cNvPr>
          <p:cNvSpPr txBox="1"/>
          <p:nvPr/>
        </p:nvSpPr>
        <p:spPr>
          <a:xfrm>
            <a:off x="9432646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وسط</a:t>
            </a:r>
            <a:endParaRPr lang="ar-OM" sz="1500" dirty="0"/>
          </a:p>
        </p:txBody>
      </p:sp>
      <p:sp>
        <p:nvSpPr>
          <p:cNvPr id="15" name="Text 12">
            <a:hlinkClick r:id="rId3" tooltip="" action="ppaction://hlinksldjump"/>
          </p:cNvPr>
          <p:cNvSpPr txBox="1"/>
          <p:nvPr/>
        </p:nvSpPr>
        <p:spPr>
          <a:xfrm>
            <a:off x="8386877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يسار</a:t>
            </a:r>
            <a:endParaRPr lang="ar-OM" sz="1500" dirty="0"/>
          </a:p>
        </p:txBody>
      </p:sp>
      <p:sp>
        <p:nvSpPr>
          <p:cNvPr id="16" name="Shape 13"/>
          <p:cNvSpPr/>
          <p:nvPr/>
        </p:nvSpPr>
        <p:spPr>
          <a:xfrm>
            <a:off x="4353458" y="1874520"/>
            <a:ext cx="3484778" cy="356616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48960" y="1618488"/>
            <a:ext cx="502920" cy="502920"/>
          </a:xfrm>
          <a:prstGeom prst="ellipse">
            <a:avLst/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700" dirty="0"/>
          </a:p>
        </p:txBody>
      </p:sp>
      <p:sp>
        <p:nvSpPr>
          <p:cNvPr id="18" name="Shape 15"/>
          <p:cNvSpPr/>
          <p:nvPr/>
        </p:nvSpPr>
        <p:spPr>
          <a:xfrm>
            <a:off x="4582058" y="2194560"/>
            <a:ext cx="3027578" cy="2148840"/>
          </a:xfrm>
          <a:prstGeom prst="roundRect">
            <a:avLst>
              <a:gd name="adj" fmla="val 4255"/>
            </a:avLst>
          </a:prstGeom>
          <a:solidFill>
            <a:srgbClr val="F3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16289" y="2466594"/>
            <a:ext cx="236474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81772" y="2823210"/>
            <a:ext cx="1799265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21919" y="3179826"/>
            <a:ext cx="215911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44440" y="3536442"/>
            <a:ext cx="1336597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27549" y="3893058"/>
            <a:ext cx="195348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4" name="Text 21">
            <a:hlinkClick r:id="rId4" tooltip="" action="ppaction://hlinksldjump"/>
          </p:cNvPr>
          <p:cNvSpPr txBox="1"/>
          <p:nvPr/>
        </p:nvSpPr>
        <p:spPr>
          <a:xfrm>
            <a:off x="6673596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يمين</a:t>
            </a:r>
            <a:endParaRPr lang="ar-OM" sz="1500" dirty="0"/>
          </a:p>
        </p:txBody>
      </p:sp>
      <p:sp>
        <p:nvSpPr>
          <p:cNvPr id="25" name="Text 22">
            <a:hlinkClick r:id="rId5" tooltip="" action="ppaction://hlinksldjump"/>
          </p:cNvPr>
          <p:cNvSpPr txBox="1"/>
          <p:nvPr/>
        </p:nvSpPr>
        <p:spPr>
          <a:xfrm>
            <a:off x="5627827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وسط</a:t>
            </a:r>
            <a:endParaRPr lang="ar-OM" sz="1500" dirty="0"/>
          </a:p>
        </p:txBody>
      </p:sp>
      <p:sp>
        <p:nvSpPr>
          <p:cNvPr id="26" name="Text 23">
            <a:hlinkClick r:id="rId6" tooltip="" action="ppaction://hlinksldjump"/>
          </p:cNvPr>
          <p:cNvSpPr txBox="1"/>
          <p:nvPr/>
        </p:nvSpPr>
        <p:spPr>
          <a:xfrm>
            <a:off x="4582058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يسار</a:t>
            </a:r>
            <a:endParaRPr lang="ar-OM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1874520"/>
            <a:ext cx="3484778" cy="356616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44141" y="1618488"/>
            <a:ext cx="502920" cy="502920"/>
          </a:xfrm>
          <a:prstGeom prst="ellipse">
            <a:avLst/>
          </a:prstGeom>
          <a:solidFill>
            <a:srgbClr val="5FD8E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7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OM" sz="1700" dirty="0"/>
          </a:p>
        </p:txBody>
      </p:sp>
      <p:sp>
        <p:nvSpPr>
          <p:cNvPr id="29" name="Shape 26"/>
          <p:cNvSpPr/>
          <p:nvPr/>
        </p:nvSpPr>
        <p:spPr>
          <a:xfrm>
            <a:off x="777240" y="2194560"/>
            <a:ext cx="3027578" cy="2148840"/>
          </a:xfrm>
          <a:prstGeom prst="roundRect">
            <a:avLst>
              <a:gd name="adj" fmla="val 4255"/>
            </a:avLst>
          </a:prstGeom>
          <a:solidFill>
            <a:srgbClr val="F3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5840" y="2466594"/>
            <a:ext cx="236474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05840" y="2823210"/>
            <a:ext cx="1799265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05840" y="3179826"/>
            <a:ext cx="215911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05840" y="3536442"/>
            <a:ext cx="1336597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05840" y="3893058"/>
            <a:ext cx="1953488" cy="160477"/>
          </a:xfrm>
          <a:prstGeom prst="roundRect">
            <a:avLst>
              <a:gd name="adj" fmla="val 28490"/>
            </a:avLst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5" name="Text 32">
            <a:hlinkClick r:id="rId7" tooltip="" action="ppaction://hlinksldjump"/>
          </p:cNvPr>
          <p:cNvSpPr txBox="1"/>
          <p:nvPr/>
        </p:nvSpPr>
        <p:spPr>
          <a:xfrm>
            <a:off x="2868778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يمين</a:t>
            </a:r>
            <a:endParaRPr lang="ar-OM" sz="1500" dirty="0"/>
          </a:p>
        </p:txBody>
      </p:sp>
      <p:sp>
        <p:nvSpPr>
          <p:cNvPr id="36" name="Text 33">
            <a:hlinkClick r:id="rId8" tooltip="" action="ppaction://hlinksldjump"/>
          </p:cNvPr>
          <p:cNvSpPr txBox="1"/>
          <p:nvPr/>
        </p:nvSpPr>
        <p:spPr>
          <a:xfrm>
            <a:off x="1823009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وسط</a:t>
            </a:r>
            <a:endParaRPr lang="ar-OM" sz="1500" dirty="0"/>
          </a:p>
        </p:txBody>
      </p:sp>
      <p:sp>
        <p:nvSpPr>
          <p:cNvPr id="37" name="Text 34">
            <a:hlinkClick r:id="rId9" tooltip="" action="ppaction://hlinksldjump"/>
          </p:cNvPr>
          <p:cNvSpPr txBox="1"/>
          <p:nvPr/>
        </p:nvSpPr>
        <p:spPr>
          <a:xfrm>
            <a:off x="777240" y="4572000"/>
            <a:ext cx="936041" cy="548640"/>
          </a:xfrm>
          <a:prstGeom prst="roundRect">
            <a:avLst>
              <a:gd name="adj" fmla="val 20000"/>
            </a:avLst>
          </a:prstGeom>
          <a:solidFill>
            <a:srgbClr val="F6F4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يسار</a:t>
            </a:r>
            <a:endParaRPr lang="ar-OM" sz="1500" dirty="0"/>
          </a:p>
        </p:txBody>
      </p:sp>
      <p:sp>
        <p:nvSpPr>
          <p:cNvPr id="38" name="Text 35">
            <a:hlinkClick r:id="rId10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39" name="Text 36">
            <a:hlinkClick r:id="rId11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40" name="Text 37">
            <a:hlinkClick r:id="rId12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bg>
      <p:bgPr>
        <a:solidFill>
          <a:srgbClr val="2E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0" y="822960"/>
            <a:ext cx="457200" cy="4572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380000">
            <a:off x="2103120" y="201168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60000">
            <a:off x="731520" y="4206240"/>
            <a:ext cx="411480" cy="41148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540000">
            <a:off x="1828800" y="521208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920000">
            <a:off x="10607040" y="731520"/>
            <a:ext cx="411480" cy="4114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3300000">
            <a:off x="9692640" y="1920240"/>
            <a:ext cx="274320" cy="27432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1080000">
            <a:off x="10972800" y="3840480"/>
            <a:ext cx="457200" cy="45720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460000">
            <a:off x="9966960" y="5120640"/>
            <a:ext cx="320040" cy="32004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40000">
            <a:off x="3657600" y="54864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620000">
            <a:off x="8229600" y="50292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3000000">
            <a:off x="3017520" y="5486400"/>
            <a:ext cx="365760" cy="36576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780000">
            <a:off x="8961120" y="557784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160000">
            <a:off x="58521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3540000">
            <a:off x="1463040" y="3017520"/>
            <a:ext cx="256032" cy="256032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1320000">
            <a:off x="10332720" y="2926080"/>
            <a:ext cx="274320" cy="27432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55848" y="137160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355848" y="1371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6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أحسنت!</a:t>
            </a:r>
            <a:endParaRPr lang="ar-OM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1828800" y="342900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عُد إلى السؤال لتكمل باقي الفقرات، أو تابع الدرس</a:t>
            </a:r>
            <a:endParaRPr lang="ar-OM" sz="2400" dirty="0"/>
          </a:p>
        </p:txBody>
      </p:sp>
      <p:sp>
        <p:nvSpPr>
          <p:cNvPr id="21" name="Text 18">
            <a:hlinkClick r:id="rId1" tooltip="" action="ppaction://hlinksldjump"/>
          </p:cNvPr>
          <p:cNvSpPr txBox="1"/>
          <p:nvPr/>
        </p:nvSpPr>
        <p:spPr>
          <a:xfrm>
            <a:off x="6263640" y="45720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</a:t>
            </a:r>
            <a:endParaRPr lang="ar-OM" sz="1800" dirty="0"/>
          </a:p>
        </p:txBody>
      </p:sp>
      <p:sp>
        <p:nvSpPr>
          <p:cNvPr id="22" name="Text 19">
            <a:hlinkClick r:id="rId2" tooltip="" action="ppaction://hlinksldjump"/>
          </p:cNvPr>
          <p:cNvSpPr txBox="1"/>
          <p:nvPr/>
        </p:nvSpPr>
        <p:spPr>
          <a:xfrm>
            <a:off x="3749040" y="457200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الدرس ◀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applause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bg>
      <p:bgPr>
        <a:solidFill>
          <a:srgbClr val="9C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98648" y="1554480"/>
            <a:ext cx="64008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898648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5400" b="1" dirty="0">
                <a:solidFill>
                  <a:srgbClr val="9C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356616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جيدًا… أنت قادر على الوصول إلى الإجابة الصحيحة</a:t>
            </a:r>
            <a:endParaRPr lang="ar-OM" sz="2200" dirty="0"/>
          </a:p>
        </p:txBody>
      </p:sp>
      <p:sp>
        <p:nvSpPr>
          <p:cNvPr id="6" name="Text 3">
            <a:hlinkClick r:id="rId1" tooltip="" action="ppaction://hlinksldjump"/>
          </p:cNvPr>
          <p:cNvSpPr txBox="1"/>
          <p:nvPr/>
        </p:nvSpPr>
        <p:spPr>
          <a:xfrm>
            <a:off x="4910328" y="457200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 ▶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buzz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262311" y="68580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1C14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6</a:t>
            </a:r>
            <a:endParaRPr lang="ar-OM" sz="1400" dirty="0"/>
          </a:p>
        </p:txBody>
      </p:sp>
      <p:sp>
        <p:nvSpPr>
          <p:cNvPr id="4" name="Shape 1"/>
          <p:cNvSpPr/>
          <p:nvPr/>
        </p:nvSpPr>
        <p:spPr>
          <a:xfrm>
            <a:off x="9905695" y="1600200"/>
            <a:ext cx="1737360" cy="1737360"/>
          </a:xfrm>
          <a:prstGeom prst="roundRect">
            <a:avLst>
              <a:gd name="adj" fmla="val 13158"/>
            </a:avLst>
          </a:prstGeom>
          <a:solidFill>
            <a:srgbClr val="1C1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71455" y="196596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1C1452"/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54335" y="1965960"/>
            <a:ext cx="548640" cy="347472"/>
          </a:xfrm>
          <a:prstGeom prst="rect">
            <a:avLst/>
          </a:prstGeom>
          <a:solidFill>
            <a:srgbClr val="1C1452"/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08615" y="2514600"/>
            <a:ext cx="731520" cy="457200"/>
          </a:xfrm>
          <a:prstGeom prst="roundRect">
            <a:avLst>
              <a:gd name="adj" fmla="val 8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89912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5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 دائمًا أن تحفظ عملك</a:t>
            </a:r>
            <a:endParaRPr lang="ar-OM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576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ar-OM" altLang="en-US" sz="2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زر حفظ </a:t>
            </a:r>
            <a:pPr algn="r" indent="0" marL="0">
              <a:lnSpc>
                <a:spcPct val="130000"/>
              </a:lnSpc>
              <a:buNone/>
            </a:pPr>
            <a:r>
              <a:rPr lang="ar-OM" altLang="en-US" sz="2400" b="1" dirty="0">
                <a:solidFill>
                  <a:srgbClr val="FFD23F"/>
                </a:solidFill>
                <a:highlight>
                  <a:srgbClr val="1C145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pPr algn="r" indent="0" marL="0">
              <a:lnSpc>
                <a:spcPct val="130000"/>
              </a:lnSpc>
              <a:buNone/>
            </a:pPr>
            <a:r>
              <a:rPr lang="ar-OM" altLang="en-US" sz="2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من شريط أدوات الوصول السريع لحفظ التعديلات التي أجريتها على المستند دون تغيير اسمه</a:t>
            </a:r>
            <a:endParaRPr lang="ar-OM" sz="2400" dirty="0"/>
          </a:p>
        </p:txBody>
      </p:sp>
      <p:sp>
        <p:nvSpPr>
          <p:cNvPr id="10" name="Text 7">
            <a:hlinkClick r:id="rId1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11" name="Text 8">
            <a:hlinkClick r:id="rId2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12" name="Text 9">
            <a:hlinkClick r:id="rId3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41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60359" y="502920"/>
            <a:ext cx="3282696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تفاعلي  ·  الهدف 6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OM" altLang="en-US" sz="28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نجد زر حفظ الذي يحفظ التعديلات دون تغيير اسم المستند؟</a:t>
            </a:r>
            <a:endParaRPr lang="ar-OM" sz="2800" dirty="0"/>
          </a:p>
        </p:txBody>
      </p:sp>
      <p:sp>
        <p:nvSpPr>
          <p:cNvPr id="5" name="Text 2">
            <a:hlinkClick r:id="rId1" tooltip="" action="ppaction://hlinksldjump"/>
          </p:cNvPr>
          <p:cNvSpPr txBox="1"/>
          <p:nvPr/>
        </p:nvSpPr>
        <p:spPr>
          <a:xfrm>
            <a:off x="6233008" y="251460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6" name="Text 3">
            <a:hlinkClick r:id="rId2" tooltip="" action="ppaction://hlinksldjump"/>
          </p:cNvPr>
          <p:cNvSpPr txBox="1"/>
          <p:nvPr/>
        </p:nvSpPr>
        <p:spPr>
          <a:xfrm>
            <a:off x="10774375" y="2788920"/>
            <a:ext cx="640080" cy="64008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OM" sz="2100" dirty="0"/>
          </a:p>
        </p:txBody>
      </p:sp>
      <p:sp>
        <p:nvSpPr>
          <p:cNvPr id="7" name="Text 4">
            <a:hlinkClick r:id="rId3" tooltip="" action="ppaction://hlinksldjump"/>
          </p:cNvPr>
          <p:cNvSpPr txBox="1"/>
          <p:nvPr/>
        </p:nvSpPr>
        <p:spPr>
          <a:xfrm>
            <a:off x="6507328" y="267004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أدوات الوصول السريع</a:t>
            </a:r>
            <a:endParaRPr lang="ar-OM" sz="2200" dirty="0"/>
          </a:p>
        </p:txBody>
      </p:sp>
      <p:sp>
        <p:nvSpPr>
          <p:cNvPr id="8" name="Text 5">
            <a:hlinkClick r:id="rId4" tooltip="" action="ppaction://hlinksldjump"/>
          </p:cNvPr>
          <p:cNvSpPr txBox="1"/>
          <p:nvPr/>
        </p:nvSpPr>
        <p:spPr>
          <a:xfrm>
            <a:off x="6507328" y="32004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 Toolbar</a:t>
            </a:r>
            <a:endParaRPr lang="en-US" sz="1400" dirty="0"/>
          </a:p>
        </p:txBody>
      </p:sp>
      <p:sp>
        <p:nvSpPr>
          <p:cNvPr id="9" name="Text 6">
            <a:hlinkClick r:id="rId5" tooltip="" action="ppaction://hlinksldjump"/>
          </p:cNvPr>
          <p:cNvSpPr txBox="1"/>
          <p:nvPr/>
        </p:nvSpPr>
        <p:spPr>
          <a:xfrm>
            <a:off x="548640" y="251460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0" name="Text 7">
            <a:hlinkClick r:id="rId6" tooltip="" action="ppaction://hlinksldjump"/>
          </p:cNvPr>
          <p:cNvSpPr txBox="1"/>
          <p:nvPr/>
        </p:nvSpPr>
        <p:spPr>
          <a:xfrm>
            <a:off x="5090008" y="2788920"/>
            <a:ext cx="640080" cy="640080"/>
          </a:xfrm>
          <a:prstGeom prst="ellipse">
            <a:avLst/>
          </a:prstGeom>
          <a:solidFill>
            <a:srgbClr val="FF8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OM" sz="2100" dirty="0"/>
          </a:p>
        </p:txBody>
      </p:sp>
      <p:sp>
        <p:nvSpPr>
          <p:cNvPr id="11" name="Text 8">
            <a:hlinkClick r:id="rId7" tooltip="" action="ppaction://hlinksldjump"/>
          </p:cNvPr>
          <p:cNvSpPr txBox="1"/>
          <p:nvPr/>
        </p:nvSpPr>
        <p:spPr>
          <a:xfrm>
            <a:off x="822960" y="267004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الصفحة الرئيسية</a:t>
            </a:r>
            <a:endParaRPr lang="ar-OM" sz="2200" dirty="0"/>
          </a:p>
        </p:txBody>
      </p:sp>
      <p:sp>
        <p:nvSpPr>
          <p:cNvPr id="12" name="Text 9">
            <a:hlinkClick r:id="rId8" tooltip="" action="ppaction://hlinksldjump"/>
          </p:cNvPr>
          <p:cNvSpPr txBox="1"/>
          <p:nvPr/>
        </p:nvSpPr>
        <p:spPr>
          <a:xfrm>
            <a:off x="822960" y="32004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400" dirty="0"/>
          </a:p>
        </p:txBody>
      </p:sp>
      <p:sp>
        <p:nvSpPr>
          <p:cNvPr id="13" name="Text 10">
            <a:hlinkClick r:id="rId9" tooltip="" action="ppaction://hlinksldjump"/>
          </p:cNvPr>
          <p:cNvSpPr txBox="1"/>
          <p:nvPr/>
        </p:nvSpPr>
        <p:spPr>
          <a:xfrm>
            <a:off x="6233008" y="397764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4" name="Text 11">
            <a:hlinkClick r:id="rId10" tooltip="" action="ppaction://hlinksldjump"/>
          </p:cNvPr>
          <p:cNvSpPr txBox="1"/>
          <p:nvPr/>
        </p:nvSpPr>
        <p:spPr>
          <a:xfrm>
            <a:off x="10774375" y="4251960"/>
            <a:ext cx="640080" cy="640080"/>
          </a:xfrm>
          <a:prstGeom prst="ellipse">
            <a:avLst/>
          </a:prstGeom>
          <a:solidFill>
            <a:srgbClr val="5FD8E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OM" sz="2100" dirty="0"/>
          </a:p>
        </p:txBody>
      </p:sp>
      <p:sp>
        <p:nvSpPr>
          <p:cNvPr id="15" name="Text 12">
            <a:hlinkClick r:id="rId11" tooltip="" action="ppaction://hlinksldjump"/>
          </p:cNvPr>
          <p:cNvSpPr txBox="1"/>
          <p:nvPr/>
        </p:nvSpPr>
        <p:spPr>
          <a:xfrm>
            <a:off x="6507328" y="413308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تبويب إدراج</a:t>
            </a:r>
            <a:endParaRPr lang="ar-OM" sz="2200" dirty="0"/>
          </a:p>
        </p:txBody>
      </p:sp>
      <p:sp>
        <p:nvSpPr>
          <p:cNvPr id="16" name="Text 13">
            <a:hlinkClick r:id="rId12" tooltip="" action="ppaction://hlinksldjump"/>
          </p:cNvPr>
          <p:cNvSpPr txBox="1"/>
          <p:nvPr/>
        </p:nvSpPr>
        <p:spPr>
          <a:xfrm>
            <a:off x="6507328" y="466344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400" dirty="0"/>
          </a:p>
        </p:txBody>
      </p:sp>
      <p:sp>
        <p:nvSpPr>
          <p:cNvPr id="17" name="Text 14">
            <a:hlinkClick r:id="rId13" tooltip="" action="ppaction://hlinksldjump"/>
          </p:cNvPr>
          <p:cNvSpPr txBox="1"/>
          <p:nvPr/>
        </p:nvSpPr>
        <p:spPr>
          <a:xfrm>
            <a:off x="548640" y="3977640"/>
            <a:ext cx="5410048" cy="1188720"/>
          </a:xfrm>
          <a:prstGeom prst="roundRect">
            <a:avLst>
              <a:gd name="adj" fmla="val 10769"/>
            </a:avLst>
          </a:prstGeom>
          <a:solidFill>
            <a:srgbClr val="2E2380"/>
          </a:solidFill>
          <a:ln w="25400">
            <a:solidFill>
              <a:srgbClr val="5A49C4"/>
            </a:solidFill>
          </a:ln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ar-OM" sz="1800" dirty="0"/>
          </a:p>
        </p:txBody>
      </p:sp>
      <p:sp>
        <p:nvSpPr>
          <p:cNvPr id="18" name="Text 15">
            <a:hlinkClick r:id="rId14" tooltip="" action="ppaction://hlinksldjump"/>
          </p:cNvPr>
          <p:cNvSpPr txBox="1"/>
          <p:nvPr/>
        </p:nvSpPr>
        <p:spPr>
          <a:xfrm>
            <a:off x="5090008" y="4251960"/>
            <a:ext cx="640080" cy="640080"/>
          </a:xfrm>
          <a:prstGeom prst="ellipse">
            <a:avLst/>
          </a:prstGeom>
          <a:solidFill>
            <a:srgbClr val="B9EA6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1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OM" sz="2100" dirty="0"/>
          </a:p>
        </p:txBody>
      </p:sp>
      <p:sp>
        <p:nvSpPr>
          <p:cNvPr id="19" name="Text 16">
            <a:hlinkClick r:id="rId15" tooltip="" action="ppaction://hlinksldjump"/>
          </p:cNvPr>
          <p:cNvSpPr txBox="1"/>
          <p:nvPr/>
        </p:nvSpPr>
        <p:spPr>
          <a:xfrm>
            <a:off x="822960" y="4133088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نافذة فتح</a:t>
            </a:r>
            <a:endParaRPr lang="ar-OM" sz="2200" dirty="0"/>
          </a:p>
        </p:txBody>
      </p:sp>
      <p:sp>
        <p:nvSpPr>
          <p:cNvPr id="20" name="Text 17">
            <a:hlinkClick r:id="rId16" tooltip="" action="ppaction://hlinksldjump"/>
          </p:cNvPr>
          <p:cNvSpPr txBox="1"/>
          <p:nvPr/>
        </p:nvSpPr>
        <p:spPr>
          <a:xfrm>
            <a:off x="822960" y="466344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532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b="1" dirty="0">
                <a:solidFill>
                  <a:srgbClr val="CF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على الإجابة التي تراها صحيحة</a:t>
            </a:r>
            <a:endParaRPr lang="ar-OM" sz="1500" dirty="0"/>
          </a:p>
        </p:txBody>
      </p:sp>
      <p:sp>
        <p:nvSpPr>
          <p:cNvPr id="22" name="Text 19">
            <a:hlinkClick r:id="rId17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3" name="Text 20">
            <a:hlinkClick r:id="rId18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4" name="Text 21">
            <a:hlinkClick r:id="rId19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2E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0" y="822960"/>
            <a:ext cx="457200" cy="4572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380000">
            <a:off x="2103120" y="201168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60000">
            <a:off x="731520" y="4206240"/>
            <a:ext cx="411480" cy="41148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540000">
            <a:off x="1828800" y="521208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920000">
            <a:off x="10607040" y="731520"/>
            <a:ext cx="411480" cy="4114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3300000">
            <a:off x="9692640" y="1920240"/>
            <a:ext cx="274320" cy="27432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1080000">
            <a:off x="10972800" y="3840480"/>
            <a:ext cx="457200" cy="45720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460000">
            <a:off x="9966960" y="5120640"/>
            <a:ext cx="320040" cy="32004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40000">
            <a:off x="3657600" y="54864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620000">
            <a:off x="8229600" y="502920"/>
            <a:ext cx="320040" cy="320040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3000000">
            <a:off x="3017520" y="5486400"/>
            <a:ext cx="365760" cy="36576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780000">
            <a:off x="8961120" y="5577840"/>
            <a:ext cx="274320" cy="274320"/>
          </a:xfrm>
          <a:prstGeom prst="star5">
            <a:avLst/>
          </a:prstGeom>
          <a:solidFill>
            <a:srgbClr val="B9EA64"/>
          </a:solidFill>
          <a:ln w="12700">
            <a:solidFill>
              <a:srgbClr val="B9EA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160000">
            <a:off x="58521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3540000">
            <a:off x="1463040" y="3017520"/>
            <a:ext cx="256032" cy="256032"/>
          </a:xfrm>
          <a:prstGeom prst="star5">
            <a:avLst/>
          </a:prstGeom>
          <a:solidFill>
            <a:srgbClr val="FF8FC4"/>
          </a:solidFill>
          <a:ln w="12700">
            <a:solidFill>
              <a:srgbClr val="FF8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1320000">
            <a:off x="10332720" y="2926080"/>
            <a:ext cx="274320" cy="274320"/>
          </a:xfrm>
          <a:prstGeom prst="star5">
            <a:avLst/>
          </a:prstGeom>
          <a:solidFill>
            <a:srgbClr val="5FD8EF"/>
          </a:solidFill>
          <a:ln w="12700">
            <a:solidFill>
              <a:srgbClr val="5FD8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55848" y="137160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355848" y="1371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66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أحسنت!</a:t>
            </a:r>
            <a:endParaRPr lang="ar-OM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1828800" y="342900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الإجابة الصحيحة: شريط أدوات الوصول السريع</a:t>
            </a:r>
            <a:endParaRPr lang="ar-OM" sz="2400" dirty="0"/>
          </a:p>
        </p:txBody>
      </p:sp>
      <p:sp>
        <p:nvSpPr>
          <p:cNvPr id="21" name="Text 18">
            <a:hlinkClick r:id="rId1" tooltip="" action="ppaction://hlinksldjump"/>
          </p:cNvPr>
          <p:cNvSpPr txBox="1"/>
          <p:nvPr/>
        </p:nvSpPr>
        <p:spPr>
          <a:xfrm>
            <a:off x="6263640" y="45720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</a:t>
            </a:r>
            <a:endParaRPr lang="ar-OM" sz="1800" dirty="0"/>
          </a:p>
        </p:txBody>
      </p:sp>
      <p:sp>
        <p:nvSpPr>
          <p:cNvPr id="22" name="Text 19">
            <a:hlinkClick r:id="rId2" tooltip="" action="ppaction://hlinksldjump"/>
          </p:cNvPr>
          <p:cNvSpPr txBox="1"/>
          <p:nvPr/>
        </p:nvSpPr>
        <p:spPr>
          <a:xfrm>
            <a:off x="3749040" y="457200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الدرس ◀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applause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solidFill>
          <a:srgbClr val="9C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98648" y="1554480"/>
            <a:ext cx="64008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898648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5400" b="1" dirty="0">
                <a:solidFill>
                  <a:srgbClr val="9C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356616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22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جيدًا… أنت قادر على الوصول إلى الإجابة الصحيحة</a:t>
            </a:r>
            <a:endParaRPr lang="ar-OM" sz="2200" dirty="0"/>
          </a:p>
        </p:txBody>
      </p:sp>
      <p:sp>
        <p:nvSpPr>
          <p:cNvPr id="6" name="Text 3">
            <a:hlinkClick r:id="rId1" tooltip="" action="ppaction://hlinksldjump"/>
          </p:cNvPr>
          <p:cNvSpPr txBox="1"/>
          <p:nvPr/>
        </p:nvSpPr>
        <p:spPr>
          <a:xfrm>
            <a:off x="4910328" y="457200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عودة للسؤال ▶</a:t>
            </a:r>
            <a:endParaRPr lang="ar-OM" sz="1800" dirty="0"/>
          </a:p>
        </p:txBody>
      </p:sp>
    </p:spTree>
  </p:cSld>
  <p:clrMapOvr>
    <a:masterClrMapping/>
  </p:clrMapOvr>
  <p:transition spd="med">
    <p:fade/>
    <p:sndAc>
      <p:stSnd>
        <p:snd r:embed="rIdSnd1" name="buzz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786823" y="50292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C8352B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تحدٍّ ختامي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C8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نسّق النص على النحو الآتي</a:t>
            </a:r>
            <a:endParaRPr lang="ar-OM" sz="3400" dirty="0"/>
          </a:p>
        </p:txBody>
      </p:sp>
      <p:sp>
        <p:nvSpPr>
          <p:cNvPr id="5" name="Shape 2"/>
          <p:cNvSpPr/>
          <p:nvPr/>
        </p:nvSpPr>
        <p:spPr>
          <a:xfrm>
            <a:off x="7345375" y="1828800"/>
            <a:ext cx="4297680" cy="676656"/>
          </a:xfrm>
          <a:prstGeom prst="roundRect">
            <a:avLst>
              <a:gd name="adj" fmla="val 16216"/>
            </a:avLst>
          </a:prstGeom>
          <a:solidFill>
            <a:srgbClr val="1C1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76127" y="19842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C1452"/>
          </a:solidFill>
          <a:ln w="31750">
            <a:solidFill>
              <a:srgbClr val="FFD2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28255" y="182880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4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 غامق ومسطّر وفي الوسط</a:t>
            </a:r>
            <a:endParaRPr lang="ar-OM" sz="1400" dirty="0"/>
          </a:p>
        </p:txBody>
      </p:sp>
      <p:sp>
        <p:nvSpPr>
          <p:cNvPr id="8" name="Shape 5"/>
          <p:cNvSpPr/>
          <p:nvPr/>
        </p:nvSpPr>
        <p:spPr>
          <a:xfrm>
            <a:off x="7345375" y="2596896"/>
            <a:ext cx="4297680" cy="676656"/>
          </a:xfrm>
          <a:prstGeom prst="roundRect">
            <a:avLst>
              <a:gd name="adj" fmla="val 16216"/>
            </a:avLst>
          </a:prstGeom>
          <a:solidFill>
            <a:srgbClr val="1C1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076127" y="275234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C1452"/>
          </a:solidFill>
          <a:ln w="31750">
            <a:solidFill>
              <a:srgbClr val="FFD2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28255" y="2596896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4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تمييز «إعادة التدوير» بالأحمر</a:t>
            </a:r>
            <a:endParaRPr lang="ar-OM" sz="1400" dirty="0"/>
          </a:p>
        </p:txBody>
      </p:sp>
      <p:sp>
        <p:nvSpPr>
          <p:cNvPr id="11" name="Shape 8"/>
          <p:cNvSpPr/>
          <p:nvPr/>
        </p:nvSpPr>
        <p:spPr>
          <a:xfrm>
            <a:off x="7345375" y="3364992"/>
            <a:ext cx="4297680" cy="676656"/>
          </a:xfrm>
          <a:prstGeom prst="roundRect">
            <a:avLst>
              <a:gd name="adj" fmla="val 16216"/>
            </a:avLst>
          </a:prstGeom>
          <a:solidFill>
            <a:srgbClr val="1C1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76127" y="35204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C1452"/>
          </a:solidFill>
          <a:ln w="31750">
            <a:solidFill>
              <a:srgbClr val="FFD23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28255" y="336499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4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تمييز «وتقليل استهلاك الطاقة» بالأخضر</a:t>
            </a:r>
            <a:endParaRPr lang="ar-OM" sz="1400" dirty="0"/>
          </a:p>
        </p:txBody>
      </p:sp>
      <p:sp>
        <p:nvSpPr>
          <p:cNvPr id="14" name="Shape 11"/>
          <p:cNvSpPr/>
          <p:nvPr/>
        </p:nvSpPr>
        <p:spPr>
          <a:xfrm>
            <a:off x="7345375" y="4133088"/>
            <a:ext cx="4297680" cy="676656"/>
          </a:xfrm>
          <a:prstGeom prst="roundRect">
            <a:avLst>
              <a:gd name="adj" fmla="val 16216"/>
            </a:avLst>
          </a:prstGeom>
          <a:solidFill>
            <a:srgbClr val="1C1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76127" y="428853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C1452"/>
          </a:solidFill>
          <a:ln w="31750">
            <a:solidFill>
              <a:srgbClr val="FFD2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28255" y="4133088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4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محاذاة الفقرة لليمين</a:t>
            </a:r>
            <a:endParaRPr lang="ar-OM" sz="1400" dirty="0"/>
          </a:p>
        </p:txBody>
      </p:sp>
      <p:sp>
        <p:nvSpPr>
          <p:cNvPr id="17" name="Shape 14"/>
          <p:cNvSpPr/>
          <p:nvPr/>
        </p:nvSpPr>
        <p:spPr>
          <a:xfrm>
            <a:off x="7345375" y="4901184"/>
            <a:ext cx="4297680" cy="676656"/>
          </a:xfrm>
          <a:prstGeom prst="roundRect">
            <a:avLst>
              <a:gd name="adj" fmla="val 16216"/>
            </a:avLst>
          </a:prstGeom>
          <a:solidFill>
            <a:srgbClr val="1C14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076127" y="505663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C1452"/>
          </a:solidFill>
          <a:ln w="31750">
            <a:solidFill>
              <a:srgbClr val="FFD23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28255" y="4901184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4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 المستند</a:t>
            </a:r>
            <a:endParaRPr lang="ar-OM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1828800"/>
            <a:ext cx="6430975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C9B8A0">
                <a:alpha val="4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14400" y="2011680"/>
            <a:ext cx="5699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ar-OM" altLang="en-US" sz="2600" b="1" u="sng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التدوير</a:t>
            </a:r>
            <a:endParaRPr lang="ar-OM" sz="19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OM" altLang="en-US" sz="1900" dirty="0">
                <a:solidFill>
                  <a:srgbClr val="FFFFFF"/>
                </a:solidFill>
                <a:highlight>
                  <a:srgbClr val="C62F2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التدوير</a:t>
            </a:r>
            <a:pPr algn="r" indent="0" marL="0">
              <a:lnSpc>
                <a:spcPct val="150000"/>
              </a:lnSpc>
              <a:buNone/>
            </a:pPr>
            <a:r>
              <a:rPr lang="ar-OM" altLang="en-US" sz="1900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هي عملية تحويل النفايات إلى مواد وعناصر جديدة قابلة للاستخدام مرة أخرى، حيث تهدف هذه العملية إلى التقليل من حجم النفايات، وبالتالي تقليل التلوث، </a:t>
            </a:r>
            <a:pPr algn="r" indent="0" marL="0">
              <a:lnSpc>
                <a:spcPct val="150000"/>
              </a:lnSpc>
              <a:buNone/>
            </a:pPr>
            <a:r>
              <a:rPr lang="ar-OM" altLang="en-US" sz="1900" dirty="0">
                <a:solidFill>
                  <a:srgbClr val="1C1452"/>
                </a:solidFill>
                <a:highlight>
                  <a:srgbClr val="7CC85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وتقليل استهلاك الطاقة؛</a:t>
            </a:r>
            <a:pPr algn="r" indent="0" marL="0">
              <a:lnSpc>
                <a:spcPct val="150000"/>
              </a:lnSpc>
              <a:buNone/>
            </a:pPr>
            <a:r>
              <a:rPr lang="ar-OM" altLang="en-US" sz="1900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مما يعود بالنفع على البيئة.</a:t>
            </a:r>
            <a:endParaRPr lang="ar-OM" sz="1900" dirty="0"/>
          </a:p>
        </p:txBody>
      </p:sp>
      <p:sp>
        <p:nvSpPr>
          <p:cNvPr id="22" name="Text 19">
            <a:hlinkClick r:id="rId1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1C1452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3" name="Text 20">
            <a:hlinkClick r:id="rId2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  <p:sp>
        <p:nvSpPr>
          <p:cNvPr id="24" name="Text 21">
            <a:hlinkClick r:id="rId3" tooltip="" action="ppaction://hlinksldjump"/>
          </p:cNvPr>
          <p:cNvSpPr txBox="1"/>
          <p:nvPr/>
        </p:nvSpPr>
        <p:spPr>
          <a:xfrm>
            <a:off x="50292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التالي</a:t>
            </a:r>
            <a:endParaRPr lang="ar-OM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E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262311" y="50292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ar-OM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34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تعلّمنا اليوم؟</a:t>
            </a:r>
            <a:endParaRPr lang="ar-OM" sz="3400" dirty="0"/>
          </a:p>
        </p:txBody>
      </p:sp>
      <p:sp>
        <p:nvSpPr>
          <p:cNvPr id="5" name="Shape 2"/>
          <p:cNvSpPr/>
          <p:nvPr/>
        </p:nvSpPr>
        <p:spPr>
          <a:xfrm>
            <a:off x="9961626" y="1920240"/>
            <a:ext cx="1681429" cy="1645920"/>
          </a:xfrm>
          <a:prstGeom prst="roundRect">
            <a:avLst>
              <a:gd name="adj" fmla="val 6667"/>
            </a:avLst>
          </a:prstGeom>
          <a:solidFill>
            <a:srgbClr val="3A2A9A"/>
          </a:solidFill>
          <a:ln w="19050">
            <a:solidFill>
              <a:srgbClr val="7A66E0"/>
            </a:solidFill>
            <a:prstDash val="solid"/>
          </a:ln>
        </p:spPr>
      </p:sp>
      <p:sp>
        <p:nvSpPr>
          <p:cNvPr id="6" name="Text 3">
            <a:hlinkClick r:id="rId1" tooltip="" action="ppaction://hlinksldjump"/>
          </p:cNvPr>
          <p:cNvSpPr txBox="1"/>
          <p:nvPr/>
        </p:nvSpPr>
        <p:spPr>
          <a:xfrm>
            <a:off x="10528021" y="2148840"/>
            <a:ext cx="548640" cy="548640"/>
          </a:xfrm>
          <a:prstGeom prst="ellipse">
            <a:avLst/>
          </a:prstGeom>
          <a:solidFill>
            <a:srgbClr val="0B7D7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OM" sz="1800" dirty="0"/>
          </a:p>
        </p:txBody>
      </p:sp>
      <p:sp>
        <p:nvSpPr>
          <p:cNvPr id="7" name="Text 4">
            <a:hlinkClick r:id="rId2" tooltip="" action="ppaction://hlinksldjump"/>
          </p:cNvPr>
          <p:cNvSpPr txBox="1"/>
          <p:nvPr/>
        </p:nvSpPr>
        <p:spPr>
          <a:xfrm>
            <a:off x="10053066" y="2834640"/>
            <a:ext cx="14985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المستند</a:t>
            </a:r>
            <a:endParaRPr lang="ar-OM" sz="1500" dirty="0"/>
          </a:p>
        </p:txBody>
      </p:sp>
      <p:sp>
        <p:nvSpPr>
          <p:cNvPr id="8" name="Shape 5"/>
          <p:cNvSpPr/>
          <p:nvPr/>
        </p:nvSpPr>
        <p:spPr>
          <a:xfrm>
            <a:off x="8079029" y="1920240"/>
            <a:ext cx="1681429" cy="1645920"/>
          </a:xfrm>
          <a:prstGeom prst="roundRect">
            <a:avLst>
              <a:gd name="adj" fmla="val 6667"/>
            </a:avLst>
          </a:prstGeom>
          <a:solidFill>
            <a:srgbClr val="3A2A9A"/>
          </a:solidFill>
          <a:ln w="19050">
            <a:solidFill>
              <a:srgbClr val="7A66E0"/>
            </a:solidFill>
            <a:prstDash val="solid"/>
          </a:ln>
        </p:spPr>
      </p:sp>
      <p:sp>
        <p:nvSpPr>
          <p:cNvPr id="9" name="Text 6">
            <a:hlinkClick r:id="rId3" tooltip="" action="ppaction://hlinksldjump"/>
          </p:cNvPr>
          <p:cNvSpPr txBox="1"/>
          <p:nvPr/>
        </p:nvSpPr>
        <p:spPr>
          <a:xfrm>
            <a:off x="8645423" y="2148840"/>
            <a:ext cx="548640" cy="548640"/>
          </a:xfrm>
          <a:prstGeom prst="ellipse">
            <a:avLst/>
          </a:prstGeom>
          <a:solidFill>
            <a:srgbClr val="6A3FC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OM" sz="1800" dirty="0"/>
          </a:p>
        </p:txBody>
      </p:sp>
      <p:sp>
        <p:nvSpPr>
          <p:cNvPr id="10" name="Text 7">
            <a:hlinkClick r:id="rId4" tooltip="" action="ppaction://hlinksldjump"/>
          </p:cNvPr>
          <p:cNvSpPr txBox="1"/>
          <p:nvPr/>
        </p:nvSpPr>
        <p:spPr>
          <a:xfrm>
            <a:off x="8170469" y="2834640"/>
            <a:ext cx="14985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التنسيق</a:t>
            </a:r>
            <a:endParaRPr lang="ar-OM" sz="1500" dirty="0"/>
          </a:p>
        </p:txBody>
      </p:sp>
      <p:sp>
        <p:nvSpPr>
          <p:cNvPr id="11" name="Shape 8"/>
          <p:cNvSpPr/>
          <p:nvPr/>
        </p:nvSpPr>
        <p:spPr>
          <a:xfrm>
            <a:off x="6196432" y="1920240"/>
            <a:ext cx="1681429" cy="1645920"/>
          </a:xfrm>
          <a:prstGeom prst="roundRect">
            <a:avLst>
              <a:gd name="adj" fmla="val 6667"/>
            </a:avLst>
          </a:prstGeom>
          <a:solidFill>
            <a:srgbClr val="3A2A9A"/>
          </a:solidFill>
          <a:ln w="19050">
            <a:solidFill>
              <a:srgbClr val="7A66E0"/>
            </a:solidFill>
            <a:prstDash val="solid"/>
          </a:ln>
        </p:spPr>
      </p:sp>
      <p:sp>
        <p:nvSpPr>
          <p:cNvPr id="12" name="Text 9">
            <a:hlinkClick r:id="rId5" tooltip="" action="ppaction://hlinksldjump"/>
          </p:cNvPr>
          <p:cNvSpPr txBox="1"/>
          <p:nvPr/>
        </p:nvSpPr>
        <p:spPr>
          <a:xfrm>
            <a:off x="6762826" y="2148840"/>
            <a:ext cx="548640" cy="548640"/>
          </a:xfrm>
          <a:prstGeom prst="ellipse">
            <a:avLst/>
          </a:prstGeom>
          <a:solidFill>
            <a:srgbClr val="C8352B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OM" sz="1800" dirty="0"/>
          </a:p>
        </p:txBody>
      </p:sp>
      <p:sp>
        <p:nvSpPr>
          <p:cNvPr id="13" name="Text 10">
            <a:hlinkClick r:id="rId6" tooltip="" action="ppaction://hlinksldjump"/>
          </p:cNvPr>
          <p:cNvSpPr txBox="1"/>
          <p:nvPr/>
        </p:nvSpPr>
        <p:spPr>
          <a:xfrm>
            <a:off x="6287872" y="2834640"/>
            <a:ext cx="14985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غامق ومائل وتسطير</a:t>
            </a:r>
            <a:endParaRPr lang="ar-OM" sz="1500" dirty="0"/>
          </a:p>
        </p:txBody>
      </p:sp>
      <p:sp>
        <p:nvSpPr>
          <p:cNvPr id="14" name="Shape 11"/>
          <p:cNvSpPr/>
          <p:nvPr/>
        </p:nvSpPr>
        <p:spPr>
          <a:xfrm>
            <a:off x="4313834" y="1920240"/>
            <a:ext cx="1681429" cy="1645920"/>
          </a:xfrm>
          <a:prstGeom prst="roundRect">
            <a:avLst>
              <a:gd name="adj" fmla="val 6667"/>
            </a:avLst>
          </a:prstGeom>
          <a:solidFill>
            <a:srgbClr val="3A2A9A"/>
          </a:solidFill>
          <a:ln w="19050">
            <a:solidFill>
              <a:srgbClr val="7A66E0"/>
            </a:solidFill>
            <a:prstDash val="solid"/>
          </a:ln>
        </p:spPr>
      </p:sp>
      <p:sp>
        <p:nvSpPr>
          <p:cNvPr id="15" name="Text 12">
            <a:hlinkClick r:id="rId7" tooltip="" action="ppaction://hlinksldjump"/>
          </p:cNvPr>
          <p:cNvSpPr txBox="1"/>
          <p:nvPr/>
        </p:nvSpPr>
        <p:spPr>
          <a:xfrm>
            <a:off x="4880229" y="2148840"/>
            <a:ext cx="548640" cy="548640"/>
          </a:xfrm>
          <a:prstGeom prst="ellipse">
            <a:avLst/>
          </a:prstGeom>
          <a:solidFill>
            <a:srgbClr val="B3540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OM" sz="1800" dirty="0"/>
          </a:p>
        </p:txBody>
      </p:sp>
      <p:sp>
        <p:nvSpPr>
          <p:cNvPr id="16" name="Text 13">
            <a:hlinkClick r:id="rId8" tooltip="" action="ppaction://hlinksldjump"/>
          </p:cNvPr>
          <p:cNvSpPr txBox="1"/>
          <p:nvPr/>
        </p:nvSpPr>
        <p:spPr>
          <a:xfrm>
            <a:off x="4405274" y="2834640"/>
            <a:ext cx="14985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تمييز النص</a:t>
            </a:r>
            <a:endParaRPr lang="ar-OM" sz="1500" dirty="0"/>
          </a:p>
        </p:txBody>
      </p:sp>
      <p:sp>
        <p:nvSpPr>
          <p:cNvPr id="17" name="Shape 14"/>
          <p:cNvSpPr/>
          <p:nvPr/>
        </p:nvSpPr>
        <p:spPr>
          <a:xfrm>
            <a:off x="2431237" y="1920240"/>
            <a:ext cx="1681429" cy="1645920"/>
          </a:xfrm>
          <a:prstGeom prst="roundRect">
            <a:avLst>
              <a:gd name="adj" fmla="val 6667"/>
            </a:avLst>
          </a:prstGeom>
          <a:solidFill>
            <a:srgbClr val="3A2A9A"/>
          </a:solidFill>
          <a:ln w="19050">
            <a:solidFill>
              <a:srgbClr val="7A66E0"/>
            </a:solidFill>
            <a:prstDash val="solid"/>
          </a:ln>
        </p:spPr>
      </p:sp>
      <p:sp>
        <p:nvSpPr>
          <p:cNvPr id="18" name="Text 15">
            <a:hlinkClick r:id="rId9" tooltip="" action="ppaction://hlinksldjump"/>
          </p:cNvPr>
          <p:cNvSpPr txBox="1"/>
          <p:nvPr/>
        </p:nvSpPr>
        <p:spPr>
          <a:xfrm>
            <a:off x="2997632" y="2148840"/>
            <a:ext cx="548640" cy="548640"/>
          </a:xfrm>
          <a:prstGeom prst="ellipse">
            <a:avLst/>
          </a:prstGeom>
          <a:solidFill>
            <a:srgbClr val="1A7D4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OM" sz="1800" dirty="0"/>
          </a:p>
        </p:txBody>
      </p:sp>
      <p:sp>
        <p:nvSpPr>
          <p:cNvPr id="19" name="Text 16">
            <a:hlinkClick r:id="rId10" tooltip="" action="ppaction://hlinksldjump"/>
          </p:cNvPr>
          <p:cNvSpPr txBox="1"/>
          <p:nvPr/>
        </p:nvSpPr>
        <p:spPr>
          <a:xfrm>
            <a:off x="2522677" y="2834640"/>
            <a:ext cx="14985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المحاذاة</a:t>
            </a:r>
            <a:endParaRPr lang="ar-OM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1920240"/>
            <a:ext cx="1681429" cy="1645920"/>
          </a:xfrm>
          <a:prstGeom prst="roundRect">
            <a:avLst>
              <a:gd name="adj" fmla="val 6667"/>
            </a:avLst>
          </a:prstGeom>
          <a:solidFill>
            <a:srgbClr val="3A2A9A"/>
          </a:solidFill>
          <a:ln w="19050">
            <a:solidFill>
              <a:srgbClr val="7A66E0"/>
            </a:solidFill>
            <a:prstDash val="solid"/>
          </a:ln>
        </p:spPr>
      </p:sp>
      <p:sp>
        <p:nvSpPr>
          <p:cNvPr id="21" name="Text 18">
            <a:hlinkClick r:id="rId11" tooltip="" action="ppaction://hlinksldjump"/>
          </p:cNvPr>
          <p:cNvSpPr txBox="1"/>
          <p:nvPr/>
        </p:nvSpPr>
        <p:spPr>
          <a:xfrm>
            <a:off x="1115035" y="2148840"/>
            <a:ext cx="548640" cy="548640"/>
          </a:xfrm>
          <a:prstGeom prst="ellipse">
            <a:avLst/>
          </a:prstGeom>
          <a:solidFill>
            <a:srgbClr val="D4A00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OM" sz="1800" dirty="0"/>
          </a:p>
        </p:txBody>
      </p:sp>
      <p:sp>
        <p:nvSpPr>
          <p:cNvPr id="22" name="Text 19">
            <a:hlinkClick r:id="rId12" tooltip="" action="ppaction://hlinksldjump"/>
          </p:cNvPr>
          <p:cNvSpPr txBox="1"/>
          <p:nvPr/>
        </p:nvSpPr>
        <p:spPr>
          <a:xfrm>
            <a:off x="640080" y="2834640"/>
            <a:ext cx="14985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500" b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الحفظ</a:t>
            </a:r>
            <a:endParaRPr lang="ar-OM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749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2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نجمة جمعتم اليوم؟</a:t>
            </a:r>
            <a:endParaRPr lang="ar-OM" sz="2200" dirty="0"/>
          </a:p>
        </p:txBody>
      </p:sp>
      <p:sp>
        <p:nvSpPr>
          <p:cNvPr id="24" name="Shape 21"/>
          <p:cNvSpPr/>
          <p:nvPr/>
        </p:nvSpPr>
        <p:spPr>
          <a:xfrm>
            <a:off x="548640" y="434340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FFD2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4434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4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OM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47548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0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خطوتين لتمييز كلمة باللون الأصفر، واذكر أداة واحدة ستستخدمها في واجبك القادم</a:t>
            </a:r>
            <a:endParaRPr lang="ar-OM" sz="2000" dirty="0"/>
          </a:p>
        </p:txBody>
      </p:sp>
      <p:sp>
        <p:nvSpPr>
          <p:cNvPr id="27" name="Text 24">
            <a:hlinkClick r:id="rId13" tooltip="" action="ppaction://hlinksldjump"/>
          </p:cNvPr>
          <p:cNvSpPr txBox="1"/>
          <p:nvPr/>
        </p:nvSpPr>
        <p:spPr>
          <a:xfrm>
            <a:off x="3794760" y="6236208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الأسئلة</a:t>
            </a:r>
            <a:endParaRPr lang="ar-OM" sz="1300" dirty="0"/>
          </a:p>
        </p:txBody>
      </p:sp>
      <p:sp>
        <p:nvSpPr>
          <p:cNvPr id="28" name="Text 25">
            <a:hlinkClick r:id="rId14" tooltip="" action="ppaction://hlinksldjump"/>
          </p:cNvPr>
          <p:cNvSpPr txBox="1"/>
          <p:nvPr/>
        </p:nvSpPr>
        <p:spPr>
          <a:xfrm>
            <a:off x="2697480" y="6236208"/>
            <a:ext cx="1051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السابق ▶</a:t>
            </a:r>
            <a:endParaRPr lang="ar-OM" sz="1300" dirty="0"/>
          </a:p>
        </p:txBody>
      </p:sp>
      <p:sp>
        <p:nvSpPr>
          <p:cNvPr id="29" name="Text 26">
            <a:hlinkClick r:id="rId15" tooltip="" action="ppaction://hlinksldjump"/>
          </p:cNvPr>
          <p:cNvSpPr txBox="1"/>
          <p:nvPr/>
        </p:nvSpPr>
        <p:spPr>
          <a:xfrm>
            <a:off x="1600200" y="6236208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F8FC4"/>
          </a:solidFill>
          <a:ln/>
          <a:effectLst>
            <a:outerShdw sx="100000" sy="100000" kx="0" ky="0" algn="bl" rotWithShape="0" blurRad="25400" dist="25400" dir="540000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300" b="1" dirty="0">
                <a:solidFill>
                  <a:srgbClr val="1C1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الرئيسة</a:t>
            </a:r>
            <a:endParaRPr lang="ar-OM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تنسيق النص — الدرس 2.1</dc:title>
  <dc:subject>PptxGenJS Presentation</dc:subject>
  <dc:creator>الأستاذة عبير بنت صالح اليحمدية</dc:creator>
  <cp:lastModifiedBy>الأستاذة عبير بنت صالح اليحمدية</cp:lastModifiedBy>
  <cp:revision>1</cp:revision>
  <dcterms:created xsi:type="dcterms:W3CDTF">2026-10-03T10:58:59Z</dcterms:created>
  <dcterms:modified xsi:type="dcterms:W3CDTF">2026-10-03T10:58:59Z</dcterms:modified>
</cp:coreProperties>
</file>