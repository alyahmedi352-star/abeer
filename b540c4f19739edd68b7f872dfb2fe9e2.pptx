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av" ContentType="audio/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notesMasterIdLst>
    <p:notesMasterId r:id="rId4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12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5114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ترحيب بالطلبة وعرض عنوان الدرس: مقدمة إلى الرسم الرقمي.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سؤال تذكّر: يضغط الطالب على الإجابة، فتظهر شريحة التعزيز مع صوت.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حوار تمهيدي: يصف الطلبة الرسمة (شمس، غيوم، بيت، نخلة) ويستنتجون أنها رُسمت بالحاسوب باستخدام الفأرة.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أثناء الرسم باستخدام الحاسوب، تمثّل الفأرة القلم وفرشاة الرسم.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مقطع الهدف الأول (20 ثانية) — نص التعليق الصوتي المقترح: "نُمسك الفأرة بيدنا بلطف. نختار أداة القلم واللون. نُحرّك الفأرة فنرسم على الشاشة: شمسًا وبيتًا جميلًا. الفأرة تصبح قلمنا وفرشاتنا. هذا هو الرسم الرقمي!"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مزايا الرسم الرقمي: توفّر أدوات عدّة (قلم، فرشاة، ممحاة، ألوان، دلو تعبئة)، سهولة الإنشاء بالفأرة، وسهولة مشاركة الرسمة وإرسالها للآخرين.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مقطع الهدف الثاني (17 ثانية) — نص التعليق الصوتي المقترح: "في الرسم الرقمي نجد أدوات كثيرة: قلمًا وفرشاة وممحاة وألوانًا. ونرسم بسهولة باستخدام الفأرة. ونستطيع أن نُرسل رسمتنا إلى أصدقائنا بسهولة. الرسم الرقمي ممتع وسهل!"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البكسل نقطة مربّعة في الشاشة، والصورة تتكوّن من تجمّع عدد كبير من وحدات البكسل. نكبّر الصورة لنراها.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تتكوّن أيّ شاشة من العديد من وحدات البكسل الصغيرة: شاشة الحاسوب، الهاتف، الجهاز اللوحي، جهاز الألعاب.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مقطع الهدف الثالث (18 ثانية) — نص التعليق الصوتي المقترح: "هذه رسمة على شاشة الحاسوب. هيّا نُكبّرها... أكثر... وأكثر! نرى مربعات صغيرة ملوّنة. كلّ مربع صغير اسمه: بكسل."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نشاط الكتاب ص59: يصل الطالب كل لون بالبكسل المناسب في الروبوتات. ناقش الطلبة: ما الألوان التي تتكون منها بكسلات كل روبوت؟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مقطع الهدف الرابع (20 ثانية) — نص التعليق الصوتي المقترح: "نختار اللون الأحمر. نُلوّن المربعات واحدًا واحدًا. انظروا! ظهرت الصورة: قلب أحمر جميل. البكسلات الصغيرة تصنع الصورة."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نشاط الكتاب ص59: يلوّن الطالب المربعات داخل الشكل في الشبكة ليُنشئ صورة الكلب الأحمر المكوّنة من البكسل.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تطبيق في المختبر: يفتح الطالب برنامج الرسّام (Paint)، يختار القلم واللون ويرسم بالفأرة، ثم يكبّر الرسمة (Zoom) ليرى وحدات البكسل.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يُقسَّم الصف إلى فريقين، وتُسجَّل نجمة لكل إجابة صحيحة على السبورة.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RREC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RO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29.xml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audio" Target="../media/audio1.wav"/><Relationship Id="rId5" Type="http://schemas.openxmlformats.org/officeDocument/2006/relationships/slide" Target="slide28.xml"/><Relationship Id="rId4" Type="http://schemas.openxmlformats.org/officeDocument/2006/relationships/image" Target="../media/image9.png"/><Relationship Id="rId9" Type="http://schemas.openxmlformats.org/officeDocument/2006/relationships/audio" Target="../media/audio2.wav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8.png"/><Relationship Id="rId7" Type="http://schemas.openxmlformats.org/officeDocument/2006/relationships/audio" Target="../media/audio1.wav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slide" Target="slide30.xml"/><Relationship Id="rId11" Type="http://schemas.openxmlformats.org/officeDocument/2006/relationships/audio" Target="../media/audio2.wav"/><Relationship Id="rId5" Type="http://schemas.openxmlformats.org/officeDocument/2006/relationships/image" Target="../media/image12.png"/><Relationship Id="rId10" Type="http://schemas.openxmlformats.org/officeDocument/2006/relationships/slide" Target="slide31.xml"/><Relationship Id="rId4" Type="http://schemas.openxmlformats.org/officeDocument/2006/relationships/image" Target="../media/image11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audio" Target="../media/audio1.wav"/><Relationship Id="rId11" Type="http://schemas.openxmlformats.org/officeDocument/2006/relationships/image" Target="../media/image27.png"/><Relationship Id="rId5" Type="http://schemas.openxmlformats.org/officeDocument/2006/relationships/slide" Target="slide32.xml"/><Relationship Id="rId10" Type="http://schemas.openxmlformats.org/officeDocument/2006/relationships/audio" Target="../media/audio2.wav"/><Relationship Id="rId4" Type="http://schemas.openxmlformats.org/officeDocument/2006/relationships/image" Target="../media/image18.png"/><Relationship Id="rId9" Type="http://schemas.openxmlformats.org/officeDocument/2006/relationships/slide" Target="slide3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31.png"/><Relationship Id="rId5" Type="http://schemas.openxmlformats.org/officeDocument/2006/relationships/image" Target="../media/image24.png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1.png"/><Relationship Id="rId7" Type="http://schemas.openxmlformats.org/officeDocument/2006/relationships/audio" Target="../media/audio1.wav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slide" Target="slide34.xml"/><Relationship Id="rId11" Type="http://schemas.openxmlformats.org/officeDocument/2006/relationships/audio" Target="../media/audio2.wav"/><Relationship Id="rId5" Type="http://schemas.openxmlformats.org/officeDocument/2006/relationships/image" Target="../media/image33.png"/><Relationship Id="rId10" Type="http://schemas.openxmlformats.org/officeDocument/2006/relationships/slide" Target="slide35.xml"/><Relationship Id="rId4" Type="http://schemas.openxmlformats.org/officeDocument/2006/relationships/image" Target="../media/image32.png"/><Relationship Id="rId9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6" Type="http://schemas.openxmlformats.org/officeDocument/2006/relationships/image" Target="../media/image38.png"/><Relationship Id="rId5" Type="http://schemas.openxmlformats.org/officeDocument/2006/relationships/image" Target="../media/image24.png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audio" Target="../media/audio2.wav"/><Relationship Id="rId3" Type="http://schemas.openxmlformats.org/officeDocument/2006/relationships/image" Target="../media/image11.png"/><Relationship Id="rId7" Type="http://schemas.openxmlformats.org/officeDocument/2006/relationships/slide" Target="slide37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audio" Target="../media/audio1.wav"/><Relationship Id="rId4" Type="http://schemas.openxmlformats.org/officeDocument/2006/relationships/slide" Target="slide3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slide" Target="slide39.xml"/><Relationship Id="rId3" Type="http://schemas.openxmlformats.org/officeDocument/2006/relationships/image" Target="../media/image1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audio" Target="../media/audio1.wav"/><Relationship Id="rId5" Type="http://schemas.openxmlformats.org/officeDocument/2006/relationships/slide" Target="slide38.xml"/><Relationship Id="rId4" Type="http://schemas.openxmlformats.org/officeDocument/2006/relationships/image" Target="../media/image39.png"/><Relationship Id="rId9" Type="http://schemas.openxmlformats.org/officeDocument/2006/relationships/audio" Target="../media/audio2.wav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slide" Target="slide40.xml"/><Relationship Id="rId3" Type="http://schemas.openxmlformats.org/officeDocument/2006/relationships/image" Target="../media/image1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6" Type="http://schemas.openxmlformats.org/officeDocument/2006/relationships/audio" Target="../media/audio2.wav"/><Relationship Id="rId5" Type="http://schemas.openxmlformats.org/officeDocument/2006/relationships/slide" Target="slide41.xml"/><Relationship Id="rId4" Type="http://schemas.openxmlformats.org/officeDocument/2006/relationships/image" Target="../media/image40.png"/><Relationship Id="rId9" Type="http://schemas.openxmlformats.org/officeDocument/2006/relationships/audio" Target="../media/audio1.wav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6" Type="http://schemas.openxmlformats.org/officeDocument/2006/relationships/image" Target="../media/image41.png"/><Relationship Id="rId5" Type="http://schemas.openxmlformats.org/officeDocument/2006/relationships/image" Target="../media/image24.png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slide" Target="slide42.xml"/><Relationship Id="rId3" Type="http://schemas.openxmlformats.org/officeDocument/2006/relationships/image" Target="../media/image4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6" Type="http://schemas.openxmlformats.org/officeDocument/2006/relationships/audio" Target="../media/audio2.wav"/><Relationship Id="rId5" Type="http://schemas.openxmlformats.org/officeDocument/2006/relationships/slide" Target="slide43.xml"/><Relationship Id="rId4" Type="http://schemas.openxmlformats.org/officeDocument/2006/relationships/image" Target="../media/image11.png"/><Relationship Id="rId9" Type="http://schemas.openxmlformats.org/officeDocument/2006/relationships/audio" Target="../media/audio1.wav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slide" Target="slide44.xml"/><Relationship Id="rId3" Type="http://schemas.openxmlformats.org/officeDocument/2006/relationships/image" Target="../media/image4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6" Type="http://schemas.openxmlformats.org/officeDocument/2006/relationships/audio" Target="../media/audio2.wav"/><Relationship Id="rId5" Type="http://schemas.openxmlformats.org/officeDocument/2006/relationships/slide" Target="slide45.xml"/><Relationship Id="rId4" Type="http://schemas.openxmlformats.org/officeDocument/2006/relationships/image" Target="../media/image11.png"/><Relationship Id="rId9" Type="http://schemas.openxmlformats.org/officeDocument/2006/relationships/audio" Target="../media/audio1.wav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slide" Target="slide47.xml"/><Relationship Id="rId3" Type="http://schemas.openxmlformats.org/officeDocument/2006/relationships/image" Target="../media/image4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6" Type="http://schemas.openxmlformats.org/officeDocument/2006/relationships/audio" Target="../media/audio1.wav"/><Relationship Id="rId5" Type="http://schemas.openxmlformats.org/officeDocument/2006/relationships/slide" Target="slide46.xml"/><Relationship Id="rId4" Type="http://schemas.openxmlformats.org/officeDocument/2006/relationships/image" Target="../media/image11.png"/><Relationship Id="rId9" Type="http://schemas.openxmlformats.org/officeDocument/2006/relationships/audio" Target="../media/audio2.wav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slide" Target="slide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png"/><Relationship Id="rId4" Type="http://schemas.openxmlformats.org/officeDocument/2006/relationships/slide" Target="slide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slide" Target="slide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png"/><Relationship Id="rId4" Type="http://schemas.openxmlformats.org/officeDocument/2006/relationships/slide" Target="slide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slide" Target="slide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png"/><Relationship Id="rId4" Type="http://schemas.openxmlformats.org/officeDocument/2006/relationships/slide" Target="slide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slide" Target="slide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png"/><Relationship Id="rId4" Type="http://schemas.openxmlformats.org/officeDocument/2006/relationships/slide" Target="slide1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slide" Target="slide1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png"/><Relationship Id="rId4" Type="http://schemas.openxmlformats.org/officeDocument/2006/relationships/slide" Target="slide1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slide" Target="slide1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png"/><Relationship Id="rId4" Type="http://schemas.openxmlformats.org/officeDocument/2006/relationships/slide" Target="slide1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slide" Target="slide19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png"/><Relationship Id="rId4" Type="http://schemas.openxmlformats.org/officeDocument/2006/relationships/slide" Target="slide18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slide" Target="slide2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png"/><Relationship Id="rId4" Type="http://schemas.openxmlformats.org/officeDocument/2006/relationships/slide" Target="slide2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slide" Target="slide2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png"/><Relationship Id="rId4" Type="http://schemas.openxmlformats.org/officeDocument/2006/relationships/slide" Target="slide2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slide" Target="slide2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png"/><Relationship Id="rId4" Type="http://schemas.openxmlformats.org/officeDocument/2006/relationships/slide" Target="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sson-no"/>
          <p:cNvSpPr txBox="1"/>
          <p:nvPr/>
        </p:nvSpPr>
        <p:spPr>
          <a:xfrm>
            <a:off x="2377440" y="86868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OM" altLang="en-US" sz="2400" b="1" dirty="0">
                <a:solidFill>
                  <a:srgbClr val="F79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الدَّرْسُ 2.1</a:t>
            </a:r>
            <a:endParaRPr lang="ar-OM" sz="2400" dirty="0"/>
          </a:p>
        </p:txBody>
      </p:sp>
      <p:sp>
        <p:nvSpPr>
          <p:cNvPr id="3" name="lesson-title"/>
          <p:cNvSpPr txBox="1"/>
          <p:nvPr/>
        </p:nvSpPr>
        <p:spPr>
          <a:xfrm>
            <a:off x="2286000" y="14173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OM" altLang="en-US" sz="3600" b="1" dirty="0">
                <a:solidFill>
                  <a:srgbClr val="5B2C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مُقَدِّمَةٌ إلى الرَّسْمِ الرَّقْمِيِّ</a:t>
            </a:r>
            <a:endParaRPr lang="ar-OM" sz="3600" dirty="0"/>
          </a:p>
        </p:txBody>
      </p:sp>
      <p:sp>
        <p:nvSpPr>
          <p:cNvPr id="4" name="grade"/>
          <p:cNvSpPr txBox="1"/>
          <p:nvPr/>
        </p:nvSpPr>
        <p:spPr>
          <a:xfrm>
            <a:off x="2286000" y="24688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OM" altLang="en-US" sz="1800" b="1" dirty="0">
                <a:solidFill>
                  <a:srgbClr val="29B6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تقنية المعلومات  |  الصف الأول</a:t>
            </a:r>
            <a:endParaRPr lang="ar-OM" sz="1800" dirty="0"/>
          </a:p>
        </p:txBody>
      </p:sp>
      <p:pic>
        <p:nvPicPr>
          <p:cNvPr id="5" name="boy" descr="img/boy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80160" y="1097280"/>
            <a:ext cx="960120" cy="1737360"/>
          </a:xfrm>
          <a:prstGeom prst="rect">
            <a:avLst/>
          </a:prstGeom>
        </p:spPr>
      </p:pic>
      <p:pic>
        <p:nvPicPr>
          <p:cNvPr id="6" name="robot" descr="img/robot_green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903720" y="1280160"/>
            <a:ext cx="1005840" cy="11887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icon-bg"/>
          <p:cNvSpPr/>
          <p:nvPr/>
        </p:nvSpPr>
        <p:spPr>
          <a:xfrm>
            <a:off x="8001000" y="228600"/>
            <a:ext cx="658368" cy="658368"/>
          </a:xfrm>
          <a:prstGeom prst="ellipse">
            <a:avLst/>
          </a:prstGeom>
          <a:solidFill>
            <a:srgbClr val="7AC143"/>
          </a:solidFill>
          <a:ln/>
        </p:spPr>
        <p:txBody>
          <a:bodyPr/>
          <a:lstStyle/>
          <a:p>
            <a:endParaRPr lang="ar-OM"/>
          </a:p>
        </p:txBody>
      </p:sp>
      <p:pic>
        <p:nvPicPr>
          <p:cNvPr id="3" name="title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592" y="393192"/>
            <a:ext cx="329184" cy="329184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1280160" y="201168"/>
            <a:ext cx="6583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OM" altLang="en-US" sz="3000" b="1" dirty="0">
                <a:solidFill>
                  <a:srgbClr val="5B2C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هيّا نتذكّر</a:t>
            </a:r>
            <a:endParaRPr lang="ar-OM" sz="3000" dirty="0"/>
          </a:p>
        </p:txBody>
      </p:sp>
      <p:sp>
        <p:nvSpPr>
          <p:cNvPr id="5" name="subtitle"/>
          <p:cNvSpPr txBox="1"/>
          <p:nvPr/>
        </p:nvSpPr>
        <p:spPr>
          <a:xfrm>
            <a:off x="1280160" y="84124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OM" altLang="en-US" sz="1600" b="1" dirty="0">
                <a:solidFill>
                  <a:srgbClr val="7AC1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التعلّم القبلي</a:t>
            </a:r>
            <a:endParaRPr lang="ar-OM" sz="1600" dirty="0"/>
          </a:p>
        </p:txBody>
      </p:sp>
      <p:sp>
        <p:nvSpPr>
          <p:cNvPr id="6" name="question"/>
          <p:cNvSpPr txBox="1"/>
          <p:nvPr/>
        </p:nvSpPr>
        <p:spPr>
          <a:xfrm>
            <a:off x="914400" y="128016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OM" altLang="en-US" sz="2600" b="1" dirty="0">
                <a:solidFill>
                  <a:srgbClr val="2D1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اسم هذه القطعة من أجزاء الحاسوب؟</a:t>
            </a:r>
            <a:endParaRPr lang="ar-OM" sz="2600" dirty="0"/>
          </a:p>
        </p:txBody>
      </p:sp>
      <p:sp>
        <p:nvSpPr>
          <p:cNvPr id="7" name="card"/>
          <p:cNvSpPr/>
          <p:nvPr/>
        </p:nvSpPr>
        <p:spPr>
          <a:xfrm>
            <a:off x="5852160" y="1234440"/>
            <a:ext cx="2377440" cy="2148840"/>
          </a:xfrm>
          <a:prstGeom prst="roundRect">
            <a:avLst>
              <a:gd name="adj" fmla="val 7660"/>
            </a:avLst>
          </a:prstGeom>
          <a:solidFill>
            <a:srgbClr val="FFFFFF"/>
          </a:solidFill>
          <a:ln w="31750">
            <a:solidFill>
              <a:srgbClr val="7AC143"/>
            </a:solidFill>
            <a:prstDash val="solid"/>
          </a:ln>
          <a:effectLst>
            <a:outerShdw blurRad="76200" dist="25400" dir="5400000" algn="bl" rotWithShape="0">
              <a:srgbClr val="5B2C83">
                <a:alpha val="18000"/>
              </a:srgbClr>
            </a:outerShdw>
          </a:effectLst>
        </p:spPr>
        <p:txBody>
          <a:bodyPr/>
          <a:lstStyle/>
          <a:p>
            <a:endParaRPr lang="ar-OM"/>
          </a:p>
        </p:txBody>
      </p:sp>
      <p:pic>
        <p:nvPicPr>
          <p:cNvPr id="8" name="mouse" descr="img/mous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35040" y="1353312"/>
            <a:ext cx="2011680" cy="1920240"/>
          </a:xfrm>
          <a:prstGeom prst="rect">
            <a:avLst/>
          </a:prstGeom>
        </p:spPr>
      </p:pic>
      <p:sp>
        <p:nvSpPr>
          <p:cNvPr id="9" name="pill"/>
          <p:cNvSpPr/>
          <p:nvPr/>
        </p:nvSpPr>
        <p:spPr>
          <a:xfrm>
            <a:off x="6035040" y="3611880"/>
            <a:ext cx="2286000" cy="777240"/>
          </a:xfrm>
          <a:prstGeom prst="roundRect">
            <a:avLst>
              <a:gd name="adj" fmla="val 50000"/>
            </a:avLst>
          </a:prstGeom>
          <a:solidFill>
            <a:srgbClr val="29B6D1"/>
          </a:solidFill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OM" alt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الفأرة</a:t>
            </a:r>
            <a:endParaRPr lang="ar-OM" sz="2400" dirty="0"/>
          </a:p>
        </p:txBody>
      </p:sp>
      <p:pic>
        <p:nvPicPr>
          <p:cNvPr id="10" name="ANS_OK_prior1" descr="إجابة صحيحة">
            <a:hlinkClick r:id="rId5" action="ppaction://hlinksldjump" tooltip=" ">
              <a:snd r:embed="rId6" name="correct.wav"/>
            </a:hlinkClick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35040" y="3611880"/>
            <a:ext cx="2286000" cy="777240"/>
          </a:xfrm>
          <a:prstGeom prst="rect">
            <a:avLst/>
          </a:prstGeom>
        </p:spPr>
      </p:pic>
      <p:sp>
        <p:nvSpPr>
          <p:cNvPr id="11" name="pill"/>
          <p:cNvSpPr/>
          <p:nvPr/>
        </p:nvSpPr>
        <p:spPr>
          <a:xfrm>
            <a:off x="3429000" y="3611880"/>
            <a:ext cx="2286000" cy="777240"/>
          </a:xfrm>
          <a:prstGeom prst="roundRect">
            <a:avLst>
              <a:gd name="adj" fmla="val 50000"/>
            </a:avLst>
          </a:prstGeom>
          <a:solidFill>
            <a:srgbClr val="EC4C8C"/>
          </a:solidFill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OM" alt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الشاشة</a:t>
            </a:r>
            <a:endParaRPr lang="ar-OM" sz="2400" dirty="0"/>
          </a:p>
        </p:txBody>
      </p:sp>
      <p:pic>
        <p:nvPicPr>
          <p:cNvPr id="12" name="ANS_NO_prior1" descr="إجابة خاطئة">
            <a:hlinkClick r:id="rId8" action="ppaction://hlinksldjump" tooltip=" ">
              <a:snd r:embed="rId9" name="wrong.wav"/>
            </a:hlinkClick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9000" y="3611880"/>
            <a:ext cx="2286000" cy="777240"/>
          </a:xfrm>
          <a:prstGeom prst="rect">
            <a:avLst/>
          </a:prstGeom>
        </p:spPr>
      </p:pic>
      <p:sp>
        <p:nvSpPr>
          <p:cNvPr id="13" name="pill"/>
          <p:cNvSpPr/>
          <p:nvPr/>
        </p:nvSpPr>
        <p:spPr>
          <a:xfrm>
            <a:off x="822960" y="3611880"/>
            <a:ext cx="2286000" cy="777240"/>
          </a:xfrm>
          <a:prstGeom prst="roundRect">
            <a:avLst>
              <a:gd name="adj" fmla="val 50000"/>
            </a:avLst>
          </a:prstGeom>
          <a:solidFill>
            <a:srgbClr val="7AC143"/>
          </a:solidFill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OM" alt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المفاتيح</a:t>
            </a:r>
            <a:endParaRPr lang="ar-OM" sz="2400" dirty="0"/>
          </a:p>
        </p:txBody>
      </p:sp>
      <p:pic>
        <p:nvPicPr>
          <p:cNvPr id="14" name="ANS_NO_prior1" descr="إجابة خاطئة">
            <a:hlinkClick r:id="rId8" action="ppaction://hlinksldjump" tooltip=" ">
              <a:snd r:embed="rId9" name="wrong.wav"/>
            </a:hlinkClick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3611880"/>
            <a:ext cx="2286000" cy="777240"/>
          </a:xfrm>
          <a:prstGeom prst="rect">
            <a:avLst/>
          </a:prstGeom>
        </p:spPr>
      </p:pic>
    </p:spTree>
  </p:cSld>
  <p:clrMapOvr>
    <a:masterClrMapping/>
  </p:clrMapOvr>
  <p:transition spd="med" advClick="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icon-bg"/>
          <p:cNvSpPr/>
          <p:nvPr/>
        </p:nvSpPr>
        <p:spPr>
          <a:xfrm>
            <a:off x="8001000" y="228600"/>
            <a:ext cx="658368" cy="658368"/>
          </a:xfrm>
          <a:prstGeom prst="ellipse">
            <a:avLst/>
          </a:prstGeom>
          <a:solidFill>
            <a:srgbClr val="7AC143"/>
          </a:solidFill>
          <a:ln/>
        </p:spPr>
        <p:txBody>
          <a:bodyPr/>
          <a:lstStyle/>
          <a:p>
            <a:endParaRPr lang="ar-OM"/>
          </a:p>
        </p:txBody>
      </p:sp>
      <p:pic>
        <p:nvPicPr>
          <p:cNvPr id="3" name="title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592" y="393192"/>
            <a:ext cx="329184" cy="329184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1280160" y="201168"/>
            <a:ext cx="6583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OM" altLang="en-US" sz="3000" b="1" dirty="0">
                <a:solidFill>
                  <a:srgbClr val="5B2C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هيّا نتذكّر</a:t>
            </a:r>
            <a:endParaRPr lang="ar-OM" sz="3000" dirty="0"/>
          </a:p>
        </p:txBody>
      </p:sp>
      <p:sp>
        <p:nvSpPr>
          <p:cNvPr id="5" name="subtitle"/>
          <p:cNvSpPr txBox="1"/>
          <p:nvPr/>
        </p:nvSpPr>
        <p:spPr>
          <a:xfrm>
            <a:off x="1280160" y="84124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OM" altLang="en-US" sz="1600" b="1" dirty="0">
                <a:solidFill>
                  <a:srgbClr val="7AC1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التعلّم القبلي</a:t>
            </a:r>
            <a:endParaRPr lang="ar-OM" sz="1600" dirty="0"/>
          </a:p>
        </p:txBody>
      </p:sp>
      <p:sp>
        <p:nvSpPr>
          <p:cNvPr id="6" name="question"/>
          <p:cNvSpPr/>
          <p:nvPr/>
        </p:nvSpPr>
        <p:spPr>
          <a:xfrm>
            <a:off x="640080" y="1280160"/>
            <a:ext cx="7315200" cy="777240"/>
          </a:xfrm>
          <a:prstGeom prst="roundRect">
            <a:avLst>
              <a:gd name="adj" fmla="val 23529"/>
            </a:avLst>
          </a:prstGeom>
          <a:solidFill>
            <a:srgbClr val="F1ECFA"/>
          </a:solidFill>
          <a:ln w="25400">
            <a:solidFill>
              <a:srgbClr val="5B2C83"/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 rtl="1">
              <a:buNone/>
            </a:pPr>
            <a:r>
              <a:rPr lang="ar-OM" altLang="en-US" sz="2800" b="1" dirty="0">
                <a:solidFill>
                  <a:srgbClr val="5B2C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بماذا نرسم على الورق؟</a:t>
            </a:r>
            <a:endParaRPr lang="ar-OM" sz="2800" dirty="0"/>
          </a:p>
        </p:txBody>
      </p:sp>
      <p:sp>
        <p:nvSpPr>
          <p:cNvPr id="7" name="q-badge"/>
          <p:cNvSpPr/>
          <p:nvPr/>
        </p:nvSpPr>
        <p:spPr>
          <a:xfrm>
            <a:off x="8092440" y="1303020"/>
            <a:ext cx="731520" cy="731520"/>
          </a:xfrm>
          <a:prstGeom prst="ellipse">
            <a:avLst/>
          </a:prstGeom>
          <a:solidFill>
            <a:srgbClr val="F7941D"/>
          </a:solidFill>
          <a:ln/>
        </p:spPr>
        <p:txBody>
          <a:bodyPr/>
          <a:lstStyle/>
          <a:p>
            <a:endParaRPr lang="ar-OM"/>
          </a:p>
        </p:txBody>
      </p:sp>
      <p:pic>
        <p:nvPicPr>
          <p:cNvPr id="8" name="q-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3608" y="1504188"/>
            <a:ext cx="329184" cy="329184"/>
          </a:xfrm>
          <a:prstGeom prst="rect">
            <a:avLst/>
          </a:prstGeom>
        </p:spPr>
      </p:pic>
      <p:sp>
        <p:nvSpPr>
          <p:cNvPr id="9" name="card"/>
          <p:cNvSpPr/>
          <p:nvPr/>
        </p:nvSpPr>
        <p:spPr>
          <a:xfrm>
            <a:off x="6080760" y="2331720"/>
            <a:ext cx="2194560" cy="2240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31750">
            <a:solidFill>
              <a:srgbClr val="F7941D"/>
            </a:solidFill>
            <a:prstDash val="solid"/>
          </a:ln>
          <a:effectLst>
            <a:outerShdw blurRad="76200" dist="25400" dir="5400000" algn="bl" rotWithShape="0">
              <a:srgbClr val="5B2C83">
                <a:alpha val="18000"/>
              </a:srgbClr>
            </a:outerShdw>
          </a:effectLst>
        </p:spPr>
        <p:txBody>
          <a:bodyPr/>
          <a:lstStyle/>
          <a:p>
            <a:endParaRPr lang="ar-OM"/>
          </a:p>
        </p:txBody>
      </p:sp>
      <p:pic>
        <p:nvPicPr>
          <p:cNvPr id="10" name="opt-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2560320"/>
            <a:ext cx="1097280" cy="1097280"/>
          </a:xfrm>
          <a:prstGeom prst="rect">
            <a:avLst/>
          </a:prstGeom>
        </p:spPr>
      </p:pic>
      <p:sp>
        <p:nvSpPr>
          <p:cNvPr id="11" name="pill"/>
          <p:cNvSpPr/>
          <p:nvPr/>
        </p:nvSpPr>
        <p:spPr>
          <a:xfrm>
            <a:off x="6309360" y="3867912"/>
            <a:ext cx="1737360" cy="502920"/>
          </a:xfrm>
          <a:prstGeom prst="roundRect">
            <a:avLst>
              <a:gd name="adj" fmla="val 50000"/>
            </a:avLst>
          </a:prstGeom>
          <a:solidFill>
            <a:srgbClr val="F7941D"/>
          </a:solidFill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OM" alt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قلم التلوين</a:t>
            </a:r>
            <a:endParaRPr lang="ar-OM" sz="2000" dirty="0"/>
          </a:p>
        </p:txBody>
      </p:sp>
      <p:pic>
        <p:nvPicPr>
          <p:cNvPr id="12" name="ANS_OK_prior2" descr="إجابة صحيحة">
            <a:hlinkClick r:id="rId6" action="ppaction://hlinksldjump" tooltip=" ">
              <a:snd r:embed="rId7" name="correct.wav"/>
            </a:hlinkClick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80760" y="2331720"/>
            <a:ext cx="2194560" cy="2240280"/>
          </a:xfrm>
          <a:prstGeom prst="rect">
            <a:avLst/>
          </a:prstGeom>
        </p:spPr>
      </p:pic>
      <p:sp>
        <p:nvSpPr>
          <p:cNvPr id="13" name="card"/>
          <p:cNvSpPr/>
          <p:nvPr/>
        </p:nvSpPr>
        <p:spPr>
          <a:xfrm>
            <a:off x="3474720" y="2331720"/>
            <a:ext cx="2194560" cy="2240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31750">
            <a:solidFill>
              <a:srgbClr val="29B6D1"/>
            </a:solidFill>
            <a:prstDash val="solid"/>
          </a:ln>
          <a:effectLst>
            <a:outerShdw blurRad="76200" dist="25400" dir="5400000" algn="bl" rotWithShape="0">
              <a:srgbClr val="5B2C83">
                <a:alpha val="18000"/>
              </a:srgbClr>
            </a:outerShdw>
          </a:effectLst>
        </p:spPr>
        <p:txBody>
          <a:bodyPr/>
          <a:lstStyle/>
          <a:p>
            <a:endParaRPr lang="ar-OM"/>
          </a:p>
        </p:txBody>
      </p:sp>
      <p:pic>
        <p:nvPicPr>
          <p:cNvPr id="14" name="opt-icon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23360" y="2560320"/>
            <a:ext cx="1097280" cy="1097280"/>
          </a:xfrm>
          <a:prstGeom prst="rect">
            <a:avLst/>
          </a:prstGeom>
        </p:spPr>
      </p:pic>
      <p:sp>
        <p:nvSpPr>
          <p:cNvPr id="15" name="pill"/>
          <p:cNvSpPr/>
          <p:nvPr/>
        </p:nvSpPr>
        <p:spPr>
          <a:xfrm>
            <a:off x="3703320" y="3867912"/>
            <a:ext cx="1737360" cy="502920"/>
          </a:xfrm>
          <a:prstGeom prst="roundRect">
            <a:avLst>
              <a:gd name="adj" fmla="val 50000"/>
            </a:avLst>
          </a:prstGeom>
          <a:solidFill>
            <a:srgbClr val="29B6D1"/>
          </a:solidFill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OM" alt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الملعقة</a:t>
            </a:r>
            <a:endParaRPr lang="ar-OM" sz="2000" dirty="0"/>
          </a:p>
        </p:txBody>
      </p:sp>
      <p:pic>
        <p:nvPicPr>
          <p:cNvPr id="16" name="ANS_NO_prior2" descr="إجابة خاطئة">
            <a:hlinkClick r:id="rId10" action="ppaction://hlinksldjump" tooltip=" ">
              <a:snd r:embed="rId11" name="wrong.wav"/>
            </a:hlinkClick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74720" y="2331720"/>
            <a:ext cx="2194560" cy="2240280"/>
          </a:xfrm>
          <a:prstGeom prst="rect">
            <a:avLst/>
          </a:prstGeom>
        </p:spPr>
      </p:pic>
      <p:sp>
        <p:nvSpPr>
          <p:cNvPr id="17" name="card"/>
          <p:cNvSpPr/>
          <p:nvPr/>
        </p:nvSpPr>
        <p:spPr>
          <a:xfrm>
            <a:off x="868680" y="2331720"/>
            <a:ext cx="2194560" cy="2240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31750">
            <a:solidFill>
              <a:srgbClr val="EC4C8C"/>
            </a:solidFill>
            <a:prstDash val="solid"/>
          </a:ln>
          <a:effectLst>
            <a:outerShdw blurRad="76200" dist="25400" dir="5400000" algn="bl" rotWithShape="0">
              <a:srgbClr val="5B2C83">
                <a:alpha val="18000"/>
              </a:srgbClr>
            </a:outerShdw>
          </a:effectLst>
        </p:spPr>
        <p:txBody>
          <a:bodyPr/>
          <a:lstStyle/>
          <a:p>
            <a:endParaRPr lang="ar-OM"/>
          </a:p>
        </p:txBody>
      </p:sp>
      <p:pic>
        <p:nvPicPr>
          <p:cNvPr id="18" name="opt-icon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17320" y="2560320"/>
            <a:ext cx="1097280" cy="1097280"/>
          </a:xfrm>
          <a:prstGeom prst="rect">
            <a:avLst/>
          </a:prstGeom>
        </p:spPr>
      </p:pic>
      <p:sp>
        <p:nvSpPr>
          <p:cNvPr id="19" name="pill"/>
          <p:cNvSpPr/>
          <p:nvPr/>
        </p:nvSpPr>
        <p:spPr>
          <a:xfrm>
            <a:off x="1097280" y="3867912"/>
            <a:ext cx="1737360" cy="502920"/>
          </a:xfrm>
          <a:prstGeom prst="roundRect">
            <a:avLst>
              <a:gd name="adj" fmla="val 50000"/>
            </a:avLst>
          </a:prstGeom>
          <a:solidFill>
            <a:srgbClr val="EC4C8C"/>
          </a:solidFill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OM" alt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الكرة</a:t>
            </a:r>
            <a:endParaRPr lang="ar-OM" sz="2000" dirty="0"/>
          </a:p>
        </p:txBody>
      </p:sp>
      <p:pic>
        <p:nvPicPr>
          <p:cNvPr id="20" name="ANS_NO_prior2" descr="إجابة خاطئة">
            <a:hlinkClick r:id="rId10" action="ppaction://hlinksldjump" tooltip=" ">
              <a:snd r:embed="rId11" name="wrong.wav"/>
            </a:hlinkClick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680" y="2331720"/>
            <a:ext cx="2194560" cy="2240280"/>
          </a:xfrm>
          <a:prstGeom prst="rect">
            <a:avLst/>
          </a:prstGeom>
        </p:spPr>
      </p:pic>
    </p:spTree>
  </p:cSld>
  <p:clrMapOvr>
    <a:masterClrMapping/>
  </p:clrMapOvr>
  <p:transition spd="med" advClick="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icon-bg"/>
          <p:cNvSpPr/>
          <p:nvPr/>
        </p:nvSpPr>
        <p:spPr>
          <a:xfrm>
            <a:off x="8001000" y="228600"/>
            <a:ext cx="658368" cy="658368"/>
          </a:xfrm>
          <a:prstGeom prst="ellipse">
            <a:avLst/>
          </a:prstGeom>
          <a:solidFill>
            <a:srgbClr val="F7941D"/>
          </a:solidFill>
          <a:ln/>
        </p:spPr>
        <p:txBody>
          <a:bodyPr/>
          <a:lstStyle/>
          <a:p>
            <a:endParaRPr lang="ar-OM"/>
          </a:p>
        </p:txBody>
      </p:sp>
      <p:pic>
        <p:nvPicPr>
          <p:cNvPr id="3" name="title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592" y="393192"/>
            <a:ext cx="329184" cy="329184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1280160" y="201168"/>
            <a:ext cx="6583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OM" altLang="en-US" sz="3000" b="1" dirty="0">
                <a:solidFill>
                  <a:srgbClr val="5B2C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هيّا نبدأ</a:t>
            </a:r>
            <a:endParaRPr lang="ar-OM" sz="3000" dirty="0"/>
          </a:p>
        </p:txBody>
      </p:sp>
      <p:sp>
        <p:nvSpPr>
          <p:cNvPr id="5" name="subtitle"/>
          <p:cNvSpPr txBox="1"/>
          <p:nvPr/>
        </p:nvSpPr>
        <p:spPr>
          <a:xfrm>
            <a:off x="1280160" y="84124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OM" altLang="en-US" sz="1600" b="1" dirty="0">
                <a:solidFill>
                  <a:srgbClr val="F79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التمهيد</a:t>
            </a:r>
            <a:endParaRPr lang="ar-OM" sz="1600" dirty="0"/>
          </a:p>
        </p:txBody>
      </p:sp>
      <p:pic>
        <p:nvPicPr>
          <p:cNvPr id="6" name="boy-pc" descr="img/boy_pc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02920" y="1097280"/>
            <a:ext cx="3383280" cy="3200400"/>
          </a:xfrm>
          <a:prstGeom prst="rect">
            <a:avLst/>
          </a:prstGeom>
        </p:spPr>
      </p:pic>
      <p:sp>
        <p:nvSpPr>
          <p:cNvPr id="7" name="card"/>
          <p:cNvSpPr/>
          <p:nvPr/>
        </p:nvSpPr>
        <p:spPr>
          <a:xfrm>
            <a:off x="4206240" y="1234440"/>
            <a:ext cx="4434840" cy="1143000"/>
          </a:xfrm>
          <a:prstGeom prst="roundRect">
            <a:avLst>
              <a:gd name="adj" fmla="val 14400"/>
            </a:avLst>
          </a:prstGeom>
          <a:solidFill>
            <a:srgbClr val="FFF4E6"/>
          </a:solidFill>
          <a:ln w="31750">
            <a:solidFill>
              <a:srgbClr val="F7941D"/>
            </a:solidFill>
            <a:prstDash val="solid"/>
          </a:ln>
          <a:effectLst>
            <a:outerShdw blurRad="76200" dist="25400" dir="5400000" algn="bl" rotWithShape="0">
              <a:srgbClr val="5B2C83">
                <a:alpha val="18000"/>
              </a:srgbClr>
            </a:outerShdw>
          </a:effectLst>
        </p:spPr>
        <p:txBody>
          <a:bodyPr/>
          <a:lstStyle/>
          <a:p>
            <a:endParaRPr lang="ar-OM"/>
          </a:p>
        </p:txBody>
      </p:sp>
      <p:sp>
        <p:nvSpPr>
          <p:cNvPr id="8" name="ask1"/>
          <p:cNvSpPr txBox="1"/>
          <p:nvPr/>
        </p:nvSpPr>
        <p:spPr>
          <a:xfrm>
            <a:off x="4343400" y="1280160"/>
            <a:ext cx="4160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OM" altLang="en-US" sz="2400" b="1" dirty="0">
                <a:solidFill>
                  <a:srgbClr val="2D1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هل يمكننا أن نرسم باستخدام الحاسوب؟</a:t>
            </a:r>
            <a:endParaRPr lang="ar-OM" sz="2400" dirty="0"/>
          </a:p>
        </p:txBody>
      </p:sp>
      <p:sp>
        <p:nvSpPr>
          <p:cNvPr id="9" name="card"/>
          <p:cNvSpPr/>
          <p:nvPr/>
        </p:nvSpPr>
        <p:spPr>
          <a:xfrm>
            <a:off x="4206240" y="2606040"/>
            <a:ext cx="4434840" cy="1691640"/>
          </a:xfrm>
          <a:prstGeom prst="roundRect">
            <a:avLst>
              <a:gd name="adj" fmla="val 9730"/>
            </a:avLst>
          </a:prstGeom>
          <a:solidFill>
            <a:srgbClr val="EAF8FB"/>
          </a:solidFill>
          <a:ln w="31750">
            <a:solidFill>
              <a:srgbClr val="29B6D1"/>
            </a:solidFill>
            <a:prstDash val="solid"/>
          </a:ln>
          <a:effectLst>
            <a:outerShdw blurRad="76200" dist="25400" dir="5400000" algn="bl" rotWithShape="0">
              <a:srgbClr val="5B2C83">
                <a:alpha val="18000"/>
              </a:srgbClr>
            </a:outerShdw>
          </a:effectLst>
        </p:spPr>
        <p:txBody>
          <a:bodyPr/>
          <a:lstStyle/>
          <a:p>
            <a:endParaRPr lang="ar-OM"/>
          </a:p>
        </p:txBody>
      </p:sp>
      <p:sp>
        <p:nvSpPr>
          <p:cNvPr id="10" name="ask2"/>
          <p:cNvSpPr txBox="1"/>
          <p:nvPr/>
        </p:nvSpPr>
        <p:spPr>
          <a:xfrm>
            <a:off x="4343400" y="269748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ar-OM" altLang="en-US" sz="2200" b="1" dirty="0">
                <a:solidFill>
                  <a:srgbClr val="29B6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انظر إلى شاشة الحاسوب:</a:t>
            </a:r>
            <a:endParaRPr lang="ar-OM" sz="2200" dirty="0"/>
          </a:p>
          <a:p>
            <a:pPr marL="0" indent="0" algn="r">
              <a:buNone/>
            </a:pPr>
            <a:r>
              <a:rPr lang="ar-OM" altLang="en-US" sz="2200" b="1" dirty="0">
                <a:solidFill>
                  <a:srgbClr val="2D1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ماذا رسم الطالب؟ وبماذا رسم؟</a:t>
            </a:r>
            <a:endParaRPr lang="ar-OM" sz="2200" dirty="0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icon-bg"/>
          <p:cNvSpPr/>
          <p:nvPr/>
        </p:nvSpPr>
        <p:spPr>
          <a:xfrm>
            <a:off x="8001000" y="228600"/>
            <a:ext cx="658368" cy="658368"/>
          </a:xfrm>
          <a:prstGeom prst="ellipse">
            <a:avLst/>
          </a:prstGeom>
          <a:solidFill>
            <a:srgbClr val="EC4C8C"/>
          </a:solidFill>
          <a:ln/>
        </p:spPr>
        <p:txBody>
          <a:bodyPr/>
          <a:lstStyle/>
          <a:p>
            <a:endParaRPr lang="ar-OM"/>
          </a:p>
        </p:txBody>
      </p:sp>
      <p:pic>
        <p:nvPicPr>
          <p:cNvPr id="3" name="title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592" y="393192"/>
            <a:ext cx="329184" cy="329184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1280160" y="201168"/>
            <a:ext cx="6583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OM" altLang="en-US" sz="3000" b="1" dirty="0">
                <a:solidFill>
                  <a:srgbClr val="5B2C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أهداف الدرس</a:t>
            </a:r>
            <a:endParaRPr lang="ar-OM" sz="3000" dirty="0"/>
          </a:p>
        </p:txBody>
      </p:sp>
      <p:sp>
        <p:nvSpPr>
          <p:cNvPr id="5" name="subtitle"/>
          <p:cNvSpPr txBox="1"/>
          <p:nvPr/>
        </p:nvSpPr>
        <p:spPr>
          <a:xfrm>
            <a:off x="1280160" y="84124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OM" altLang="en-US" sz="1600" b="1" dirty="0">
                <a:solidFill>
                  <a:srgbClr val="EC4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نهاية الدرس سأكون قادرًا على أن:</a:t>
            </a:r>
            <a:endParaRPr lang="ar-OM" sz="1600" dirty="0"/>
          </a:p>
        </p:txBody>
      </p:sp>
      <p:sp>
        <p:nvSpPr>
          <p:cNvPr id="6" name="card"/>
          <p:cNvSpPr/>
          <p:nvPr/>
        </p:nvSpPr>
        <p:spPr>
          <a:xfrm>
            <a:off x="4709160" y="1463040"/>
            <a:ext cx="3749040" cy="128016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31750">
            <a:solidFill>
              <a:srgbClr val="F7941D"/>
            </a:solidFill>
            <a:prstDash val="solid"/>
          </a:ln>
          <a:effectLst>
            <a:outerShdw blurRad="76200" dist="25400" dir="5400000" algn="bl" rotWithShape="0">
              <a:srgbClr val="5B2C83">
                <a:alpha val="18000"/>
              </a:srgbClr>
            </a:outerShdw>
          </a:effectLst>
        </p:spPr>
        <p:txBody>
          <a:bodyPr/>
          <a:lstStyle/>
          <a:p>
            <a:endParaRPr lang="ar-OM"/>
          </a:p>
        </p:txBody>
      </p:sp>
      <p:sp>
        <p:nvSpPr>
          <p:cNvPr id="7" name="goal-badge"/>
          <p:cNvSpPr/>
          <p:nvPr/>
        </p:nvSpPr>
        <p:spPr>
          <a:xfrm>
            <a:off x="7406640" y="1709928"/>
            <a:ext cx="786384" cy="786384"/>
          </a:xfrm>
          <a:prstGeom prst="ellipse">
            <a:avLst/>
          </a:prstGeom>
          <a:solidFill>
            <a:srgbClr val="F7941D"/>
          </a:solidFill>
          <a:ln/>
        </p:spPr>
        <p:txBody>
          <a:bodyPr/>
          <a:lstStyle/>
          <a:p>
            <a:endParaRPr lang="ar-OM"/>
          </a:p>
        </p:txBody>
      </p:sp>
      <p:pic>
        <p:nvPicPr>
          <p:cNvPr id="8" name="goal-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7808" y="1911096"/>
            <a:ext cx="384048" cy="384048"/>
          </a:xfrm>
          <a:prstGeom prst="rect">
            <a:avLst/>
          </a:prstGeom>
        </p:spPr>
      </p:pic>
      <p:sp>
        <p:nvSpPr>
          <p:cNvPr id="9" name="goal"/>
          <p:cNvSpPr txBox="1"/>
          <p:nvPr/>
        </p:nvSpPr>
        <p:spPr>
          <a:xfrm>
            <a:off x="4892040" y="16002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OM" altLang="en-US" sz="2100" b="1" dirty="0">
                <a:solidFill>
                  <a:srgbClr val="2D1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أتعرّف على الرسم الرقمي</a:t>
            </a:r>
            <a:endParaRPr lang="ar-OM" sz="2100" dirty="0"/>
          </a:p>
        </p:txBody>
      </p:sp>
      <p:sp>
        <p:nvSpPr>
          <p:cNvPr id="10" name="goal-no"/>
          <p:cNvSpPr/>
          <p:nvPr/>
        </p:nvSpPr>
        <p:spPr>
          <a:xfrm>
            <a:off x="4599432" y="1353312"/>
            <a:ext cx="384048" cy="384048"/>
          </a:xfrm>
          <a:prstGeom prst="ellipse">
            <a:avLst/>
          </a:prstGeom>
          <a:solidFill>
            <a:srgbClr val="5B2C8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1" name="card"/>
          <p:cNvSpPr/>
          <p:nvPr/>
        </p:nvSpPr>
        <p:spPr>
          <a:xfrm>
            <a:off x="685800" y="1463040"/>
            <a:ext cx="3749040" cy="128016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31750">
            <a:solidFill>
              <a:srgbClr val="7AC143"/>
            </a:solidFill>
            <a:prstDash val="solid"/>
          </a:ln>
          <a:effectLst>
            <a:outerShdw blurRad="76200" dist="25400" dir="5400000" algn="bl" rotWithShape="0">
              <a:srgbClr val="5B2C83">
                <a:alpha val="18000"/>
              </a:srgbClr>
            </a:outerShdw>
          </a:effectLst>
        </p:spPr>
        <p:txBody>
          <a:bodyPr/>
          <a:lstStyle/>
          <a:p>
            <a:endParaRPr lang="ar-OM"/>
          </a:p>
        </p:txBody>
      </p:sp>
      <p:sp>
        <p:nvSpPr>
          <p:cNvPr id="12" name="goal-badge"/>
          <p:cNvSpPr/>
          <p:nvPr/>
        </p:nvSpPr>
        <p:spPr>
          <a:xfrm>
            <a:off x="3383280" y="1709928"/>
            <a:ext cx="786384" cy="786384"/>
          </a:xfrm>
          <a:prstGeom prst="ellipse">
            <a:avLst/>
          </a:prstGeom>
          <a:solidFill>
            <a:srgbClr val="7AC143"/>
          </a:solidFill>
          <a:ln/>
        </p:spPr>
        <p:txBody>
          <a:bodyPr/>
          <a:lstStyle/>
          <a:p>
            <a:endParaRPr lang="ar-OM"/>
          </a:p>
        </p:txBody>
      </p:sp>
      <p:pic>
        <p:nvPicPr>
          <p:cNvPr id="13" name="goal-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4448" y="1911096"/>
            <a:ext cx="384048" cy="384048"/>
          </a:xfrm>
          <a:prstGeom prst="rect">
            <a:avLst/>
          </a:prstGeom>
        </p:spPr>
      </p:pic>
      <p:sp>
        <p:nvSpPr>
          <p:cNvPr id="14" name="goal"/>
          <p:cNvSpPr txBox="1"/>
          <p:nvPr/>
        </p:nvSpPr>
        <p:spPr>
          <a:xfrm>
            <a:off x="868680" y="16002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OM" altLang="en-US" sz="2100" b="1" dirty="0">
                <a:solidFill>
                  <a:srgbClr val="2D1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أذكر مزايا الرسم الرقمي</a:t>
            </a:r>
            <a:endParaRPr lang="ar-OM" sz="2100" dirty="0"/>
          </a:p>
        </p:txBody>
      </p:sp>
      <p:sp>
        <p:nvSpPr>
          <p:cNvPr id="15" name="goal-no"/>
          <p:cNvSpPr/>
          <p:nvPr/>
        </p:nvSpPr>
        <p:spPr>
          <a:xfrm>
            <a:off x="576072" y="1353312"/>
            <a:ext cx="384048" cy="384048"/>
          </a:xfrm>
          <a:prstGeom prst="ellipse">
            <a:avLst/>
          </a:prstGeom>
          <a:solidFill>
            <a:srgbClr val="5B2C8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6" name="card"/>
          <p:cNvSpPr/>
          <p:nvPr/>
        </p:nvSpPr>
        <p:spPr>
          <a:xfrm>
            <a:off x="4709160" y="3017520"/>
            <a:ext cx="3749040" cy="128016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31750">
            <a:solidFill>
              <a:srgbClr val="29B6D1"/>
            </a:solidFill>
            <a:prstDash val="solid"/>
          </a:ln>
          <a:effectLst>
            <a:outerShdw blurRad="76200" dist="25400" dir="5400000" algn="bl" rotWithShape="0">
              <a:srgbClr val="5B2C83">
                <a:alpha val="18000"/>
              </a:srgbClr>
            </a:outerShdw>
          </a:effectLst>
        </p:spPr>
        <p:txBody>
          <a:bodyPr/>
          <a:lstStyle/>
          <a:p>
            <a:endParaRPr lang="ar-OM"/>
          </a:p>
        </p:txBody>
      </p:sp>
      <p:sp>
        <p:nvSpPr>
          <p:cNvPr id="17" name="goal-badge"/>
          <p:cNvSpPr/>
          <p:nvPr/>
        </p:nvSpPr>
        <p:spPr>
          <a:xfrm>
            <a:off x="7406640" y="3264408"/>
            <a:ext cx="786384" cy="786384"/>
          </a:xfrm>
          <a:prstGeom prst="ellipse">
            <a:avLst/>
          </a:prstGeom>
          <a:solidFill>
            <a:srgbClr val="29B6D1"/>
          </a:solidFill>
          <a:ln/>
        </p:spPr>
        <p:txBody>
          <a:bodyPr/>
          <a:lstStyle/>
          <a:p>
            <a:endParaRPr lang="ar-OM"/>
          </a:p>
        </p:txBody>
      </p:sp>
      <p:pic>
        <p:nvPicPr>
          <p:cNvPr id="18" name="goal-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7808" y="3465576"/>
            <a:ext cx="384048" cy="384048"/>
          </a:xfrm>
          <a:prstGeom prst="rect">
            <a:avLst/>
          </a:prstGeom>
        </p:spPr>
      </p:pic>
      <p:sp>
        <p:nvSpPr>
          <p:cNvPr id="19" name="goal"/>
          <p:cNvSpPr txBox="1"/>
          <p:nvPr/>
        </p:nvSpPr>
        <p:spPr>
          <a:xfrm>
            <a:off x="4892040" y="315468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OM" altLang="en-US" sz="2100" b="1" dirty="0">
                <a:solidFill>
                  <a:srgbClr val="2D1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أتعرّف على البكسل</a:t>
            </a:r>
            <a:endParaRPr lang="ar-OM" sz="2100" dirty="0"/>
          </a:p>
        </p:txBody>
      </p:sp>
      <p:sp>
        <p:nvSpPr>
          <p:cNvPr id="20" name="goal-no"/>
          <p:cNvSpPr/>
          <p:nvPr/>
        </p:nvSpPr>
        <p:spPr>
          <a:xfrm>
            <a:off x="4599432" y="2907792"/>
            <a:ext cx="384048" cy="384048"/>
          </a:xfrm>
          <a:prstGeom prst="ellipse">
            <a:avLst/>
          </a:prstGeom>
          <a:solidFill>
            <a:srgbClr val="5B2C8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1" name="card"/>
          <p:cNvSpPr/>
          <p:nvPr/>
        </p:nvSpPr>
        <p:spPr>
          <a:xfrm>
            <a:off x="685800" y="3017520"/>
            <a:ext cx="3749040" cy="128016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31750">
            <a:solidFill>
              <a:srgbClr val="EC4C8C"/>
            </a:solidFill>
            <a:prstDash val="solid"/>
          </a:ln>
          <a:effectLst>
            <a:outerShdw blurRad="76200" dist="25400" dir="5400000" algn="bl" rotWithShape="0">
              <a:srgbClr val="5B2C83">
                <a:alpha val="18000"/>
              </a:srgbClr>
            </a:outerShdw>
          </a:effectLst>
        </p:spPr>
        <p:txBody>
          <a:bodyPr/>
          <a:lstStyle/>
          <a:p>
            <a:endParaRPr lang="ar-OM"/>
          </a:p>
        </p:txBody>
      </p:sp>
      <p:sp>
        <p:nvSpPr>
          <p:cNvPr id="22" name="goal-badge"/>
          <p:cNvSpPr/>
          <p:nvPr/>
        </p:nvSpPr>
        <p:spPr>
          <a:xfrm>
            <a:off x="3383280" y="3264408"/>
            <a:ext cx="786384" cy="786384"/>
          </a:xfrm>
          <a:prstGeom prst="ellipse">
            <a:avLst/>
          </a:prstGeom>
          <a:solidFill>
            <a:srgbClr val="EC4C8C"/>
          </a:solidFill>
          <a:ln/>
        </p:spPr>
        <p:txBody>
          <a:bodyPr/>
          <a:lstStyle/>
          <a:p>
            <a:endParaRPr lang="ar-OM"/>
          </a:p>
        </p:txBody>
      </p:sp>
      <p:pic>
        <p:nvPicPr>
          <p:cNvPr id="23" name="goal-icon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84448" y="3465576"/>
            <a:ext cx="384048" cy="384048"/>
          </a:xfrm>
          <a:prstGeom prst="rect">
            <a:avLst/>
          </a:prstGeom>
        </p:spPr>
      </p:pic>
      <p:sp>
        <p:nvSpPr>
          <p:cNvPr id="24" name="goal"/>
          <p:cNvSpPr txBox="1"/>
          <p:nvPr/>
        </p:nvSpPr>
        <p:spPr>
          <a:xfrm>
            <a:off x="868680" y="315468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OM" altLang="en-US" sz="2100" b="1" dirty="0">
                <a:solidFill>
                  <a:srgbClr val="2D1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أُنشئ صورة بتلوين البكسل</a:t>
            </a:r>
            <a:endParaRPr lang="ar-OM" sz="2100" dirty="0"/>
          </a:p>
        </p:txBody>
      </p:sp>
      <p:sp>
        <p:nvSpPr>
          <p:cNvPr id="25" name="goal-no"/>
          <p:cNvSpPr/>
          <p:nvPr/>
        </p:nvSpPr>
        <p:spPr>
          <a:xfrm>
            <a:off x="576072" y="2907792"/>
            <a:ext cx="384048" cy="384048"/>
          </a:xfrm>
          <a:prstGeom prst="ellipse">
            <a:avLst/>
          </a:prstGeom>
          <a:solidFill>
            <a:srgbClr val="5B2C8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icon-bg"/>
          <p:cNvSpPr/>
          <p:nvPr/>
        </p:nvSpPr>
        <p:spPr>
          <a:xfrm>
            <a:off x="8001000" y="228600"/>
            <a:ext cx="658368" cy="658368"/>
          </a:xfrm>
          <a:prstGeom prst="ellipse">
            <a:avLst/>
          </a:prstGeom>
          <a:solidFill>
            <a:srgbClr val="F7941D"/>
          </a:solidFill>
          <a:ln/>
        </p:spPr>
        <p:txBody>
          <a:bodyPr/>
          <a:lstStyle/>
          <a:p>
            <a:endParaRPr lang="ar-OM"/>
          </a:p>
        </p:txBody>
      </p:sp>
      <p:pic>
        <p:nvPicPr>
          <p:cNvPr id="3" name="title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592" y="393192"/>
            <a:ext cx="329184" cy="329184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1280160" y="201168"/>
            <a:ext cx="6583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OM" altLang="en-US" sz="3000" b="1" dirty="0">
                <a:solidFill>
                  <a:srgbClr val="5B2C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الرَّسْمُ الرَّقْمِيُّ</a:t>
            </a:r>
            <a:endParaRPr lang="ar-OM" sz="3000" dirty="0"/>
          </a:p>
        </p:txBody>
      </p:sp>
      <p:sp>
        <p:nvSpPr>
          <p:cNvPr id="5" name="subtitle"/>
          <p:cNvSpPr txBox="1"/>
          <p:nvPr/>
        </p:nvSpPr>
        <p:spPr>
          <a:xfrm>
            <a:off x="1280160" y="84124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OM" altLang="en-US" sz="1600" b="1" dirty="0">
                <a:solidFill>
                  <a:srgbClr val="F79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الهدف الأول</a:t>
            </a:r>
            <a:endParaRPr lang="ar-OM" sz="1600" dirty="0"/>
          </a:p>
        </p:txBody>
      </p:sp>
      <p:pic>
        <p:nvPicPr>
          <p:cNvPr id="6" name="boy-pc" descr="img/boy_pc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200" y="1051560"/>
            <a:ext cx="3657600" cy="3474720"/>
          </a:xfrm>
          <a:prstGeom prst="rect">
            <a:avLst/>
          </a:prstGeom>
        </p:spPr>
      </p:pic>
      <p:sp>
        <p:nvSpPr>
          <p:cNvPr id="7" name="card"/>
          <p:cNvSpPr/>
          <p:nvPr/>
        </p:nvSpPr>
        <p:spPr>
          <a:xfrm>
            <a:off x="4389120" y="1325880"/>
            <a:ext cx="4251960" cy="1097280"/>
          </a:xfrm>
          <a:prstGeom prst="roundRect">
            <a:avLst>
              <a:gd name="adj" fmla="val 15000"/>
            </a:avLst>
          </a:prstGeom>
          <a:solidFill>
            <a:srgbClr val="FFF4E6"/>
          </a:solidFill>
          <a:ln w="31750">
            <a:solidFill>
              <a:srgbClr val="F7941D"/>
            </a:solidFill>
            <a:prstDash val="solid"/>
          </a:ln>
          <a:effectLst>
            <a:outerShdw blurRad="76200" dist="25400" dir="5400000" algn="bl" rotWithShape="0">
              <a:srgbClr val="5B2C83">
                <a:alpha val="18000"/>
              </a:srgbClr>
            </a:outerShdw>
          </a:effectLst>
        </p:spPr>
        <p:txBody>
          <a:bodyPr/>
          <a:lstStyle/>
          <a:p>
            <a:endParaRPr lang="ar-OM"/>
          </a:p>
        </p:txBody>
      </p:sp>
      <p:sp>
        <p:nvSpPr>
          <p:cNvPr id="8" name="def"/>
          <p:cNvSpPr txBox="1"/>
          <p:nvPr/>
        </p:nvSpPr>
        <p:spPr>
          <a:xfrm>
            <a:off x="4526280" y="1371600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OM" altLang="en-US" sz="2200" b="1" dirty="0">
                <a:solidFill>
                  <a:srgbClr val="2D1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الرسم الرقمي هو الرسم باستخدام الحاسوب</a:t>
            </a:r>
            <a:endParaRPr lang="ar-OM" sz="2200" dirty="0"/>
          </a:p>
        </p:txBody>
      </p:sp>
      <p:sp>
        <p:nvSpPr>
          <p:cNvPr id="9" name="eq-mouse"/>
          <p:cNvSpPr/>
          <p:nvPr/>
        </p:nvSpPr>
        <p:spPr>
          <a:xfrm>
            <a:off x="7589520" y="2788920"/>
            <a:ext cx="1005840" cy="1005840"/>
          </a:xfrm>
          <a:prstGeom prst="ellipse">
            <a:avLst/>
          </a:prstGeom>
          <a:solidFill>
            <a:srgbClr val="29B6D1"/>
          </a:solidFill>
          <a:ln/>
        </p:spPr>
        <p:txBody>
          <a:bodyPr/>
          <a:lstStyle/>
          <a:p>
            <a:endParaRPr lang="ar-OM"/>
          </a:p>
        </p:txBody>
      </p:sp>
      <p:pic>
        <p:nvPicPr>
          <p:cNvPr id="10" name="eq-mouse-ic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5552" y="3044952"/>
            <a:ext cx="493776" cy="493776"/>
          </a:xfrm>
          <a:prstGeom prst="rect">
            <a:avLst/>
          </a:prstGeom>
        </p:spPr>
      </p:pic>
      <p:sp>
        <p:nvSpPr>
          <p:cNvPr id="11" name="eq"/>
          <p:cNvSpPr txBox="1"/>
          <p:nvPr/>
        </p:nvSpPr>
        <p:spPr>
          <a:xfrm>
            <a:off x="6903720" y="278892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5B2C83"/>
                </a:solidFill>
              </a:rPr>
              <a:t>=</a:t>
            </a:r>
            <a:endParaRPr lang="en-US" sz="4000" dirty="0"/>
          </a:p>
        </p:txBody>
      </p:sp>
      <p:sp>
        <p:nvSpPr>
          <p:cNvPr id="12" name="eq-pencil"/>
          <p:cNvSpPr/>
          <p:nvPr/>
        </p:nvSpPr>
        <p:spPr>
          <a:xfrm>
            <a:off x="5760720" y="2788920"/>
            <a:ext cx="1005840" cy="1005840"/>
          </a:xfrm>
          <a:prstGeom prst="ellipse">
            <a:avLst/>
          </a:prstGeom>
          <a:solidFill>
            <a:srgbClr val="F7941D"/>
          </a:solidFill>
          <a:ln/>
        </p:spPr>
        <p:txBody>
          <a:bodyPr/>
          <a:lstStyle/>
          <a:p>
            <a:endParaRPr lang="ar-OM"/>
          </a:p>
        </p:txBody>
      </p:sp>
      <p:pic>
        <p:nvPicPr>
          <p:cNvPr id="13" name="eq-brush-ic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6752" y="3044952"/>
            <a:ext cx="493776" cy="493776"/>
          </a:xfrm>
          <a:prstGeom prst="rect">
            <a:avLst/>
          </a:prstGeom>
        </p:spPr>
      </p:pic>
      <p:sp>
        <p:nvSpPr>
          <p:cNvPr id="14" name="plus"/>
          <p:cNvSpPr txBox="1"/>
          <p:nvPr/>
        </p:nvSpPr>
        <p:spPr>
          <a:xfrm>
            <a:off x="5166360" y="278892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5B2C83"/>
                </a:solidFill>
              </a:rPr>
              <a:t>+</a:t>
            </a:r>
            <a:endParaRPr lang="en-US" sz="4000" dirty="0"/>
          </a:p>
        </p:txBody>
      </p:sp>
      <p:sp>
        <p:nvSpPr>
          <p:cNvPr id="15" name="eq-pen"/>
          <p:cNvSpPr/>
          <p:nvPr/>
        </p:nvSpPr>
        <p:spPr>
          <a:xfrm>
            <a:off x="4114800" y="2788920"/>
            <a:ext cx="1005840" cy="1005840"/>
          </a:xfrm>
          <a:prstGeom prst="ellipse">
            <a:avLst/>
          </a:prstGeom>
          <a:solidFill>
            <a:srgbClr val="EC4C8C"/>
          </a:solidFill>
          <a:ln/>
        </p:spPr>
        <p:txBody>
          <a:bodyPr/>
          <a:lstStyle/>
          <a:p>
            <a:endParaRPr lang="ar-OM"/>
          </a:p>
        </p:txBody>
      </p:sp>
      <p:pic>
        <p:nvPicPr>
          <p:cNvPr id="16" name="eq-pal-ic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0832" y="3044952"/>
            <a:ext cx="493776" cy="493776"/>
          </a:xfrm>
          <a:prstGeom prst="rect">
            <a:avLst/>
          </a:prstGeom>
        </p:spPr>
      </p:pic>
      <p:sp>
        <p:nvSpPr>
          <p:cNvPr id="17" name="lab1"/>
          <p:cNvSpPr txBox="1"/>
          <p:nvPr/>
        </p:nvSpPr>
        <p:spPr>
          <a:xfrm>
            <a:off x="7406640" y="38404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ar-OM" altLang="en-US" sz="1800" b="1" dirty="0">
                <a:solidFill>
                  <a:srgbClr val="29B6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الفأرة</a:t>
            </a:r>
            <a:endParaRPr lang="ar-OM" sz="1800" dirty="0"/>
          </a:p>
        </p:txBody>
      </p:sp>
      <p:sp>
        <p:nvSpPr>
          <p:cNvPr id="18" name="lab2"/>
          <p:cNvSpPr txBox="1"/>
          <p:nvPr/>
        </p:nvSpPr>
        <p:spPr>
          <a:xfrm>
            <a:off x="5577840" y="38404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OM" altLang="en-US" sz="1800" b="1" dirty="0">
                <a:solidFill>
                  <a:srgbClr val="F79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الفرشاة</a:t>
            </a:r>
            <a:endParaRPr lang="ar-OM" sz="1800" dirty="0"/>
          </a:p>
        </p:txBody>
      </p:sp>
      <p:sp>
        <p:nvSpPr>
          <p:cNvPr id="19" name="lab3"/>
          <p:cNvSpPr txBox="1"/>
          <p:nvPr/>
        </p:nvSpPr>
        <p:spPr>
          <a:xfrm>
            <a:off x="3840480" y="38404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OM" altLang="en-US" sz="1800" b="1" dirty="0">
                <a:solidFill>
                  <a:srgbClr val="EC4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القلم</a:t>
            </a:r>
            <a:endParaRPr lang="ar-OM" sz="1800" dirty="0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icon-bg"/>
          <p:cNvSpPr/>
          <p:nvPr/>
        </p:nvSpPr>
        <p:spPr>
          <a:xfrm>
            <a:off x="8001000" y="228600"/>
            <a:ext cx="658368" cy="658368"/>
          </a:xfrm>
          <a:prstGeom prst="ellipse">
            <a:avLst/>
          </a:prstGeom>
          <a:solidFill>
            <a:srgbClr val="F7941D"/>
          </a:solidFill>
          <a:ln/>
        </p:spPr>
        <p:txBody>
          <a:bodyPr/>
          <a:lstStyle/>
          <a:p>
            <a:endParaRPr lang="ar-OM"/>
          </a:p>
        </p:txBody>
      </p:sp>
      <p:pic>
        <p:nvPicPr>
          <p:cNvPr id="3" name="title-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5592" y="393192"/>
            <a:ext cx="329184" cy="329184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1280160" y="201168"/>
            <a:ext cx="6583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OM" altLang="en-US" sz="3000" b="1" dirty="0">
                <a:solidFill>
                  <a:srgbClr val="5B2C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شاهد: كيف نرسم بالحاسوب؟</a:t>
            </a:r>
            <a:endParaRPr lang="ar-OM" sz="3000" dirty="0"/>
          </a:p>
        </p:txBody>
      </p:sp>
      <p:sp>
        <p:nvSpPr>
          <p:cNvPr id="5" name="subtitle"/>
          <p:cNvSpPr txBox="1"/>
          <p:nvPr/>
        </p:nvSpPr>
        <p:spPr>
          <a:xfrm>
            <a:off x="1280160" y="84124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OM" altLang="en-US" sz="1600" b="1" dirty="0">
                <a:solidFill>
                  <a:srgbClr val="F79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شاهد المقطع بانتباه ثم أجب عن السؤال</a:t>
            </a:r>
            <a:endParaRPr lang="ar-OM" sz="1600" dirty="0"/>
          </a:p>
        </p:txBody>
      </p:sp>
      <p:sp>
        <p:nvSpPr>
          <p:cNvPr id="6" name="video-frame"/>
          <p:cNvSpPr/>
          <p:nvPr/>
        </p:nvSpPr>
        <p:spPr>
          <a:xfrm>
            <a:off x="1481328" y="1353312"/>
            <a:ext cx="6181344" cy="3310128"/>
          </a:xfrm>
          <a:prstGeom prst="roundRect">
            <a:avLst>
              <a:gd name="adj" fmla="val 3315"/>
            </a:avLst>
          </a:prstGeom>
          <a:solidFill>
            <a:srgbClr val="F7941D"/>
          </a:solidFill>
          <a:ln/>
        </p:spPr>
        <p:txBody>
          <a:bodyPr/>
          <a:lstStyle/>
          <a:p>
            <a:endParaRPr lang="ar-OM"/>
          </a:p>
        </p:txBody>
      </p:sp>
      <p:pic>
        <p:nvPicPr>
          <p:cNvPr id="7" name="video1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600200" y="1463040"/>
            <a:ext cx="5943600" cy="3072384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icon-bg"/>
          <p:cNvSpPr/>
          <p:nvPr/>
        </p:nvSpPr>
        <p:spPr>
          <a:xfrm>
            <a:off x="8001000" y="228600"/>
            <a:ext cx="658368" cy="658368"/>
          </a:xfrm>
          <a:prstGeom prst="ellipse">
            <a:avLst/>
          </a:prstGeom>
          <a:solidFill>
            <a:srgbClr val="F7941D"/>
          </a:solidFill>
          <a:ln/>
        </p:spPr>
        <p:txBody>
          <a:bodyPr/>
          <a:lstStyle/>
          <a:p>
            <a:endParaRPr lang="ar-OM"/>
          </a:p>
        </p:txBody>
      </p:sp>
      <p:pic>
        <p:nvPicPr>
          <p:cNvPr id="3" name="title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592" y="393192"/>
            <a:ext cx="329184" cy="329184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1280160" y="201168"/>
            <a:ext cx="6583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OM" altLang="en-US" sz="3000" b="1" dirty="0">
                <a:solidFill>
                  <a:srgbClr val="5B2C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سؤال الهدف الأول</a:t>
            </a:r>
            <a:endParaRPr lang="ar-OM" sz="3000" dirty="0"/>
          </a:p>
        </p:txBody>
      </p:sp>
      <p:sp>
        <p:nvSpPr>
          <p:cNvPr id="5" name="question"/>
          <p:cNvSpPr/>
          <p:nvPr/>
        </p:nvSpPr>
        <p:spPr>
          <a:xfrm>
            <a:off x="640080" y="1234440"/>
            <a:ext cx="7315200" cy="868680"/>
          </a:xfrm>
          <a:prstGeom prst="roundRect">
            <a:avLst>
              <a:gd name="adj" fmla="val 21053"/>
            </a:avLst>
          </a:prstGeom>
          <a:solidFill>
            <a:srgbClr val="F1ECFA"/>
          </a:solidFill>
          <a:ln w="25400">
            <a:solidFill>
              <a:srgbClr val="5B2C83"/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 rtl="1">
              <a:buNone/>
            </a:pPr>
            <a:r>
              <a:rPr lang="ar-OM" altLang="en-US" sz="2800" b="1" dirty="0">
                <a:solidFill>
                  <a:srgbClr val="5B2C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عندما نرسم بالحاسوب، ماذا يصبح القلم؟</a:t>
            </a:r>
            <a:endParaRPr lang="ar-OM" sz="2800" dirty="0"/>
          </a:p>
        </p:txBody>
      </p:sp>
      <p:sp>
        <p:nvSpPr>
          <p:cNvPr id="6" name="q-badge"/>
          <p:cNvSpPr/>
          <p:nvPr/>
        </p:nvSpPr>
        <p:spPr>
          <a:xfrm>
            <a:off x="8092440" y="1303020"/>
            <a:ext cx="731520" cy="731520"/>
          </a:xfrm>
          <a:prstGeom prst="ellipse">
            <a:avLst/>
          </a:prstGeom>
          <a:solidFill>
            <a:srgbClr val="F7941D"/>
          </a:solidFill>
          <a:ln/>
        </p:spPr>
        <p:txBody>
          <a:bodyPr/>
          <a:lstStyle/>
          <a:p>
            <a:endParaRPr lang="ar-OM"/>
          </a:p>
        </p:txBody>
      </p:sp>
      <p:pic>
        <p:nvPicPr>
          <p:cNvPr id="7" name="q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1504188"/>
            <a:ext cx="329184" cy="329184"/>
          </a:xfrm>
          <a:prstGeom prst="rect">
            <a:avLst/>
          </a:prstGeom>
        </p:spPr>
      </p:pic>
      <p:sp>
        <p:nvSpPr>
          <p:cNvPr id="8" name="card"/>
          <p:cNvSpPr/>
          <p:nvPr/>
        </p:nvSpPr>
        <p:spPr>
          <a:xfrm>
            <a:off x="6080760" y="2423160"/>
            <a:ext cx="219456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29B6D1"/>
            </a:solidFill>
            <a:prstDash val="solid"/>
          </a:ln>
          <a:effectLst>
            <a:outerShdw blurRad="76200" dist="25400" dir="5400000" algn="bl" rotWithShape="0">
              <a:srgbClr val="5B2C83">
                <a:alpha val="18000"/>
              </a:srgbClr>
            </a:outerShdw>
          </a:effectLst>
        </p:spPr>
        <p:txBody>
          <a:bodyPr/>
          <a:lstStyle/>
          <a:p>
            <a:endParaRPr lang="ar-OM"/>
          </a:p>
        </p:txBody>
      </p:sp>
      <p:sp>
        <p:nvSpPr>
          <p:cNvPr id="9" name="opt-bg"/>
          <p:cNvSpPr/>
          <p:nvPr/>
        </p:nvSpPr>
        <p:spPr>
          <a:xfrm>
            <a:off x="6720840" y="2651760"/>
            <a:ext cx="914400" cy="914400"/>
          </a:xfrm>
          <a:prstGeom prst="ellipse">
            <a:avLst/>
          </a:prstGeom>
          <a:solidFill>
            <a:srgbClr val="29B6D1"/>
          </a:solidFill>
          <a:ln/>
        </p:spPr>
        <p:txBody>
          <a:bodyPr/>
          <a:lstStyle/>
          <a:p>
            <a:endParaRPr lang="ar-OM"/>
          </a:p>
        </p:txBody>
      </p:sp>
      <p:pic>
        <p:nvPicPr>
          <p:cNvPr id="10" name="opt-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2880360"/>
            <a:ext cx="457200" cy="457200"/>
          </a:xfrm>
          <a:prstGeom prst="rect">
            <a:avLst/>
          </a:prstGeom>
        </p:spPr>
      </p:pic>
      <p:sp>
        <p:nvSpPr>
          <p:cNvPr id="11" name="pill"/>
          <p:cNvSpPr/>
          <p:nvPr/>
        </p:nvSpPr>
        <p:spPr>
          <a:xfrm>
            <a:off x="6309360" y="3794760"/>
            <a:ext cx="1737360" cy="502920"/>
          </a:xfrm>
          <a:prstGeom prst="roundRect">
            <a:avLst>
              <a:gd name="adj" fmla="val 50000"/>
            </a:avLst>
          </a:prstGeom>
          <a:solidFill>
            <a:srgbClr val="29B6D1"/>
          </a:solidFill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OM" alt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الفأرة</a:t>
            </a:r>
            <a:endParaRPr lang="ar-OM" sz="2000" dirty="0"/>
          </a:p>
        </p:txBody>
      </p:sp>
      <p:pic>
        <p:nvPicPr>
          <p:cNvPr id="12" name="ANS_OK_q1" descr="إجابة صحيحة">
            <a:hlinkClick r:id="rId5" action="ppaction://hlinksldjump" tooltip=" ">
              <a:snd r:embed="rId6" name="correct.wav"/>
            </a:hlinkClick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0760" y="2423160"/>
            <a:ext cx="2194560" cy="2057400"/>
          </a:xfrm>
          <a:prstGeom prst="rect">
            <a:avLst/>
          </a:prstGeom>
        </p:spPr>
      </p:pic>
      <p:sp>
        <p:nvSpPr>
          <p:cNvPr id="13" name="card"/>
          <p:cNvSpPr/>
          <p:nvPr/>
        </p:nvSpPr>
        <p:spPr>
          <a:xfrm>
            <a:off x="3474720" y="2423160"/>
            <a:ext cx="219456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EC4C8C"/>
            </a:solidFill>
            <a:prstDash val="solid"/>
          </a:ln>
          <a:effectLst>
            <a:outerShdw blurRad="76200" dist="25400" dir="5400000" algn="bl" rotWithShape="0">
              <a:srgbClr val="5B2C83">
                <a:alpha val="18000"/>
              </a:srgbClr>
            </a:outerShdw>
          </a:effectLst>
        </p:spPr>
        <p:txBody>
          <a:bodyPr/>
          <a:lstStyle/>
          <a:p>
            <a:endParaRPr lang="ar-OM"/>
          </a:p>
        </p:txBody>
      </p:sp>
      <p:sp>
        <p:nvSpPr>
          <p:cNvPr id="14" name="opt-bg"/>
          <p:cNvSpPr/>
          <p:nvPr/>
        </p:nvSpPr>
        <p:spPr>
          <a:xfrm>
            <a:off x="4114800" y="2651760"/>
            <a:ext cx="914400" cy="914400"/>
          </a:xfrm>
          <a:prstGeom prst="ellipse">
            <a:avLst/>
          </a:prstGeom>
          <a:solidFill>
            <a:srgbClr val="EC4C8C"/>
          </a:solidFill>
          <a:ln/>
        </p:spPr>
        <p:txBody>
          <a:bodyPr/>
          <a:lstStyle/>
          <a:p>
            <a:endParaRPr lang="ar-OM"/>
          </a:p>
        </p:txBody>
      </p:sp>
      <p:pic>
        <p:nvPicPr>
          <p:cNvPr id="15" name="opt-icon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43400" y="2880360"/>
            <a:ext cx="457200" cy="457200"/>
          </a:xfrm>
          <a:prstGeom prst="rect">
            <a:avLst/>
          </a:prstGeom>
        </p:spPr>
      </p:pic>
      <p:sp>
        <p:nvSpPr>
          <p:cNvPr id="16" name="pill"/>
          <p:cNvSpPr/>
          <p:nvPr/>
        </p:nvSpPr>
        <p:spPr>
          <a:xfrm>
            <a:off x="3703320" y="3794760"/>
            <a:ext cx="1737360" cy="502920"/>
          </a:xfrm>
          <a:prstGeom prst="roundRect">
            <a:avLst>
              <a:gd name="adj" fmla="val 50000"/>
            </a:avLst>
          </a:prstGeom>
          <a:solidFill>
            <a:srgbClr val="EC4C8C"/>
          </a:solidFill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OM" alt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السماعة</a:t>
            </a:r>
            <a:endParaRPr lang="ar-OM" sz="2000" dirty="0"/>
          </a:p>
        </p:txBody>
      </p:sp>
      <p:pic>
        <p:nvPicPr>
          <p:cNvPr id="17" name="ANS_NO_q1" descr="إجابة خاطئة">
            <a:hlinkClick r:id="rId9" action="ppaction://hlinksldjump" tooltip=" ">
              <a:snd r:embed="rId10" name="wrong.wav"/>
            </a:hlinkClick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4720" y="2423160"/>
            <a:ext cx="2194560" cy="2057400"/>
          </a:xfrm>
          <a:prstGeom prst="rect">
            <a:avLst/>
          </a:prstGeom>
        </p:spPr>
      </p:pic>
      <p:sp>
        <p:nvSpPr>
          <p:cNvPr id="18" name="card"/>
          <p:cNvSpPr/>
          <p:nvPr/>
        </p:nvSpPr>
        <p:spPr>
          <a:xfrm>
            <a:off x="868680" y="2423160"/>
            <a:ext cx="219456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7AC143"/>
            </a:solidFill>
            <a:prstDash val="solid"/>
          </a:ln>
          <a:effectLst>
            <a:outerShdw blurRad="76200" dist="25400" dir="5400000" algn="bl" rotWithShape="0">
              <a:srgbClr val="5B2C83">
                <a:alpha val="18000"/>
              </a:srgbClr>
            </a:outerShdw>
          </a:effectLst>
        </p:spPr>
        <p:txBody>
          <a:bodyPr/>
          <a:lstStyle/>
          <a:p>
            <a:endParaRPr lang="ar-OM"/>
          </a:p>
        </p:txBody>
      </p:sp>
      <p:sp>
        <p:nvSpPr>
          <p:cNvPr id="19" name="opt-bg"/>
          <p:cNvSpPr/>
          <p:nvPr/>
        </p:nvSpPr>
        <p:spPr>
          <a:xfrm>
            <a:off x="1508760" y="2651760"/>
            <a:ext cx="914400" cy="914400"/>
          </a:xfrm>
          <a:prstGeom prst="ellipse">
            <a:avLst/>
          </a:prstGeom>
          <a:solidFill>
            <a:srgbClr val="7AC143"/>
          </a:solidFill>
          <a:ln/>
        </p:spPr>
        <p:txBody>
          <a:bodyPr/>
          <a:lstStyle/>
          <a:p>
            <a:endParaRPr lang="ar-OM"/>
          </a:p>
        </p:txBody>
      </p:sp>
      <p:pic>
        <p:nvPicPr>
          <p:cNvPr id="20" name="opt-icon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37360" y="2880360"/>
            <a:ext cx="457200" cy="457200"/>
          </a:xfrm>
          <a:prstGeom prst="rect">
            <a:avLst/>
          </a:prstGeom>
        </p:spPr>
      </p:pic>
      <p:sp>
        <p:nvSpPr>
          <p:cNvPr id="21" name="pill"/>
          <p:cNvSpPr/>
          <p:nvPr/>
        </p:nvSpPr>
        <p:spPr>
          <a:xfrm>
            <a:off x="1097280" y="3794760"/>
            <a:ext cx="1737360" cy="502920"/>
          </a:xfrm>
          <a:prstGeom prst="roundRect">
            <a:avLst>
              <a:gd name="adj" fmla="val 50000"/>
            </a:avLst>
          </a:prstGeom>
          <a:solidFill>
            <a:srgbClr val="7AC143"/>
          </a:solidFill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OM" alt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الشاشة</a:t>
            </a:r>
            <a:endParaRPr lang="ar-OM" sz="2000" dirty="0"/>
          </a:p>
        </p:txBody>
      </p:sp>
      <p:pic>
        <p:nvPicPr>
          <p:cNvPr id="22" name="ANS_NO_q1" descr="إجابة خاطئة">
            <a:hlinkClick r:id="rId9" action="ppaction://hlinksldjump" tooltip=" ">
              <a:snd r:embed="rId10" name="wrong.wav"/>
            </a:hlinkClick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2423160"/>
            <a:ext cx="2194560" cy="2057400"/>
          </a:xfrm>
          <a:prstGeom prst="rect">
            <a:avLst/>
          </a:prstGeom>
        </p:spPr>
      </p:pic>
    </p:spTree>
  </p:cSld>
  <p:clrMapOvr>
    <a:masterClrMapping/>
  </p:clrMapOvr>
  <p:transition spd="med" advClick="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icon-bg"/>
          <p:cNvSpPr/>
          <p:nvPr/>
        </p:nvSpPr>
        <p:spPr>
          <a:xfrm>
            <a:off x="8001000" y="228600"/>
            <a:ext cx="658368" cy="658368"/>
          </a:xfrm>
          <a:prstGeom prst="ellipse">
            <a:avLst/>
          </a:prstGeom>
          <a:solidFill>
            <a:srgbClr val="7AC143"/>
          </a:solidFill>
          <a:ln/>
        </p:spPr>
        <p:txBody>
          <a:bodyPr/>
          <a:lstStyle/>
          <a:p>
            <a:endParaRPr lang="ar-OM"/>
          </a:p>
        </p:txBody>
      </p:sp>
      <p:pic>
        <p:nvPicPr>
          <p:cNvPr id="3" name="title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592" y="393192"/>
            <a:ext cx="329184" cy="329184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1280160" y="201168"/>
            <a:ext cx="6583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OM" altLang="en-US" sz="3000" b="1" dirty="0">
                <a:solidFill>
                  <a:srgbClr val="5B2C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مَزايا الرَّسْمِ الرَّقْمِيِّ</a:t>
            </a:r>
            <a:endParaRPr lang="ar-OM" sz="3000" dirty="0"/>
          </a:p>
        </p:txBody>
      </p:sp>
      <p:sp>
        <p:nvSpPr>
          <p:cNvPr id="5" name="subtitle"/>
          <p:cNvSpPr txBox="1"/>
          <p:nvPr/>
        </p:nvSpPr>
        <p:spPr>
          <a:xfrm>
            <a:off x="1280160" y="84124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OM" altLang="en-US" sz="1600" b="1" dirty="0">
                <a:solidFill>
                  <a:srgbClr val="7AC1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الهدف الثاني</a:t>
            </a:r>
            <a:endParaRPr lang="ar-OM" sz="1600" dirty="0"/>
          </a:p>
        </p:txBody>
      </p:sp>
      <p:sp>
        <p:nvSpPr>
          <p:cNvPr id="6" name="card"/>
          <p:cNvSpPr/>
          <p:nvPr/>
        </p:nvSpPr>
        <p:spPr>
          <a:xfrm>
            <a:off x="6103620" y="1371600"/>
            <a:ext cx="2514600" cy="3017520"/>
          </a:xfrm>
          <a:prstGeom prst="roundRect">
            <a:avLst>
              <a:gd name="adj" fmla="val 6545"/>
            </a:avLst>
          </a:prstGeom>
          <a:solidFill>
            <a:srgbClr val="FFFFFF"/>
          </a:solidFill>
          <a:ln w="31750">
            <a:solidFill>
              <a:srgbClr val="F7941D"/>
            </a:solidFill>
            <a:prstDash val="solid"/>
          </a:ln>
          <a:effectLst>
            <a:outerShdw blurRad="76200" dist="25400" dir="5400000" algn="bl" rotWithShape="0">
              <a:srgbClr val="5B2C83">
                <a:alpha val="18000"/>
              </a:srgbClr>
            </a:outerShdw>
          </a:effectLst>
        </p:spPr>
        <p:txBody>
          <a:bodyPr/>
          <a:lstStyle/>
          <a:p>
            <a:endParaRPr lang="ar-OM"/>
          </a:p>
        </p:txBody>
      </p:sp>
      <p:pic>
        <p:nvPicPr>
          <p:cNvPr id="7" name="adv-img" descr="img/tool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86500" y="1554480"/>
            <a:ext cx="2148840" cy="1965960"/>
          </a:xfrm>
          <a:prstGeom prst="rect">
            <a:avLst/>
          </a:prstGeom>
        </p:spPr>
      </p:pic>
      <p:sp>
        <p:nvSpPr>
          <p:cNvPr id="8" name="pill"/>
          <p:cNvSpPr/>
          <p:nvPr/>
        </p:nvSpPr>
        <p:spPr>
          <a:xfrm>
            <a:off x="6286500" y="3703320"/>
            <a:ext cx="2148840" cy="502920"/>
          </a:xfrm>
          <a:prstGeom prst="roundRect">
            <a:avLst>
              <a:gd name="adj" fmla="val 50000"/>
            </a:avLst>
          </a:prstGeom>
          <a:solidFill>
            <a:srgbClr val="F7941D"/>
          </a:solidFill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OM" alt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توفّر أدوات عدّة</a:t>
            </a:r>
            <a:endParaRPr lang="ar-OM" sz="1900" dirty="0"/>
          </a:p>
        </p:txBody>
      </p:sp>
      <p:sp>
        <p:nvSpPr>
          <p:cNvPr id="9" name="no"/>
          <p:cNvSpPr/>
          <p:nvPr/>
        </p:nvSpPr>
        <p:spPr>
          <a:xfrm>
            <a:off x="8343900" y="1234440"/>
            <a:ext cx="411480" cy="411480"/>
          </a:xfrm>
          <a:prstGeom prst="ellipse">
            <a:avLst/>
          </a:prstGeom>
          <a:solidFill>
            <a:srgbClr val="5B2C8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card"/>
          <p:cNvSpPr/>
          <p:nvPr/>
        </p:nvSpPr>
        <p:spPr>
          <a:xfrm>
            <a:off x="3314700" y="1371600"/>
            <a:ext cx="2514600" cy="3017520"/>
          </a:xfrm>
          <a:prstGeom prst="roundRect">
            <a:avLst>
              <a:gd name="adj" fmla="val 6545"/>
            </a:avLst>
          </a:prstGeom>
          <a:solidFill>
            <a:srgbClr val="FFFFFF"/>
          </a:solidFill>
          <a:ln w="31750">
            <a:solidFill>
              <a:srgbClr val="7AC143"/>
            </a:solidFill>
            <a:prstDash val="solid"/>
          </a:ln>
          <a:effectLst>
            <a:outerShdw blurRad="76200" dist="25400" dir="5400000" algn="bl" rotWithShape="0">
              <a:srgbClr val="5B2C83">
                <a:alpha val="18000"/>
              </a:srgbClr>
            </a:outerShdw>
          </a:effectLst>
        </p:spPr>
        <p:txBody>
          <a:bodyPr/>
          <a:lstStyle/>
          <a:p>
            <a:endParaRPr lang="ar-OM"/>
          </a:p>
        </p:txBody>
      </p:sp>
      <p:pic>
        <p:nvPicPr>
          <p:cNvPr id="11" name="adv-img" descr="img/creat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497580" y="1554480"/>
            <a:ext cx="2148840" cy="1965960"/>
          </a:xfrm>
          <a:prstGeom prst="rect">
            <a:avLst/>
          </a:prstGeom>
        </p:spPr>
      </p:pic>
      <p:sp>
        <p:nvSpPr>
          <p:cNvPr id="12" name="pill"/>
          <p:cNvSpPr/>
          <p:nvPr/>
        </p:nvSpPr>
        <p:spPr>
          <a:xfrm>
            <a:off x="3497580" y="3703320"/>
            <a:ext cx="2148840" cy="502920"/>
          </a:xfrm>
          <a:prstGeom prst="roundRect">
            <a:avLst>
              <a:gd name="adj" fmla="val 50000"/>
            </a:avLst>
          </a:prstGeom>
          <a:solidFill>
            <a:srgbClr val="7AC143"/>
          </a:solidFill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OM" alt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سهولة الإنشاء</a:t>
            </a:r>
            <a:endParaRPr lang="ar-OM" sz="1900" dirty="0"/>
          </a:p>
        </p:txBody>
      </p:sp>
      <p:sp>
        <p:nvSpPr>
          <p:cNvPr id="13" name="no"/>
          <p:cNvSpPr/>
          <p:nvPr/>
        </p:nvSpPr>
        <p:spPr>
          <a:xfrm>
            <a:off x="5554980" y="1234440"/>
            <a:ext cx="411480" cy="411480"/>
          </a:xfrm>
          <a:prstGeom prst="ellipse">
            <a:avLst/>
          </a:prstGeom>
          <a:solidFill>
            <a:srgbClr val="5B2C8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card"/>
          <p:cNvSpPr/>
          <p:nvPr/>
        </p:nvSpPr>
        <p:spPr>
          <a:xfrm>
            <a:off x="525780" y="1371600"/>
            <a:ext cx="2514600" cy="3017520"/>
          </a:xfrm>
          <a:prstGeom prst="roundRect">
            <a:avLst>
              <a:gd name="adj" fmla="val 6545"/>
            </a:avLst>
          </a:prstGeom>
          <a:solidFill>
            <a:srgbClr val="FFFFFF"/>
          </a:solidFill>
          <a:ln w="31750">
            <a:solidFill>
              <a:srgbClr val="29B6D1"/>
            </a:solidFill>
            <a:prstDash val="solid"/>
          </a:ln>
          <a:effectLst>
            <a:outerShdw blurRad="76200" dist="25400" dir="5400000" algn="bl" rotWithShape="0">
              <a:srgbClr val="5B2C83">
                <a:alpha val="18000"/>
              </a:srgbClr>
            </a:outerShdw>
          </a:effectLst>
        </p:spPr>
        <p:txBody>
          <a:bodyPr/>
          <a:lstStyle/>
          <a:p>
            <a:endParaRPr lang="ar-OM"/>
          </a:p>
        </p:txBody>
      </p:sp>
      <p:pic>
        <p:nvPicPr>
          <p:cNvPr id="15" name="adv-img" descr="img/shar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08660" y="1554480"/>
            <a:ext cx="2148840" cy="1965960"/>
          </a:xfrm>
          <a:prstGeom prst="rect">
            <a:avLst/>
          </a:prstGeom>
        </p:spPr>
      </p:pic>
      <p:sp>
        <p:nvSpPr>
          <p:cNvPr id="16" name="pill"/>
          <p:cNvSpPr/>
          <p:nvPr/>
        </p:nvSpPr>
        <p:spPr>
          <a:xfrm>
            <a:off x="708660" y="3703320"/>
            <a:ext cx="2148840" cy="502920"/>
          </a:xfrm>
          <a:prstGeom prst="roundRect">
            <a:avLst>
              <a:gd name="adj" fmla="val 50000"/>
            </a:avLst>
          </a:prstGeom>
          <a:solidFill>
            <a:srgbClr val="29B6D1"/>
          </a:solidFill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OM" alt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سهولة المشاركة</a:t>
            </a:r>
            <a:endParaRPr lang="ar-OM" sz="1900" dirty="0"/>
          </a:p>
        </p:txBody>
      </p:sp>
      <p:sp>
        <p:nvSpPr>
          <p:cNvPr id="17" name="no"/>
          <p:cNvSpPr/>
          <p:nvPr/>
        </p:nvSpPr>
        <p:spPr>
          <a:xfrm>
            <a:off x="2766060" y="1234440"/>
            <a:ext cx="411480" cy="411480"/>
          </a:xfrm>
          <a:prstGeom prst="ellipse">
            <a:avLst/>
          </a:prstGeom>
          <a:solidFill>
            <a:srgbClr val="5B2C8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icon-bg"/>
          <p:cNvSpPr/>
          <p:nvPr/>
        </p:nvSpPr>
        <p:spPr>
          <a:xfrm>
            <a:off x="8001000" y="228600"/>
            <a:ext cx="658368" cy="658368"/>
          </a:xfrm>
          <a:prstGeom prst="ellipse">
            <a:avLst/>
          </a:prstGeom>
          <a:solidFill>
            <a:srgbClr val="7AC143"/>
          </a:solidFill>
          <a:ln/>
        </p:spPr>
        <p:txBody>
          <a:bodyPr/>
          <a:lstStyle/>
          <a:p>
            <a:endParaRPr lang="ar-OM"/>
          </a:p>
        </p:txBody>
      </p:sp>
      <p:pic>
        <p:nvPicPr>
          <p:cNvPr id="3" name="title-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5592" y="393192"/>
            <a:ext cx="329184" cy="329184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1280160" y="201168"/>
            <a:ext cx="6583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OM" altLang="en-US" sz="3000" b="1" dirty="0">
                <a:solidFill>
                  <a:srgbClr val="5B2C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شاهد: مزايا الرسم الرقمي</a:t>
            </a:r>
            <a:endParaRPr lang="ar-OM" sz="3000" dirty="0"/>
          </a:p>
        </p:txBody>
      </p:sp>
      <p:sp>
        <p:nvSpPr>
          <p:cNvPr id="5" name="subtitle"/>
          <p:cNvSpPr txBox="1"/>
          <p:nvPr/>
        </p:nvSpPr>
        <p:spPr>
          <a:xfrm>
            <a:off x="1280160" y="84124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OM" altLang="en-US" sz="1600" b="1" dirty="0">
                <a:solidFill>
                  <a:srgbClr val="7AC1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شاهد المقطع بانتباه ثم أجب عن السؤال</a:t>
            </a:r>
            <a:endParaRPr lang="ar-OM" sz="1600" dirty="0"/>
          </a:p>
        </p:txBody>
      </p:sp>
      <p:sp>
        <p:nvSpPr>
          <p:cNvPr id="6" name="video-frame"/>
          <p:cNvSpPr/>
          <p:nvPr/>
        </p:nvSpPr>
        <p:spPr>
          <a:xfrm>
            <a:off x="1481328" y="1353312"/>
            <a:ext cx="6181344" cy="3310128"/>
          </a:xfrm>
          <a:prstGeom prst="roundRect">
            <a:avLst>
              <a:gd name="adj" fmla="val 3315"/>
            </a:avLst>
          </a:prstGeom>
          <a:solidFill>
            <a:srgbClr val="7AC143"/>
          </a:solidFill>
          <a:ln/>
        </p:spPr>
        <p:txBody>
          <a:bodyPr/>
          <a:lstStyle/>
          <a:p>
            <a:endParaRPr lang="ar-OM"/>
          </a:p>
        </p:txBody>
      </p:sp>
      <p:pic>
        <p:nvPicPr>
          <p:cNvPr id="7" name="video2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600200" y="1463040"/>
            <a:ext cx="5943600" cy="3072384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icon-bg"/>
          <p:cNvSpPr/>
          <p:nvPr/>
        </p:nvSpPr>
        <p:spPr>
          <a:xfrm>
            <a:off x="8001000" y="228600"/>
            <a:ext cx="658368" cy="658368"/>
          </a:xfrm>
          <a:prstGeom prst="ellipse">
            <a:avLst/>
          </a:prstGeom>
          <a:solidFill>
            <a:srgbClr val="7AC143"/>
          </a:solidFill>
          <a:ln/>
        </p:spPr>
        <p:txBody>
          <a:bodyPr/>
          <a:lstStyle/>
          <a:p>
            <a:endParaRPr lang="ar-OM"/>
          </a:p>
        </p:txBody>
      </p:sp>
      <p:pic>
        <p:nvPicPr>
          <p:cNvPr id="3" name="title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592" y="393192"/>
            <a:ext cx="329184" cy="329184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1280160" y="201168"/>
            <a:ext cx="6583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OM" altLang="en-US" sz="3000" b="1" dirty="0">
                <a:solidFill>
                  <a:srgbClr val="5B2C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سؤال الهدف الثاني</a:t>
            </a:r>
            <a:endParaRPr lang="ar-OM" sz="3000" dirty="0"/>
          </a:p>
        </p:txBody>
      </p:sp>
      <p:sp>
        <p:nvSpPr>
          <p:cNvPr id="5" name="subtitle"/>
          <p:cNvSpPr txBox="1"/>
          <p:nvPr/>
        </p:nvSpPr>
        <p:spPr>
          <a:xfrm>
            <a:off x="1280160" y="84124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OM" altLang="en-US" sz="1600" b="1" dirty="0">
                <a:solidFill>
                  <a:srgbClr val="7AC1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صح أم خطأ؟</a:t>
            </a:r>
            <a:endParaRPr lang="ar-OM" sz="1600" dirty="0"/>
          </a:p>
        </p:txBody>
      </p:sp>
      <p:sp>
        <p:nvSpPr>
          <p:cNvPr id="6" name="card"/>
          <p:cNvSpPr/>
          <p:nvPr/>
        </p:nvSpPr>
        <p:spPr>
          <a:xfrm>
            <a:off x="4206240" y="1325880"/>
            <a:ext cx="4434840" cy="2011680"/>
          </a:xfrm>
          <a:prstGeom prst="roundRect">
            <a:avLst>
              <a:gd name="adj" fmla="val 8182"/>
            </a:avLst>
          </a:prstGeom>
          <a:solidFill>
            <a:srgbClr val="F1F9EA"/>
          </a:solidFill>
          <a:ln w="31750">
            <a:solidFill>
              <a:srgbClr val="7AC143"/>
            </a:solidFill>
            <a:prstDash val="solid"/>
          </a:ln>
          <a:effectLst>
            <a:outerShdw blurRad="76200" dist="25400" dir="5400000" algn="bl" rotWithShape="0">
              <a:srgbClr val="5B2C83">
                <a:alpha val="18000"/>
              </a:srgbClr>
            </a:outerShdw>
          </a:effectLst>
        </p:spPr>
        <p:txBody>
          <a:bodyPr/>
          <a:lstStyle/>
          <a:p>
            <a:endParaRPr lang="ar-OM"/>
          </a:p>
        </p:txBody>
      </p:sp>
      <p:sp>
        <p:nvSpPr>
          <p:cNvPr id="7" name="statement"/>
          <p:cNvSpPr txBox="1"/>
          <p:nvPr/>
        </p:nvSpPr>
        <p:spPr>
          <a:xfrm>
            <a:off x="4389120" y="1417320"/>
            <a:ext cx="4069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OM" altLang="en-US" sz="2500" b="1" dirty="0">
                <a:solidFill>
                  <a:srgbClr val="2D1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أستطيع أن أُرسل رسمتي الرقمية إلى صديقي بسهولة</a:t>
            </a:r>
            <a:endParaRPr lang="ar-OM" sz="2500" dirty="0"/>
          </a:p>
        </p:txBody>
      </p:sp>
      <p:pic>
        <p:nvPicPr>
          <p:cNvPr id="8" name="girl" descr="img/girl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48640" y="1097280"/>
            <a:ext cx="2011680" cy="3474720"/>
          </a:xfrm>
          <a:prstGeom prst="rect">
            <a:avLst/>
          </a:prstGeom>
        </p:spPr>
      </p:pic>
      <p:sp>
        <p:nvSpPr>
          <p:cNvPr id="9" name="tf-btn"/>
          <p:cNvSpPr/>
          <p:nvPr/>
        </p:nvSpPr>
        <p:spPr>
          <a:xfrm>
            <a:off x="6537960" y="3611880"/>
            <a:ext cx="2103120" cy="777240"/>
          </a:xfrm>
          <a:prstGeom prst="roundRect">
            <a:avLst>
              <a:gd name="adj" fmla="val 47059"/>
            </a:avLst>
          </a:prstGeom>
          <a:solidFill>
            <a:srgbClr val="7AC143"/>
          </a:solidFill>
          <a:ln/>
        </p:spPr>
        <p:txBody>
          <a:bodyPr wrap="square" lIns="0" tIns="1270" rIns="9525" bIns="0" rtlCol="0" anchor="ctr"/>
          <a:lstStyle/>
          <a:p>
            <a:pPr marL="0" indent="0" algn="ctr" rtl="1">
              <a:buNone/>
            </a:pPr>
            <a:r>
              <a:rPr lang="ar-OM" alt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صح</a:t>
            </a:r>
            <a:endParaRPr lang="ar-OM" sz="2600" dirty="0"/>
          </a:p>
        </p:txBody>
      </p:sp>
      <p:pic>
        <p:nvPicPr>
          <p:cNvPr id="10" name="tf-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280" y="3822192"/>
            <a:ext cx="365760" cy="365760"/>
          </a:xfrm>
          <a:prstGeom prst="rect">
            <a:avLst/>
          </a:prstGeom>
        </p:spPr>
      </p:pic>
      <p:pic>
        <p:nvPicPr>
          <p:cNvPr id="11" name="ANS_OK_q2" descr="إجابة صحيحة">
            <a:hlinkClick r:id="rId6" action="ppaction://hlinksldjump" tooltip=" ">
              <a:snd r:embed="rId7" name="correct.wav"/>
            </a:hlinkClick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7960" y="3611880"/>
            <a:ext cx="2103120" cy="777240"/>
          </a:xfrm>
          <a:prstGeom prst="rect">
            <a:avLst/>
          </a:prstGeom>
        </p:spPr>
      </p:pic>
      <p:sp>
        <p:nvSpPr>
          <p:cNvPr id="12" name="tf-btn"/>
          <p:cNvSpPr/>
          <p:nvPr/>
        </p:nvSpPr>
        <p:spPr>
          <a:xfrm>
            <a:off x="4251960" y="3611880"/>
            <a:ext cx="2103120" cy="777240"/>
          </a:xfrm>
          <a:prstGeom prst="roundRect">
            <a:avLst>
              <a:gd name="adj" fmla="val 47059"/>
            </a:avLst>
          </a:prstGeom>
          <a:solidFill>
            <a:srgbClr val="E53935"/>
          </a:solidFill>
          <a:ln/>
        </p:spPr>
        <p:txBody>
          <a:bodyPr wrap="square" lIns="0" tIns="1270" rIns="9525" bIns="0" rtlCol="0" anchor="ctr"/>
          <a:lstStyle/>
          <a:p>
            <a:pPr marL="0" indent="0" algn="ctr" rtl="1">
              <a:buNone/>
            </a:pPr>
            <a:r>
              <a:rPr lang="ar-OM" alt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خطأ</a:t>
            </a:r>
            <a:endParaRPr lang="ar-OM" sz="2600" dirty="0"/>
          </a:p>
        </p:txBody>
      </p:sp>
      <p:pic>
        <p:nvPicPr>
          <p:cNvPr id="13" name="tf-icon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26280" y="3822192"/>
            <a:ext cx="365760" cy="365760"/>
          </a:xfrm>
          <a:prstGeom prst="rect">
            <a:avLst/>
          </a:prstGeom>
        </p:spPr>
      </p:pic>
      <p:pic>
        <p:nvPicPr>
          <p:cNvPr id="14" name="ANS_NO_q2" descr="إجابة خاطئة">
            <a:hlinkClick r:id="rId10" action="ppaction://hlinksldjump" tooltip=" ">
              <a:snd r:embed="rId11" name="wrong.wav"/>
            </a:hlinkClick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51960" y="3611880"/>
            <a:ext cx="2103120" cy="777240"/>
          </a:xfrm>
          <a:prstGeom prst="rect">
            <a:avLst/>
          </a:prstGeom>
        </p:spPr>
      </p:pic>
    </p:spTree>
  </p:cSld>
  <p:clrMapOvr>
    <a:masterClrMapping/>
  </p:clrMapOvr>
  <p:transition spd="med" advClick="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icon-bg"/>
          <p:cNvSpPr/>
          <p:nvPr/>
        </p:nvSpPr>
        <p:spPr>
          <a:xfrm>
            <a:off x="8001000" y="228600"/>
            <a:ext cx="658368" cy="658368"/>
          </a:xfrm>
          <a:prstGeom prst="ellipse">
            <a:avLst/>
          </a:prstGeom>
          <a:solidFill>
            <a:srgbClr val="29B6D1"/>
          </a:solidFill>
          <a:ln/>
        </p:spPr>
        <p:txBody>
          <a:bodyPr/>
          <a:lstStyle/>
          <a:p>
            <a:endParaRPr lang="ar-OM"/>
          </a:p>
        </p:txBody>
      </p:sp>
      <p:pic>
        <p:nvPicPr>
          <p:cNvPr id="3" name="title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592" y="393192"/>
            <a:ext cx="329184" cy="329184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1280160" y="201168"/>
            <a:ext cx="6583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OM" altLang="en-US" sz="3000" b="1" dirty="0">
                <a:solidFill>
                  <a:srgbClr val="5B2C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البِكْسِل</a:t>
            </a:r>
            <a:endParaRPr lang="ar-OM" sz="3000" dirty="0"/>
          </a:p>
        </p:txBody>
      </p:sp>
      <p:sp>
        <p:nvSpPr>
          <p:cNvPr id="5" name="subtitle"/>
          <p:cNvSpPr txBox="1"/>
          <p:nvPr/>
        </p:nvSpPr>
        <p:spPr>
          <a:xfrm>
            <a:off x="1280160" y="84124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OM" altLang="en-US" sz="1600" b="1" dirty="0">
                <a:solidFill>
                  <a:srgbClr val="29B6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الهدف الثالث</a:t>
            </a:r>
            <a:endParaRPr lang="ar-OM" sz="1600" dirty="0"/>
          </a:p>
        </p:txBody>
      </p:sp>
      <p:sp>
        <p:nvSpPr>
          <p:cNvPr id="6" name="card"/>
          <p:cNvSpPr/>
          <p:nvPr/>
        </p:nvSpPr>
        <p:spPr>
          <a:xfrm>
            <a:off x="4572000" y="1325880"/>
            <a:ext cx="4069080" cy="960120"/>
          </a:xfrm>
          <a:prstGeom prst="roundRect">
            <a:avLst>
              <a:gd name="adj" fmla="val 17143"/>
            </a:avLst>
          </a:prstGeom>
          <a:solidFill>
            <a:srgbClr val="EAF8FB"/>
          </a:solidFill>
          <a:ln w="31750">
            <a:solidFill>
              <a:srgbClr val="29B6D1"/>
            </a:solidFill>
            <a:prstDash val="solid"/>
          </a:ln>
          <a:effectLst>
            <a:outerShdw blurRad="76200" dist="25400" dir="5400000" algn="bl" rotWithShape="0">
              <a:srgbClr val="5B2C83">
                <a:alpha val="18000"/>
              </a:srgbClr>
            </a:outerShdw>
          </a:effectLst>
        </p:spPr>
        <p:txBody>
          <a:bodyPr/>
          <a:lstStyle/>
          <a:p>
            <a:endParaRPr lang="ar-OM"/>
          </a:p>
        </p:txBody>
      </p:sp>
      <p:sp>
        <p:nvSpPr>
          <p:cNvPr id="7" name="def"/>
          <p:cNvSpPr txBox="1"/>
          <p:nvPr/>
        </p:nvSpPr>
        <p:spPr>
          <a:xfrm>
            <a:off x="4709160" y="137160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OM" altLang="en-US" sz="2200" b="1" dirty="0">
                <a:solidFill>
                  <a:srgbClr val="2D1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البكسل هو نقطة مربّعة في الشاشة</a:t>
            </a:r>
            <a:endParaRPr lang="ar-OM" sz="2200" dirty="0"/>
          </a:p>
        </p:txBody>
      </p:sp>
      <p:sp>
        <p:nvSpPr>
          <p:cNvPr id="8" name="card"/>
          <p:cNvSpPr/>
          <p:nvPr/>
        </p:nvSpPr>
        <p:spPr>
          <a:xfrm>
            <a:off x="4572000" y="2514600"/>
            <a:ext cx="4069080" cy="960120"/>
          </a:xfrm>
          <a:prstGeom prst="roundRect">
            <a:avLst>
              <a:gd name="adj" fmla="val 17143"/>
            </a:avLst>
          </a:prstGeom>
          <a:solidFill>
            <a:srgbClr val="FFF4E6"/>
          </a:solidFill>
          <a:ln w="31750">
            <a:solidFill>
              <a:srgbClr val="F7941D"/>
            </a:solidFill>
            <a:prstDash val="solid"/>
          </a:ln>
          <a:effectLst>
            <a:outerShdw blurRad="76200" dist="25400" dir="5400000" algn="bl" rotWithShape="0">
              <a:srgbClr val="5B2C83">
                <a:alpha val="18000"/>
              </a:srgbClr>
            </a:outerShdw>
          </a:effectLst>
        </p:spPr>
        <p:txBody>
          <a:bodyPr/>
          <a:lstStyle/>
          <a:p>
            <a:endParaRPr lang="ar-OM"/>
          </a:p>
        </p:txBody>
      </p:sp>
      <p:sp>
        <p:nvSpPr>
          <p:cNvPr id="9" name="def2"/>
          <p:cNvSpPr txBox="1"/>
          <p:nvPr/>
        </p:nvSpPr>
        <p:spPr>
          <a:xfrm>
            <a:off x="4709160" y="256032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OM" altLang="en-US" sz="2200" b="1" dirty="0">
                <a:solidFill>
                  <a:srgbClr val="2D1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تنشأ الصورة من تجمّع وحدات البكسل</a:t>
            </a:r>
            <a:endParaRPr lang="ar-OM" sz="2200" dirty="0"/>
          </a:p>
        </p:txBody>
      </p:sp>
      <p:pic>
        <p:nvPicPr>
          <p:cNvPr id="10" name="monitor" descr="img/pixel_monitor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02920" y="1234440"/>
            <a:ext cx="3566160" cy="2743200"/>
          </a:xfrm>
          <a:prstGeom prst="rect">
            <a:avLst/>
          </a:prstGeom>
        </p:spPr>
      </p:pic>
      <p:pic>
        <p:nvPicPr>
          <p:cNvPr id="11" name="zoom" descr="img/zoom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154680" y="2834640"/>
            <a:ext cx="1737360" cy="1737360"/>
          </a:xfrm>
          <a:prstGeom prst="rect">
            <a:avLst/>
          </a:prstGeom>
        </p:spPr>
      </p:pic>
      <p:sp>
        <p:nvSpPr>
          <p:cNvPr id="12" name="hint"/>
          <p:cNvSpPr txBox="1"/>
          <p:nvPr/>
        </p:nvSpPr>
        <p:spPr>
          <a:xfrm>
            <a:off x="4480560" y="37033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OM" altLang="en-US" sz="1600" b="1" dirty="0">
                <a:solidFill>
                  <a:srgbClr val="29B6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عند تكبير الرسمة نرى مربعات صغيرة!</a:t>
            </a:r>
            <a:endParaRPr lang="ar-OM" sz="1600" dirty="0"/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icon-bg"/>
          <p:cNvSpPr/>
          <p:nvPr/>
        </p:nvSpPr>
        <p:spPr>
          <a:xfrm>
            <a:off x="8001000" y="228600"/>
            <a:ext cx="658368" cy="658368"/>
          </a:xfrm>
          <a:prstGeom prst="ellipse">
            <a:avLst/>
          </a:prstGeom>
          <a:solidFill>
            <a:srgbClr val="29B6D1"/>
          </a:solidFill>
          <a:ln/>
        </p:spPr>
        <p:txBody>
          <a:bodyPr/>
          <a:lstStyle/>
          <a:p>
            <a:endParaRPr lang="ar-OM"/>
          </a:p>
        </p:txBody>
      </p:sp>
      <p:pic>
        <p:nvPicPr>
          <p:cNvPr id="3" name="title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592" y="393192"/>
            <a:ext cx="329184" cy="329184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1280160" y="201168"/>
            <a:ext cx="6583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OM" altLang="en-US" sz="3000" b="1" dirty="0">
                <a:solidFill>
                  <a:srgbClr val="5B2C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كلّ شاشة تتكوّن من بكسلات</a:t>
            </a:r>
            <a:endParaRPr lang="ar-OM" sz="3000" dirty="0"/>
          </a:p>
        </p:txBody>
      </p:sp>
      <p:sp>
        <p:nvSpPr>
          <p:cNvPr id="5" name="subtitle"/>
          <p:cNvSpPr txBox="1"/>
          <p:nvPr/>
        </p:nvSpPr>
        <p:spPr>
          <a:xfrm>
            <a:off x="1280160" y="84124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OM" altLang="en-US" sz="1600" b="1" dirty="0">
                <a:solidFill>
                  <a:srgbClr val="29B6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الهدف الثالث</a:t>
            </a:r>
            <a:endParaRPr lang="ar-OM" sz="1600" dirty="0"/>
          </a:p>
        </p:txBody>
      </p:sp>
      <p:sp>
        <p:nvSpPr>
          <p:cNvPr id="6" name="card"/>
          <p:cNvSpPr/>
          <p:nvPr/>
        </p:nvSpPr>
        <p:spPr>
          <a:xfrm>
            <a:off x="822960" y="1417320"/>
            <a:ext cx="7498080" cy="2148840"/>
          </a:xfrm>
          <a:prstGeom prst="roundRect">
            <a:avLst>
              <a:gd name="adj" fmla="val 7660"/>
            </a:avLst>
          </a:prstGeom>
          <a:solidFill>
            <a:srgbClr val="FFFFFF"/>
          </a:solidFill>
          <a:ln w="31750">
            <a:solidFill>
              <a:srgbClr val="29B6D1"/>
            </a:solidFill>
            <a:prstDash val="solid"/>
          </a:ln>
          <a:effectLst>
            <a:outerShdw blurRad="76200" dist="25400" dir="5400000" algn="bl" rotWithShape="0">
              <a:srgbClr val="5B2C83">
                <a:alpha val="18000"/>
              </a:srgbClr>
            </a:outerShdw>
          </a:effectLst>
        </p:spPr>
        <p:txBody>
          <a:bodyPr/>
          <a:lstStyle/>
          <a:p>
            <a:endParaRPr lang="ar-OM"/>
          </a:p>
        </p:txBody>
      </p:sp>
      <p:pic>
        <p:nvPicPr>
          <p:cNvPr id="7" name="devices" descr="img/device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97280" y="1554480"/>
            <a:ext cx="6949440" cy="1874520"/>
          </a:xfrm>
          <a:prstGeom prst="rect">
            <a:avLst/>
          </a:prstGeom>
        </p:spPr>
      </p:pic>
      <p:sp>
        <p:nvSpPr>
          <p:cNvPr id="8" name="pill"/>
          <p:cNvSpPr/>
          <p:nvPr/>
        </p:nvSpPr>
        <p:spPr>
          <a:xfrm>
            <a:off x="6126480" y="374904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7AC143"/>
          </a:solidFill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OM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الجهاز اللوحي</a:t>
            </a:r>
            <a:endParaRPr lang="ar-OM" sz="1600" dirty="0"/>
          </a:p>
        </p:txBody>
      </p:sp>
      <p:sp>
        <p:nvSpPr>
          <p:cNvPr id="9" name="pill"/>
          <p:cNvSpPr/>
          <p:nvPr/>
        </p:nvSpPr>
        <p:spPr>
          <a:xfrm>
            <a:off x="3657600" y="374904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F7941D"/>
          </a:solidFill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OM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الهاتف</a:t>
            </a:r>
            <a:endParaRPr lang="ar-OM" sz="1600" dirty="0"/>
          </a:p>
        </p:txBody>
      </p:sp>
      <p:sp>
        <p:nvSpPr>
          <p:cNvPr id="10" name="pill"/>
          <p:cNvSpPr/>
          <p:nvPr/>
        </p:nvSpPr>
        <p:spPr>
          <a:xfrm>
            <a:off x="1188720" y="374904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EC4C8C"/>
          </a:solidFill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OM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جهاز الألعاب</a:t>
            </a:r>
            <a:endParaRPr lang="ar-OM" sz="1600" dirty="0"/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icon-bg"/>
          <p:cNvSpPr/>
          <p:nvPr/>
        </p:nvSpPr>
        <p:spPr>
          <a:xfrm>
            <a:off x="8001000" y="228600"/>
            <a:ext cx="658368" cy="658368"/>
          </a:xfrm>
          <a:prstGeom prst="ellipse">
            <a:avLst/>
          </a:prstGeom>
          <a:solidFill>
            <a:srgbClr val="29B6D1"/>
          </a:solidFill>
          <a:ln/>
        </p:spPr>
        <p:txBody>
          <a:bodyPr/>
          <a:lstStyle/>
          <a:p>
            <a:endParaRPr lang="ar-OM"/>
          </a:p>
        </p:txBody>
      </p:sp>
      <p:pic>
        <p:nvPicPr>
          <p:cNvPr id="3" name="title-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5592" y="393192"/>
            <a:ext cx="329184" cy="329184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1280160" y="201168"/>
            <a:ext cx="6583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OM" altLang="en-US" sz="3000" b="1" dirty="0">
                <a:solidFill>
                  <a:srgbClr val="5B2C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شاهد: ماذا نرى عندما نُكبّر الصورة؟</a:t>
            </a:r>
            <a:endParaRPr lang="ar-OM" sz="3000" dirty="0"/>
          </a:p>
        </p:txBody>
      </p:sp>
      <p:sp>
        <p:nvSpPr>
          <p:cNvPr id="5" name="subtitle"/>
          <p:cNvSpPr txBox="1"/>
          <p:nvPr/>
        </p:nvSpPr>
        <p:spPr>
          <a:xfrm>
            <a:off x="1280160" y="84124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OM" altLang="en-US" sz="1600" b="1" dirty="0">
                <a:solidFill>
                  <a:srgbClr val="29B6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شاهد المقطع بانتباه ثم أجب عن السؤال</a:t>
            </a:r>
            <a:endParaRPr lang="ar-OM" sz="1600" dirty="0"/>
          </a:p>
        </p:txBody>
      </p:sp>
      <p:sp>
        <p:nvSpPr>
          <p:cNvPr id="6" name="video-frame"/>
          <p:cNvSpPr/>
          <p:nvPr/>
        </p:nvSpPr>
        <p:spPr>
          <a:xfrm>
            <a:off x="1481328" y="1353312"/>
            <a:ext cx="6181344" cy="3310128"/>
          </a:xfrm>
          <a:prstGeom prst="roundRect">
            <a:avLst>
              <a:gd name="adj" fmla="val 3315"/>
            </a:avLst>
          </a:prstGeom>
          <a:solidFill>
            <a:srgbClr val="29B6D1"/>
          </a:solidFill>
          <a:ln/>
        </p:spPr>
        <p:txBody>
          <a:bodyPr/>
          <a:lstStyle/>
          <a:p>
            <a:endParaRPr lang="ar-OM"/>
          </a:p>
        </p:txBody>
      </p:sp>
      <p:pic>
        <p:nvPicPr>
          <p:cNvPr id="7" name="video3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600200" y="1463040"/>
            <a:ext cx="5943600" cy="3072384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icon-bg"/>
          <p:cNvSpPr/>
          <p:nvPr/>
        </p:nvSpPr>
        <p:spPr>
          <a:xfrm>
            <a:off x="8001000" y="228600"/>
            <a:ext cx="658368" cy="658368"/>
          </a:xfrm>
          <a:prstGeom prst="ellipse">
            <a:avLst/>
          </a:prstGeom>
          <a:solidFill>
            <a:srgbClr val="29B6D1"/>
          </a:solidFill>
          <a:ln/>
        </p:spPr>
        <p:txBody>
          <a:bodyPr/>
          <a:lstStyle/>
          <a:p>
            <a:endParaRPr lang="ar-OM"/>
          </a:p>
        </p:txBody>
      </p:sp>
      <p:pic>
        <p:nvPicPr>
          <p:cNvPr id="3" name="title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592" y="393192"/>
            <a:ext cx="329184" cy="329184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1280160" y="201168"/>
            <a:ext cx="6583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OM" altLang="en-US" sz="3000" b="1" dirty="0">
                <a:solidFill>
                  <a:srgbClr val="5B2C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سؤال الهدف الثالث</a:t>
            </a:r>
            <a:endParaRPr lang="ar-OM" sz="3000" dirty="0"/>
          </a:p>
        </p:txBody>
      </p:sp>
      <p:sp>
        <p:nvSpPr>
          <p:cNvPr id="5" name="question"/>
          <p:cNvSpPr/>
          <p:nvPr/>
        </p:nvSpPr>
        <p:spPr>
          <a:xfrm>
            <a:off x="640080" y="1234440"/>
            <a:ext cx="7315200" cy="822960"/>
          </a:xfrm>
          <a:prstGeom prst="roundRect">
            <a:avLst>
              <a:gd name="adj" fmla="val 22222"/>
            </a:avLst>
          </a:prstGeom>
          <a:solidFill>
            <a:srgbClr val="F1ECFA"/>
          </a:solidFill>
          <a:ln w="25400">
            <a:solidFill>
              <a:srgbClr val="5B2C83"/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 rtl="1">
              <a:buNone/>
            </a:pPr>
            <a:r>
              <a:rPr lang="ar-OM" altLang="en-US" sz="2800" b="1" dirty="0">
                <a:solidFill>
                  <a:srgbClr val="5B2C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شكل البكسل؟</a:t>
            </a:r>
            <a:endParaRPr lang="ar-OM" sz="2800" dirty="0"/>
          </a:p>
        </p:txBody>
      </p:sp>
      <p:sp>
        <p:nvSpPr>
          <p:cNvPr id="6" name="q-badge"/>
          <p:cNvSpPr/>
          <p:nvPr/>
        </p:nvSpPr>
        <p:spPr>
          <a:xfrm>
            <a:off x="8092440" y="1280160"/>
            <a:ext cx="731520" cy="731520"/>
          </a:xfrm>
          <a:prstGeom prst="ellipse">
            <a:avLst/>
          </a:prstGeom>
          <a:solidFill>
            <a:srgbClr val="F7941D"/>
          </a:solidFill>
          <a:ln/>
        </p:spPr>
        <p:txBody>
          <a:bodyPr/>
          <a:lstStyle/>
          <a:p>
            <a:endParaRPr lang="ar-OM"/>
          </a:p>
        </p:txBody>
      </p:sp>
      <p:pic>
        <p:nvPicPr>
          <p:cNvPr id="7" name="q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1481328"/>
            <a:ext cx="329184" cy="329184"/>
          </a:xfrm>
          <a:prstGeom prst="rect">
            <a:avLst/>
          </a:prstGeom>
        </p:spPr>
      </p:pic>
      <p:sp>
        <p:nvSpPr>
          <p:cNvPr id="8" name="card"/>
          <p:cNvSpPr/>
          <p:nvPr/>
        </p:nvSpPr>
        <p:spPr>
          <a:xfrm>
            <a:off x="6080760" y="2377440"/>
            <a:ext cx="2194560" cy="2148840"/>
          </a:xfrm>
          <a:prstGeom prst="roundRect">
            <a:avLst>
              <a:gd name="adj" fmla="val 7660"/>
            </a:avLst>
          </a:prstGeom>
          <a:solidFill>
            <a:srgbClr val="FFFFFF"/>
          </a:solidFill>
          <a:ln w="31750">
            <a:solidFill>
              <a:srgbClr val="29B6D1"/>
            </a:solidFill>
            <a:prstDash val="solid"/>
          </a:ln>
          <a:effectLst>
            <a:outerShdw blurRad="76200" dist="25400" dir="5400000" algn="bl" rotWithShape="0">
              <a:srgbClr val="5B2C83">
                <a:alpha val="18000"/>
              </a:srgbClr>
            </a:outerShdw>
          </a:effectLst>
        </p:spPr>
        <p:txBody>
          <a:bodyPr/>
          <a:lstStyle/>
          <a:p>
            <a:endParaRPr lang="ar-OM"/>
          </a:p>
        </p:txBody>
      </p:sp>
      <p:sp>
        <p:nvSpPr>
          <p:cNvPr id="9" name="shape"/>
          <p:cNvSpPr/>
          <p:nvPr/>
        </p:nvSpPr>
        <p:spPr>
          <a:xfrm>
            <a:off x="6675120" y="2606040"/>
            <a:ext cx="1005840" cy="1005840"/>
          </a:xfrm>
          <a:prstGeom prst="rect">
            <a:avLst/>
          </a:prstGeom>
          <a:solidFill>
            <a:srgbClr val="29B6D1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10" name="pill"/>
          <p:cNvSpPr/>
          <p:nvPr/>
        </p:nvSpPr>
        <p:spPr>
          <a:xfrm>
            <a:off x="6309360" y="3840480"/>
            <a:ext cx="1737360" cy="502920"/>
          </a:xfrm>
          <a:prstGeom prst="roundRect">
            <a:avLst>
              <a:gd name="adj" fmla="val 50000"/>
            </a:avLst>
          </a:prstGeom>
          <a:solidFill>
            <a:srgbClr val="29B6D1"/>
          </a:solidFill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OM" alt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مربّع</a:t>
            </a:r>
            <a:endParaRPr lang="ar-OM" sz="2000" dirty="0"/>
          </a:p>
        </p:txBody>
      </p:sp>
      <p:pic>
        <p:nvPicPr>
          <p:cNvPr id="11" name="ANS_OK_q3" descr="إجابة صحيحة">
            <a:hlinkClick r:id="rId4" action="ppaction://hlinksldjump" tooltip=" ">
              <a:snd r:embed="rId5" name="correct.wav"/>
            </a:hlinkClick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0760" y="2377440"/>
            <a:ext cx="2194560" cy="2148840"/>
          </a:xfrm>
          <a:prstGeom prst="rect">
            <a:avLst/>
          </a:prstGeom>
        </p:spPr>
      </p:pic>
      <p:sp>
        <p:nvSpPr>
          <p:cNvPr id="12" name="card"/>
          <p:cNvSpPr/>
          <p:nvPr/>
        </p:nvSpPr>
        <p:spPr>
          <a:xfrm>
            <a:off x="3474720" y="2377440"/>
            <a:ext cx="2194560" cy="2148840"/>
          </a:xfrm>
          <a:prstGeom prst="roundRect">
            <a:avLst>
              <a:gd name="adj" fmla="val 7660"/>
            </a:avLst>
          </a:prstGeom>
          <a:solidFill>
            <a:srgbClr val="FFFFFF"/>
          </a:solidFill>
          <a:ln w="31750">
            <a:solidFill>
              <a:srgbClr val="EC4C8C"/>
            </a:solidFill>
            <a:prstDash val="solid"/>
          </a:ln>
          <a:effectLst>
            <a:outerShdw blurRad="76200" dist="25400" dir="5400000" algn="bl" rotWithShape="0">
              <a:srgbClr val="5B2C83">
                <a:alpha val="18000"/>
              </a:srgbClr>
            </a:outerShdw>
          </a:effectLst>
        </p:spPr>
        <p:txBody>
          <a:bodyPr/>
          <a:lstStyle/>
          <a:p>
            <a:endParaRPr lang="ar-OM"/>
          </a:p>
        </p:txBody>
      </p:sp>
      <p:sp>
        <p:nvSpPr>
          <p:cNvPr id="13" name="shape"/>
          <p:cNvSpPr/>
          <p:nvPr/>
        </p:nvSpPr>
        <p:spPr>
          <a:xfrm>
            <a:off x="4069080" y="2606040"/>
            <a:ext cx="1005840" cy="1005840"/>
          </a:xfrm>
          <a:prstGeom prst="ellipse">
            <a:avLst/>
          </a:prstGeom>
          <a:solidFill>
            <a:srgbClr val="EC4C8C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14" name="pill"/>
          <p:cNvSpPr/>
          <p:nvPr/>
        </p:nvSpPr>
        <p:spPr>
          <a:xfrm>
            <a:off x="3703320" y="3840480"/>
            <a:ext cx="1737360" cy="502920"/>
          </a:xfrm>
          <a:prstGeom prst="roundRect">
            <a:avLst>
              <a:gd name="adj" fmla="val 50000"/>
            </a:avLst>
          </a:prstGeom>
          <a:solidFill>
            <a:srgbClr val="EC4C8C"/>
          </a:solidFill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OM" alt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دائرة</a:t>
            </a:r>
            <a:endParaRPr lang="ar-OM" sz="2000" dirty="0"/>
          </a:p>
        </p:txBody>
      </p:sp>
      <p:pic>
        <p:nvPicPr>
          <p:cNvPr id="15" name="ANS_NO_q3" descr="إجابة خاطئة">
            <a:hlinkClick r:id="rId7" action="ppaction://hlinksldjump" tooltip=" ">
              <a:snd r:embed="rId8" name="wrong.wav"/>
            </a:hlinkClick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4720" y="2377440"/>
            <a:ext cx="2194560" cy="2148840"/>
          </a:xfrm>
          <a:prstGeom prst="rect">
            <a:avLst/>
          </a:prstGeom>
        </p:spPr>
      </p:pic>
      <p:sp>
        <p:nvSpPr>
          <p:cNvPr id="16" name="card"/>
          <p:cNvSpPr/>
          <p:nvPr/>
        </p:nvSpPr>
        <p:spPr>
          <a:xfrm>
            <a:off x="868680" y="2377440"/>
            <a:ext cx="2194560" cy="2148840"/>
          </a:xfrm>
          <a:prstGeom prst="roundRect">
            <a:avLst>
              <a:gd name="adj" fmla="val 7660"/>
            </a:avLst>
          </a:prstGeom>
          <a:solidFill>
            <a:srgbClr val="FFFFFF"/>
          </a:solidFill>
          <a:ln w="31750">
            <a:solidFill>
              <a:srgbClr val="7AC143"/>
            </a:solidFill>
            <a:prstDash val="solid"/>
          </a:ln>
          <a:effectLst>
            <a:outerShdw blurRad="76200" dist="25400" dir="5400000" algn="bl" rotWithShape="0">
              <a:srgbClr val="5B2C83">
                <a:alpha val="18000"/>
              </a:srgbClr>
            </a:outerShdw>
          </a:effectLst>
        </p:spPr>
        <p:txBody>
          <a:bodyPr/>
          <a:lstStyle/>
          <a:p>
            <a:endParaRPr lang="ar-OM"/>
          </a:p>
        </p:txBody>
      </p:sp>
      <p:sp>
        <p:nvSpPr>
          <p:cNvPr id="17" name="shape"/>
          <p:cNvSpPr/>
          <p:nvPr/>
        </p:nvSpPr>
        <p:spPr>
          <a:xfrm>
            <a:off x="1463040" y="2606040"/>
            <a:ext cx="1005840" cy="1005840"/>
          </a:xfrm>
          <a:prstGeom prst="triangle">
            <a:avLst/>
          </a:prstGeom>
          <a:solidFill>
            <a:srgbClr val="7AC143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18" name="pill"/>
          <p:cNvSpPr/>
          <p:nvPr/>
        </p:nvSpPr>
        <p:spPr>
          <a:xfrm>
            <a:off x="1097280" y="3840480"/>
            <a:ext cx="1737360" cy="502920"/>
          </a:xfrm>
          <a:prstGeom prst="roundRect">
            <a:avLst>
              <a:gd name="adj" fmla="val 50000"/>
            </a:avLst>
          </a:prstGeom>
          <a:solidFill>
            <a:srgbClr val="7AC143"/>
          </a:solidFill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OM" alt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مثلث</a:t>
            </a:r>
            <a:endParaRPr lang="ar-OM" sz="2000" dirty="0"/>
          </a:p>
        </p:txBody>
      </p:sp>
      <p:pic>
        <p:nvPicPr>
          <p:cNvPr id="19" name="ANS_NO_q3" descr="إجابة خاطئة">
            <a:hlinkClick r:id="rId7" action="ppaction://hlinksldjump" tooltip=" ">
              <a:snd r:embed="rId8" name="wrong.wav"/>
            </a:hlinkClick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377440"/>
            <a:ext cx="2194560" cy="2148840"/>
          </a:xfrm>
          <a:prstGeom prst="rect">
            <a:avLst/>
          </a:prstGeom>
        </p:spPr>
      </p:pic>
    </p:spTree>
  </p:cSld>
  <p:clrMapOvr>
    <a:masterClrMapping/>
  </p:clrMapOvr>
  <p:transition spd="med" advClick="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icon-bg"/>
          <p:cNvSpPr/>
          <p:nvPr/>
        </p:nvSpPr>
        <p:spPr>
          <a:xfrm>
            <a:off x="8001000" y="228600"/>
            <a:ext cx="658368" cy="658368"/>
          </a:xfrm>
          <a:prstGeom prst="ellipse">
            <a:avLst/>
          </a:prstGeom>
          <a:solidFill>
            <a:srgbClr val="EC4C8C"/>
          </a:solidFill>
          <a:ln/>
        </p:spPr>
        <p:txBody>
          <a:bodyPr/>
          <a:lstStyle/>
          <a:p>
            <a:endParaRPr lang="ar-OM"/>
          </a:p>
        </p:txBody>
      </p:sp>
      <p:pic>
        <p:nvPicPr>
          <p:cNvPr id="3" name="title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592" y="393192"/>
            <a:ext cx="329184" cy="329184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1280160" y="201168"/>
            <a:ext cx="6583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OM" altLang="en-US" sz="3000" b="1" dirty="0">
                <a:solidFill>
                  <a:srgbClr val="5B2C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طابِقْ بِكْسِل الرّوبوتات بِأَلْوانِها</a:t>
            </a:r>
            <a:endParaRPr lang="ar-OM" sz="3000" dirty="0"/>
          </a:p>
        </p:txBody>
      </p:sp>
      <p:sp>
        <p:nvSpPr>
          <p:cNvPr id="5" name="subtitle"/>
          <p:cNvSpPr txBox="1"/>
          <p:nvPr/>
        </p:nvSpPr>
        <p:spPr>
          <a:xfrm>
            <a:off x="1280160" y="84124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OM" altLang="en-US" sz="1600" b="1" dirty="0">
                <a:solidFill>
                  <a:srgbClr val="EC4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الهدف الرابع — نشاط 1</a:t>
            </a:r>
            <a:endParaRPr lang="ar-OM" sz="1600" dirty="0"/>
          </a:p>
        </p:txBody>
      </p:sp>
      <p:sp>
        <p:nvSpPr>
          <p:cNvPr id="6" name="card"/>
          <p:cNvSpPr/>
          <p:nvPr/>
        </p:nvSpPr>
        <p:spPr>
          <a:xfrm>
            <a:off x="6035040" y="1371600"/>
            <a:ext cx="2377440" cy="210312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31750">
            <a:solidFill>
              <a:srgbClr val="29B6D1"/>
            </a:solidFill>
            <a:prstDash val="solid"/>
          </a:ln>
          <a:effectLst>
            <a:outerShdw blurRad="76200" dist="25400" dir="5400000" algn="bl" rotWithShape="0">
              <a:srgbClr val="5B2C83">
                <a:alpha val="18000"/>
              </a:srgbClr>
            </a:outerShdw>
          </a:effectLst>
        </p:spPr>
        <p:txBody>
          <a:bodyPr/>
          <a:lstStyle/>
          <a:p>
            <a:endParaRPr lang="ar-OM"/>
          </a:p>
        </p:txBody>
      </p:sp>
      <p:pic>
        <p:nvPicPr>
          <p:cNvPr id="7" name="robot_blue" descr="img/robot_blu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17920" y="1508760"/>
            <a:ext cx="2011680" cy="1828800"/>
          </a:xfrm>
          <a:prstGeom prst="rect">
            <a:avLst/>
          </a:prstGeom>
        </p:spPr>
      </p:pic>
      <p:sp>
        <p:nvSpPr>
          <p:cNvPr id="8" name="card"/>
          <p:cNvSpPr/>
          <p:nvPr/>
        </p:nvSpPr>
        <p:spPr>
          <a:xfrm>
            <a:off x="3337560" y="1371600"/>
            <a:ext cx="2377440" cy="210312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31750">
            <a:solidFill>
              <a:srgbClr val="2D1B4E"/>
            </a:solidFill>
            <a:prstDash val="solid"/>
          </a:ln>
          <a:effectLst>
            <a:outerShdw blurRad="76200" dist="25400" dir="5400000" algn="bl" rotWithShape="0">
              <a:srgbClr val="5B2C83">
                <a:alpha val="18000"/>
              </a:srgbClr>
            </a:outerShdw>
          </a:effectLst>
        </p:spPr>
        <p:txBody>
          <a:bodyPr/>
          <a:lstStyle/>
          <a:p>
            <a:endParaRPr lang="ar-OM"/>
          </a:p>
        </p:txBody>
      </p:sp>
      <p:pic>
        <p:nvPicPr>
          <p:cNvPr id="9" name="robot_black" descr="img/robot_black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520440" y="1508760"/>
            <a:ext cx="2011680" cy="1828800"/>
          </a:xfrm>
          <a:prstGeom prst="rect">
            <a:avLst/>
          </a:prstGeom>
        </p:spPr>
      </p:pic>
      <p:sp>
        <p:nvSpPr>
          <p:cNvPr id="10" name="card"/>
          <p:cNvSpPr/>
          <p:nvPr/>
        </p:nvSpPr>
        <p:spPr>
          <a:xfrm>
            <a:off x="640080" y="1371600"/>
            <a:ext cx="2377440" cy="210312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31750">
            <a:solidFill>
              <a:srgbClr val="7AC143"/>
            </a:solidFill>
            <a:prstDash val="solid"/>
          </a:ln>
          <a:effectLst>
            <a:outerShdw blurRad="76200" dist="25400" dir="5400000" algn="bl" rotWithShape="0">
              <a:srgbClr val="5B2C83">
                <a:alpha val="18000"/>
              </a:srgbClr>
            </a:outerShdw>
          </a:effectLst>
        </p:spPr>
        <p:txBody>
          <a:bodyPr/>
          <a:lstStyle/>
          <a:p>
            <a:endParaRPr lang="ar-OM"/>
          </a:p>
        </p:txBody>
      </p:sp>
      <p:pic>
        <p:nvPicPr>
          <p:cNvPr id="11" name="robot_green" descr="img/robot_green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22960" y="1508760"/>
            <a:ext cx="2011680" cy="1828800"/>
          </a:xfrm>
          <a:prstGeom prst="rect">
            <a:avLst/>
          </a:prstGeom>
        </p:spPr>
      </p:pic>
      <p:sp>
        <p:nvSpPr>
          <p:cNvPr id="12" name="color"/>
          <p:cNvSpPr/>
          <p:nvPr/>
        </p:nvSpPr>
        <p:spPr>
          <a:xfrm>
            <a:off x="7223760" y="3749040"/>
            <a:ext cx="731520" cy="731520"/>
          </a:xfrm>
          <a:prstGeom prst="ellipse">
            <a:avLst/>
          </a:prstGeom>
          <a:solidFill>
            <a:srgbClr val="29B6D1"/>
          </a:solidFill>
          <a:ln w="381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5B2C83">
                <a:alpha val="18000"/>
              </a:srgbClr>
            </a:outerShdw>
          </a:effectLst>
        </p:spPr>
        <p:txBody>
          <a:bodyPr/>
          <a:lstStyle/>
          <a:p>
            <a:endParaRPr lang="ar-OM"/>
          </a:p>
        </p:txBody>
      </p:sp>
      <p:sp>
        <p:nvSpPr>
          <p:cNvPr id="13" name="color"/>
          <p:cNvSpPr/>
          <p:nvPr/>
        </p:nvSpPr>
        <p:spPr>
          <a:xfrm>
            <a:off x="5806440" y="3749040"/>
            <a:ext cx="731520" cy="731520"/>
          </a:xfrm>
          <a:prstGeom prst="ellipse">
            <a:avLst/>
          </a:prstGeom>
          <a:solidFill>
            <a:srgbClr val="1A1A1A"/>
          </a:solidFill>
          <a:ln w="381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5B2C83">
                <a:alpha val="18000"/>
              </a:srgbClr>
            </a:outerShdw>
          </a:effectLst>
        </p:spPr>
        <p:txBody>
          <a:bodyPr/>
          <a:lstStyle/>
          <a:p>
            <a:endParaRPr lang="ar-OM"/>
          </a:p>
        </p:txBody>
      </p:sp>
      <p:sp>
        <p:nvSpPr>
          <p:cNvPr id="14" name="color"/>
          <p:cNvSpPr/>
          <p:nvPr/>
        </p:nvSpPr>
        <p:spPr>
          <a:xfrm>
            <a:off x="4389120" y="3749040"/>
            <a:ext cx="731520" cy="731520"/>
          </a:xfrm>
          <a:prstGeom prst="ellipse">
            <a:avLst/>
          </a:prstGeom>
          <a:solidFill>
            <a:srgbClr val="F07A1E"/>
          </a:solidFill>
          <a:ln w="381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5B2C83">
                <a:alpha val="18000"/>
              </a:srgbClr>
            </a:outerShdw>
          </a:effectLst>
        </p:spPr>
        <p:txBody>
          <a:bodyPr/>
          <a:lstStyle/>
          <a:p>
            <a:endParaRPr lang="ar-OM"/>
          </a:p>
        </p:txBody>
      </p:sp>
      <p:sp>
        <p:nvSpPr>
          <p:cNvPr id="15" name="color"/>
          <p:cNvSpPr/>
          <p:nvPr/>
        </p:nvSpPr>
        <p:spPr>
          <a:xfrm>
            <a:off x="2971800" y="3749040"/>
            <a:ext cx="731520" cy="731520"/>
          </a:xfrm>
          <a:prstGeom prst="ellipse">
            <a:avLst/>
          </a:prstGeom>
          <a:solidFill>
            <a:srgbClr val="B71C1C"/>
          </a:solidFill>
          <a:ln w="381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5B2C83">
                <a:alpha val="18000"/>
              </a:srgbClr>
            </a:outerShdw>
          </a:effectLst>
        </p:spPr>
        <p:txBody>
          <a:bodyPr/>
          <a:lstStyle/>
          <a:p>
            <a:endParaRPr lang="ar-OM"/>
          </a:p>
        </p:txBody>
      </p:sp>
      <p:sp>
        <p:nvSpPr>
          <p:cNvPr id="16" name="color"/>
          <p:cNvSpPr/>
          <p:nvPr/>
        </p:nvSpPr>
        <p:spPr>
          <a:xfrm>
            <a:off x="1554480" y="3749040"/>
            <a:ext cx="731520" cy="731520"/>
          </a:xfrm>
          <a:prstGeom prst="ellipse">
            <a:avLst/>
          </a:prstGeom>
          <a:solidFill>
            <a:srgbClr val="7AC143"/>
          </a:solidFill>
          <a:ln w="381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5B2C83">
                <a:alpha val="18000"/>
              </a:srgbClr>
            </a:outerShdw>
          </a:effectLst>
        </p:spPr>
        <p:txBody>
          <a:bodyPr/>
          <a:lstStyle/>
          <a:p>
            <a:endParaRPr lang="ar-OM"/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icon-bg"/>
          <p:cNvSpPr/>
          <p:nvPr/>
        </p:nvSpPr>
        <p:spPr>
          <a:xfrm>
            <a:off x="8001000" y="228600"/>
            <a:ext cx="658368" cy="658368"/>
          </a:xfrm>
          <a:prstGeom prst="ellipse">
            <a:avLst/>
          </a:prstGeom>
          <a:solidFill>
            <a:srgbClr val="EC4C8C"/>
          </a:solidFill>
          <a:ln/>
        </p:spPr>
        <p:txBody>
          <a:bodyPr/>
          <a:lstStyle/>
          <a:p>
            <a:endParaRPr lang="ar-OM"/>
          </a:p>
        </p:txBody>
      </p:sp>
      <p:pic>
        <p:nvPicPr>
          <p:cNvPr id="3" name="title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592" y="393192"/>
            <a:ext cx="329184" cy="329184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1280160" y="201168"/>
            <a:ext cx="6583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OM" altLang="en-US" sz="3000" b="1" dirty="0">
                <a:solidFill>
                  <a:srgbClr val="5B2C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سؤال الهدف الرابع</a:t>
            </a:r>
            <a:endParaRPr lang="ar-OM" sz="3000" dirty="0"/>
          </a:p>
        </p:txBody>
      </p:sp>
      <p:sp>
        <p:nvSpPr>
          <p:cNvPr id="5" name="question"/>
          <p:cNvSpPr/>
          <p:nvPr/>
        </p:nvSpPr>
        <p:spPr>
          <a:xfrm>
            <a:off x="640080" y="1188720"/>
            <a:ext cx="7315200" cy="777240"/>
          </a:xfrm>
          <a:prstGeom prst="roundRect">
            <a:avLst>
              <a:gd name="adj" fmla="val 23529"/>
            </a:avLst>
          </a:prstGeom>
          <a:solidFill>
            <a:srgbClr val="F1ECFA"/>
          </a:solidFill>
          <a:ln w="25400">
            <a:solidFill>
              <a:srgbClr val="5B2C83"/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 rtl="1">
              <a:buNone/>
            </a:pPr>
            <a:r>
              <a:rPr lang="ar-OM" altLang="en-US" sz="2800" b="1" dirty="0">
                <a:solidFill>
                  <a:srgbClr val="5B2C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لون جسم هذا الروبوت؟</a:t>
            </a:r>
            <a:endParaRPr lang="ar-OM" sz="2800" dirty="0"/>
          </a:p>
        </p:txBody>
      </p:sp>
      <p:sp>
        <p:nvSpPr>
          <p:cNvPr id="6" name="q-badge"/>
          <p:cNvSpPr/>
          <p:nvPr/>
        </p:nvSpPr>
        <p:spPr>
          <a:xfrm>
            <a:off x="8092440" y="1211580"/>
            <a:ext cx="731520" cy="731520"/>
          </a:xfrm>
          <a:prstGeom prst="ellipse">
            <a:avLst/>
          </a:prstGeom>
          <a:solidFill>
            <a:srgbClr val="F7941D"/>
          </a:solidFill>
          <a:ln/>
        </p:spPr>
        <p:txBody>
          <a:bodyPr/>
          <a:lstStyle/>
          <a:p>
            <a:endParaRPr lang="ar-OM"/>
          </a:p>
        </p:txBody>
      </p:sp>
      <p:pic>
        <p:nvPicPr>
          <p:cNvPr id="7" name="q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1412748"/>
            <a:ext cx="329184" cy="329184"/>
          </a:xfrm>
          <a:prstGeom prst="rect">
            <a:avLst/>
          </a:prstGeom>
        </p:spPr>
      </p:pic>
      <p:sp>
        <p:nvSpPr>
          <p:cNvPr id="8" name="card"/>
          <p:cNvSpPr/>
          <p:nvPr/>
        </p:nvSpPr>
        <p:spPr>
          <a:xfrm>
            <a:off x="5760720" y="2240280"/>
            <a:ext cx="2468880" cy="233172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1750">
            <a:solidFill>
              <a:srgbClr val="29B6D1"/>
            </a:solidFill>
            <a:prstDash val="solid"/>
          </a:ln>
          <a:effectLst>
            <a:outerShdw blurRad="76200" dist="25400" dir="5400000" algn="bl" rotWithShape="0">
              <a:srgbClr val="5B2C83">
                <a:alpha val="18000"/>
              </a:srgbClr>
            </a:outerShdw>
          </a:effectLst>
        </p:spPr>
        <p:txBody>
          <a:bodyPr/>
          <a:lstStyle/>
          <a:p>
            <a:endParaRPr lang="ar-OM"/>
          </a:p>
        </p:txBody>
      </p:sp>
      <p:pic>
        <p:nvPicPr>
          <p:cNvPr id="9" name="robot" descr="img/robot_blu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897880" y="2331720"/>
            <a:ext cx="2194560" cy="2148840"/>
          </a:xfrm>
          <a:prstGeom prst="rect">
            <a:avLst/>
          </a:prstGeom>
        </p:spPr>
      </p:pic>
      <p:sp>
        <p:nvSpPr>
          <p:cNvPr id="10" name="color"/>
          <p:cNvSpPr/>
          <p:nvPr/>
        </p:nvSpPr>
        <p:spPr>
          <a:xfrm>
            <a:off x="4114800" y="2377440"/>
            <a:ext cx="1234440" cy="1234440"/>
          </a:xfrm>
          <a:prstGeom prst="ellipse">
            <a:avLst/>
          </a:prstGeom>
          <a:solidFill>
            <a:srgbClr val="29B6D1"/>
          </a:solidFill>
          <a:ln w="508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5B2C83">
                <a:alpha val="18000"/>
              </a:srgbClr>
            </a:outerShdw>
          </a:effectLst>
        </p:spPr>
        <p:txBody>
          <a:bodyPr/>
          <a:lstStyle/>
          <a:p>
            <a:endParaRPr lang="ar-OM"/>
          </a:p>
        </p:txBody>
      </p:sp>
      <p:sp>
        <p:nvSpPr>
          <p:cNvPr id="11" name="color-name"/>
          <p:cNvSpPr txBox="1"/>
          <p:nvPr/>
        </p:nvSpPr>
        <p:spPr>
          <a:xfrm>
            <a:off x="4023360" y="37490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OM" altLang="en-US" sz="2000" b="1" dirty="0">
                <a:solidFill>
                  <a:srgbClr val="2D1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أزرق</a:t>
            </a:r>
            <a:endParaRPr lang="ar-OM" sz="2000" dirty="0"/>
          </a:p>
        </p:txBody>
      </p:sp>
      <p:pic>
        <p:nvPicPr>
          <p:cNvPr id="12" name="ANS_OK_q4a" descr="إجابة صحيحة">
            <a:hlinkClick r:id="rId5" action="ppaction://hlinksldjump" tooltip=" ">
              <a:snd r:embed="rId6" name="correct.wav"/>
            </a:hlinkClick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23360" y="2377440"/>
            <a:ext cx="1417320" cy="1828800"/>
          </a:xfrm>
          <a:prstGeom prst="rect">
            <a:avLst/>
          </a:prstGeom>
        </p:spPr>
      </p:pic>
      <p:sp>
        <p:nvSpPr>
          <p:cNvPr id="13" name="color"/>
          <p:cNvSpPr/>
          <p:nvPr/>
        </p:nvSpPr>
        <p:spPr>
          <a:xfrm>
            <a:off x="2514600" y="2377440"/>
            <a:ext cx="1234440" cy="1234440"/>
          </a:xfrm>
          <a:prstGeom prst="ellipse">
            <a:avLst/>
          </a:prstGeom>
          <a:solidFill>
            <a:srgbClr val="E53935"/>
          </a:solidFill>
          <a:ln w="508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5B2C83">
                <a:alpha val="18000"/>
              </a:srgbClr>
            </a:outerShdw>
          </a:effectLst>
        </p:spPr>
        <p:txBody>
          <a:bodyPr/>
          <a:lstStyle/>
          <a:p>
            <a:endParaRPr lang="ar-OM"/>
          </a:p>
        </p:txBody>
      </p:sp>
      <p:sp>
        <p:nvSpPr>
          <p:cNvPr id="14" name="color-name"/>
          <p:cNvSpPr txBox="1"/>
          <p:nvPr/>
        </p:nvSpPr>
        <p:spPr>
          <a:xfrm>
            <a:off x="2423160" y="37490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OM" altLang="en-US" sz="2000" b="1" dirty="0">
                <a:solidFill>
                  <a:srgbClr val="2D1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أحمر</a:t>
            </a:r>
            <a:endParaRPr lang="ar-OM" sz="2000" dirty="0"/>
          </a:p>
        </p:txBody>
      </p:sp>
      <p:pic>
        <p:nvPicPr>
          <p:cNvPr id="15" name="ANS_NO_q4a" descr="إجابة خاطئة">
            <a:hlinkClick r:id="rId8" action="ppaction://hlinksldjump" tooltip=" ">
              <a:snd r:embed="rId9" name="wrong.wav"/>
            </a:hlinkClick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23160" y="2377440"/>
            <a:ext cx="1417320" cy="1828800"/>
          </a:xfrm>
          <a:prstGeom prst="rect">
            <a:avLst/>
          </a:prstGeom>
        </p:spPr>
      </p:pic>
      <p:sp>
        <p:nvSpPr>
          <p:cNvPr id="16" name="color"/>
          <p:cNvSpPr/>
          <p:nvPr/>
        </p:nvSpPr>
        <p:spPr>
          <a:xfrm>
            <a:off x="914400" y="2377440"/>
            <a:ext cx="1234440" cy="1234440"/>
          </a:xfrm>
          <a:prstGeom prst="ellipse">
            <a:avLst/>
          </a:prstGeom>
          <a:solidFill>
            <a:srgbClr val="7AC143"/>
          </a:solidFill>
          <a:ln w="508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5B2C83">
                <a:alpha val="18000"/>
              </a:srgbClr>
            </a:outerShdw>
          </a:effectLst>
        </p:spPr>
        <p:txBody>
          <a:bodyPr/>
          <a:lstStyle/>
          <a:p>
            <a:endParaRPr lang="ar-OM"/>
          </a:p>
        </p:txBody>
      </p:sp>
      <p:sp>
        <p:nvSpPr>
          <p:cNvPr id="17" name="color-name"/>
          <p:cNvSpPr txBox="1"/>
          <p:nvPr/>
        </p:nvSpPr>
        <p:spPr>
          <a:xfrm>
            <a:off x="822960" y="37490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OM" altLang="en-US" sz="2000" b="1" dirty="0">
                <a:solidFill>
                  <a:srgbClr val="2D1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أخضر</a:t>
            </a:r>
            <a:endParaRPr lang="ar-OM" sz="2000" dirty="0"/>
          </a:p>
        </p:txBody>
      </p:sp>
      <p:pic>
        <p:nvPicPr>
          <p:cNvPr id="18" name="ANS_NO_q4a" descr="إجابة خاطئة">
            <a:hlinkClick r:id="rId8" action="ppaction://hlinksldjump" tooltip=" ">
              <a:snd r:embed="rId9" name="wrong.wav"/>
            </a:hlinkClick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2377440"/>
            <a:ext cx="1417320" cy="1828800"/>
          </a:xfrm>
          <a:prstGeom prst="rect">
            <a:avLst/>
          </a:prstGeom>
        </p:spPr>
      </p:pic>
    </p:spTree>
  </p:cSld>
  <p:clrMapOvr>
    <a:masterClrMapping/>
  </p:clrMapOvr>
  <p:transition spd="med" advClick="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icon-bg"/>
          <p:cNvSpPr/>
          <p:nvPr/>
        </p:nvSpPr>
        <p:spPr>
          <a:xfrm>
            <a:off x="8001000" y="228600"/>
            <a:ext cx="658368" cy="658368"/>
          </a:xfrm>
          <a:prstGeom prst="ellipse">
            <a:avLst/>
          </a:prstGeom>
          <a:solidFill>
            <a:srgbClr val="EC4C8C"/>
          </a:solidFill>
          <a:ln/>
        </p:spPr>
        <p:txBody>
          <a:bodyPr/>
          <a:lstStyle/>
          <a:p>
            <a:endParaRPr lang="ar-OM"/>
          </a:p>
        </p:txBody>
      </p:sp>
      <p:pic>
        <p:nvPicPr>
          <p:cNvPr id="3" name="title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592" y="393192"/>
            <a:ext cx="329184" cy="329184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1280160" y="201168"/>
            <a:ext cx="6583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OM" altLang="en-US" sz="3000" b="1" dirty="0">
                <a:solidFill>
                  <a:srgbClr val="5B2C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سؤال الهدف الرابع</a:t>
            </a:r>
            <a:endParaRPr lang="ar-OM" sz="3000" dirty="0"/>
          </a:p>
        </p:txBody>
      </p:sp>
      <p:sp>
        <p:nvSpPr>
          <p:cNvPr id="5" name="question"/>
          <p:cNvSpPr/>
          <p:nvPr/>
        </p:nvSpPr>
        <p:spPr>
          <a:xfrm>
            <a:off x="640080" y="1188720"/>
            <a:ext cx="7315200" cy="777240"/>
          </a:xfrm>
          <a:prstGeom prst="roundRect">
            <a:avLst>
              <a:gd name="adj" fmla="val 23529"/>
            </a:avLst>
          </a:prstGeom>
          <a:solidFill>
            <a:srgbClr val="F1ECFA"/>
          </a:solidFill>
          <a:ln w="25400">
            <a:solidFill>
              <a:srgbClr val="5B2C83"/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 rtl="1">
              <a:buNone/>
            </a:pPr>
            <a:r>
              <a:rPr lang="ar-OM" altLang="en-US" sz="2800" b="1" dirty="0">
                <a:solidFill>
                  <a:srgbClr val="5B2C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لون قدمَي هذا الروبوت؟</a:t>
            </a:r>
            <a:endParaRPr lang="ar-OM" sz="2800" dirty="0"/>
          </a:p>
        </p:txBody>
      </p:sp>
      <p:sp>
        <p:nvSpPr>
          <p:cNvPr id="6" name="q-badge"/>
          <p:cNvSpPr/>
          <p:nvPr/>
        </p:nvSpPr>
        <p:spPr>
          <a:xfrm>
            <a:off x="8092440" y="1211580"/>
            <a:ext cx="731520" cy="731520"/>
          </a:xfrm>
          <a:prstGeom prst="ellipse">
            <a:avLst/>
          </a:prstGeom>
          <a:solidFill>
            <a:srgbClr val="F7941D"/>
          </a:solidFill>
          <a:ln/>
        </p:spPr>
        <p:txBody>
          <a:bodyPr/>
          <a:lstStyle/>
          <a:p>
            <a:endParaRPr lang="ar-OM"/>
          </a:p>
        </p:txBody>
      </p:sp>
      <p:pic>
        <p:nvPicPr>
          <p:cNvPr id="7" name="q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1412748"/>
            <a:ext cx="329184" cy="329184"/>
          </a:xfrm>
          <a:prstGeom prst="rect">
            <a:avLst/>
          </a:prstGeom>
        </p:spPr>
      </p:pic>
      <p:sp>
        <p:nvSpPr>
          <p:cNvPr id="8" name="card"/>
          <p:cNvSpPr/>
          <p:nvPr/>
        </p:nvSpPr>
        <p:spPr>
          <a:xfrm>
            <a:off x="5760720" y="2240280"/>
            <a:ext cx="2468880" cy="233172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1750">
            <a:solidFill>
              <a:srgbClr val="2D1B4E"/>
            </a:solidFill>
            <a:prstDash val="solid"/>
          </a:ln>
          <a:effectLst>
            <a:outerShdw blurRad="76200" dist="25400" dir="5400000" algn="bl" rotWithShape="0">
              <a:srgbClr val="5B2C83">
                <a:alpha val="18000"/>
              </a:srgbClr>
            </a:outerShdw>
          </a:effectLst>
        </p:spPr>
        <p:txBody>
          <a:bodyPr/>
          <a:lstStyle/>
          <a:p>
            <a:endParaRPr lang="ar-OM"/>
          </a:p>
        </p:txBody>
      </p:sp>
      <p:pic>
        <p:nvPicPr>
          <p:cNvPr id="9" name="robot" descr="img/robot_black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897880" y="2331720"/>
            <a:ext cx="2194560" cy="2148840"/>
          </a:xfrm>
          <a:prstGeom prst="rect">
            <a:avLst/>
          </a:prstGeom>
        </p:spPr>
      </p:pic>
      <p:sp>
        <p:nvSpPr>
          <p:cNvPr id="10" name="color"/>
          <p:cNvSpPr/>
          <p:nvPr/>
        </p:nvSpPr>
        <p:spPr>
          <a:xfrm>
            <a:off x="4114800" y="2377440"/>
            <a:ext cx="1234440" cy="1234440"/>
          </a:xfrm>
          <a:prstGeom prst="ellipse">
            <a:avLst/>
          </a:prstGeom>
          <a:solidFill>
            <a:srgbClr val="F07A1E"/>
          </a:solidFill>
          <a:ln w="508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5B2C83">
                <a:alpha val="18000"/>
              </a:srgbClr>
            </a:outerShdw>
          </a:effectLst>
        </p:spPr>
        <p:txBody>
          <a:bodyPr/>
          <a:lstStyle/>
          <a:p>
            <a:endParaRPr lang="ar-OM"/>
          </a:p>
        </p:txBody>
      </p:sp>
      <p:sp>
        <p:nvSpPr>
          <p:cNvPr id="11" name="color-name"/>
          <p:cNvSpPr txBox="1"/>
          <p:nvPr/>
        </p:nvSpPr>
        <p:spPr>
          <a:xfrm>
            <a:off x="4023360" y="37490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OM" altLang="en-US" sz="2000" b="1" dirty="0">
                <a:solidFill>
                  <a:srgbClr val="2D1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برتقالي</a:t>
            </a:r>
            <a:endParaRPr lang="ar-OM" sz="2000" dirty="0"/>
          </a:p>
        </p:txBody>
      </p:sp>
      <p:pic>
        <p:nvPicPr>
          <p:cNvPr id="12" name="ANS_NO_q4b" descr="إجابة خاطئة">
            <a:hlinkClick r:id="rId5" action="ppaction://hlinksldjump" tooltip=" ">
              <a:snd r:embed="rId6" name="wrong.wav"/>
            </a:hlinkClick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23360" y="2377440"/>
            <a:ext cx="1417320" cy="1828800"/>
          </a:xfrm>
          <a:prstGeom prst="rect">
            <a:avLst/>
          </a:prstGeom>
        </p:spPr>
      </p:pic>
      <p:sp>
        <p:nvSpPr>
          <p:cNvPr id="13" name="color"/>
          <p:cNvSpPr/>
          <p:nvPr/>
        </p:nvSpPr>
        <p:spPr>
          <a:xfrm>
            <a:off x="2514600" y="2377440"/>
            <a:ext cx="1234440" cy="1234440"/>
          </a:xfrm>
          <a:prstGeom prst="ellipse">
            <a:avLst/>
          </a:prstGeom>
          <a:solidFill>
            <a:srgbClr val="B71C1C"/>
          </a:solidFill>
          <a:ln w="508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5B2C83">
                <a:alpha val="18000"/>
              </a:srgbClr>
            </a:outerShdw>
          </a:effectLst>
        </p:spPr>
        <p:txBody>
          <a:bodyPr/>
          <a:lstStyle/>
          <a:p>
            <a:endParaRPr lang="ar-OM"/>
          </a:p>
        </p:txBody>
      </p:sp>
      <p:sp>
        <p:nvSpPr>
          <p:cNvPr id="14" name="color-name"/>
          <p:cNvSpPr txBox="1"/>
          <p:nvPr/>
        </p:nvSpPr>
        <p:spPr>
          <a:xfrm>
            <a:off x="2423160" y="37490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OM" altLang="en-US" sz="2000" b="1" dirty="0">
                <a:solidFill>
                  <a:srgbClr val="2D1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أحمر</a:t>
            </a:r>
            <a:endParaRPr lang="ar-OM" sz="2000" dirty="0"/>
          </a:p>
        </p:txBody>
      </p:sp>
      <p:pic>
        <p:nvPicPr>
          <p:cNvPr id="15" name="ANS_OK_q4b" descr="إجابة صحيحة">
            <a:hlinkClick r:id="rId8" action="ppaction://hlinksldjump" tooltip=" ">
              <a:snd r:embed="rId9" name="correct.wav"/>
            </a:hlinkClick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23160" y="2377440"/>
            <a:ext cx="1417320" cy="1828800"/>
          </a:xfrm>
          <a:prstGeom prst="rect">
            <a:avLst/>
          </a:prstGeom>
        </p:spPr>
      </p:pic>
      <p:sp>
        <p:nvSpPr>
          <p:cNvPr id="16" name="color"/>
          <p:cNvSpPr/>
          <p:nvPr/>
        </p:nvSpPr>
        <p:spPr>
          <a:xfrm>
            <a:off x="914400" y="2377440"/>
            <a:ext cx="1234440" cy="1234440"/>
          </a:xfrm>
          <a:prstGeom prst="ellipse">
            <a:avLst/>
          </a:prstGeom>
          <a:solidFill>
            <a:srgbClr val="29B6D1"/>
          </a:solidFill>
          <a:ln w="508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5B2C83">
                <a:alpha val="18000"/>
              </a:srgbClr>
            </a:outerShdw>
          </a:effectLst>
        </p:spPr>
        <p:txBody>
          <a:bodyPr/>
          <a:lstStyle/>
          <a:p>
            <a:endParaRPr lang="ar-OM"/>
          </a:p>
        </p:txBody>
      </p:sp>
      <p:sp>
        <p:nvSpPr>
          <p:cNvPr id="17" name="color-name"/>
          <p:cNvSpPr txBox="1"/>
          <p:nvPr/>
        </p:nvSpPr>
        <p:spPr>
          <a:xfrm>
            <a:off x="822960" y="37490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OM" altLang="en-US" sz="2000" b="1" dirty="0">
                <a:solidFill>
                  <a:srgbClr val="2D1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أزرق</a:t>
            </a:r>
            <a:endParaRPr lang="ar-OM" sz="2000" dirty="0"/>
          </a:p>
        </p:txBody>
      </p:sp>
      <p:pic>
        <p:nvPicPr>
          <p:cNvPr id="18" name="ANS_NO_q4b" descr="إجابة خاطئة">
            <a:hlinkClick r:id="rId5" action="ppaction://hlinksldjump" tooltip=" ">
              <a:snd r:embed="rId6" name="wrong.wav"/>
            </a:hlinkClick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2377440"/>
            <a:ext cx="1417320" cy="1828800"/>
          </a:xfrm>
          <a:prstGeom prst="rect">
            <a:avLst/>
          </a:prstGeom>
        </p:spPr>
      </p:pic>
    </p:spTree>
  </p:cSld>
  <p:clrMapOvr>
    <a:masterClrMapping/>
  </p:clrMapOvr>
  <p:transition spd="med" advClick="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icon-bg"/>
          <p:cNvSpPr/>
          <p:nvPr/>
        </p:nvSpPr>
        <p:spPr>
          <a:xfrm>
            <a:off x="8001000" y="228600"/>
            <a:ext cx="658368" cy="658368"/>
          </a:xfrm>
          <a:prstGeom prst="ellipse">
            <a:avLst/>
          </a:prstGeom>
          <a:solidFill>
            <a:srgbClr val="EC4C8C"/>
          </a:solidFill>
          <a:ln/>
        </p:spPr>
        <p:txBody>
          <a:bodyPr/>
          <a:lstStyle/>
          <a:p>
            <a:endParaRPr lang="ar-OM"/>
          </a:p>
        </p:txBody>
      </p:sp>
      <p:pic>
        <p:nvPicPr>
          <p:cNvPr id="3" name="title-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5592" y="393192"/>
            <a:ext cx="329184" cy="329184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1280160" y="201168"/>
            <a:ext cx="6583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OM" altLang="en-US" sz="3000" b="1" dirty="0">
                <a:solidFill>
                  <a:srgbClr val="5B2C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شاهد: كيف نُلوّن البكسل؟</a:t>
            </a:r>
            <a:endParaRPr lang="ar-OM" sz="3000" dirty="0"/>
          </a:p>
        </p:txBody>
      </p:sp>
      <p:sp>
        <p:nvSpPr>
          <p:cNvPr id="5" name="subtitle"/>
          <p:cNvSpPr txBox="1"/>
          <p:nvPr/>
        </p:nvSpPr>
        <p:spPr>
          <a:xfrm>
            <a:off x="1280160" y="84124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OM" altLang="en-US" sz="1600" b="1" dirty="0">
                <a:solidFill>
                  <a:srgbClr val="EC4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شاهد المقطع بانتباه ثم أجب عن السؤال</a:t>
            </a:r>
            <a:endParaRPr lang="ar-OM" sz="1600" dirty="0"/>
          </a:p>
        </p:txBody>
      </p:sp>
      <p:sp>
        <p:nvSpPr>
          <p:cNvPr id="6" name="video-frame"/>
          <p:cNvSpPr/>
          <p:nvPr/>
        </p:nvSpPr>
        <p:spPr>
          <a:xfrm>
            <a:off x="1481328" y="1353312"/>
            <a:ext cx="6181344" cy="3310128"/>
          </a:xfrm>
          <a:prstGeom prst="roundRect">
            <a:avLst>
              <a:gd name="adj" fmla="val 3315"/>
            </a:avLst>
          </a:prstGeom>
          <a:solidFill>
            <a:srgbClr val="EC4C8C"/>
          </a:solidFill>
          <a:ln/>
        </p:spPr>
        <p:txBody>
          <a:bodyPr/>
          <a:lstStyle/>
          <a:p>
            <a:endParaRPr lang="ar-OM"/>
          </a:p>
        </p:txBody>
      </p:sp>
      <p:pic>
        <p:nvPicPr>
          <p:cNvPr id="7" name="video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600200" y="1463040"/>
            <a:ext cx="5943600" cy="3072384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icon-bg"/>
          <p:cNvSpPr/>
          <p:nvPr/>
        </p:nvSpPr>
        <p:spPr>
          <a:xfrm>
            <a:off x="8001000" y="228600"/>
            <a:ext cx="658368" cy="658368"/>
          </a:xfrm>
          <a:prstGeom prst="ellipse">
            <a:avLst/>
          </a:prstGeom>
          <a:solidFill>
            <a:srgbClr val="5B2C83"/>
          </a:solidFill>
          <a:ln/>
        </p:spPr>
        <p:txBody>
          <a:bodyPr/>
          <a:lstStyle/>
          <a:p>
            <a:endParaRPr lang="ar-OM"/>
          </a:p>
        </p:txBody>
      </p:sp>
      <p:pic>
        <p:nvPicPr>
          <p:cNvPr id="3" name="title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592" y="393192"/>
            <a:ext cx="329184" cy="329184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1280160" y="201168"/>
            <a:ext cx="6583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OM" altLang="en-US" sz="3000" b="1" dirty="0">
                <a:solidFill>
                  <a:srgbClr val="5B2C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التطبيق العملي</a:t>
            </a:r>
            <a:endParaRPr lang="ar-OM" sz="3000" dirty="0"/>
          </a:p>
        </p:txBody>
      </p:sp>
      <p:sp>
        <p:nvSpPr>
          <p:cNvPr id="5" name="subtitle"/>
          <p:cNvSpPr txBox="1"/>
          <p:nvPr/>
        </p:nvSpPr>
        <p:spPr>
          <a:xfrm>
            <a:off x="1280160" y="84124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OM" altLang="en-US" sz="1600" b="1" dirty="0">
                <a:solidFill>
                  <a:srgbClr val="5B2C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لَوِّنْ وَحَداتِ البِكْسِل وَأَنْشِئِ الصّورةَ المُقابِلة — نشاط 2</a:t>
            </a:r>
            <a:endParaRPr lang="ar-OM" sz="1600" dirty="0"/>
          </a:p>
        </p:txBody>
      </p:sp>
      <p:sp>
        <p:nvSpPr>
          <p:cNvPr id="6" name="card"/>
          <p:cNvSpPr/>
          <p:nvPr/>
        </p:nvSpPr>
        <p:spPr>
          <a:xfrm>
            <a:off x="640080" y="1371600"/>
            <a:ext cx="2743200" cy="3154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0">
            <a:solidFill>
              <a:srgbClr val="E53935"/>
            </a:solidFill>
            <a:prstDash val="solid"/>
          </a:ln>
          <a:effectLst>
            <a:outerShdw blurRad="76200" dist="25400" dir="5400000" algn="bl" rotWithShape="0">
              <a:srgbClr val="5B2C83">
                <a:alpha val="18000"/>
              </a:srgbClr>
            </a:outerShdw>
          </a:effectLst>
        </p:spPr>
        <p:txBody>
          <a:bodyPr/>
          <a:lstStyle/>
          <a:p>
            <a:endParaRPr lang="ar-OM"/>
          </a:p>
        </p:txBody>
      </p:sp>
      <p:pic>
        <p:nvPicPr>
          <p:cNvPr id="7" name="dog" descr="img/dog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77240" y="1508760"/>
            <a:ext cx="2468880" cy="2468880"/>
          </a:xfrm>
          <a:prstGeom prst="rect">
            <a:avLst/>
          </a:prstGeom>
        </p:spPr>
      </p:pic>
      <p:sp>
        <p:nvSpPr>
          <p:cNvPr id="8" name="pill"/>
          <p:cNvSpPr/>
          <p:nvPr/>
        </p:nvSpPr>
        <p:spPr>
          <a:xfrm>
            <a:off x="1325880" y="402336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E53935"/>
          </a:solidFill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OM" alt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الصورة</a:t>
            </a:r>
            <a:endParaRPr lang="ar-OM" sz="1500" dirty="0"/>
          </a:p>
        </p:txBody>
      </p:sp>
      <p:sp>
        <p:nvSpPr>
          <p:cNvPr id="9" name="card"/>
          <p:cNvSpPr/>
          <p:nvPr/>
        </p:nvSpPr>
        <p:spPr>
          <a:xfrm>
            <a:off x="3611880" y="1371600"/>
            <a:ext cx="2606040" cy="3154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31750">
            <a:solidFill>
              <a:srgbClr val="5B2C83"/>
            </a:solidFill>
            <a:prstDash val="solid"/>
          </a:ln>
          <a:effectLst>
            <a:outerShdw blurRad="76200" dist="25400" dir="5400000" algn="bl" rotWithShape="0">
              <a:srgbClr val="5B2C83">
                <a:alpha val="18000"/>
              </a:srgbClr>
            </a:outerShdw>
          </a:effectLst>
        </p:spPr>
        <p:txBody>
          <a:bodyPr/>
          <a:lstStyle/>
          <a:p>
            <a:endParaRPr lang="ar-OM"/>
          </a:p>
        </p:txBody>
      </p:sp>
      <p:pic>
        <p:nvPicPr>
          <p:cNvPr id="10" name="grid" descr="img/gri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721608" y="1463040"/>
            <a:ext cx="2377440" cy="2514600"/>
          </a:xfrm>
          <a:prstGeom prst="rect">
            <a:avLst/>
          </a:prstGeom>
        </p:spPr>
      </p:pic>
      <p:sp>
        <p:nvSpPr>
          <p:cNvPr id="11" name="pill"/>
          <p:cNvSpPr/>
          <p:nvPr/>
        </p:nvSpPr>
        <p:spPr>
          <a:xfrm>
            <a:off x="4224528" y="402336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5B2C83"/>
          </a:solidFill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OM" alt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الشبكة</a:t>
            </a:r>
            <a:endParaRPr lang="ar-OM" sz="1500" dirty="0"/>
          </a:p>
        </p:txBody>
      </p:sp>
      <p:sp>
        <p:nvSpPr>
          <p:cNvPr id="12" name="step-no"/>
          <p:cNvSpPr/>
          <p:nvPr/>
        </p:nvSpPr>
        <p:spPr>
          <a:xfrm>
            <a:off x="8229600" y="1490472"/>
            <a:ext cx="457200" cy="457200"/>
          </a:xfrm>
          <a:prstGeom prst="ellipse">
            <a:avLst/>
          </a:prstGeom>
          <a:solidFill>
            <a:srgbClr val="F7941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3" name="step"/>
          <p:cNvSpPr txBox="1"/>
          <p:nvPr/>
        </p:nvSpPr>
        <p:spPr>
          <a:xfrm>
            <a:off x="6355080" y="1417320"/>
            <a:ext cx="1783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OM" altLang="en-US" sz="1500" b="1" dirty="0">
                <a:solidFill>
                  <a:srgbClr val="2D1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انظر إلى الصورة جيدًا</a:t>
            </a:r>
            <a:endParaRPr lang="ar-OM" sz="1500" dirty="0"/>
          </a:p>
        </p:txBody>
      </p:sp>
      <p:sp>
        <p:nvSpPr>
          <p:cNvPr id="14" name="step-no"/>
          <p:cNvSpPr/>
          <p:nvPr/>
        </p:nvSpPr>
        <p:spPr>
          <a:xfrm>
            <a:off x="8229600" y="2276856"/>
            <a:ext cx="457200" cy="457200"/>
          </a:xfrm>
          <a:prstGeom prst="ellipse">
            <a:avLst/>
          </a:prstGeom>
          <a:solidFill>
            <a:srgbClr val="7AC14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5" name="step"/>
          <p:cNvSpPr txBox="1"/>
          <p:nvPr/>
        </p:nvSpPr>
        <p:spPr>
          <a:xfrm>
            <a:off x="6355080" y="2203704"/>
            <a:ext cx="1783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OM" altLang="en-US" sz="1500" b="1" dirty="0">
                <a:solidFill>
                  <a:srgbClr val="2D1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لوّن كل مربع داخل الشكل</a:t>
            </a:r>
            <a:endParaRPr lang="ar-OM" sz="1500" dirty="0"/>
          </a:p>
        </p:txBody>
      </p:sp>
      <p:sp>
        <p:nvSpPr>
          <p:cNvPr id="16" name="step-no"/>
          <p:cNvSpPr/>
          <p:nvPr/>
        </p:nvSpPr>
        <p:spPr>
          <a:xfrm>
            <a:off x="8229600" y="3063240"/>
            <a:ext cx="457200" cy="457200"/>
          </a:xfrm>
          <a:prstGeom prst="ellipse">
            <a:avLst/>
          </a:prstGeom>
          <a:solidFill>
            <a:srgbClr val="29B6D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step"/>
          <p:cNvSpPr txBox="1"/>
          <p:nvPr/>
        </p:nvSpPr>
        <p:spPr>
          <a:xfrm>
            <a:off x="6355080" y="2990088"/>
            <a:ext cx="1783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OM" altLang="en-US" sz="1500" b="1" dirty="0">
                <a:solidFill>
                  <a:srgbClr val="2D1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استخدم اللون نفسه</a:t>
            </a:r>
            <a:endParaRPr lang="ar-OM" sz="1500" dirty="0"/>
          </a:p>
        </p:txBody>
      </p:sp>
      <p:sp>
        <p:nvSpPr>
          <p:cNvPr id="18" name="step-no"/>
          <p:cNvSpPr/>
          <p:nvPr/>
        </p:nvSpPr>
        <p:spPr>
          <a:xfrm>
            <a:off x="8229600" y="3849624"/>
            <a:ext cx="457200" cy="457200"/>
          </a:xfrm>
          <a:prstGeom prst="ellipse">
            <a:avLst/>
          </a:prstGeom>
          <a:solidFill>
            <a:srgbClr val="EC4C8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9" name="step"/>
          <p:cNvSpPr txBox="1"/>
          <p:nvPr/>
        </p:nvSpPr>
        <p:spPr>
          <a:xfrm>
            <a:off x="6355080" y="3776472"/>
            <a:ext cx="1783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OM" altLang="en-US" sz="1500" b="1" dirty="0">
                <a:solidFill>
                  <a:srgbClr val="2D1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قارن رسمتك بالصورة</a:t>
            </a:r>
            <a:endParaRPr lang="ar-OM" sz="1500" dirty="0"/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icon-bg"/>
          <p:cNvSpPr/>
          <p:nvPr/>
        </p:nvSpPr>
        <p:spPr>
          <a:xfrm>
            <a:off x="8001000" y="228600"/>
            <a:ext cx="658368" cy="658368"/>
          </a:xfrm>
          <a:prstGeom prst="ellipse">
            <a:avLst/>
          </a:prstGeom>
          <a:solidFill>
            <a:srgbClr val="5B2C83"/>
          </a:solidFill>
          <a:ln/>
        </p:spPr>
        <p:txBody>
          <a:bodyPr/>
          <a:lstStyle/>
          <a:p>
            <a:endParaRPr lang="ar-OM"/>
          </a:p>
        </p:txBody>
      </p:sp>
      <p:pic>
        <p:nvPicPr>
          <p:cNvPr id="3" name="title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592" y="393192"/>
            <a:ext cx="329184" cy="329184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1280160" y="201168"/>
            <a:ext cx="6583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OM" altLang="en-US" sz="3000" b="1" dirty="0">
                <a:solidFill>
                  <a:srgbClr val="5B2C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هيّا نرسم على الحاسوب</a:t>
            </a:r>
            <a:endParaRPr lang="ar-OM" sz="3000" dirty="0"/>
          </a:p>
        </p:txBody>
      </p:sp>
      <p:sp>
        <p:nvSpPr>
          <p:cNvPr id="5" name="subtitle"/>
          <p:cNvSpPr txBox="1"/>
          <p:nvPr/>
        </p:nvSpPr>
        <p:spPr>
          <a:xfrm>
            <a:off x="1280160" y="84124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OM" altLang="en-US" sz="1600" b="1" dirty="0">
                <a:solidFill>
                  <a:srgbClr val="5B2C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تطبيق عملي في مختبر الحاسوب</a:t>
            </a:r>
            <a:endParaRPr lang="ar-OM" sz="1600" dirty="0"/>
          </a:p>
        </p:txBody>
      </p:sp>
      <p:sp>
        <p:nvSpPr>
          <p:cNvPr id="6" name="card"/>
          <p:cNvSpPr/>
          <p:nvPr/>
        </p:nvSpPr>
        <p:spPr>
          <a:xfrm>
            <a:off x="7104888" y="1508760"/>
            <a:ext cx="1481328" cy="237744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31750">
            <a:solidFill>
              <a:srgbClr val="29B6D1"/>
            </a:solidFill>
            <a:prstDash val="solid"/>
          </a:ln>
          <a:effectLst>
            <a:outerShdw blurRad="76200" dist="25400" dir="5400000" algn="bl" rotWithShape="0">
              <a:srgbClr val="5B2C83">
                <a:alpha val="18000"/>
              </a:srgbClr>
            </a:outerShdw>
          </a:effectLst>
        </p:spPr>
        <p:txBody>
          <a:bodyPr/>
          <a:lstStyle/>
          <a:p>
            <a:endParaRPr lang="ar-OM"/>
          </a:p>
        </p:txBody>
      </p:sp>
      <p:sp>
        <p:nvSpPr>
          <p:cNvPr id="7" name="step-bg"/>
          <p:cNvSpPr/>
          <p:nvPr/>
        </p:nvSpPr>
        <p:spPr>
          <a:xfrm>
            <a:off x="7411212" y="1783080"/>
            <a:ext cx="868680" cy="868680"/>
          </a:xfrm>
          <a:prstGeom prst="ellipse">
            <a:avLst/>
          </a:prstGeom>
          <a:solidFill>
            <a:srgbClr val="29B6D1"/>
          </a:solidFill>
          <a:ln/>
        </p:spPr>
        <p:txBody>
          <a:bodyPr/>
          <a:lstStyle/>
          <a:p>
            <a:endParaRPr lang="ar-OM"/>
          </a:p>
        </p:txBody>
      </p:sp>
      <p:pic>
        <p:nvPicPr>
          <p:cNvPr id="8" name="step-ic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9812" y="2011680"/>
            <a:ext cx="411480" cy="411480"/>
          </a:xfrm>
          <a:prstGeom prst="rect">
            <a:avLst/>
          </a:prstGeom>
        </p:spPr>
      </p:pic>
      <p:sp>
        <p:nvSpPr>
          <p:cNvPr id="9" name="step"/>
          <p:cNvSpPr txBox="1"/>
          <p:nvPr/>
        </p:nvSpPr>
        <p:spPr>
          <a:xfrm>
            <a:off x="7196328" y="2788920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OM" altLang="en-US" sz="1600" b="1" dirty="0">
                <a:solidFill>
                  <a:srgbClr val="2D1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افتح برنامج الرسّام</a:t>
            </a:r>
            <a:endParaRPr lang="ar-OM" sz="1600" dirty="0"/>
          </a:p>
        </p:txBody>
      </p:sp>
      <p:sp>
        <p:nvSpPr>
          <p:cNvPr id="10" name="no"/>
          <p:cNvSpPr/>
          <p:nvPr/>
        </p:nvSpPr>
        <p:spPr>
          <a:xfrm>
            <a:off x="8293608" y="1371600"/>
            <a:ext cx="384048" cy="384048"/>
          </a:xfrm>
          <a:prstGeom prst="ellipse">
            <a:avLst/>
          </a:prstGeom>
          <a:solidFill>
            <a:srgbClr val="2D1B4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5468112" y="1508760"/>
            <a:ext cx="1481328" cy="237744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31750">
            <a:solidFill>
              <a:srgbClr val="F7941D"/>
            </a:solidFill>
            <a:prstDash val="solid"/>
          </a:ln>
          <a:effectLst>
            <a:outerShdw blurRad="76200" dist="25400" dir="5400000" algn="bl" rotWithShape="0">
              <a:srgbClr val="5B2C83">
                <a:alpha val="18000"/>
              </a:srgbClr>
            </a:outerShdw>
          </a:effectLst>
        </p:spPr>
        <p:txBody>
          <a:bodyPr/>
          <a:lstStyle/>
          <a:p>
            <a:endParaRPr lang="ar-OM"/>
          </a:p>
        </p:txBody>
      </p:sp>
      <p:sp>
        <p:nvSpPr>
          <p:cNvPr id="12" name="step-bg"/>
          <p:cNvSpPr/>
          <p:nvPr/>
        </p:nvSpPr>
        <p:spPr>
          <a:xfrm>
            <a:off x="5774436" y="1783080"/>
            <a:ext cx="868680" cy="868680"/>
          </a:xfrm>
          <a:prstGeom prst="ellipse">
            <a:avLst/>
          </a:prstGeom>
          <a:solidFill>
            <a:srgbClr val="F7941D"/>
          </a:solidFill>
          <a:ln/>
        </p:spPr>
        <p:txBody>
          <a:bodyPr/>
          <a:lstStyle/>
          <a:p>
            <a:endParaRPr lang="ar-OM"/>
          </a:p>
        </p:txBody>
      </p:sp>
      <p:pic>
        <p:nvPicPr>
          <p:cNvPr id="13" name="step-ic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3036" y="2011680"/>
            <a:ext cx="411480" cy="411480"/>
          </a:xfrm>
          <a:prstGeom prst="rect">
            <a:avLst/>
          </a:prstGeom>
        </p:spPr>
      </p:pic>
      <p:sp>
        <p:nvSpPr>
          <p:cNvPr id="14" name="step"/>
          <p:cNvSpPr txBox="1"/>
          <p:nvPr/>
        </p:nvSpPr>
        <p:spPr>
          <a:xfrm>
            <a:off x="5559552" y="2788920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OM" altLang="en-US" sz="1600" b="1" dirty="0">
                <a:solidFill>
                  <a:srgbClr val="2D1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اختر أداة القلم</a:t>
            </a:r>
            <a:endParaRPr lang="ar-OM" sz="1600" dirty="0"/>
          </a:p>
        </p:txBody>
      </p:sp>
      <p:sp>
        <p:nvSpPr>
          <p:cNvPr id="15" name="no"/>
          <p:cNvSpPr/>
          <p:nvPr/>
        </p:nvSpPr>
        <p:spPr>
          <a:xfrm>
            <a:off x="6656832" y="1371600"/>
            <a:ext cx="384048" cy="384048"/>
          </a:xfrm>
          <a:prstGeom prst="ellipse">
            <a:avLst/>
          </a:prstGeom>
          <a:solidFill>
            <a:srgbClr val="2D1B4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card"/>
          <p:cNvSpPr/>
          <p:nvPr/>
        </p:nvSpPr>
        <p:spPr>
          <a:xfrm>
            <a:off x="3831336" y="1508760"/>
            <a:ext cx="1481328" cy="237744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31750">
            <a:solidFill>
              <a:srgbClr val="EC4C8C"/>
            </a:solidFill>
            <a:prstDash val="solid"/>
          </a:ln>
          <a:effectLst>
            <a:outerShdw blurRad="76200" dist="25400" dir="5400000" algn="bl" rotWithShape="0">
              <a:srgbClr val="5B2C83">
                <a:alpha val="18000"/>
              </a:srgbClr>
            </a:outerShdw>
          </a:effectLst>
        </p:spPr>
        <p:txBody>
          <a:bodyPr/>
          <a:lstStyle/>
          <a:p>
            <a:endParaRPr lang="ar-OM"/>
          </a:p>
        </p:txBody>
      </p:sp>
      <p:sp>
        <p:nvSpPr>
          <p:cNvPr id="17" name="step-bg"/>
          <p:cNvSpPr/>
          <p:nvPr/>
        </p:nvSpPr>
        <p:spPr>
          <a:xfrm>
            <a:off x="4137660" y="1783080"/>
            <a:ext cx="868680" cy="868680"/>
          </a:xfrm>
          <a:prstGeom prst="ellipse">
            <a:avLst/>
          </a:prstGeom>
          <a:solidFill>
            <a:srgbClr val="EC4C8C"/>
          </a:solidFill>
          <a:ln/>
        </p:spPr>
        <p:txBody>
          <a:bodyPr/>
          <a:lstStyle/>
          <a:p>
            <a:endParaRPr lang="ar-OM"/>
          </a:p>
        </p:txBody>
      </p:sp>
      <p:pic>
        <p:nvPicPr>
          <p:cNvPr id="18" name="step-ic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6260" y="2011680"/>
            <a:ext cx="411480" cy="411480"/>
          </a:xfrm>
          <a:prstGeom prst="rect">
            <a:avLst/>
          </a:prstGeom>
        </p:spPr>
      </p:pic>
      <p:sp>
        <p:nvSpPr>
          <p:cNvPr id="19" name="step"/>
          <p:cNvSpPr txBox="1"/>
          <p:nvPr/>
        </p:nvSpPr>
        <p:spPr>
          <a:xfrm>
            <a:off x="3922776" y="2788920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OM" altLang="en-US" sz="1600" b="1" dirty="0">
                <a:solidFill>
                  <a:srgbClr val="2D1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اختر اللون</a:t>
            </a:r>
            <a:endParaRPr lang="ar-OM" sz="1600" dirty="0"/>
          </a:p>
        </p:txBody>
      </p:sp>
      <p:sp>
        <p:nvSpPr>
          <p:cNvPr id="20" name="no"/>
          <p:cNvSpPr/>
          <p:nvPr/>
        </p:nvSpPr>
        <p:spPr>
          <a:xfrm>
            <a:off x="5020056" y="1371600"/>
            <a:ext cx="384048" cy="384048"/>
          </a:xfrm>
          <a:prstGeom prst="ellipse">
            <a:avLst/>
          </a:prstGeom>
          <a:solidFill>
            <a:srgbClr val="2D1B4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card"/>
          <p:cNvSpPr/>
          <p:nvPr/>
        </p:nvSpPr>
        <p:spPr>
          <a:xfrm>
            <a:off x="2194560" y="1508760"/>
            <a:ext cx="1481328" cy="237744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31750">
            <a:solidFill>
              <a:srgbClr val="7AC143"/>
            </a:solidFill>
            <a:prstDash val="solid"/>
          </a:ln>
          <a:effectLst>
            <a:outerShdw blurRad="76200" dist="25400" dir="5400000" algn="bl" rotWithShape="0">
              <a:srgbClr val="5B2C83">
                <a:alpha val="18000"/>
              </a:srgbClr>
            </a:outerShdw>
          </a:effectLst>
        </p:spPr>
        <p:txBody>
          <a:bodyPr/>
          <a:lstStyle/>
          <a:p>
            <a:endParaRPr lang="ar-OM"/>
          </a:p>
        </p:txBody>
      </p:sp>
      <p:sp>
        <p:nvSpPr>
          <p:cNvPr id="22" name="step-bg"/>
          <p:cNvSpPr/>
          <p:nvPr/>
        </p:nvSpPr>
        <p:spPr>
          <a:xfrm>
            <a:off x="2500884" y="1783080"/>
            <a:ext cx="868680" cy="868680"/>
          </a:xfrm>
          <a:prstGeom prst="ellipse">
            <a:avLst/>
          </a:prstGeom>
          <a:solidFill>
            <a:srgbClr val="7AC143"/>
          </a:solidFill>
          <a:ln/>
        </p:spPr>
        <p:txBody>
          <a:bodyPr/>
          <a:lstStyle/>
          <a:p>
            <a:endParaRPr lang="ar-OM"/>
          </a:p>
        </p:txBody>
      </p:sp>
      <p:pic>
        <p:nvPicPr>
          <p:cNvPr id="23" name="step-ic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29484" y="2011680"/>
            <a:ext cx="411480" cy="411480"/>
          </a:xfrm>
          <a:prstGeom prst="rect">
            <a:avLst/>
          </a:prstGeom>
        </p:spPr>
      </p:pic>
      <p:sp>
        <p:nvSpPr>
          <p:cNvPr id="24" name="step"/>
          <p:cNvSpPr txBox="1"/>
          <p:nvPr/>
        </p:nvSpPr>
        <p:spPr>
          <a:xfrm>
            <a:off x="2286000" y="2788920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OM" altLang="en-US" sz="1600" b="1" dirty="0">
                <a:solidFill>
                  <a:srgbClr val="2D1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ارسم بالفأرة</a:t>
            </a:r>
            <a:endParaRPr lang="ar-OM" sz="1600" dirty="0"/>
          </a:p>
        </p:txBody>
      </p:sp>
      <p:sp>
        <p:nvSpPr>
          <p:cNvPr id="25" name="no"/>
          <p:cNvSpPr/>
          <p:nvPr/>
        </p:nvSpPr>
        <p:spPr>
          <a:xfrm>
            <a:off x="3383280" y="1371600"/>
            <a:ext cx="384048" cy="384048"/>
          </a:xfrm>
          <a:prstGeom prst="ellipse">
            <a:avLst/>
          </a:prstGeom>
          <a:solidFill>
            <a:srgbClr val="2D1B4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card"/>
          <p:cNvSpPr/>
          <p:nvPr/>
        </p:nvSpPr>
        <p:spPr>
          <a:xfrm>
            <a:off x="557784" y="1508760"/>
            <a:ext cx="1481328" cy="237744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31750">
            <a:solidFill>
              <a:srgbClr val="5B2C83"/>
            </a:solidFill>
            <a:prstDash val="solid"/>
          </a:ln>
          <a:effectLst>
            <a:outerShdw blurRad="76200" dist="25400" dir="5400000" algn="bl" rotWithShape="0">
              <a:srgbClr val="5B2C83">
                <a:alpha val="18000"/>
              </a:srgbClr>
            </a:outerShdw>
          </a:effectLst>
        </p:spPr>
        <p:txBody>
          <a:bodyPr/>
          <a:lstStyle/>
          <a:p>
            <a:endParaRPr lang="ar-OM"/>
          </a:p>
        </p:txBody>
      </p:sp>
      <p:sp>
        <p:nvSpPr>
          <p:cNvPr id="27" name="step-bg"/>
          <p:cNvSpPr/>
          <p:nvPr/>
        </p:nvSpPr>
        <p:spPr>
          <a:xfrm>
            <a:off x="864108" y="1783080"/>
            <a:ext cx="868680" cy="868680"/>
          </a:xfrm>
          <a:prstGeom prst="ellipse">
            <a:avLst/>
          </a:prstGeom>
          <a:solidFill>
            <a:srgbClr val="5B2C83"/>
          </a:solidFill>
          <a:ln/>
        </p:spPr>
        <p:txBody>
          <a:bodyPr/>
          <a:lstStyle/>
          <a:p>
            <a:endParaRPr lang="ar-OM"/>
          </a:p>
        </p:txBody>
      </p:sp>
      <p:pic>
        <p:nvPicPr>
          <p:cNvPr id="28" name="step-ic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2708" y="2011680"/>
            <a:ext cx="411480" cy="411480"/>
          </a:xfrm>
          <a:prstGeom prst="rect">
            <a:avLst/>
          </a:prstGeom>
        </p:spPr>
      </p:pic>
      <p:sp>
        <p:nvSpPr>
          <p:cNvPr id="29" name="step"/>
          <p:cNvSpPr txBox="1"/>
          <p:nvPr/>
        </p:nvSpPr>
        <p:spPr>
          <a:xfrm>
            <a:off x="649224" y="2788920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OM" altLang="en-US" sz="1600" b="1" dirty="0">
                <a:solidFill>
                  <a:srgbClr val="2D1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كبّر الرسمة وشاهد البكسل</a:t>
            </a:r>
            <a:endParaRPr lang="ar-OM" sz="1600" dirty="0"/>
          </a:p>
        </p:txBody>
      </p:sp>
      <p:sp>
        <p:nvSpPr>
          <p:cNvPr id="30" name="no"/>
          <p:cNvSpPr/>
          <p:nvPr/>
        </p:nvSpPr>
        <p:spPr>
          <a:xfrm>
            <a:off x="1746504" y="1371600"/>
            <a:ext cx="384048" cy="384048"/>
          </a:xfrm>
          <a:prstGeom prst="ellipse">
            <a:avLst/>
          </a:prstGeom>
          <a:solidFill>
            <a:srgbClr val="2D1B4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1" name="task"/>
          <p:cNvSpPr txBox="1"/>
          <p:nvPr/>
        </p:nvSpPr>
        <p:spPr>
          <a:xfrm>
            <a:off x="914400" y="4069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OM" altLang="en-US" sz="1800" b="1" dirty="0">
                <a:solidFill>
                  <a:srgbClr val="5B2C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ارسم بيتًا وشمسًا كما في الكتاب، ثم أرِ رسمتك لزميلك</a:t>
            </a:r>
            <a:endParaRPr lang="ar-OM" sz="1800" dirty="0"/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rophy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868680"/>
            <a:ext cx="1188720" cy="1188720"/>
          </a:xfrm>
          <a:prstGeom prst="rect">
            <a:avLst/>
          </a:prstGeom>
        </p:spPr>
      </p:pic>
      <p:sp>
        <p:nvSpPr>
          <p:cNvPr id="3" name="comp-title"/>
          <p:cNvSpPr txBox="1"/>
          <p:nvPr/>
        </p:nvSpPr>
        <p:spPr>
          <a:xfrm>
            <a:off x="1828800" y="20574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OM" altLang="en-US" sz="4400" b="1" dirty="0">
                <a:solidFill>
                  <a:srgbClr val="5B2C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مسابقة الأبطال</a:t>
            </a:r>
            <a:endParaRPr lang="ar-OM" sz="4400" dirty="0"/>
          </a:p>
        </p:txBody>
      </p:sp>
      <p:sp>
        <p:nvSpPr>
          <p:cNvPr id="4" name="comp-sub"/>
          <p:cNvSpPr txBox="1"/>
          <p:nvPr/>
        </p:nvSpPr>
        <p:spPr>
          <a:xfrm>
            <a:off x="1828800" y="28346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OM" altLang="en-US" sz="2200" b="1" dirty="0">
                <a:solidFill>
                  <a:srgbClr val="F79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يُجيب أولًا يحصل على نجمة لفريقه</a:t>
            </a:r>
            <a:endParaRPr lang="ar-OM" sz="2200" dirty="0"/>
          </a:p>
        </p:txBody>
      </p:sp>
      <p:sp>
        <p:nvSpPr>
          <p:cNvPr id="5" name="pill"/>
          <p:cNvSpPr/>
          <p:nvPr/>
        </p:nvSpPr>
        <p:spPr>
          <a:xfrm>
            <a:off x="4846320" y="3520440"/>
            <a:ext cx="2011680" cy="502920"/>
          </a:xfrm>
          <a:prstGeom prst="roundRect">
            <a:avLst>
              <a:gd name="adj" fmla="val 50000"/>
            </a:avLst>
          </a:prstGeom>
          <a:solidFill>
            <a:srgbClr val="F7941D"/>
          </a:solidFill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OM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فريق النجوم</a:t>
            </a:r>
            <a:endParaRPr lang="ar-OM" sz="1800" dirty="0"/>
          </a:p>
        </p:txBody>
      </p:sp>
      <p:sp>
        <p:nvSpPr>
          <p:cNvPr id="6" name="pill"/>
          <p:cNvSpPr/>
          <p:nvPr/>
        </p:nvSpPr>
        <p:spPr>
          <a:xfrm>
            <a:off x="2286000" y="3520440"/>
            <a:ext cx="2011680" cy="502920"/>
          </a:xfrm>
          <a:prstGeom prst="roundRect">
            <a:avLst>
              <a:gd name="adj" fmla="val 50000"/>
            </a:avLst>
          </a:prstGeom>
          <a:solidFill>
            <a:srgbClr val="29B6D1"/>
          </a:solidFill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OM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فريق الأقمار</a:t>
            </a:r>
            <a:endParaRPr lang="ar-OM" sz="1800" dirty="0"/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icon-bg"/>
          <p:cNvSpPr/>
          <p:nvPr/>
        </p:nvSpPr>
        <p:spPr>
          <a:xfrm>
            <a:off x="8001000" y="228600"/>
            <a:ext cx="658368" cy="658368"/>
          </a:xfrm>
          <a:prstGeom prst="ellipse">
            <a:avLst/>
          </a:prstGeom>
          <a:solidFill>
            <a:srgbClr val="F7941D"/>
          </a:solidFill>
          <a:ln/>
        </p:spPr>
        <p:txBody>
          <a:bodyPr/>
          <a:lstStyle/>
          <a:p>
            <a:endParaRPr lang="ar-OM"/>
          </a:p>
        </p:txBody>
      </p:sp>
      <p:pic>
        <p:nvPicPr>
          <p:cNvPr id="3" name="title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592" y="393192"/>
            <a:ext cx="329184" cy="329184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1280160" y="201168"/>
            <a:ext cx="6583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OM" altLang="en-US" sz="3000" b="1" dirty="0">
                <a:solidFill>
                  <a:srgbClr val="5B2C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تحدّي 1</a:t>
            </a:r>
            <a:endParaRPr lang="ar-OM" sz="3000" dirty="0"/>
          </a:p>
        </p:txBody>
      </p:sp>
      <p:sp>
        <p:nvSpPr>
          <p:cNvPr id="5" name="question"/>
          <p:cNvSpPr/>
          <p:nvPr/>
        </p:nvSpPr>
        <p:spPr>
          <a:xfrm>
            <a:off x="640080" y="1188720"/>
            <a:ext cx="7315200" cy="777240"/>
          </a:xfrm>
          <a:prstGeom prst="roundRect">
            <a:avLst>
              <a:gd name="adj" fmla="val 23529"/>
            </a:avLst>
          </a:prstGeom>
          <a:solidFill>
            <a:srgbClr val="F1ECFA"/>
          </a:solidFill>
          <a:ln w="25400">
            <a:solidFill>
              <a:srgbClr val="5B2C83"/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 rtl="1">
              <a:buNone/>
            </a:pPr>
            <a:r>
              <a:rPr lang="ar-OM" altLang="en-US" sz="2800" b="1" dirty="0">
                <a:solidFill>
                  <a:srgbClr val="5B2C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كم مربّعًا أحمر في هذه الصورة؟</a:t>
            </a:r>
            <a:endParaRPr lang="ar-OM" sz="2800" dirty="0"/>
          </a:p>
        </p:txBody>
      </p:sp>
      <p:sp>
        <p:nvSpPr>
          <p:cNvPr id="6" name="q-badge"/>
          <p:cNvSpPr/>
          <p:nvPr/>
        </p:nvSpPr>
        <p:spPr>
          <a:xfrm>
            <a:off x="8092440" y="1211580"/>
            <a:ext cx="731520" cy="731520"/>
          </a:xfrm>
          <a:prstGeom prst="ellipse">
            <a:avLst/>
          </a:prstGeom>
          <a:solidFill>
            <a:srgbClr val="F7941D"/>
          </a:solidFill>
          <a:ln/>
        </p:spPr>
        <p:txBody>
          <a:bodyPr/>
          <a:lstStyle/>
          <a:p>
            <a:endParaRPr lang="ar-OM"/>
          </a:p>
        </p:txBody>
      </p:sp>
      <p:pic>
        <p:nvPicPr>
          <p:cNvPr id="7" name="q-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3608" y="1412748"/>
            <a:ext cx="329184" cy="329184"/>
          </a:xfrm>
          <a:prstGeom prst="rect">
            <a:avLst/>
          </a:prstGeom>
        </p:spPr>
      </p:pic>
      <p:sp>
        <p:nvSpPr>
          <p:cNvPr id="8" name="card"/>
          <p:cNvSpPr/>
          <p:nvPr/>
        </p:nvSpPr>
        <p:spPr>
          <a:xfrm>
            <a:off x="6172200" y="2057400"/>
            <a:ext cx="1773936" cy="2468880"/>
          </a:xfrm>
          <a:prstGeom prst="roundRect">
            <a:avLst>
              <a:gd name="adj" fmla="val 9278"/>
            </a:avLst>
          </a:prstGeom>
          <a:solidFill>
            <a:srgbClr val="FFFFFF"/>
          </a:solidFill>
          <a:ln w="31750">
            <a:solidFill>
              <a:srgbClr val="F7941D"/>
            </a:solidFill>
            <a:prstDash val="solid"/>
          </a:ln>
          <a:effectLst>
            <a:outerShdw blurRad="76200" dist="25400" dir="5400000" algn="bl" rotWithShape="0">
              <a:srgbClr val="5B2C83">
                <a:alpha val="18000"/>
              </a:srgbClr>
            </a:outerShdw>
          </a:effectLst>
        </p:spPr>
        <p:txBody>
          <a:bodyPr/>
          <a:lstStyle/>
          <a:p>
            <a:endParaRPr lang="ar-OM"/>
          </a:p>
        </p:txBody>
      </p:sp>
      <p:sp>
        <p:nvSpPr>
          <p:cNvPr id="9" name="px"/>
          <p:cNvSpPr/>
          <p:nvPr/>
        </p:nvSpPr>
        <p:spPr>
          <a:xfrm>
            <a:off x="6400800" y="2194560"/>
            <a:ext cx="438912" cy="438912"/>
          </a:xfrm>
          <a:prstGeom prst="rect">
            <a:avLst/>
          </a:prstGeom>
          <a:solidFill>
            <a:srgbClr val="F3F3F7"/>
          </a:solidFill>
          <a:ln w="9525">
            <a:solidFill>
              <a:srgbClr val="D0D0DA"/>
            </a:solidFill>
            <a:prstDash val="solid"/>
          </a:ln>
        </p:spPr>
        <p:txBody>
          <a:bodyPr/>
          <a:lstStyle/>
          <a:p>
            <a:endParaRPr lang="ar-OM"/>
          </a:p>
        </p:txBody>
      </p:sp>
      <p:sp>
        <p:nvSpPr>
          <p:cNvPr id="10" name="px"/>
          <p:cNvSpPr/>
          <p:nvPr/>
        </p:nvSpPr>
        <p:spPr>
          <a:xfrm>
            <a:off x="6839712" y="2194560"/>
            <a:ext cx="438912" cy="438912"/>
          </a:xfrm>
          <a:prstGeom prst="rect">
            <a:avLst/>
          </a:prstGeom>
          <a:solidFill>
            <a:srgbClr val="E53935"/>
          </a:solidFill>
          <a:ln w="9525">
            <a:solidFill>
              <a:srgbClr val="D0D0DA"/>
            </a:solidFill>
            <a:prstDash val="solid"/>
          </a:ln>
        </p:spPr>
        <p:txBody>
          <a:bodyPr/>
          <a:lstStyle/>
          <a:p>
            <a:endParaRPr lang="ar-OM"/>
          </a:p>
        </p:txBody>
      </p:sp>
      <p:sp>
        <p:nvSpPr>
          <p:cNvPr id="11" name="px"/>
          <p:cNvSpPr/>
          <p:nvPr/>
        </p:nvSpPr>
        <p:spPr>
          <a:xfrm>
            <a:off x="7278624" y="2194560"/>
            <a:ext cx="438912" cy="438912"/>
          </a:xfrm>
          <a:prstGeom prst="rect">
            <a:avLst/>
          </a:prstGeom>
          <a:solidFill>
            <a:srgbClr val="F3F3F7"/>
          </a:solidFill>
          <a:ln w="9525">
            <a:solidFill>
              <a:srgbClr val="D0D0DA"/>
            </a:solidFill>
            <a:prstDash val="solid"/>
          </a:ln>
        </p:spPr>
        <p:txBody>
          <a:bodyPr/>
          <a:lstStyle/>
          <a:p>
            <a:endParaRPr lang="ar-OM"/>
          </a:p>
        </p:txBody>
      </p:sp>
      <p:sp>
        <p:nvSpPr>
          <p:cNvPr id="12" name="px"/>
          <p:cNvSpPr/>
          <p:nvPr/>
        </p:nvSpPr>
        <p:spPr>
          <a:xfrm>
            <a:off x="6400800" y="2633472"/>
            <a:ext cx="438912" cy="438912"/>
          </a:xfrm>
          <a:prstGeom prst="rect">
            <a:avLst/>
          </a:prstGeom>
          <a:solidFill>
            <a:srgbClr val="E53935"/>
          </a:solidFill>
          <a:ln w="9525">
            <a:solidFill>
              <a:srgbClr val="D0D0DA"/>
            </a:solidFill>
            <a:prstDash val="solid"/>
          </a:ln>
        </p:spPr>
        <p:txBody>
          <a:bodyPr/>
          <a:lstStyle/>
          <a:p>
            <a:endParaRPr lang="ar-OM"/>
          </a:p>
        </p:txBody>
      </p:sp>
      <p:sp>
        <p:nvSpPr>
          <p:cNvPr id="13" name="px"/>
          <p:cNvSpPr/>
          <p:nvPr/>
        </p:nvSpPr>
        <p:spPr>
          <a:xfrm>
            <a:off x="6839712" y="2633472"/>
            <a:ext cx="438912" cy="438912"/>
          </a:xfrm>
          <a:prstGeom prst="rect">
            <a:avLst/>
          </a:prstGeom>
          <a:solidFill>
            <a:srgbClr val="FFC928"/>
          </a:solidFill>
          <a:ln w="9525">
            <a:solidFill>
              <a:srgbClr val="D0D0DA"/>
            </a:solidFill>
            <a:prstDash val="solid"/>
          </a:ln>
        </p:spPr>
        <p:txBody>
          <a:bodyPr/>
          <a:lstStyle/>
          <a:p>
            <a:endParaRPr lang="ar-OM"/>
          </a:p>
        </p:txBody>
      </p:sp>
      <p:sp>
        <p:nvSpPr>
          <p:cNvPr id="14" name="px"/>
          <p:cNvSpPr/>
          <p:nvPr/>
        </p:nvSpPr>
        <p:spPr>
          <a:xfrm>
            <a:off x="7278624" y="2633472"/>
            <a:ext cx="438912" cy="438912"/>
          </a:xfrm>
          <a:prstGeom prst="rect">
            <a:avLst/>
          </a:prstGeom>
          <a:solidFill>
            <a:srgbClr val="E53935"/>
          </a:solidFill>
          <a:ln w="9525">
            <a:solidFill>
              <a:srgbClr val="D0D0DA"/>
            </a:solidFill>
            <a:prstDash val="solid"/>
          </a:ln>
        </p:spPr>
        <p:txBody>
          <a:bodyPr/>
          <a:lstStyle/>
          <a:p>
            <a:endParaRPr lang="ar-OM"/>
          </a:p>
        </p:txBody>
      </p:sp>
      <p:sp>
        <p:nvSpPr>
          <p:cNvPr id="15" name="px"/>
          <p:cNvSpPr/>
          <p:nvPr/>
        </p:nvSpPr>
        <p:spPr>
          <a:xfrm>
            <a:off x="6400800" y="3072384"/>
            <a:ext cx="438912" cy="438912"/>
          </a:xfrm>
          <a:prstGeom prst="rect">
            <a:avLst/>
          </a:prstGeom>
          <a:solidFill>
            <a:srgbClr val="F3F3F7"/>
          </a:solidFill>
          <a:ln w="9525">
            <a:solidFill>
              <a:srgbClr val="D0D0DA"/>
            </a:solidFill>
            <a:prstDash val="solid"/>
          </a:ln>
        </p:spPr>
        <p:txBody>
          <a:bodyPr/>
          <a:lstStyle/>
          <a:p>
            <a:endParaRPr lang="ar-OM"/>
          </a:p>
        </p:txBody>
      </p:sp>
      <p:sp>
        <p:nvSpPr>
          <p:cNvPr id="16" name="px"/>
          <p:cNvSpPr/>
          <p:nvPr/>
        </p:nvSpPr>
        <p:spPr>
          <a:xfrm>
            <a:off x="6839712" y="3072384"/>
            <a:ext cx="438912" cy="438912"/>
          </a:xfrm>
          <a:prstGeom prst="rect">
            <a:avLst/>
          </a:prstGeom>
          <a:solidFill>
            <a:srgbClr val="E53935"/>
          </a:solidFill>
          <a:ln w="9525">
            <a:solidFill>
              <a:srgbClr val="D0D0DA"/>
            </a:solidFill>
            <a:prstDash val="solid"/>
          </a:ln>
        </p:spPr>
        <p:txBody>
          <a:bodyPr/>
          <a:lstStyle/>
          <a:p>
            <a:endParaRPr lang="ar-OM"/>
          </a:p>
        </p:txBody>
      </p:sp>
      <p:sp>
        <p:nvSpPr>
          <p:cNvPr id="17" name="px"/>
          <p:cNvSpPr/>
          <p:nvPr/>
        </p:nvSpPr>
        <p:spPr>
          <a:xfrm>
            <a:off x="7278624" y="3072384"/>
            <a:ext cx="438912" cy="438912"/>
          </a:xfrm>
          <a:prstGeom prst="rect">
            <a:avLst/>
          </a:prstGeom>
          <a:solidFill>
            <a:srgbClr val="F3F3F7"/>
          </a:solidFill>
          <a:ln w="9525">
            <a:solidFill>
              <a:srgbClr val="D0D0DA"/>
            </a:solidFill>
            <a:prstDash val="solid"/>
          </a:ln>
        </p:spPr>
        <p:txBody>
          <a:bodyPr/>
          <a:lstStyle/>
          <a:p>
            <a:endParaRPr lang="ar-OM"/>
          </a:p>
        </p:txBody>
      </p:sp>
      <p:sp>
        <p:nvSpPr>
          <p:cNvPr id="18" name="px"/>
          <p:cNvSpPr/>
          <p:nvPr/>
        </p:nvSpPr>
        <p:spPr>
          <a:xfrm>
            <a:off x="6400800" y="3511296"/>
            <a:ext cx="438912" cy="438912"/>
          </a:xfrm>
          <a:prstGeom prst="rect">
            <a:avLst/>
          </a:prstGeom>
          <a:solidFill>
            <a:srgbClr val="F3F3F7"/>
          </a:solidFill>
          <a:ln w="9525">
            <a:solidFill>
              <a:srgbClr val="D0D0DA"/>
            </a:solidFill>
            <a:prstDash val="solid"/>
          </a:ln>
        </p:spPr>
        <p:txBody>
          <a:bodyPr/>
          <a:lstStyle/>
          <a:p>
            <a:endParaRPr lang="ar-OM"/>
          </a:p>
        </p:txBody>
      </p:sp>
      <p:sp>
        <p:nvSpPr>
          <p:cNvPr id="19" name="px"/>
          <p:cNvSpPr/>
          <p:nvPr/>
        </p:nvSpPr>
        <p:spPr>
          <a:xfrm>
            <a:off x="6839712" y="3511296"/>
            <a:ext cx="438912" cy="438912"/>
          </a:xfrm>
          <a:prstGeom prst="rect">
            <a:avLst/>
          </a:prstGeom>
          <a:solidFill>
            <a:srgbClr val="7AC143"/>
          </a:solidFill>
          <a:ln w="9525">
            <a:solidFill>
              <a:srgbClr val="D0D0DA"/>
            </a:solidFill>
            <a:prstDash val="solid"/>
          </a:ln>
        </p:spPr>
        <p:txBody>
          <a:bodyPr/>
          <a:lstStyle/>
          <a:p>
            <a:endParaRPr lang="ar-OM"/>
          </a:p>
        </p:txBody>
      </p:sp>
      <p:sp>
        <p:nvSpPr>
          <p:cNvPr id="20" name="px"/>
          <p:cNvSpPr/>
          <p:nvPr/>
        </p:nvSpPr>
        <p:spPr>
          <a:xfrm>
            <a:off x="7278624" y="3511296"/>
            <a:ext cx="438912" cy="438912"/>
          </a:xfrm>
          <a:prstGeom prst="rect">
            <a:avLst/>
          </a:prstGeom>
          <a:solidFill>
            <a:srgbClr val="F3F3F7"/>
          </a:solidFill>
          <a:ln w="9525">
            <a:solidFill>
              <a:srgbClr val="D0D0DA"/>
            </a:solidFill>
            <a:prstDash val="solid"/>
          </a:ln>
        </p:spPr>
        <p:txBody>
          <a:bodyPr/>
          <a:lstStyle/>
          <a:p>
            <a:endParaRPr lang="ar-OM"/>
          </a:p>
        </p:txBody>
      </p:sp>
      <p:sp>
        <p:nvSpPr>
          <p:cNvPr id="21" name="px"/>
          <p:cNvSpPr/>
          <p:nvPr/>
        </p:nvSpPr>
        <p:spPr>
          <a:xfrm>
            <a:off x="6400800" y="3950208"/>
            <a:ext cx="438912" cy="438912"/>
          </a:xfrm>
          <a:prstGeom prst="rect">
            <a:avLst/>
          </a:prstGeom>
          <a:solidFill>
            <a:srgbClr val="F3F3F7"/>
          </a:solidFill>
          <a:ln w="9525">
            <a:solidFill>
              <a:srgbClr val="D0D0DA"/>
            </a:solidFill>
            <a:prstDash val="solid"/>
          </a:ln>
        </p:spPr>
        <p:txBody>
          <a:bodyPr/>
          <a:lstStyle/>
          <a:p>
            <a:endParaRPr lang="ar-OM"/>
          </a:p>
        </p:txBody>
      </p:sp>
      <p:sp>
        <p:nvSpPr>
          <p:cNvPr id="22" name="px"/>
          <p:cNvSpPr/>
          <p:nvPr/>
        </p:nvSpPr>
        <p:spPr>
          <a:xfrm>
            <a:off x="6839712" y="3950208"/>
            <a:ext cx="438912" cy="438912"/>
          </a:xfrm>
          <a:prstGeom prst="rect">
            <a:avLst/>
          </a:prstGeom>
          <a:solidFill>
            <a:srgbClr val="7AC143"/>
          </a:solidFill>
          <a:ln w="9525">
            <a:solidFill>
              <a:srgbClr val="D0D0DA"/>
            </a:solidFill>
            <a:prstDash val="solid"/>
          </a:ln>
        </p:spPr>
        <p:txBody>
          <a:bodyPr/>
          <a:lstStyle/>
          <a:p>
            <a:endParaRPr lang="ar-OM"/>
          </a:p>
        </p:txBody>
      </p:sp>
      <p:sp>
        <p:nvSpPr>
          <p:cNvPr id="23" name="px"/>
          <p:cNvSpPr/>
          <p:nvPr/>
        </p:nvSpPr>
        <p:spPr>
          <a:xfrm>
            <a:off x="7278624" y="3950208"/>
            <a:ext cx="438912" cy="438912"/>
          </a:xfrm>
          <a:prstGeom prst="rect">
            <a:avLst/>
          </a:prstGeom>
          <a:solidFill>
            <a:srgbClr val="F3F3F7"/>
          </a:solidFill>
          <a:ln w="9525">
            <a:solidFill>
              <a:srgbClr val="D0D0DA"/>
            </a:solidFill>
            <a:prstDash val="solid"/>
          </a:ln>
        </p:spPr>
        <p:txBody>
          <a:bodyPr/>
          <a:lstStyle/>
          <a:p>
            <a:endParaRPr lang="ar-OM"/>
          </a:p>
        </p:txBody>
      </p:sp>
      <p:sp>
        <p:nvSpPr>
          <p:cNvPr id="24" name="num"/>
          <p:cNvSpPr/>
          <p:nvPr/>
        </p:nvSpPr>
        <p:spPr>
          <a:xfrm>
            <a:off x="4206240" y="2514600"/>
            <a:ext cx="1280160" cy="1280160"/>
          </a:xfrm>
          <a:prstGeom prst="ellipse">
            <a:avLst/>
          </a:prstGeom>
          <a:solidFill>
            <a:srgbClr val="29B6D1"/>
          </a:solidFill>
          <a:ln/>
          <a:effectLst>
            <a:outerShdw blurRad="76200" dist="25400" dir="5400000" algn="bl" rotWithShape="0">
              <a:srgbClr val="5B2C83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3</a:t>
            </a:r>
            <a:endParaRPr lang="en-US" sz="4400" dirty="0"/>
          </a:p>
        </p:txBody>
      </p:sp>
      <p:pic>
        <p:nvPicPr>
          <p:cNvPr id="25" name="ANS_NO_c1" descr="إجابة خاطئة">
            <a:hlinkClick r:id="rId5" action="ppaction://hlinksldjump" tooltip=" ">
              <a:snd r:embed="rId6" name="wrong.wav"/>
            </a:hlinkClick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06240" y="2514600"/>
            <a:ext cx="1280160" cy="1280160"/>
          </a:xfrm>
          <a:prstGeom prst="rect">
            <a:avLst/>
          </a:prstGeom>
        </p:spPr>
      </p:pic>
      <p:sp>
        <p:nvSpPr>
          <p:cNvPr id="26" name="num"/>
          <p:cNvSpPr/>
          <p:nvPr/>
        </p:nvSpPr>
        <p:spPr>
          <a:xfrm>
            <a:off x="2606040" y="2514600"/>
            <a:ext cx="1280160" cy="1280160"/>
          </a:xfrm>
          <a:prstGeom prst="ellipse">
            <a:avLst/>
          </a:prstGeom>
          <a:solidFill>
            <a:srgbClr val="EC4C8C"/>
          </a:solidFill>
          <a:ln/>
          <a:effectLst>
            <a:outerShdw blurRad="76200" dist="25400" dir="5400000" algn="bl" rotWithShape="0">
              <a:srgbClr val="5B2C83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4</a:t>
            </a:r>
            <a:endParaRPr lang="en-US" sz="4400" dirty="0"/>
          </a:p>
        </p:txBody>
      </p:sp>
      <p:pic>
        <p:nvPicPr>
          <p:cNvPr id="27" name="ANS_OK_c1" descr="إجابة صحيحة">
            <a:hlinkClick r:id="rId8" action="ppaction://hlinksldjump" tooltip=" ">
              <a:snd r:embed="rId9" name="correct.wav"/>
            </a:hlinkClick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06040" y="2514600"/>
            <a:ext cx="1280160" cy="1280160"/>
          </a:xfrm>
          <a:prstGeom prst="rect">
            <a:avLst/>
          </a:prstGeom>
        </p:spPr>
      </p:pic>
      <p:sp>
        <p:nvSpPr>
          <p:cNvPr id="28" name="num"/>
          <p:cNvSpPr/>
          <p:nvPr/>
        </p:nvSpPr>
        <p:spPr>
          <a:xfrm>
            <a:off x="1005840" y="2514600"/>
            <a:ext cx="1280160" cy="1280160"/>
          </a:xfrm>
          <a:prstGeom prst="ellipse">
            <a:avLst/>
          </a:prstGeom>
          <a:solidFill>
            <a:srgbClr val="7AC143"/>
          </a:solidFill>
          <a:ln/>
          <a:effectLst>
            <a:outerShdw blurRad="76200" dist="25400" dir="5400000" algn="bl" rotWithShape="0">
              <a:srgbClr val="5B2C83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5</a:t>
            </a:r>
            <a:endParaRPr lang="en-US" sz="4400" dirty="0"/>
          </a:p>
        </p:txBody>
      </p:sp>
      <p:pic>
        <p:nvPicPr>
          <p:cNvPr id="29" name="ANS_NO_c1" descr="إجابة خاطئة">
            <a:hlinkClick r:id="rId5" action="ppaction://hlinksldjump" tooltip=" ">
              <a:snd r:embed="rId6" name="wrong.wav"/>
            </a:hlinkClick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840" y="2514600"/>
            <a:ext cx="1280160" cy="1280160"/>
          </a:xfrm>
          <a:prstGeom prst="rect">
            <a:avLst/>
          </a:prstGeom>
        </p:spPr>
      </p:pic>
    </p:spTree>
  </p:cSld>
  <p:clrMapOvr>
    <a:masterClrMapping/>
  </p:clrMapOvr>
  <p:transition spd="med" advClick="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icon-bg"/>
          <p:cNvSpPr/>
          <p:nvPr/>
        </p:nvSpPr>
        <p:spPr>
          <a:xfrm>
            <a:off x="8001000" y="228600"/>
            <a:ext cx="658368" cy="658368"/>
          </a:xfrm>
          <a:prstGeom prst="ellipse">
            <a:avLst/>
          </a:prstGeom>
          <a:solidFill>
            <a:srgbClr val="F7941D"/>
          </a:solidFill>
          <a:ln/>
        </p:spPr>
        <p:txBody>
          <a:bodyPr/>
          <a:lstStyle/>
          <a:p>
            <a:endParaRPr lang="ar-OM"/>
          </a:p>
        </p:txBody>
      </p:sp>
      <p:pic>
        <p:nvPicPr>
          <p:cNvPr id="3" name="title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592" y="393192"/>
            <a:ext cx="329184" cy="329184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1280160" y="201168"/>
            <a:ext cx="6583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OM" altLang="en-US" sz="3000" b="1" dirty="0">
                <a:solidFill>
                  <a:srgbClr val="5B2C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تحدّي 2</a:t>
            </a:r>
            <a:endParaRPr lang="ar-OM" sz="3000" dirty="0"/>
          </a:p>
        </p:txBody>
      </p:sp>
      <p:sp>
        <p:nvSpPr>
          <p:cNvPr id="5" name="question"/>
          <p:cNvSpPr/>
          <p:nvPr/>
        </p:nvSpPr>
        <p:spPr>
          <a:xfrm>
            <a:off x="640080" y="1188720"/>
            <a:ext cx="7315200" cy="777240"/>
          </a:xfrm>
          <a:prstGeom prst="roundRect">
            <a:avLst>
              <a:gd name="adj" fmla="val 23529"/>
            </a:avLst>
          </a:prstGeom>
          <a:solidFill>
            <a:srgbClr val="F1ECFA"/>
          </a:solidFill>
          <a:ln w="25400">
            <a:solidFill>
              <a:srgbClr val="5B2C83"/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 rtl="1">
              <a:buNone/>
            </a:pPr>
            <a:r>
              <a:rPr lang="ar-OM" altLang="en-US" sz="2800" b="1" dirty="0">
                <a:solidFill>
                  <a:srgbClr val="5B2C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أيّها ليست من مزايا الرسم الرقمي؟</a:t>
            </a:r>
            <a:endParaRPr lang="ar-OM" sz="2800" dirty="0"/>
          </a:p>
        </p:txBody>
      </p:sp>
      <p:sp>
        <p:nvSpPr>
          <p:cNvPr id="6" name="q-badge"/>
          <p:cNvSpPr/>
          <p:nvPr/>
        </p:nvSpPr>
        <p:spPr>
          <a:xfrm>
            <a:off x="8092440" y="1211580"/>
            <a:ext cx="731520" cy="731520"/>
          </a:xfrm>
          <a:prstGeom prst="ellipse">
            <a:avLst/>
          </a:prstGeom>
          <a:solidFill>
            <a:srgbClr val="F7941D"/>
          </a:solidFill>
          <a:ln/>
        </p:spPr>
        <p:txBody>
          <a:bodyPr/>
          <a:lstStyle/>
          <a:p>
            <a:endParaRPr lang="ar-OM"/>
          </a:p>
        </p:txBody>
      </p:sp>
      <p:pic>
        <p:nvPicPr>
          <p:cNvPr id="7" name="q-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3608" y="1412748"/>
            <a:ext cx="329184" cy="329184"/>
          </a:xfrm>
          <a:prstGeom prst="rect">
            <a:avLst/>
          </a:prstGeom>
        </p:spPr>
      </p:pic>
      <p:sp>
        <p:nvSpPr>
          <p:cNvPr id="8" name="pill"/>
          <p:cNvSpPr/>
          <p:nvPr/>
        </p:nvSpPr>
        <p:spPr>
          <a:xfrm>
            <a:off x="1828800" y="2194560"/>
            <a:ext cx="5486400" cy="621792"/>
          </a:xfrm>
          <a:prstGeom prst="roundRect">
            <a:avLst>
              <a:gd name="adj" fmla="val 50000"/>
            </a:avLst>
          </a:prstGeom>
          <a:solidFill>
            <a:srgbClr val="29B6D1"/>
          </a:solidFill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OM" alt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سهولة المشاركة</a:t>
            </a:r>
            <a:endParaRPr lang="ar-OM" sz="2200" dirty="0"/>
          </a:p>
        </p:txBody>
      </p:sp>
      <p:pic>
        <p:nvPicPr>
          <p:cNvPr id="9" name="ANS_NO_c2" descr="إجابة خاطئة">
            <a:hlinkClick r:id="rId5" action="ppaction://hlinksldjump" tooltip=" ">
              <a:snd r:embed="rId6" name="wrong.wav"/>
            </a:hlinkClick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0" y="2194560"/>
            <a:ext cx="5486400" cy="621792"/>
          </a:xfrm>
          <a:prstGeom prst="rect">
            <a:avLst/>
          </a:prstGeom>
        </p:spPr>
      </p:pic>
      <p:sp>
        <p:nvSpPr>
          <p:cNvPr id="10" name="pill"/>
          <p:cNvSpPr/>
          <p:nvPr/>
        </p:nvSpPr>
        <p:spPr>
          <a:xfrm>
            <a:off x="1828800" y="2971800"/>
            <a:ext cx="5486400" cy="621792"/>
          </a:xfrm>
          <a:prstGeom prst="roundRect">
            <a:avLst>
              <a:gd name="adj" fmla="val 50000"/>
            </a:avLst>
          </a:prstGeom>
          <a:solidFill>
            <a:srgbClr val="7AC143"/>
          </a:solidFill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OM" alt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توفّر أدوات عدّة</a:t>
            </a:r>
            <a:endParaRPr lang="ar-OM" sz="2200" dirty="0"/>
          </a:p>
        </p:txBody>
      </p:sp>
      <p:pic>
        <p:nvPicPr>
          <p:cNvPr id="11" name="ANS_NO_c2" descr="إجابة خاطئة">
            <a:hlinkClick r:id="rId5" action="ppaction://hlinksldjump" tooltip=" ">
              <a:snd r:embed="rId6" name="wrong.wav"/>
            </a:hlinkClick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0" y="2971800"/>
            <a:ext cx="5486400" cy="621792"/>
          </a:xfrm>
          <a:prstGeom prst="rect">
            <a:avLst/>
          </a:prstGeom>
        </p:spPr>
      </p:pic>
      <p:sp>
        <p:nvSpPr>
          <p:cNvPr id="12" name="pill"/>
          <p:cNvSpPr/>
          <p:nvPr/>
        </p:nvSpPr>
        <p:spPr>
          <a:xfrm>
            <a:off x="1828800" y="3749040"/>
            <a:ext cx="5486400" cy="621792"/>
          </a:xfrm>
          <a:prstGeom prst="roundRect">
            <a:avLst>
              <a:gd name="adj" fmla="val 50000"/>
            </a:avLst>
          </a:prstGeom>
          <a:solidFill>
            <a:srgbClr val="EC4C8C"/>
          </a:solidFill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OM" alt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تتّسخ يداي بالألوان</a:t>
            </a:r>
            <a:endParaRPr lang="ar-OM" sz="2200" dirty="0"/>
          </a:p>
        </p:txBody>
      </p:sp>
      <p:pic>
        <p:nvPicPr>
          <p:cNvPr id="13" name="ANS_OK_c2" descr="إجابة صحيحة">
            <a:hlinkClick r:id="rId8" action="ppaction://hlinksldjump" tooltip=" ">
              <a:snd r:embed="rId9" name="correct.wav"/>
            </a:hlinkClick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0" y="3749040"/>
            <a:ext cx="5486400" cy="621792"/>
          </a:xfrm>
          <a:prstGeom prst="rect">
            <a:avLst/>
          </a:prstGeom>
        </p:spPr>
      </p:pic>
    </p:spTree>
  </p:cSld>
  <p:clrMapOvr>
    <a:masterClrMapping/>
  </p:clrMapOvr>
  <p:transition spd="med" advClick="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icon-bg"/>
          <p:cNvSpPr/>
          <p:nvPr/>
        </p:nvSpPr>
        <p:spPr>
          <a:xfrm>
            <a:off x="8001000" y="228600"/>
            <a:ext cx="658368" cy="658368"/>
          </a:xfrm>
          <a:prstGeom prst="ellipse">
            <a:avLst/>
          </a:prstGeom>
          <a:solidFill>
            <a:srgbClr val="F7941D"/>
          </a:solidFill>
          <a:ln/>
        </p:spPr>
        <p:txBody>
          <a:bodyPr/>
          <a:lstStyle/>
          <a:p>
            <a:endParaRPr lang="ar-OM"/>
          </a:p>
        </p:txBody>
      </p:sp>
      <p:pic>
        <p:nvPicPr>
          <p:cNvPr id="3" name="title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592" y="393192"/>
            <a:ext cx="329184" cy="329184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1280160" y="201168"/>
            <a:ext cx="6583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OM" altLang="en-US" sz="3000" b="1" dirty="0">
                <a:solidFill>
                  <a:srgbClr val="5B2C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تحدّي 3</a:t>
            </a:r>
            <a:endParaRPr lang="ar-OM" sz="3000" dirty="0"/>
          </a:p>
        </p:txBody>
      </p:sp>
      <p:sp>
        <p:nvSpPr>
          <p:cNvPr id="5" name="question"/>
          <p:cNvSpPr/>
          <p:nvPr/>
        </p:nvSpPr>
        <p:spPr>
          <a:xfrm>
            <a:off x="640080" y="1188720"/>
            <a:ext cx="7315200" cy="868680"/>
          </a:xfrm>
          <a:prstGeom prst="roundRect">
            <a:avLst>
              <a:gd name="adj" fmla="val 21053"/>
            </a:avLst>
          </a:prstGeom>
          <a:solidFill>
            <a:srgbClr val="F1ECFA"/>
          </a:solidFill>
          <a:ln w="25400">
            <a:solidFill>
              <a:srgbClr val="5B2C83"/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 rtl="1">
              <a:buNone/>
            </a:pPr>
            <a:r>
              <a:rPr lang="ar-OM" altLang="en-US" sz="2400" b="1" dirty="0">
                <a:solidFill>
                  <a:srgbClr val="5B2C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تتكوّن الصورة على الشاشة من وحدات صغيرة اسمها:</a:t>
            </a:r>
            <a:endParaRPr lang="ar-OM" sz="2400" dirty="0"/>
          </a:p>
        </p:txBody>
      </p:sp>
      <p:sp>
        <p:nvSpPr>
          <p:cNvPr id="6" name="q-badge"/>
          <p:cNvSpPr/>
          <p:nvPr/>
        </p:nvSpPr>
        <p:spPr>
          <a:xfrm>
            <a:off x="8092440" y="1257300"/>
            <a:ext cx="731520" cy="731520"/>
          </a:xfrm>
          <a:prstGeom prst="ellipse">
            <a:avLst/>
          </a:prstGeom>
          <a:solidFill>
            <a:srgbClr val="F7941D"/>
          </a:solidFill>
          <a:ln/>
        </p:spPr>
        <p:txBody>
          <a:bodyPr/>
          <a:lstStyle/>
          <a:p>
            <a:endParaRPr lang="ar-OM"/>
          </a:p>
        </p:txBody>
      </p:sp>
      <p:pic>
        <p:nvPicPr>
          <p:cNvPr id="7" name="q-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3608" y="1458468"/>
            <a:ext cx="329184" cy="329184"/>
          </a:xfrm>
          <a:prstGeom prst="rect">
            <a:avLst/>
          </a:prstGeom>
        </p:spPr>
      </p:pic>
      <p:sp>
        <p:nvSpPr>
          <p:cNvPr id="8" name="pill"/>
          <p:cNvSpPr/>
          <p:nvPr/>
        </p:nvSpPr>
        <p:spPr>
          <a:xfrm>
            <a:off x="6035040" y="2743200"/>
            <a:ext cx="2286000" cy="914400"/>
          </a:xfrm>
          <a:prstGeom prst="roundRect">
            <a:avLst>
              <a:gd name="adj" fmla="val 50000"/>
            </a:avLst>
          </a:prstGeom>
          <a:solidFill>
            <a:srgbClr val="29B6D1"/>
          </a:solidFill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OM" alt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البكسل</a:t>
            </a:r>
            <a:endParaRPr lang="ar-OM" sz="2400" dirty="0"/>
          </a:p>
        </p:txBody>
      </p:sp>
      <p:pic>
        <p:nvPicPr>
          <p:cNvPr id="9" name="ANS_OK_c3" descr="إجابة صحيحة">
            <a:hlinkClick r:id="rId5" action="ppaction://hlinksldjump" tooltip=" ">
              <a:snd r:embed="rId6" name="correct.wav"/>
            </a:hlinkClick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35040" y="2743200"/>
            <a:ext cx="2286000" cy="914400"/>
          </a:xfrm>
          <a:prstGeom prst="rect">
            <a:avLst/>
          </a:prstGeom>
        </p:spPr>
      </p:pic>
      <p:sp>
        <p:nvSpPr>
          <p:cNvPr id="10" name="pill"/>
          <p:cNvSpPr/>
          <p:nvPr/>
        </p:nvSpPr>
        <p:spPr>
          <a:xfrm>
            <a:off x="3429000" y="2743200"/>
            <a:ext cx="2286000" cy="914400"/>
          </a:xfrm>
          <a:prstGeom prst="roundRect">
            <a:avLst>
              <a:gd name="adj" fmla="val 50000"/>
            </a:avLst>
          </a:prstGeom>
          <a:solidFill>
            <a:srgbClr val="EC4C8C"/>
          </a:solidFill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OM" alt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الأوراق</a:t>
            </a:r>
            <a:endParaRPr lang="ar-OM" sz="2400" dirty="0"/>
          </a:p>
        </p:txBody>
      </p:sp>
      <p:pic>
        <p:nvPicPr>
          <p:cNvPr id="11" name="ANS_NO_c3" descr="إجابة خاطئة">
            <a:hlinkClick r:id="rId8" action="ppaction://hlinksldjump" tooltip=" ">
              <a:snd r:embed="rId9" name="wrong.wav"/>
            </a:hlinkClick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9000" y="2743200"/>
            <a:ext cx="2286000" cy="914400"/>
          </a:xfrm>
          <a:prstGeom prst="rect">
            <a:avLst/>
          </a:prstGeom>
        </p:spPr>
      </p:pic>
      <p:sp>
        <p:nvSpPr>
          <p:cNvPr id="12" name="pill"/>
          <p:cNvSpPr/>
          <p:nvPr/>
        </p:nvSpPr>
        <p:spPr>
          <a:xfrm>
            <a:off x="822960" y="2743200"/>
            <a:ext cx="2286000" cy="914400"/>
          </a:xfrm>
          <a:prstGeom prst="roundRect">
            <a:avLst>
              <a:gd name="adj" fmla="val 50000"/>
            </a:avLst>
          </a:prstGeom>
          <a:solidFill>
            <a:srgbClr val="7AC143"/>
          </a:solidFill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OM" alt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الأقلام</a:t>
            </a:r>
            <a:endParaRPr lang="ar-OM" sz="2400" dirty="0"/>
          </a:p>
        </p:txBody>
      </p:sp>
      <p:pic>
        <p:nvPicPr>
          <p:cNvPr id="13" name="ANS_NO_c3" descr="إجابة خاطئة">
            <a:hlinkClick r:id="rId8" action="ppaction://hlinksldjump" tooltip=" ">
              <a:snd r:embed="rId9" name="wrong.wav"/>
            </a:hlinkClick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2743200"/>
            <a:ext cx="2286000" cy="914400"/>
          </a:xfrm>
          <a:prstGeom prst="rect">
            <a:avLst/>
          </a:prstGeom>
        </p:spPr>
      </p:pic>
    </p:spTree>
  </p:cSld>
  <p:clrMapOvr>
    <a:masterClrMapping/>
  </p:clrMapOvr>
  <p:transition spd="med" advClick="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icon-bg"/>
          <p:cNvSpPr/>
          <p:nvPr/>
        </p:nvSpPr>
        <p:spPr>
          <a:xfrm>
            <a:off x="8001000" y="228600"/>
            <a:ext cx="658368" cy="658368"/>
          </a:xfrm>
          <a:prstGeom prst="ellipse">
            <a:avLst/>
          </a:prstGeom>
          <a:solidFill>
            <a:srgbClr val="7AC143"/>
          </a:solidFill>
          <a:ln/>
        </p:spPr>
        <p:txBody>
          <a:bodyPr/>
          <a:lstStyle/>
          <a:p>
            <a:endParaRPr lang="ar-OM"/>
          </a:p>
        </p:txBody>
      </p:sp>
      <p:pic>
        <p:nvPicPr>
          <p:cNvPr id="3" name="title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592" y="393192"/>
            <a:ext cx="329184" cy="329184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1280160" y="201168"/>
            <a:ext cx="6583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OM" altLang="en-US" sz="3000" b="1" dirty="0">
                <a:solidFill>
                  <a:srgbClr val="5B2C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ماذا تعلّمنا اليوم؟</a:t>
            </a:r>
            <a:endParaRPr lang="ar-OM" sz="3000" dirty="0"/>
          </a:p>
        </p:txBody>
      </p:sp>
      <p:sp>
        <p:nvSpPr>
          <p:cNvPr id="5" name="subtitle"/>
          <p:cNvSpPr txBox="1"/>
          <p:nvPr/>
        </p:nvSpPr>
        <p:spPr>
          <a:xfrm>
            <a:off x="1280160" y="84124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OM" altLang="en-US" sz="1600" b="1" dirty="0">
                <a:solidFill>
                  <a:srgbClr val="7AC1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التعزيز</a:t>
            </a:r>
            <a:endParaRPr lang="ar-OM" sz="1600" dirty="0"/>
          </a:p>
        </p:txBody>
      </p:sp>
      <p:sp>
        <p:nvSpPr>
          <p:cNvPr id="6" name="card"/>
          <p:cNvSpPr/>
          <p:nvPr/>
        </p:nvSpPr>
        <p:spPr>
          <a:xfrm>
            <a:off x="1463040" y="1325880"/>
            <a:ext cx="7132320" cy="640080"/>
          </a:xfrm>
          <a:prstGeom prst="roundRect">
            <a:avLst>
              <a:gd name="adj" fmla="val 25714"/>
            </a:avLst>
          </a:prstGeom>
          <a:solidFill>
            <a:srgbClr val="FFFFFF"/>
          </a:solidFill>
          <a:ln w="31750">
            <a:solidFill>
              <a:srgbClr val="F7941D"/>
            </a:solidFill>
            <a:prstDash val="solid"/>
          </a:ln>
          <a:effectLst>
            <a:outerShdw blurRad="76200" dist="25400" dir="5400000" algn="bl" rotWithShape="0">
              <a:srgbClr val="5B2C83">
                <a:alpha val="18000"/>
              </a:srgbClr>
            </a:outerShdw>
          </a:effectLst>
        </p:spPr>
        <p:txBody>
          <a:bodyPr/>
          <a:lstStyle/>
          <a:p>
            <a:endParaRPr lang="ar-OM"/>
          </a:p>
        </p:txBody>
      </p:sp>
      <p:pic>
        <p:nvPicPr>
          <p:cNvPr id="7" name="star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1453896"/>
            <a:ext cx="384048" cy="384048"/>
          </a:xfrm>
          <a:prstGeom prst="rect">
            <a:avLst/>
          </a:prstGeom>
        </p:spPr>
      </p:pic>
      <p:sp>
        <p:nvSpPr>
          <p:cNvPr id="8" name="point"/>
          <p:cNvSpPr txBox="1"/>
          <p:nvPr/>
        </p:nvSpPr>
        <p:spPr>
          <a:xfrm>
            <a:off x="1645920" y="132588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OM" altLang="en-US" sz="1900" b="1" dirty="0">
                <a:solidFill>
                  <a:srgbClr val="2D1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الرسم الرقمي هو الرسم باستخدام الحاسوب</a:t>
            </a:r>
            <a:endParaRPr lang="ar-OM" sz="1900" dirty="0"/>
          </a:p>
        </p:txBody>
      </p:sp>
      <p:sp>
        <p:nvSpPr>
          <p:cNvPr id="9" name="card"/>
          <p:cNvSpPr/>
          <p:nvPr/>
        </p:nvSpPr>
        <p:spPr>
          <a:xfrm>
            <a:off x="1463040" y="2112264"/>
            <a:ext cx="7132320" cy="640080"/>
          </a:xfrm>
          <a:prstGeom prst="roundRect">
            <a:avLst>
              <a:gd name="adj" fmla="val 25714"/>
            </a:avLst>
          </a:prstGeom>
          <a:solidFill>
            <a:srgbClr val="FFFFFF"/>
          </a:solidFill>
          <a:ln w="31750">
            <a:solidFill>
              <a:srgbClr val="29B6D1"/>
            </a:solidFill>
            <a:prstDash val="solid"/>
          </a:ln>
          <a:effectLst>
            <a:outerShdw blurRad="76200" dist="25400" dir="5400000" algn="bl" rotWithShape="0">
              <a:srgbClr val="5B2C83">
                <a:alpha val="18000"/>
              </a:srgbClr>
            </a:outerShdw>
          </a:effectLst>
        </p:spPr>
        <p:txBody>
          <a:bodyPr/>
          <a:lstStyle/>
          <a:p>
            <a:endParaRPr lang="ar-OM"/>
          </a:p>
        </p:txBody>
      </p:sp>
      <p:pic>
        <p:nvPicPr>
          <p:cNvPr id="10" name="star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2240280"/>
            <a:ext cx="384048" cy="384048"/>
          </a:xfrm>
          <a:prstGeom prst="rect">
            <a:avLst/>
          </a:prstGeom>
        </p:spPr>
      </p:pic>
      <p:sp>
        <p:nvSpPr>
          <p:cNvPr id="11" name="point"/>
          <p:cNvSpPr txBox="1"/>
          <p:nvPr/>
        </p:nvSpPr>
        <p:spPr>
          <a:xfrm>
            <a:off x="1645920" y="2112264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OM" altLang="en-US" sz="1900" b="1" dirty="0">
                <a:solidFill>
                  <a:srgbClr val="2D1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الفأرة تمثّل القلم وفرشاة الرسم</a:t>
            </a:r>
            <a:endParaRPr lang="ar-OM" sz="1900" dirty="0"/>
          </a:p>
        </p:txBody>
      </p:sp>
      <p:sp>
        <p:nvSpPr>
          <p:cNvPr id="12" name="card"/>
          <p:cNvSpPr/>
          <p:nvPr/>
        </p:nvSpPr>
        <p:spPr>
          <a:xfrm>
            <a:off x="1463040" y="2898648"/>
            <a:ext cx="7132320" cy="640080"/>
          </a:xfrm>
          <a:prstGeom prst="roundRect">
            <a:avLst>
              <a:gd name="adj" fmla="val 25714"/>
            </a:avLst>
          </a:prstGeom>
          <a:solidFill>
            <a:srgbClr val="FFFFFF"/>
          </a:solidFill>
          <a:ln w="31750">
            <a:solidFill>
              <a:srgbClr val="7AC143"/>
            </a:solidFill>
            <a:prstDash val="solid"/>
          </a:ln>
          <a:effectLst>
            <a:outerShdw blurRad="76200" dist="25400" dir="5400000" algn="bl" rotWithShape="0">
              <a:srgbClr val="5B2C83">
                <a:alpha val="18000"/>
              </a:srgbClr>
            </a:outerShdw>
          </a:effectLst>
        </p:spPr>
        <p:txBody>
          <a:bodyPr/>
          <a:lstStyle/>
          <a:p>
            <a:endParaRPr lang="ar-OM"/>
          </a:p>
        </p:txBody>
      </p:sp>
      <p:pic>
        <p:nvPicPr>
          <p:cNvPr id="13" name="star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3026664"/>
            <a:ext cx="384048" cy="384048"/>
          </a:xfrm>
          <a:prstGeom prst="rect">
            <a:avLst/>
          </a:prstGeom>
        </p:spPr>
      </p:pic>
      <p:sp>
        <p:nvSpPr>
          <p:cNvPr id="14" name="point"/>
          <p:cNvSpPr txBox="1"/>
          <p:nvPr/>
        </p:nvSpPr>
        <p:spPr>
          <a:xfrm>
            <a:off x="1645920" y="2898648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OM" altLang="en-US" sz="1900" b="1" dirty="0">
                <a:solidFill>
                  <a:srgbClr val="2D1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مزاياه: أدوات عدّة، سهولة الإنشاء والمشاركة</a:t>
            </a:r>
            <a:endParaRPr lang="ar-OM" sz="1900" dirty="0"/>
          </a:p>
        </p:txBody>
      </p:sp>
      <p:sp>
        <p:nvSpPr>
          <p:cNvPr id="15" name="card"/>
          <p:cNvSpPr/>
          <p:nvPr/>
        </p:nvSpPr>
        <p:spPr>
          <a:xfrm>
            <a:off x="1463040" y="3685032"/>
            <a:ext cx="7132320" cy="640080"/>
          </a:xfrm>
          <a:prstGeom prst="roundRect">
            <a:avLst>
              <a:gd name="adj" fmla="val 25714"/>
            </a:avLst>
          </a:prstGeom>
          <a:solidFill>
            <a:srgbClr val="FFFFFF"/>
          </a:solidFill>
          <a:ln w="31750">
            <a:solidFill>
              <a:srgbClr val="EC4C8C"/>
            </a:solidFill>
            <a:prstDash val="solid"/>
          </a:ln>
          <a:effectLst>
            <a:outerShdw blurRad="76200" dist="25400" dir="5400000" algn="bl" rotWithShape="0">
              <a:srgbClr val="5B2C83">
                <a:alpha val="18000"/>
              </a:srgbClr>
            </a:outerShdw>
          </a:effectLst>
        </p:spPr>
        <p:txBody>
          <a:bodyPr/>
          <a:lstStyle/>
          <a:p>
            <a:endParaRPr lang="ar-OM"/>
          </a:p>
        </p:txBody>
      </p:sp>
      <p:pic>
        <p:nvPicPr>
          <p:cNvPr id="16" name="star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3813048"/>
            <a:ext cx="384048" cy="384048"/>
          </a:xfrm>
          <a:prstGeom prst="rect">
            <a:avLst/>
          </a:prstGeom>
        </p:spPr>
      </p:pic>
      <p:sp>
        <p:nvSpPr>
          <p:cNvPr id="17" name="point"/>
          <p:cNvSpPr txBox="1"/>
          <p:nvPr/>
        </p:nvSpPr>
        <p:spPr>
          <a:xfrm>
            <a:off x="1645920" y="3685032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OM" altLang="en-US" sz="1900" b="1" dirty="0">
                <a:solidFill>
                  <a:srgbClr val="2D1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البكسل نقطة مربّعة، والصورة تتكوّن من بكسلات</a:t>
            </a:r>
            <a:endParaRPr lang="ar-OM" sz="1900" dirty="0"/>
          </a:p>
        </p:txBody>
      </p:sp>
      <p:pic>
        <p:nvPicPr>
          <p:cNvPr id="18" name="smile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237744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row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960120"/>
            <a:ext cx="1097280" cy="1097280"/>
          </a:xfrm>
          <a:prstGeom prst="rect">
            <a:avLst/>
          </a:prstGeom>
        </p:spPr>
      </p:pic>
      <p:sp>
        <p:nvSpPr>
          <p:cNvPr id="3" name="end-title"/>
          <p:cNvSpPr txBox="1"/>
          <p:nvPr/>
        </p:nvSpPr>
        <p:spPr>
          <a:xfrm>
            <a:off x="1645920" y="205740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OM" altLang="en-US" sz="4800" b="1" dirty="0">
                <a:solidFill>
                  <a:srgbClr val="5B2C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أحسنتم يا أبطال!</a:t>
            </a:r>
            <a:endParaRPr lang="ar-OM" sz="4800" dirty="0"/>
          </a:p>
        </p:txBody>
      </p:sp>
      <p:sp>
        <p:nvSpPr>
          <p:cNvPr id="4" name="end-sub"/>
          <p:cNvSpPr txBox="1"/>
          <p:nvPr/>
        </p:nvSpPr>
        <p:spPr>
          <a:xfrm>
            <a:off x="1645920" y="292608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OM" altLang="en-US" sz="2400" b="1" dirty="0">
                <a:solidFill>
                  <a:srgbClr val="F79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أنتم رسّامون رقميّون مبدعون</a:t>
            </a:r>
            <a:endParaRPr lang="ar-OM" sz="2400" dirty="0"/>
          </a:p>
        </p:txBody>
      </p:sp>
      <p:pic>
        <p:nvPicPr>
          <p:cNvPr id="5" name="star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3611880"/>
            <a:ext cx="457200" cy="457200"/>
          </a:xfrm>
          <a:prstGeom prst="rect">
            <a:avLst/>
          </a:prstGeom>
        </p:spPr>
      </p:pic>
      <p:pic>
        <p:nvPicPr>
          <p:cNvPr id="6" name="star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3611880"/>
            <a:ext cx="457200" cy="457200"/>
          </a:xfrm>
          <a:prstGeom prst="rect">
            <a:avLst/>
          </a:prstGeom>
        </p:spPr>
      </p:pic>
      <p:pic>
        <p:nvPicPr>
          <p:cNvPr id="7" name="star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3611880"/>
            <a:ext cx="457200" cy="457200"/>
          </a:xfrm>
          <a:prstGeom prst="rect">
            <a:avLst/>
          </a:prstGeom>
        </p:spPr>
      </p:pic>
      <p:pic>
        <p:nvPicPr>
          <p:cNvPr id="8" name="star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3611880"/>
            <a:ext cx="457200" cy="457200"/>
          </a:xfrm>
          <a:prstGeom prst="rect">
            <a:avLst/>
          </a:prstGeom>
        </p:spPr>
      </p:pic>
      <p:pic>
        <p:nvPicPr>
          <p:cNvPr id="9" name="star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361188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aise"/>
          <p:cNvSpPr txBox="1"/>
          <p:nvPr/>
        </p:nvSpPr>
        <p:spPr>
          <a:xfrm>
            <a:off x="2377440" y="105156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OM" altLang="en-US" sz="4000" b="1" dirty="0">
                <a:solidFill>
                  <a:srgbClr val="7AC1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أحسنت يا بطل!</a:t>
            </a:r>
            <a:endParaRPr lang="ar-OM" sz="4000" dirty="0"/>
          </a:p>
        </p:txBody>
      </p:sp>
      <p:sp>
        <p:nvSpPr>
          <p:cNvPr id="3" name="praise-sub"/>
          <p:cNvSpPr txBox="1"/>
          <p:nvPr/>
        </p:nvSpPr>
        <p:spPr>
          <a:xfrm>
            <a:off x="2011680" y="20116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OM" altLang="en-US" sz="2200" b="1" dirty="0">
                <a:solidFill>
                  <a:srgbClr val="5B2C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الفأرة جزء من الحاسوب نستخدمها للإشارة والرسم</a:t>
            </a:r>
            <a:endParaRPr lang="ar-OM" sz="2200" dirty="0"/>
          </a:p>
        </p:txBody>
      </p:sp>
      <p:sp>
        <p:nvSpPr>
          <p:cNvPr id="4" name="nav-btn"/>
          <p:cNvSpPr/>
          <p:nvPr/>
        </p:nvSpPr>
        <p:spPr>
          <a:xfrm>
            <a:off x="3383280" y="3154680"/>
            <a:ext cx="2377440" cy="594360"/>
          </a:xfrm>
          <a:prstGeom prst="roundRect">
            <a:avLst>
              <a:gd name="adj" fmla="val 49231"/>
            </a:avLst>
          </a:prstGeom>
          <a:solidFill>
            <a:srgbClr val="5B2C83"/>
          </a:solidFill>
          <a:ln/>
        </p:spPr>
        <p:txBody>
          <a:bodyPr wrap="square" lIns="0" tIns="1270" rIns="6985" bIns="0" rtlCol="0" anchor="ctr"/>
          <a:lstStyle/>
          <a:p>
            <a:pPr marL="0" indent="0" algn="ctr" rtl="1">
              <a:buNone/>
            </a:pPr>
            <a:r>
              <a:rPr lang="ar-OM" alt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التالي</a:t>
            </a:r>
            <a:endParaRPr lang="ar-OM" sz="2200" dirty="0"/>
          </a:p>
        </p:txBody>
      </p:sp>
      <p:pic>
        <p:nvPicPr>
          <p:cNvPr id="5" name="nav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3310128"/>
            <a:ext cx="283464" cy="283464"/>
          </a:xfrm>
          <a:prstGeom prst="rect">
            <a:avLst/>
          </a:prstGeom>
        </p:spPr>
      </p:pic>
      <p:pic>
        <p:nvPicPr>
          <p:cNvPr id="6" name="NAV_next" descr="التالي">
            <a:hlinkClick r:id="rId4" action="ppaction://hlinksldjump" tooltip=" 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3154680"/>
            <a:ext cx="2377440" cy="594360"/>
          </a:xfrm>
          <a:prstGeom prst="rect">
            <a:avLst/>
          </a:prstGeom>
        </p:spPr>
      </p:pic>
    </p:spTree>
  </p:cSld>
  <p:clrMapOvr>
    <a:masterClrMapping/>
  </p:clrMapOvr>
  <p:transition spd="med" advClick="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aise"/>
          <p:cNvSpPr txBox="1"/>
          <p:nvPr/>
        </p:nvSpPr>
        <p:spPr>
          <a:xfrm>
            <a:off x="2377440" y="105156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OM" altLang="en-US" sz="4000" b="1" dirty="0">
                <a:solidFill>
                  <a:srgbClr val="F79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حاول مرة أخرى</a:t>
            </a:r>
            <a:endParaRPr lang="ar-OM" sz="4000" dirty="0"/>
          </a:p>
        </p:txBody>
      </p:sp>
      <p:sp>
        <p:nvSpPr>
          <p:cNvPr id="3" name="praise-sub"/>
          <p:cNvSpPr txBox="1"/>
          <p:nvPr/>
        </p:nvSpPr>
        <p:spPr>
          <a:xfrm>
            <a:off x="2011680" y="20116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OM" altLang="en-US" sz="2200" b="1" dirty="0">
                <a:solidFill>
                  <a:srgbClr val="5B2C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فكّر في القطعة التي نحرّكها بيدنا</a:t>
            </a:r>
            <a:endParaRPr lang="ar-OM" sz="2200" dirty="0"/>
          </a:p>
        </p:txBody>
      </p:sp>
      <p:sp>
        <p:nvSpPr>
          <p:cNvPr id="4" name="nav-btn"/>
          <p:cNvSpPr/>
          <p:nvPr/>
        </p:nvSpPr>
        <p:spPr>
          <a:xfrm>
            <a:off x="3063240" y="3154680"/>
            <a:ext cx="3017520" cy="594360"/>
          </a:xfrm>
          <a:prstGeom prst="roundRect">
            <a:avLst>
              <a:gd name="adj" fmla="val 49231"/>
            </a:avLst>
          </a:prstGeom>
          <a:solidFill>
            <a:srgbClr val="F7941D"/>
          </a:solidFill>
          <a:ln/>
        </p:spPr>
        <p:txBody>
          <a:bodyPr wrap="square" lIns="0" tIns="1270" rIns="6985" bIns="0" rtlCol="0" anchor="ctr"/>
          <a:lstStyle/>
          <a:p>
            <a:pPr marL="0" indent="0" algn="ctr" rtl="1">
              <a:buNone/>
            </a:pPr>
            <a:r>
              <a:rPr lang="ar-OM" alt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حاول مرة أخرى</a:t>
            </a:r>
            <a:endParaRPr lang="ar-OM" sz="2200" dirty="0"/>
          </a:p>
        </p:txBody>
      </p:sp>
      <p:pic>
        <p:nvPicPr>
          <p:cNvPr id="5" name="nav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3310128"/>
            <a:ext cx="283464" cy="283464"/>
          </a:xfrm>
          <a:prstGeom prst="rect">
            <a:avLst/>
          </a:prstGeom>
        </p:spPr>
      </p:pic>
      <p:pic>
        <p:nvPicPr>
          <p:cNvPr id="6" name="NAV_back" descr="عودة إلى السؤال">
            <a:hlinkClick r:id="rId4" action="ppaction://hlinksldjump" tooltip=" 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3240" y="3154680"/>
            <a:ext cx="3017520" cy="594360"/>
          </a:xfrm>
          <a:prstGeom prst="rect">
            <a:avLst/>
          </a:prstGeom>
        </p:spPr>
      </p:pic>
    </p:spTree>
  </p:cSld>
  <p:clrMapOvr>
    <a:masterClrMapping/>
  </p:clrMapOvr>
  <p:transition spd="med" advClick="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aise"/>
          <p:cNvSpPr txBox="1"/>
          <p:nvPr/>
        </p:nvSpPr>
        <p:spPr>
          <a:xfrm>
            <a:off x="2377440" y="105156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OM" altLang="en-US" sz="4000" b="1" dirty="0">
                <a:solidFill>
                  <a:srgbClr val="7AC1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رائع!</a:t>
            </a:r>
            <a:endParaRPr lang="ar-OM" sz="4000" dirty="0"/>
          </a:p>
        </p:txBody>
      </p:sp>
      <p:sp>
        <p:nvSpPr>
          <p:cNvPr id="3" name="praise-sub"/>
          <p:cNvSpPr txBox="1"/>
          <p:nvPr/>
        </p:nvSpPr>
        <p:spPr>
          <a:xfrm>
            <a:off x="2011680" y="20116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OM" altLang="en-US" sz="2200" b="1" dirty="0">
                <a:solidFill>
                  <a:srgbClr val="5B2C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نرسم على الورق بقلم التلوين</a:t>
            </a:r>
            <a:endParaRPr lang="ar-OM" sz="2200" dirty="0"/>
          </a:p>
        </p:txBody>
      </p:sp>
      <p:sp>
        <p:nvSpPr>
          <p:cNvPr id="4" name="nav-btn"/>
          <p:cNvSpPr/>
          <p:nvPr/>
        </p:nvSpPr>
        <p:spPr>
          <a:xfrm>
            <a:off x="3383280" y="3154680"/>
            <a:ext cx="2377440" cy="594360"/>
          </a:xfrm>
          <a:prstGeom prst="roundRect">
            <a:avLst>
              <a:gd name="adj" fmla="val 49231"/>
            </a:avLst>
          </a:prstGeom>
          <a:solidFill>
            <a:srgbClr val="5B2C83"/>
          </a:solidFill>
          <a:ln/>
        </p:spPr>
        <p:txBody>
          <a:bodyPr wrap="square" lIns="0" tIns="1270" rIns="6985" bIns="0" rtlCol="0" anchor="ctr"/>
          <a:lstStyle/>
          <a:p>
            <a:pPr marL="0" indent="0" algn="ctr" rtl="1">
              <a:buNone/>
            </a:pPr>
            <a:r>
              <a:rPr lang="ar-OM" alt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التالي</a:t>
            </a:r>
            <a:endParaRPr lang="ar-OM" sz="2200" dirty="0"/>
          </a:p>
        </p:txBody>
      </p:sp>
      <p:pic>
        <p:nvPicPr>
          <p:cNvPr id="5" name="nav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3310128"/>
            <a:ext cx="283464" cy="283464"/>
          </a:xfrm>
          <a:prstGeom prst="rect">
            <a:avLst/>
          </a:prstGeom>
        </p:spPr>
      </p:pic>
      <p:pic>
        <p:nvPicPr>
          <p:cNvPr id="6" name="NAV_next" descr="التالي">
            <a:hlinkClick r:id="rId4" action="ppaction://hlinksldjump" tooltip=" 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3154680"/>
            <a:ext cx="2377440" cy="594360"/>
          </a:xfrm>
          <a:prstGeom prst="rect">
            <a:avLst/>
          </a:prstGeom>
        </p:spPr>
      </p:pic>
    </p:spTree>
  </p:cSld>
  <p:clrMapOvr>
    <a:masterClrMapping/>
  </p:clrMapOvr>
  <p:transition spd="med" advClick="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aise"/>
          <p:cNvSpPr txBox="1"/>
          <p:nvPr/>
        </p:nvSpPr>
        <p:spPr>
          <a:xfrm>
            <a:off x="2377440" y="105156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OM" altLang="en-US" sz="4000" b="1" dirty="0">
                <a:solidFill>
                  <a:srgbClr val="F79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حاول مرة أخرى</a:t>
            </a:r>
            <a:endParaRPr lang="ar-OM" sz="4000" dirty="0"/>
          </a:p>
        </p:txBody>
      </p:sp>
      <p:sp>
        <p:nvSpPr>
          <p:cNvPr id="3" name="praise-sub"/>
          <p:cNvSpPr txBox="1"/>
          <p:nvPr/>
        </p:nvSpPr>
        <p:spPr>
          <a:xfrm>
            <a:off x="2011680" y="20116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OM" altLang="en-US" sz="2200" b="1" dirty="0">
                <a:solidFill>
                  <a:srgbClr val="5B2C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بماذا نلوّن في دفتر الرسم؟</a:t>
            </a:r>
            <a:endParaRPr lang="ar-OM" sz="2200" dirty="0"/>
          </a:p>
        </p:txBody>
      </p:sp>
      <p:sp>
        <p:nvSpPr>
          <p:cNvPr id="4" name="nav-btn"/>
          <p:cNvSpPr/>
          <p:nvPr/>
        </p:nvSpPr>
        <p:spPr>
          <a:xfrm>
            <a:off x="3063240" y="3154680"/>
            <a:ext cx="3017520" cy="594360"/>
          </a:xfrm>
          <a:prstGeom prst="roundRect">
            <a:avLst>
              <a:gd name="adj" fmla="val 49231"/>
            </a:avLst>
          </a:prstGeom>
          <a:solidFill>
            <a:srgbClr val="F7941D"/>
          </a:solidFill>
          <a:ln/>
        </p:spPr>
        <p:txBody>
          <a:bodyPr wrap="square" lIns="0" tIns="1270" rIns="6985" bIns="0" rtlCol="0" anchor="ctr"/>
          <a:lstStyle/>
          <a:p>
            <a:pPr marL="0" indent="0" algn="ctr" rtl="1">
              <a:buNone/>
            </a:pPr>
            <a:r>
              <a:rPr lang="ar-OM" alt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حاول مرة أخرى</a:t>
            </a:r>
            <a:endParaRPr lang="ar-OM" sz="2200" dirty="0"/>
          </a:p>
        </p:txBody>
      </p:sp>
      <p:pic>
        <p:nvPicPr>
          <p:cNvPr id="5" name="nav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3310128"/>
            <a:ext cx="283464" cy="283464"/>
          </a:xfrm>
          <a:prstGeom prst="rect">
            <a:avLst/>
          </a:prstGeom>
        </p:spPr>
      </p:pic>
      <p:pic>
        <p:nvPicPr>
          <p:cNvPr id="6" name="NAV_back" descr="عودة إلى السؤال">
            <a:hlinkClick r:id="rId4" action="ppaction://hlinksldjump" tooltip=" 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3240" y="3154680"/>
            <a:ext cx="3017520" cy="594360"/>
          </a:xfrm>
          <a:prstGeom prst="rect">
            <a:avLst/>
          </a:prstGeom>
        </p:spPr>
      </p:pic>
    </p:spTree>
  </p:cSld>
  <p:clrMapOvr>
    <a:masterClrMapping/>
  </p:clrMapOvr>
  <p:transition spd="med" advClick="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aise"/>
          <p:cNvSpPr txBox="1"/>
          <p:nvPr/>
        </p:nvSpPr>
        <p:spPr>
          <a:xfrm>
            <a:off x="2377440" y="105156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OM" altLang="en-US" sz="4000" b="1" dirty="0">
                <a:solidFill>
                  <a:srgbClr val="7AC1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ممتاز!</a:t>
            </a:r>
            <a:endParaRPr lang="ar-OM" sz="4000" dirty="0"/>
          </a:p>
        </p:txBody>
      </p:sp>
      <p:sp>
        <p:nvSpPr>
          <p:cNvPr id="3" name="praise-sub"/>
          <p:cNvSpPr txBox="1"/>
          <p:nvPr/>
        </p:nvSpPr>
        <p:spPr>
          <a:xfrm>
            <a:off x="2011680" y="20116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OM" altLang="en-US" sz="2200" b="1" dirty="0">
                <a:solidFill>
                  <a:srgbClr val="5B2C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الفأرة تصبح القلم وفرشاة الرسم</a:t>
            </a:r>
            <a:endParaRPr lang="ar-OM" sz="2200" dirty="0"/>
          </a:p>
        </p:txBody>
      </p:sp>
      <p:sp>
        <p:nvSpPr>
          <p:cNvPr id="4" name="nav-btn"/>
          <p:cNvSpPr/>
          <p:nvPr/>
        </p:nvSpPr>
        <p:spPr>
          <a:xfrm>
            <a:off x="3383280" y="3154680"/>
            <a:ext cx="2377440" cy="594360"/>
          </a:xfrm>
          <a:prstGeom prst="roundRect">
            <a:avLst>
              <a:gd name="adj" fmla="val 49231"/>
            </a:avLst>
          </a:prstGeom>
          <a:solidFill>
            <a:srgbClr val="5B2C83"/>
          </a:solidFill>
          <a:ln/>
        </p:spPr>
        <p:txBody>
          <a:bodyPr wrap="square" lIns="0" tIns="1270" rIns="6985" bIns="0" rtlCol="0" anchor="ctr"/>
          <a:lstStyle/>
          <a:p>
            <a:pPr marL="0" indent="0" algn="ctr" rtl="1">
              <a:buNone/>
            </a:pPr>
            <a:r>
              <a:rPr lang="ar-OM" alt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التالي</a:t>
            </a:r>
            <a:endParaRPr lang="ar-OM" sz="2200" dirty="0"/>
          </a:p>
        </p:txBody>
      </p:sp>
      <p:pic>
        <p:nvPicPr>
          <p:cNvPr id="5" name="nav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3310128"/>
            <a:ext cx="283464" cy="283464"/>
          </a:xfrm>
          <a:prstGeom prst="rect">
            <a:avLst/>
          </a:prstGeom>
        </p:spPr>
      </p:pic>
      <p:pic>
        <p:nvPicPr>
          <p:cNvPr id="6" name="NAV_next" descr="التالي">
            <a:hlinkClick r:id="rId4" action="ppaction://hlinksldjump" tooltip=" 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3154680"/>
            <a:ext cx="2377440" cy="594360"/>
          </a:xfrm>
          <a:prstGeom prst="rect">
            <a:avLst/>
          </a:prstGeom>
        </p:spPr>
      </p:pic>
    </p:spTree>
  </p:cSld>
  <p:clrMapOvr>
    <a:masterClrMapping/>
  </p:clrMapOvr>
  <p:transition spd="med" advClick="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aise"/>
          <p:cNvSpPr txBox="1"/>
          <p:nvPr/>
        </p:nvSpPr>
        <p:spPr>
          <a:xfrm>
            <a:off x="2377440" y="105156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OM" altLang="en-US" sz="4000" b="1" dirty="0">
                <a:solidFill>
                  <a:srgbClr val="F79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حاول مرة أخرى</a:t>
            </a:r>
            <a:endParaRPr lang="ar-OM" sz="4000" dirty="0"/>
          </a:p>
        </p:txBody>
      </p:sp>
      <p:sp>
        <p:nvSpPr>
          <p:cNvPr id="3" name="praise-sub"/>
          <p:cNvSpPr txBox="1"/>
          <p:nvPr/>
        </p:nvSpPr>
        <p:spPr>
          <a:xfrm>
            <a:off x="2011680" y="20116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OM" altLang="en-US" sz="2200" b="1" dirty="0">
                <a:solidFill>
                  <a:srgbClr val="5B2C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ماذا نُمسك بيدنا لنرسم على الحاسوب؟</a:t>
            </a:r>
            <a:endParaRPr lang="ar-OM" sz="2200" dirty="0"/>
          </a:p>
        </p:txBody>
      </p:sp>
      <p:sp>
        <p:nvSpPr>
          <p:cNvPr id="4" name="nav-btn"/>
          <p:cNvSpPr/>
          <p:nvPr/>
        </p:nvSpPr>
        <p:spPr>
          <a:xfrm>
            <a:off x="3063240" y="3154680"/>
            <a:ext cx="3017520" cy="594360"/>
          </a:xfrm>
          <a:prstGeom prst="roundRect">
            <a:avLst>
              <a:gd name="adj" fmla="val 49231"/>
            </a:avLst>
          </a:prstGeom>
          <a:solidFill>
            <a:srgbClr val="F7941D"/>
          </a:solidFill>
          <a:ln/>
        </p:spPr>
        <p:txBody>
          <a:bodyPr wrap="square" lIns="0" tIns="1270" rIns="6985" bIns="0" rtlCol="0" anchor="ctr"/>
          <a:lstStyle/>
          <a:p>
            <a:pPr marL="0" indent="0" algn="ctr" rtl="1">
              <a:buNone/>
            </a:pPr>
            <a:r>
              <a:rPr lang="ar-OM" alt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حاول مرة أخرى</a:t>
            </a:r>
            <a:endParaRPr lang="ar-OM" sz="2200" dirty="0"/>
          </a:p>
        </p:txBody>
      </p:sp>
      <p:pic>
        <p:nvPicPr>
          <p:cNvPr id="5" name="nav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3310128"/>
            <a:ext cx="283464" cy="283464"/>
          </a:xfrm>
          <a:prstGeom prst="rect">
            <a:avLst/>
          </a:prstGeom>
        </p:spPr>
      </p:pic>
      <p:pic>
        <p:nvPicPr>
          <p:cNvPr id="6" name="NAV_back" descr="عودة إلى السؤال">
            <a:hlinkClick r:id="rId4" action="ppaction://hlinksldjump" tooltip=" 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3240" y="3154680"/>
            <a:ext cx="3017520" cy="594360"/>
          </a:xfrm>
          <a:prstGeom prst="rect">
            <a:avLst/>
          </a:prstGeom>
        </p:spPr>
      </p:pic>
    </p:spTree>
  </p:cSld>
  <p:clrMapOvr>
    <a:masterClrMapping/>
  </p:clrMapOvr>
  <p:transition spd="med" advClick="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aise"/>
          <p:cNvSpPr txBox="1"/>
          <p:nvPr/>
        </p:nvSpPr>
        <p:spPr>
          <a:xfrm>
            <a:off x="2377440" y="105156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OM" altLang="en-US" sz="4000" b="1" dirty="0">
                <a:solidFill>
                  <a:srgbClr val="7AC1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إجابة صحيحة!</a:t>
            </a:r>
            <a:endParaRPr lang="ar-OM" sz="4000" dirty="0"/>
          </a:p>
        </p:txBody>
      </p:sp>
      <p:sp>
        <p:nvSpPr>
          <p:cNvPr id="3" name="praise-sub"/>
          <p:cNvSpPr txBox="1"/>
          <p:nvPr/>
        </p:nvSpPr>
        <p:spPr>
          <a:xfrm>
            <a:off x="2011680" y="20116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OM" altLang="en-US" sz="2200" b="1" dirty="0">
                <a:solidFill>
                  <a:srgbClr val="5B2C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سهولة المشاركة من مزايا الرسم الرقمي</a:t>
            </a:r>
            <a:endParaRPr lang="ar-OM" sz="2200" dirty="0"/>
          </a:p>
        </p:txBody>
      </p:sp>
      <p:sp>
        <p:nvSpPr>
          <p:cNvPr id="4" name="nav-btn"/>
          <p:cNvSpPr/>
          <p:nvPr/>
        </p:nvSpPr>
        <p:spPr>
          <a:xfrm>
            <a:off x="3383280" y="3154680"/>
            <a:ext cx="2377440" cy="594360"/>
          </a:xfrm>
          <a:prstGeom prst="roundRect">
            <a:avLst>
              <a:gd name="adj" fmla="val 49231"/>
            </a:avLst>
          </a:prstGeom>
          <a:solidFill>
            <a:srgbClr val="5B2C83"/>
          </a:solidFill>
          <a:ln/>
        </p:spPr>
        <p:txBody>
          <a:bodyPr wrap="square" lIns="0" tIns="1270" rIns="6985" bIns="0" rtlCol="0" anchor="ctr"/>
          <a:lstStyle/>
          <a:p>
            <a:pPr marL="0" indent="0" algn="ctr" rtl="1">
              <a:buNone/>
            </a:pPr>
            <a:r>
              <a:rPr lang="ar-OM" alt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التالي</a:t>
            </a:r>
            <a:endParaRPr lang="ar-OM" sz="2200" dirty="0"/>
          </a:p>
        </p:txBody>
      </p:sp>
      <p:pic>
        <p:nvPicPr>
          <p:cNvPr id="5" name="nav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3310128"/>
            <a:ext cx="283464" cy="283464"/>
          </a:xfrm>
          <a:prstGeom prst="rect">
            <a:avLst/>
          </a:prstGeom>
        </p:spPr>
      </p:pic>
      <p:pic>
        <p:nvPicPr>
          <p:cNvPr id="6" name="NAV_next" descr="التالي">
            <a:hlinkClick r:id="rId4" action="ppaction://hlinksldjump" tooltip=" 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3154680"/>
            <a:ext cx="2377440" cy="594360"/>
          </a:xfrm>
          <a:prstGeom prst="rect">
            <a:avLst/>
          </a:prstGeom>
        </p:spPr>
      </p:pic>
    </p:spTree>
  </p:cSld>
  <p:clrMapOvr>
    <a:masterClrMapping/>
  </p:clrMapOvr>
  <p:transition spd="med" advClick="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aise"/>
          <p:cNvSpPr txBox="1"/>
          <p:nvPr/>
        </p:nvSpPr>
        <p:spPr>
          <a:xfrm>
            <a:off x="2377440" y="105156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OM" altLang="en-US" sz="4000" b="1" dirty="0">
                <a:solidFill>
                  <a:srgbClr val="F79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حاول مرة أخرى</a:t>
            </a:r>
            <a:endParaRPr lang="ar-OM" sz="4000" dirty="0"/>
          </a:p>
        </p:txBody>
      </p:sp>
      <p:sp>
        <p:nvSpPr>
          <p:cNvPr id="3" name="praise-sub"/>
          <p:cNvSpPr txBox="1"/>
          <p:nvPr/>
        </p:nvSpPr>
        <p:spPr>
          <a:xfrm>
            <a:off x="2011680" y="20116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OM" altLang="en-US" sz="2200" b="1" dirty="0">
                <a:solidFill>
                  <a:srgbClr val="5B2C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تذكّر مزايا الرسم الرقمي الثلاث</a:t>
            </a:r>
            <a:endParaRPr lang="ar-OM" sz="2200" dirty="0"/>
          </a:p>
        </p:txBody>
      </p:sp>
      <p:sp>
        <p:nvSpPr>
          <p:cNvPr id="4" name="nav-btn"/>
          <p:cNvSpPr/>
          <p:nvPr/>
        </p:nvSpPr>
        <p:spPr>
          <a:xfrm>
            <a:off x="3063240" y="3154680"/>
            <a:ext cx="3017520" cy="594360"/>
          </a:xfrm>
          <a:prstGeom prst="roundRect">
            <a:avLst>
              <a:gd name="adj" fmla="val 49231"/>
            </a:avLst>
          </a:prstGeom>
          <a:solidFill>
            <a:srgbClr val="F7941D"/>
          </a:solidFill>
          <a:ln/>
        </p:spPr>
        <p:txBody>
          <a:bodyPr wrap="square" lIns="0" tIns="1270" rIns="6985" bIns="0" rtlCol="0" anchor="ctr"/>
          <a:lstStyle/>
          <a:p>
            <a:pPr marL="0" indent="0" algn="ctr" rtl="1">
              <a:buNone/>
            </a:pPr>
            <a:r>
              <a:rPr lang="ar-OM" alt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حاول مرة أخرى</a:t>
            </a:r>
            <a:endParaRPr lang="ar-OM" sz="2200" dirty="0"/>
          </a:p>
        </p:txBody>
      </p:sp>
      <p:pic>
        <p:nvPicPr>
          <p:cNvPr id="5" name="nav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3310128"/>
            <a:ext cx="283464" cy="283464"/>
          </a:xfrm>
          <a:prstGeom prst="rect">
            <a:avLst/>
          </a:prstGeom>
        </p:spPr>
      </p:pic>
      <p:pic>
        <p:nvPicPr>
          <p:cNvPr id="6" name="NAV_back" descr="عودة إلى السؤال">
            <a:hlinkClick r:id="rId4" action="ppaction://hlinksldjump" tooltip=" 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3240" y="3154680"/>
            <a:ext cx="3017520" cy="594360"/>
          </a:xfrm>
          <a:prstGeom prst="rect">
            <a:avLst/>
          </a:prstGeom>
        </p:spPr>
      </p:pic>
    </p:spTree>
  </p:cSld>
  <p:clrMapOvr>
    <a:masterClrMapping/>
  </p:clrMapOvr>
  <p:transition spd="med" advClick="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aise"/>
          <p:cNvSpPr txBox="1"/>
          <p:nvPr/>
        </p:nvSpPr>
        <p:spPr>
          <a:xfrm>
            <a:off x="2377440" y="105156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OM" altLang="en-US" sz="4000" b="1" dirty="0">
                <a:solidFill>
                  <a:srgbClr val="7AC1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أحسنت!</a:t>
            </a:r>
            <a:endParaRPr lang="ar-OM" sz="4000" dirty="0"/>
          </a:p>
        </p:txBody>
      </p:sp>
      <p:sp>
        <p:nvSpPr>
          <p:cNvPr id="3" name="praise-sub"/>
          <p:cNvSpPr txBox="1"/>
          <p:nvPr/>
        </p:nvSpPr>
        <p:spPr>
          <a:xfrm>
            <a:off x="2011680" y="20116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OM" altLang="en-US" sz="2200" b="1" dirty="0">
                <a:solidFill>
                  <a:srgbClr val="5B2C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البكسل نقطة مربّعة في الشاشة</a:t>
            </a:r>
            <a:endParaRPr lang="ar-OM" sz="2200" dirty="0"/>
          </a:p>
        </p:txBody>
      </p:sp>
      <p:sp>
        <p:nvSpPr>
          <p:cNvPr id="4" name="nav-btn"/>
          <p:cNvSpPr/>
          <p:nvPr/>
        </p:nvSpPr>
        <p:spPr>
          <a:xfrm>
            <a:off x="3383280" y="3154680"/>
            <a:ext cx="2377440" cy="594360"/>
          </a:xfrm>
          <a:prstGeom prst="roundRect">
            <a:avLst>
              <a:gd name="adj" fmla="val 49231"/>
            </a:avLst>
          </a:prstGeom>
          <a:solidFill>
            <a:srgbClr val="5B2C83"/>
          </a:solidFill>
          <a:ln/>
        </p:spPr>
        <p:txBody>
          <a:bodyPr wrap="square" lIns="0" tIns="1270" rIns="6985" bIns="0" rtlCol="0" anchor="ctr"/>
          <a:lstStyle/>
          <a:p>
            <a:pPr marL="0" indent="0" algn="ctr" rtl="1">
              <a:buNone/>
            </a:pPr>
            <a:r>
              <a:rPr lang="ar-OM" alt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التالي</a:t>
            </a:r>
            <a:endParaRPr lang="ar-OM" sz="2200" dirty="0"/>
          </a:p>
        </p:txBody>
      </p:sp>
      <p:pic>
        <p:nvPicPr>
          <p:cNvPr id="5" name="nav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3310128"/>
            <a:ext cx="283464" cy="283464"/>
          </a:xfrm>
          <a:prstGeom prst="rect">
            <a:avLst/>
          </a:prstGeom>
        </p:spPr>
      </p:pic>
      <p:pic>
        <p:nvPicPr>
          <p:cNvPr id="6" name="NAV_next" descr="التالي">
            <a:hlinkClick r:id="rId4" action="ppaction://hlinksldjump" tooltip=" 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3154680"/>
            <a:ext cx="2377440" cy="594360"/>
          </a:xfrm>
          <a:prstGeom prst="rect">
            <a:avLst/>
          </a:prstGeom>
        </p:spPr>
      </p:pic>
    </p:spTree>
  </p:cSld>
  <p:clrMapOvr>
    <a:masterClrMapping/>
  </p:clrMapOvr>
  <p:transition spd="med" advClick="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aise"/>
          <p:cNvSpPr txBox="1"/>
          <p:nvPr/>
        </p:nvSpPr>
        <p:spPr>
          <a:xfrm>
            <a:off x="2377440" y="105156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OM" altLang="en-US" sz="4000" b="1" dirty="0">
                <a:solidFill>
                  <a:srgbClr val="F79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حاول مرة أخرى</a:t>
            </a:r>
            <a:endParaRPr lang="ar-OM" sz="4000" dirty="0"/>
          </a:p>
        </p:txBody>
      </p:sp>
      <p:sp>
        <p:nvSpPr>
          <p:cNvPr id="3" name="praise-sub"/>
          <p:cNvSpPr txBox="1"/>
          <p:nvPr/>
        </p:nvSpPr>
        <p:spPr>
          <a:xfrm>
            <a:off x="2011680" y="20116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OM" altLang="en-US" sz="2200" b="1" dirty="0">
                <a:solidFill>
                  <a:srgbClr val="5B2C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انظر جيدًا إلى البكسل عند تكبير الصورة</a:t>
            </a:r>
            <a:endParaRPr lang="ar-OM" sz="2200" dirty="0"/>
          </a:p>
        </p:txBody>
      </p:sp>
      <p:sp>
        <p:nvSpPr>
          <p:cNvPr id="4" name="nav-btn"/>
          <p:cNvSpPr/>
          <p:nvPr/>
        </p:nvSpPr>
        <p:spPr>
          <a:xfrm>
            <a:off x="3063240" y="3154680"/>
            <a:ext cx="3017520" cy="594360"/>
          </a:xfrm>
          <a:prstGeom prst="roundRect">
            <a:avLst>
              <a:gd name="adj" fmla="val 49231"/>
            </a:avLst>
          </a:prstGeom>
          <a:solidFill>
            <a:srgbClr val="F7941D"/>
          </a:solidFill>
          <a:ln/>
        </p:spPr>
        <p:txBody>
          <a:bodyPr wrap="square" lIns="0" tIns="1270" rIns="6985" bIns="0" rtlCol="0" anchor="ctr"/>
          <a:lstStyle/>
          <a:p>
            <a:pPr marL="0" indent="0" algn="ctr" rtl="1">
              <a:buNone/>
            </a:pPr>
            <a:r>
              <a:rPr lang="ar-OM" alt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حاول مرة أخرى</a:t>
            </a:r>
            <a:endParaRPr lang="ar-OM" sz="2200" dirty="0"/>
          </a:p>
        </p:txBody>
      </p:sp>
      <p:pic>
        <p:nvPicPr>
          <p:cNvPr id="5" name="nav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3310128"/>
            <a:ext cx="283464" cy="283464"/>
          </a:xfrm>
          <a:prstGeom prst="rect">
            <a:avLst/>
          </a:prstGeom>
        </p:spPr>
      </p:pic>
      <p:pic>
        <p:nvPicPr>
          <p:cNvPr id="6" name="NAV_back" descr="عودة إلى السؤال">
            <a:hlinkClick r:id="rId4" action="ppaction://hlinksldjump" tooltip=" 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3240" y="3154680"/>
            <a:ext cx="3017520" cy="594360"/>
          </a:xfrm>
          <a:prstGeom prst="rect">
            <a:avLst/>
          </a:prstGeom>
        </p:spPr>
      </p:pic>
    </p:spTree>
  </p:cSld>
  <p:clrMapOvr>
    <a:masterClrMapping/>
  </p:clrMapOvr>
  <p:transition spd="med" advClick="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aise"/>
          <p:cNvSpPr txBox="1"/>
          <p:nvPr/>
        </p:nvSpPr>
        <p:spPr>
          <a:xfrm>
            <a:off x="2377440" y="105156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OM" altLang="en-US" sz="4000" b="1" dirty="0">
                <a:solidFill>
                  <a:srgbClr val="7AC1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عبقري!</a:t>
            </a:r>
            <a:endParaRPr lang="ar-OM" sz="4000" dirty="0"/>
          </a:p>
        </p:txBody>
      </p:sp>
      <p:sp>
        <p:nvSpPr>
          <p:cNvPr id="3" name="praise-sub"/>
          <p:cNvSpPr txBox="1"/>
          <p:nvPr/>
        </p:nvSpPr>
        <p:spPr>
          <a:xfrm>
            <a:off x="2011680" y="20116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OM" altLang="en-US" sz="2200" b="1" dirty="0">
                <a:solidFill>
                  <a:srgbClr val="5B2C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جسم الروبوت مكوّن من بكسلات زرقاء</a:t>
            </a:r>
            <a:endParaRPr lang="ar-OM" sz="2200" dirty="0"/>
          </a:p>
        </p:txBody>
      </p:sp>
      <p:sp>
        <p:nvSpPr>
          <p:cNvPr id="4" name="nav-btn"/>
          <p:cNvSpPr/>
          <p:nvPr/>
        </p:nvSpPr>
        <p:spPr>
          <a:xfrm>
            <a:off x="3383280" y="3154680"/>
            <a:ext cx="2377440" cy="594360"/>
          </a:xfrm>
          <a:prstGeom prst="roundRect">
            <a:avLst>
              <a:gd name="adj" fmla="val 49231"/>
            </a:avLst>
          </a:prstGeom>
          <a:solidFill>
            <a:srgbClr val="5B2C83"/>
          </a:solidFill>
          <a:ln/>
        </p:spPr>
        <p:txBody>
          <a:bodyPr wrap="square" lIns="0" tIns="1270" rIns="6985" bIns="0" rtlCol="0" anchor="ctr"/>
          <a:lstStyle/>
          <a:p>
            <a:pPr marL="0" indent="0" algn="ctr" rtl="1">
              <a:buNone/>
            </a:pPr>
            <a:r>
              <a:rPr lang="ar-OM" alt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التالي</a:t>
            </a:r>
            <a:endParaRPr lang="ar-OM" sz="2200" dirty="0"/>
          </a:p>
        </p:txBody>
      </p:sp>
      <p:pic>
        <p:nvPicPr>
          <p:cNvPr id="5" name="nav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3310128"/>
            <a:ext cx="283464" cy="283464"/>
          </a:xfrm>
          <a:prstGeom prst="rect">
            <a:avLst/>
          </a:prstGeom>
        </p:spPr>
      </p:pic>
      <p:pic>
        <p:nvPicPr>
          <p:cNvPr id="6" name="NAV_next" descr="التالي">
            <a:hlinkClick r:id="rId4" action="ppaction://hlinksldjump" tooltip=" 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3154680"/>
            <a:ext cx="2377440" cy="594360"/>
          </a:xfrm>
          <a:prstGeom prst="rect">
            <a:avLst/>
          </a:prstGeom>
        </p:spPr>
      </p:pic>
    </p:spTree>
  </p:cSld>
  <p:clrMapOvr>
    <a:masterClrMapping/>
  </p:clrMapOvr>
  <p:transition spd="med" advClick="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aise"/>
          <p:cNvSpPr txBox="1"/>
          <p:nvPr/>
        </p:nvSpPr>
        <p:spPr>
          <a:xfrm>
            <a:off x="2377440" y="105156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OM" altLang="en-US" sz="4000" b="1" dirty="0">
                <a:solidFill>
                  <a:srgbClr val="F79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حاول مرة أخرى</a:t>
            </a:r>
            <a:endParaRPr lang="ar-OM" sz="4000" dirty="0"/>
          </a:p>
        </p:txBody>
      </p:sp>
      <p:sp>
        <p:nvSpPr>
          <p:cNvPr id="3" name="praise-sub"/>
          <p:cNvSpPr txBox="1"/>
          <p:nvPr/>
        </p:nvSpPr>
        <p:spPr>
          <a:xfrm>
            <a:off x="2011680" y="20116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OM" altLang="en-US" sz="2200" b="1" dirty="0">
                <a:solidFill>
                  <a:srgbClr val="5B2C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انظر إلى لون الجسم الكبير</a:t>
            </a:r>
            <a:endParaRPr lang="ar-OM" sz="2200" dirty="0"/>
          </a:p>
        </p:txBody>
      </p:sp>
      <p:sp>
        <p:nvSpPr>
          <p:cNvPr id="4" name="nav-btn"/>
          <p:cNvSpPr/>
          <p:nvPr/>
        </p:nvSpPr>
        <p:spPr>
          <a:xfrm>
            <a:off x="3063240" y="3154680"/>
            <a:ext cx="3017520" cy="594360"/>
          </a:xfrm>
          <a:prstGeom prst="roundRect">
            <a:avLst>
              <a:gd name="adj" fmla="val 49231"/>
            </a:avLst>
          </a:prstGeom>
          <a:solidFill>
            <a:srgbClr val="F7941D"/>
          </a:solidFill>
          <a:ln/>
        </p:spPr>
        <p:txBody>
          <a:bodyPr wrap="square" lIns="0" tIns="1270" rIns="6985" bIns="0" rtlCol="0" anchor="ctr"/>
          <a:lstStyle/>
          <a:p>
            <a:pPr marL="0" indent="0" algn="ctr" rtl="1">
              <a:buNone/>
            </a:pPr>
            <a:r>
              <a:rPr lang="ar-OM" alt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حاول مرة أخرى</a:t>
            </a:r>
            <a:endParaRPr lang="ar-OM" sz="2200" dirty="0"/>
          </a:p>
        </p:txBody>
      </p:sp>
      <p:pic>
        <p:nvPicPr>
          <p:cNvPr id="5" name="nav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3310128"/>
            <a:ext cx="283464" cy="283464"/>
          </a:xfrm>
          <a:prstGeom prst="rect">
            <a:avLst/>
          </a:prstGeom>
        </p:spPr>
      </p:pic>
      <p:pic>
        <p:nvPicPr>
          <p:cNvPr id="6" name="NAV_back" descr="عودة إلى السؤال">
            <a:hlinkClick r:id="rId4" action="ppaction://hlinksldjump" tooltip=" 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3240" y="3154680"/>
            <a:ext cx="3017520" cy="594360"/>
          </a:xfrm>
          <a:prstGeom prst="rect">
            <a:avLst/>
          </a:prstGeom>
        </p:spPr>
      </p:pic>
    </p:spTree>
  </p:cSld>
  <p:clrMapOvr>
    <a:masterClrMapping/>
  </p:clrMapOvr>
  <p:transition spd="med" advClick="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aise"/>
          <p:cNvSpPr txBox="1"/>
          <p:nvPr/>
        </p:nvSpPr>
        <p:spPr>
          <a:xfrm>
            <a:off x="2377440" y="105156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OM" altLang="en-US" sz="4000" b="1" dirty="0">
                <a:solidFill>
                  <a:srgbClr val="7AC1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رائع جدًا!</a:t>
            </a:r>
            <a:endParaRPr lang="ar-OM" sz="4000" dirty="0"/>
          </a:p>
        </p:txBody>
      </p:sp>
      <p:sp>
        <p:nvSpPr>
          <p:cNvPr id="3" name="praise-sub"/>
          <p:cNvSpPr txBox="1"/>
          <p:nvPr/>
        </p:nvSpPr>
        <p:spPr>
          <a:xfrm>
            <a:off x="2011680" y="20116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OM" altLang="en-US" sz="2200" b="1" dirty="0">
                <a:solidFill>
                  <a:srgbClr val="5B2C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قدما الروبوت مكوّنتان من بكسلات حمراء</a:t>
            </a:r>
            <a:endParaRPr lang="ar-OM" sz="2200" dirty="0"/>
          </a:p>
        </p:txBody>
      </p:sp>
      <p:sp>
        <p:nvSpPr>
          <p:cNvPr id="4" name="nav-btn"/>
          <p:cNvSpPr/>
          <p:nvPr/>
        </p:nvSpPr>
        <p:spPr>
          <a:xfrm>
            <a:off x="3383280" y="3154680"/>
            <a:ext cx="2377440" cy="594360"/>
          </a:xfrm>
          <a:prstGeom prst="roundRect">
            <a:avLst>
              <a:gd name="adj" fmla="val 49231"/>
            </a:avLst>
          </a:prstGeom>
          <a:solidFill>
            <a:srgbClr val="5B2C83"/>
          </a:solidFill>
          <a:ln/>
        </p:spPr>
        <p:txBody>
          <a:bodyPr wrap="square" lIns="0" tIns="1270" rIns="6985" bIns="0" rtlCol="0" anchor="ctr"/>
          <a:lstStyle/>
          <a:p>
            <a:pPr marL="0" indent="0" algn="ctr" rtl="1">
              <a:buNone/>
            </a:pPr>
            <a:r>
              <a:rPr lang="ar-OM" alt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التالي</a:t>
            </a:r>
            <a:endParaRPr lang="ar-OM" sz="2200" dirty="0"/>
          </a:p>
        </p:txBody>
      </p:sp>
      <p:pic>
        <p:nvPicPr>
          <p:cNvPr id="5" name="nav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3310128"/>
            <a:ext cx="283464" cy="283464"/>
          </a:xfrm>
          <a:prstGeom prst="rect">
            <a:avLst/>
          </a:prstGeom>
        </p:spPr>
      </p:pic>
      <p:pic>
        <p:nvPicPr>
          <p:cNvPr id="6" name="NAV_next" descr="التالي">
            <a:hlinkClick r:id="rId4" action="ppaction://hlinksldjump" tooltip=" 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3154680"/>
            <a:ext cx="2377440" cy="594360"/>
          </a:xfrm>
          <a:prstGeom prst="rect">
            <a:avLst/>
          </a:prstGeom>
        </p:spPr>
      </p:pic>
    </p:spTree>
  </p:cSld>
  <p:clrMapOvr>
    <a:masterClrMapping/>
  </p:clrMapOvr>
  <p:transition spd="med" advClick="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aise"/>
          <p:cNvSpPr txBox="1"/>
          <p:nvPr/>
        </p:nvSpPr>
        <p:spPr>
          <a:xfrm>
            <a:off x="2377440" y="105156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OM" altLang="en-US" sz="4000" b="1" dirty="0">
                <a:solidFill>
                  <a:srgbClr val="F79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حاول مرة أخرى</a:t>
            </a:r>
            <a:endParaRPr lang="ar-OM" sz="4000" dirty="0"/>
          </a:p>
        </p:txBody>
      </p:sp>
      <p:sp>
        <p:nvSpPr>
          <p:cNvPr id="3" name="praise-sub"/>
          <p:cNvSpPr txBox="1"/>
          <p:nvPr/>
        </p:nvSpPr>
        <p:spPr>
          <a:xfrm>
            <a:off x="2011680" y="20116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OM" altLang="en-US" sz="2200" b="1" dirty="0">
                <a:solidFill>
                  <a:srgbClr val="5B2C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انظر إلى أسفل الروبوت</a:t>
            </a:r>
            <a:endParaRPr lang="ar-OM" sz="2200" dirty="0"/>
          </a:p>
        </p:txBody>
      </p:sp>
      <p:sp>
        <p:nvSpPr>
          <p:cNvPr id="4" name="nav-btn"/>
          <p:cNvSpPr/>
          <p:nvPr/>
        </p:nvSpPr>
        <p:spPr>
          <a:xfrm>
            <a:off x="3063240" y="3154680"/>
            <a:ext cx="3017520" cy="594360"/>
          </a:xfrm>
          <a:prstGeom prst="roundRect">
            <a:avLst>
              <a:gd name="adj" fmla="val 49231"/>
            </a:avLst>
          </a:prstGeom>
          <a:solidFill>
            <a:srgbClr val="F7941D"/>
          </a:solidFill>
          <a:ln/>
        </p:spPr>
        <p:txBody>
          <a:bodyPr wrap="square" lIns="0" tIns="1270" rIns="6985" bIns="0" rtlCol="0" anchor="ctr"/>
          <a:lstStyle/>
          <a:p>
            <a:pPr marL="0" indent="0" algn="ctr" rtl="1">
              <a:buNone/>
            </a:pPr>
            <a:r>
              <a:rPr lang="ar-OM" alt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حاول مرة أخرى</a:t>
            </a:r>
            <a:endParaRPr lang="ar-OM" sz="2200" dirty="0"/>
          </a:p>
        </p:txBody>
      </p:sp>
      <p:pic>
        <p:nvPicPr>
          <p:cNvPr id="5" name="nav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3310128"/>
            <a:ext cx="283464" cy="283464"/>
          </a:xfrm>
          <a:prstGeom prst="rect">
            <a:avLst/>
          </a:prstGeom>
        </p:spPr>
      </p:pic>
      <p:pic>
        <p:nvPicPr>
          <p:cNvPr id="6" name="NAV_back" descr="عودة إلى السؤال">
            <a:hlinkClick r:id="rId4" action="ppaction://hlinksldjump" tooltip=" 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3240" y="3154680"/>
            <a:ext cx="3017520" cy="594360"/>
          </a:xfrm>
          <a:prstGeom prst="rect">
            <a:avLst/>
          </a:prstGeom>
        </p:spPr>
      </p:pic>
    </p:spTree>
  </p:cSld>
  <p:clrMapOvr>
    <a:masterClrMapping/>
  </p:clrMapOvr>
  <p:transition spd="med" advClick="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aise"/>
          <p:cNvSpPr txBox="1"/>
          <p:nvPr/>
        </p:nvSpPr>
        <p:spPr>
          <a:xfrm>
            <a:off x="2377440" y="105156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OM" altLang="en-US" sz="4000" b="1" dirty="0">
                <a:solidFill>
                  <a:srgbClr val="7AC1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بطل!</a:t>
            </a:r>
            <a:endParaRPr lang="ar-OM" sz="4000" dirty="0"/>
          </a:p>
        </p:txBody>
      </p:sp>
      <p:sp>
        <p:nvSpPr>
          <p:cNvPr id="3" name="praise-sub"/>
          <p:cNvSpPr txBox="1"/>
          <p:nvPr/>
        </p:nvSpPr>
        <p:spPr>
          <a:xfrm>
            <a:off x="2011680" y="20116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OM" altLang="en-US" sz="2200" b="1" dirty="0">
                <a:solidFill>
                  <a:srgbClr val="5B2C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الصورة 4 مربعات حمراء</a:t>
            </a:r>
            <a:endParaRPr lang="ar-OM" sz="2200" dirty="0"/>
          </a:p>
        </p:txBody>
      </p:sp>
      <p:sp>
        <p:nvSpPr>
          <p:cNvPr id="4" name="nav-btn"/>
          <p:cNvSpPr/>
          <p:nvPr/>
        </p:nvSpPr>
        <p:spPr>
          <a:xfrm>
            <a:off x="3383280" y="3154680"/>
            <a:ext cx="2377440" cy="594360"/>
          </a:xfrm>
          <a:prstGeom prst="roundRect">
            <a:avLst>
              <a:gd name="adj" fmla="val 49231"/>
            </a:avLst>
          </a:prstGeom>
          <a:solidFill>
            <a:srgbClr val="5B2C83"/>
          </a:solidFill>
          <a:ln/>
        </p:spPr>
        <p:txBody>
          <a:bodyPr wrap="square" lIns="0" tIns="1270" rIns="6985" bIns="0" rtlCol="0" anchor="ctr"/>
          <a:lstStyle/>
          <a:p>
            <a:pPr marL="0" indent="0" algn="ctr" rtl="1">
              <a:buNone/>
            </a:pPr>
            <a:r>
              <a:rPr lang="ar-OM" alt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التالي</a:t>
            </a:r>
            <a:endParaRPr lang="ar-OM" sz="2200" dirty="0"/>
          </a:p>
        </p:txBody>
      </p:sp>
      <p:pic>
        <p:nvPicPr>
          <p:cNvPr id="5" name="nav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3310128"/>
            <a:ext cx="283464" cy="283464"/>
          </a:xfrm>
          <a:prstGeom prst="rect">
            <a:avLst/>
          </a:prstGeom>
        </p:spPr>
      </p:pic>
      <p:pic>
        <p:nvPicPr>
          <p:cNvPr id="6" name="NAV_next" descr="التالي">
            <a:hlinkClick r:id="rId4" action="ppaction://hlinksldjump" tooltip=" 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3154680"/>
            <a:ext cx="2377440" cy="594360"/>
          </a:xfrm>
          <a:prstGeom prst="rect">
            <a:avLst/>
          </a:prstGeom>
        </p:spPr>
      </p:pic>
    </p:spTree>
  </p:cSld>
  <p:clrMapOvr>
    <a:masterClrMapping/>
  </p:clrMapOvr>
  <p:transition spd="med" advClick="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aise"/>
          <p:cNvSpPr txBox="1"/>
          <p:nvPr/>
        </p:nvSpPr>
        <p:spPr>
          <a:xfrm>
            <a:off x="2377440" y="105156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OM" altLang="en-US" sz="4000" b="1" dirty="0">
                <a:solidFill>
                  <a:srgbClr val="F79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حاول مرة أخرى</a:t>
            </a:r>
            <a:endParaRPr lang="ar-OM" sz="4000" dirty="0"/>
          </a:p>
        </p:txBody>
      </p:sp>
      <p:sp>
        <p:nvSpPr>
          <p:cNvPr id="3" name="praise-sub"/>
          <p:cNvSpPr txBox="1"/>
          <p:nvPr/>
        </p:nvSpPr>
        <p:spPr>
          <a:xfrm>
            <a:off x="2011680" y="20116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OM" altLang="en-US" sz="2200" b="1" dirty="0">
                <a:solidFill>
                  <a:srgbClr val="5B2C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عُدَّ المربعات الحمراء بإصبعك</a:t>
            </a:r>
            <a:endParaRPr lang="ar-OM" sz="2200" dirty="0"/>
          </a:p>
        </p:txBody>
      </p:sp>
      <p:sp>
        <p:nvSpPr>
          <p:cNvPr id="4" name="nav-btn"/>
          <p:cNvSpPr/>
          <p:nvPr/>
        </p:nvSpPr>
        <p:spPr>
          <a:xfrm>
            <a:off x="3063240" y="3154680"/>
            <a:ext cx="3017520" cy="594360"/>
          </a:xfrm>
          <a:prstGeom prst="roundRect">
            <a:avLst>
              <a:gd name="adj" fmla="val 49231"/>
            </a:avLst>
          </a:prstGeom>
          <a:solidFill>
            <a:srgbClr val="F7941D"/>
          </a:solidFill>
          <a:ln/>
        </p:spPr>
        <p:txBody>
          <a:bodyPr wrap="square" lIns="0" tIns="1270" rIns="6985" bIns="0" rtlCol="0" anchor="ctr"/>
          <a:lstStyle/>
          <a:p>
            <a:pPr marL="0" indent="0" algn="ctr" rtl="1">
              <a:buNone/>
            </a:pPr>
            <a:r>
              <a:rPr lang="ar-OM" alt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حاول مرة أخرى</a:t>
            </a:r>
            <a:endParaRPr lang="ar-OM" sz="2200" dirty="0"/>
          </a:p>
        </p:txBody>
      </p:sp>
      <p:pic>
        <p:nvPicPr>
          <p:cNvPr id="5" name="nav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3310128"/>
            <a:ext cx="283464" cy="283464"/>
          </a:xfrm>
          <a:prstGeom prst="rect">
            <a:avLst/>
          </a:prstGeom>
        </p:spPr>
      </p:pic>
      <p:pic>
        <p:nvPicPr>
          <p:cNvPr id="6" name="NAV_back" descr="عودة إلى السؤال">
            <a:hlinkClick r:id="rId4" action="ppaction://hlinksldjump" tooltip=" 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3240" y="3154680"/>
            <a:ext cx="3017520" cy="594360"/>
          </a:xfrm>
          <a:prstGeom prst="rect">
            <a:avLst/>
          </a:prstGeom>
        </p:spPr>
      </p:pic>
    </p:spTree>
  </p:cSld>
  <p:clrMapOvr>
    <a:masterClrMapping/>
  </p:clrMapOvr>
  <p:transition spd="med" advClick="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aise"/>
          <p:cNvSpPr txBox="1"/>
          <p:nvPr/>
        </p:nvSpPr>
        <p:spPr>
          <a:xfrm>
            <a:off x="2377440" y="105156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OM" altLang="en-US" sz="4000" b="1" dirty="0">
                <a:solidFill>
                  <a:srgbClr val="7AC1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ممتاز!</a:t>
            </a:r>
            <a:endParaRPr lang="ar-OM" sz="4000" dirty="0"/>
          </a:p>
        </p:txBody>
      </p:sp>
      <p:sp>
        <p:nvSpPr>
          <p:cNvPr id="3" name="praise-sub"/>
          <p:cNvSpPr txBox="1"/>
          <p:nvPr/>
        </p:nvSpPr>
        <p:spPr>
          <a:xfrm>
            <a:off x="2011680" y="20116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OM" altLang="en-US" sz="2200" b="1" dirty="0">
                <a:solidFill>
                  <a:srgbClr val="5B2C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الرسم الرقمي لا تتّسخ أيدينا</a:t>
            </a:r>
            <a:endParaRPr lang="ar-OM" sz="2200" dirty="0"/>
          </a:p>
        </p:txBody>
      </p:sp>
      <p:sp>
        <p:nvSpPr>
          <p:cNvPr id="4" name="nav-btn"/>
          <p:cNvSpPr/>
          <p:nvPr/>
        </p:nvSpPr>
        <p:spPr>
          <a:xfrm>
            <a:off x="3383280" y="3154680"/>
            <a:ext cx="2377440" cy="594360"/>
          </a:xfrm>
          <a:prstGeom prst="roundRect">
            <a:avLst>
              <a:gd name="adj" fmla="val 49231"/>
            </a:avLst>
          </a:prstGeom>
          <a:solidFill>
            <a:srgbClr val="5B2C83"/>
          </a:solidFill>
          <a:ln/>
        </p:spPr>
        <p:txBody>
          <a:bodyPr wrap="square" lIns="0" tIns="1270" rIns="6985" bIns="0" rtlCol="0" anchor="ctr"/>
          <a:lstStyle/>
          <a:p>
            <a:pPr marL="0" indent="0" algn="ctr" rtl="1">
              <a:buNone/>
            </a:pPr>
            <a:r>
              <a:rPr lang="ar-OM" alt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التالي</a:t>
            </a:r>
            <a:endParaRPr lang="ar-OM" sz="2200" dirty="0"/>
          </a:p>
        </p:txBody>
      </p:sp>
      <p:pic>
        <p:nvPicPr>
          <p:cNvPr id="5" name="nav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3310128"/>
            <a:ext cx="283464" cy="283464"/>
          </a:xfrm>
          <a:prstGeom prst="rect">
            <a:avLst/>
          </a:prstGeom>
        </p:spPr>
      </p:pic>
      <p:pic>
        <p:nvPicPr>
          <p:cNvPr id="6" name="NAV_next" descr="التالي">
            <a:hlinkClick r:id="rId4" action="ppaction://hlinksldjump" tooltip=" 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3154680"/>
            <a:ext cx="2377440" cy="594360"/>
          </a:xfrm>
          <a:prstGeom prst="rect">
            <a:avLst/>
          </a:prstGeom>
        </p:spPr>
      </p:pic>
    </p:spTree>
  </p:cSld>
  <p:clrMapOvr>
    <a:masterClrMapping/>
  </p:clrMapOvr>
  <p:transition spd="med" advClick="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aise"/>
          <p:cNvSpPr txBox="1"/>
          <p:nvPr/>
        </p:nvSpPr>
        <p:spPr>
          <a:xfrm>
            <a:off x="2377440" y="105156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OM" altLang="en-US" sz="4000" b="1" dirty="0">
                <a:solidFill>
                  <a:srgbClr val="F79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حاول مرة أخرى</a:t>
            </a:r>
            <a:endParaRPr lang="ar-OM" sz="4000" dirty="0"/>
          </a:p>
        </p:txBody>
      </p:sp>
      <p:sp>
        <p:nvSpPr>
          <p:cNvPr id="3" name="praise-sub"/>
          <p:cNvSpPr txBox="1"/>
          <p:nvPr/>
        </p:nvSpPr>
        <p:spPr>
          <a:xfrm>
            <a:off x="2011680" y="20116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OM" altLang="en-US" sz="2200" b="1" dirty="0">
                <a:solidFill>
                  <a:srgbClr val="5B2C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أيّها يحدث فقط عند الرسم على الورق؟</a:t>
            </a:r>
            <a:endParaRPr lang="ar-OM" sz="2200" dirty="0"/>
          </a:p>
        </p:txBody>
      </p:sp>
      <p:sp>
        <p:nvSpPr>
          <p:cNvPr id="4" name="nav-btn"/>
          <p:cNvSpPr/>
          <p:nvPr/>
        </p:nvSpPr>
        <p:spPr>
          <a:xfrm>
            <a:off x="3063240" y="3154680"/>
            <a:ext cx="3017520" cy="594360"/>
          </a:xfrm>
          <a:prstGeom prst="roundRect">
            <a:avLst>
              <a:gd name="adj" fmla="val 49231"/>
            </a:avLst>
          </a:prstGeom>
          <a:solidFill>
            <a:srgbClr val="F7941D"/>
          </a:solidFill>
          <a:ln/>
        </p:spPr>
        <p:txBody>
          <a:bodyPr wrap="square" lIns="0" tIns="1270" rIns="6985" bIns="0" rtlCol="0" anchor="ctr"/>
          <a:lstStyle/>
          <a:p>
            <a:pPr marL="0" indent="0" algn="ctr" rtl="1">
              <a:buNone/>
            </a:pPr>
            <a:r>
              <a:rPr lang="ar-OM" alt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حاول مرة أخرى</a:t>
            </a:r>
            <a:endParaRPr lang="ar-OM" sz="2200" dirty="0"/>
          </a:p>
        </p:txBody>
      </p:sp>
      <p:pic>
        <p:nvPicPr>
          <p:cNvPr id="5" name="nav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3310128"/>
            <a:ext cx="283464" cy="283464"/>
          </a:xfrm>
          <a:prstGeom prst="rect">
            <a:avLst/>
          </a:prstGeom>
        </p:spPr>
      </p:pic>
      <p:pic>
        <p:nvPicPr>
          <p:cNvPr id="6" name="NAV_back" descr="عودة إلى السؤال">
            <a:hlinkClick r:id="rId4" action="ppaction://hlinksldjump" tooltip=" 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3240" y="3154680"/>
            <a:ext cx="3017520" cy="594360"/>
          </a:xfrm>
          <a:prstGeom prst="rect">
            <a:avLst/>
          </a:prstGeom>
        </p:spPr>
      </p:pic>
    </p:spTree>
  </p:cSld>
  <p:clrMapOvr>
    <a:masterClrMapping/>
  </p:clrMapOvr>
  <p:transition spd="med" advClick="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aise"/>
          <p:cNvSpPr txBox="1"/>
          <p:nvPr/>
        </p:nvSpPr>
        <p:spPr>
          <a:xfrm>
            <a:off x="2377440" y="105156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OM" altLang="en-US" sz="4000" b="1" dirty="0">
                <a:solidFill>
                  <a:srgbClr val="7AC1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أحسنت يا رسّام!</a:t>
            </a:r>
            <a:endParaRPr lang="ar-OM" sz="4000" dirty="0"/>
          </a:p>
        </p:txBody>
      </p:sp>
      <p:sp>
        <p:nvSpPr>
          <p:cNvPr id="3" name="praise-sub"/>
          <p:cNvSpPr txBox="1"/>
          <p:nvPr/>
        </p:nvSpPr>
        <p:spPr>
          <a:xfrm>
            <a:off x="2011680" y="20116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OM" altLang="en-US" sz="2200" b="1" dirty="0">
                <a:solidFill>
                  <a:srgbClr val="5B2C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الصورة تتكوّن من وحدات البكسل</a:t>
            </a:r>
            <a:endParaRPr lang="ar-OM" sz="2200" dirty="0"/>
          </a:p>
        </p:txBody>
      </p:sp>
      <p:sp>
        <p:nvSpPr>
          <p:cNvPr id="4" name="nav-btn"/>
          <p:cNvSpPr/>
          <p:nvPr/>
        </p:nvSpPr>
        <p:spPr>
          <a:xfrm>
            <a:off x="3383280" y="3154680"/>
            <a:ext cx="2377440" cy="594360"/>
          </a:xfrm>
          <a:prstGeom prst="roundRect">
            <a:avLst>
              <a:gd name="adj" fmla="val 49231"/>
            </a:avLst>
          </a:prstGeom>
          <a:solidFill>
            <a:srgbClr val="5B2C83"/>
          </a:solidFill>
          <a:ln/>
        </p:spPr>
        <p:txBody>
          <a:bodyPr wrap="square" lIns="0" tIns="1270" rIns="6985" bIns="0" rtlCol="0" anchor="ctr"/>
          <a:lstStyle/>
          <a:p>
            <a:pPr marL="0" indent="0" algn="ctr" rtl="1">
              <a:buNone/>
            </a:pPr>
            <a:r>
              <a:rPr lang="ar-OM" alt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التالي</a:t>
            </a:r>
            <a:endParaRPr lang="ar-OM" sz="2200" dirty="0"/>
          </a:p>
        </p:txBody>
      </p:sp>
      <p:pic>
        <p:nvPicPr>
          <p:cNvPr id="5" name="nav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3310128"/>
            <a:ext cx="283464" cy="283464"/>
          </a:xfrm>
          <a:prstGeom prst="rect">
            <a:avLst/>
          </a:prstGeom>
        </p:spPr>
      </p:pic>
      <p:pic>
        <p:nvPicPr>
          <p:cNvPr id="6" name="NAV_next" descr="التالي">
            <a:hlinkClick r:id="rId4" action="ppaction://hlinksldjump" tooltip=" 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3154680"/>
            <a:ext cx="2377440" cy="594360"/>
          </a:xfrm>
          <a:prstGeom prst="rect">
            <a:avLst/>
          </a:prstGeom>
        </p:spPr>
      </p:pic>
    </p:spTree>
  </p:cSld>
  <p:clrMapOvr>
    <a:masterClrMapping/>
  </p:clrMapOvr>
  <p:transition spd="med" advClick="0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aise"/>
          <p:cNvSpPr txBox="1"/>
          <p:nvPr/>
        </p:nvSpPr>
        <p:spPr>
          <a:xfrm>
            <a:off x="2377440" y="105156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OM" altLang="en-US" sz="4000" b="1" dirty="0">
                <a:solidFill>
                  <a:srgbClr val="F79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حاول مرة أخرى</a:t>
            </a:r>
            <a:endParaRPr lang="ar-OM" sz="4000" dirty="0"/>
          </a:p>
        </p:txBody>
      </p:sp>
      <p:sp>
        <p:nvSpPr>
          <p:cNvPr id="3" name="praise-sub"/>
          <p:cNvSpPr txBox="1"/>
          <p:nvPr/>
        </p:nvSpPr>
        <p:spPr>
          <a:xfrm>
            <a:off x="2011680" y="20116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OM" altLang="en-US" sz="2200" b="1" dirty="0">
                <a:solidFill>
                  <a:srgbClr val="5B2C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تذكّر اسم النقطة المربّعة في الشاشة</a:t>
            </a:r>
            <a:endParaRPr lang="ar-OM" sz="2200" dirty="0"/>
          </a:p>
        </p:txBody>
      </p:sp>
      <p:sp>
        <p:nvSpPr>
          <p:cNvPr id="4" name="nav-btn"/>
          <p:cNvSpPr/>
          <p:nvPr/>
        </p:nvSpPr>
        <p:spPr>
          <a:xfrm>
            <a:off x="3063240" y="3154680"/>
            <a:ext cx="3017520" cy="594360"/>
          </a:xfrm>
          <a:prstGeom prst="roundRect">
            <a:avLst>
              <a:gd name="adj" fmla="val 49231"/>
            </a:avLst>
          </a:prstGeom>
          <a:solidFill>
            <a:srgbClr val="F7941D"/>
          </a:solidFill>
          <a:ln/>
        </p:spPr>
        <p:txBody>
          <a:bodyPr wrap="square" lIns="0" tIns="1270" rIns="6985" bIns="0" rtlCol="0" anchor="ctr"/>
          <a:lstStyle/>
          <a:p>
            <a:pPr marL="0" indent="0" algn="ctr" rtl="1">
              <a:buNone/>
            </a:pPr>
            <a:r>
              <a:rPr lang="ar-OM" alt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حاول مرة أخرى</a:t>
            </a:r>
            <a:endParaRPr lang="ar-OM" sz="2200" dirty="0"/>
          </a:p>
        </p:txBody>
      </p:sp>
      <p:pic>
        <p:nvPicPr>
          <p:cNvPr id="5" name="nav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3310128"/>
            <a:ext cx="283464" cy="283464"/>
          </a:xfrm>
          <a:prstGeom prst="rect">
            <a:avLst/>
          </a:prstGeom>
        </p:spPr>
      </p:pic>
      <p:pic>
        <p:nvPicPr>
          <p:cNvPr id="6" name="NAV_back" descr="عودة إلى السؤال">
            <a:hlinkClick r:id="rId4" action="ppaction://hlinksldjump" tooltip=" 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3240" y="3154680"/>
            <a:ext cx="3017520" cy="594360"/>
          </a:xfrm>
          <a:prstGeom prst="rect">
            <a:avLst/>
          </a:prstGeom>
        </p:spPr>
      </p:pic>
    </p:spTree>
  </p:cSld>
  <p:clrMapOvr>
    <a:masterClrMapping/>
  </p:clrMapOvr>
  <p:transition spd="med" advClick="0">
    <p:fade/>
  </p:transition>
</p:sld>
</file>

<file path=ppt/theme/theme1.xml><?xml version="1.0" encoding="utf-8"?>
<a:theme xmlns:a="http://schemas.openxmlformats.org/drawingml/2006/main" name="Pixel Kids">
  <a:themeElements>
    <a:clrScheme name="Pixel Kids">
      <a:dk1>
        <a:srgbClr val="2D1B4E"/>
      </a:dk1>
      <a:lt1>
        <a:srgbClr val="FFFFFF"/>
      </a:lt1>
      <a:dk2>
        <a:srgbClr val="5B2C83"/>
      </a:dk2>
      <a:lt2>
        <a:srgbClr val="F8F6FF"/>
      </a:lt2>
      <a:accent1>
        <a:srgbClr val="F7941D"/>
      </a:accent1>
      <a:accent2>
        <a:srgbClr val="7AC143"/>
      </a:accent2>
      <a:accent3>
        <a:srgbClr val="29B6D1"/>
      </a:accent3>
      <a:accent4>
        <a:srgbClr val="EC4C8C"/>
      </a:accent4>
      <a:accent5>
        <a:srgbClr val="FFC928"/>
      </a:accent5>
      <a:accent6>
        <a:srgbClr val="E53935"/>
      </a:accent6>
      <a:hlink>
        <a:srgbClr val="29B6D1"/>
      </a:hlink>
      <a:folHlink>
        <a:srgbClr val="5B2C83"/>
      </a:folHlink>
    </a:clrScheme>
    <a:fontScheme name="Pixel Kid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1082</Words>
  <Application>Microsoft Office PowerPoint</Application>
  <PresentationFormat>عرض على الشاشة (16:9)</PresentationFormat>
  <Paragraphs>265</Paragraphs>
  <Slides>47</Slides>
  <Notes>47</Notes>
  <HiddenSlides>20</HiddenSlides>
  <MMClips>4</MMClips>
  <ScaleCrop>false</ScaleCrop>
  <HeadingPairs>
    <vt:vector size="6" baseType="variant">
      <vt:variant>
        <vt:lpstr>الخطوط المستخدمة</vt:lpstr>
      </vt:variant>
      <vt:variant>
        <vt:i4>1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47</vt:i4>
      </vt:variant>
    </vt:vector>
  </HeadingPairs>
  <TitlesOfParts>
    <vt:vector size="49" baseType="lpstr">
      <vt:lpstr>Arial</vt:lpstr>
      <vt:lpstr>Pixel Kids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مدرسة مزن المعرفة للتعليم الأساسي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الدرس 2.1: مقدمة إلى الرسم الرقمي</dc:title>
  <dc:subject>PptxGenJS Presentation</dc:subject>
  <dc:creator>الأستاذة عبير صالح اليحمدية</dc:creator>
  <cp:lastModifiedBy>Abeer Alyahmadi</cp:lastModifiedBy>
  <cp:revision>2</cp:revision>
  <dcterms:created xsi:type="dcterms:W3CDTF">2026-10-18T06:35:38Z</dcterms:created>
  <dcterms:modified xsi:type="dcterms:W3CDTF">2026-10-19T05:22:18Z</dcterms:modified>
  <cp:contentStatus>Final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15af2f3-15c0-42f7-aff1-8120ca254967_Enabled">
    <vt:lpwstr>true</vt:lpwstr>
  </property>
  <property fmtid="{D5CDD505-2E9C-101B-9397-08002B2CF9AE}" pid="3" name="MSIP_Label_c15af2f3-15c0-42f7-aff1-8120ca254967_SetDate">
    <vt:lpwstr>2026-10-19T05:22:15Z</vt:lpwstr>
  </property>
  <property fmtid="{D5CDD505-2E9C-101B-9397-08002B2CF9AE}" pid="4" name="MSIP_Label_c15af2f3-15c0-42f7-aff1-8120ca254967_Method">
    <vt:lpwstr>Standard</vt:lpwstr>
  </property>
  <property fmtid="{D5CDD505-2E9C-101B-9397-08002B2CF9AE}" pid="5" name="MSIP_Label_c15af2f3-15c0-42f7-aff1-8120ca254967_Name">
    <vt:lpwstr>defa4170-0d19-0005-0004-bc88714345d2</vt:lpwstr>
  </property>
  <property fmtid="{D5CDD505-2E9C-101B-9397-08002B2CF9AE}" pid="6" name="MSIP_Label_c15af2f3-15c0-42f7-aff1-8120ca254967_SiteId">
    <vt:lpwstr>04b4cb5d-cc41-401f-bd9d-4ca8a31a5c2f</vt:lpwstr>
  </property>
  <property fmtid="{D5CDD505-2E9C-101B-9397-08002B2CF9AE}" pid="7" name="MSIP_Label_c15af2f3-15c0-42f7-aff1-8120ca254967_ActionId">
    <vt:lpwstr>a73180e5-cf51-402f-8540-17c897c70176</vt:lpwstr>
  </property>
  <property fmtid="{D5CDD505-2E9C-101B-9397-08002B2CF9AE}" pid="8" name="MSIP_Label_c15af2f3-15c0-42f7-aff1-8120ca254967_ContentBits">
    <vt:lpwstr>0</vt:lpwstr>
  </property>
  <property fmtid="{D5CDD505-2E9C-101B-9397-08002B2CF9AE}" pid="9" name="MSIP_Label_c15af2f3-15c0-42f7-aff1-8120ca254967_Tag">
    <vt:lpwstr>10, 3, 0, 1</vt:lpwstr>
  </property>
</Properties>
</file>